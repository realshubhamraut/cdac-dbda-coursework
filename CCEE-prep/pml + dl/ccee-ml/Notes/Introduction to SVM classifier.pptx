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Introduction to SVM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873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SVM is a supervised learning algorithm</a:t>
            </a:r>
          </a:p>
          <a:p>
            <a:pPr algn="just"/>
            <a:r>
              <a:rPr lang="en-IN" sz="2800" dirty="0"/>
              <a:t>based on the idea of finding a hyperplane that best separates the features into different domains</a:t>
            </a:r>
            <a:r>
              <a:rPr lang="en-IN" sz="2800" dirty="0" smtClean="0"/>
              <a:t>.</a:t>
            </a:r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IN" sz="2800" dirty="0" smtClean="0"/>
          </a:p>
          <a:p>
            <a:pPr algn="just"/>
            <a:r>
              <a:rPr lang="en-IN" sz="2800" dirty="0" smtClean="0"/>
              <a:t>Optimal </a:t>
            </a:r>
            <a:r>
              <a:rPr lang="en-IN" sz="2800" dirty="0"/>
              <a:t>hyperplane 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2038350"/>
            <a:ext cx="6667500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45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The points closest to the hyperplane are called support vector points or simply support vectors.</a:t>
            </a:r>
          </a:p>
          <a:p>
            <a:pPr algn="just"/>
            <a:r>
              <a:rPr lang="en-US" sz="2800" dirty="0" smtClean="0"/>
              <a:t>The distance between the support vector and the hyperplane is called margin.</a:t>
            </a:r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endParaRPr lang="en-US" sz="2800" dirty="0"/>
          </a:p>
          <a:p>
            <a:pPr algn="just"/>
            <a:endParaRPr lang="en-US" sz="2800" dirty="0" smtClean="0"/>
          </a:p>
          <a:p>
            <a:pPr algn="just"/>
            <a:r>
              <a:rPr lang="en-IN" sz="2800" dirty="0"/>
              <a:t>margin maximizing hyperplane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362200"/>
            <a:ext cx="4798259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741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A hyperplane in m-dimensional space is given as,</a:t>
                </a:r>
              </a:p>
              <a:p>
                <a:pPr marL="0" indent="0" algn="just"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𝑦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endParaRPr lang="en-IN" sz="2800" dirty="0" smtClean="0"/>
              </a:p>
              <a:p>
                <a:pPr marL="0" indent="0" algn="just"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𝑦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800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𝑋</m:t>
                    </m:r>
                  </m:oMath>
                </a14:m>
                <a:endParaRPr lang="en-IN" sz="2800" dirty="0" smtClean="0"/>
              </a:p>
              <a:p>
                <a:pPr marL="0" indent="0" algn="just"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𝑦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𝑋</m:t>
                    </m:r>
                  </m:oMath>
                </a14:m>
                <a:endParaRPr lang="en-IN" sz="2800" dirty="0" smtClean="0"/>
              </a:p>
              <a:p>
                <a:pPr marL="0" indent="0" algn="just">
                  <a:buNone/>
                </a:pPr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2457450"/>
            <a:ext cx="65436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3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33400"/>
                <a:ext cx="8229600" cy="60960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The equations of these three hyperplanes can be considered as,</a:t>
                </a:r>
              </a:p>
              <a:p>
                <a:pPr marL="0" indent="0" algn="just"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𝑋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=0_______________(1)</m:t>
                    </m:r>
                  </m:oMath>
                </a14:m>
                <a:endParaRPr lang="en-US" sz="2800" b="0" dirty="0" smtClean="0">
                  <a:ea typeface="Cambria Math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𝑋</m:t>
                    </m:r>
                    <m:r>
                      <a:rPr lang="en-US" sz="2800" b="0" i="1" smtClean="0">
                        <a:latin typeface="Cambria Math"/>
                      </a:rPr>
                      <m:t>=1______________(2)</m:t>
                    </m:r>
                  </m:oMath>
                </a14:m>
                <a:endParaRPr lang="en-US" sz="2800" b="0" dirty="0" smtClean="0"/>
              </a:p>
              <a:p>
                <a:pPr marL="0" indent="0" algn="just">
                  <a:buNone/>
                </a:pPr>
                <a:r>
                  <a:rPr lang="en-US" sz="2800" dirty="0" smtClean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𝑏</m:t>
                    </m:r>
                    <m:r>
                      <a:rPr lang="en-US" sz="28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𝑊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𝑋</m:t>
                    </m:r>
                    <m:r>
                      <a:rPr lang="en-US" sz="2800" b="0" i="1" smtClean="0">
                        <a:latin typeface="Cambria Math"/>
                      </a:rPr>
                      <m:t>=−1____________(3)</m:t>
                    </m:r>
                  </m:oMath>
                </a14:m>
                <a:endParaRPr lang="en-US" sz="2800" b="0" dirty="0" smtClean="0"/>
              </a:p>
              <a:p>
                <a:pPr algn="just"/>
                <a:endParaRPr lang="en-US" sz="2800" dirty="0" smtClean="0"/>
              </a:p>
              <a:p>
                <a:pPr algn="just"/>
                <a:r>
                  <a:rPr lang="en-US" sz="2800" dirty="0" smtClean="0"/>
                  <a:t>For the point 1, actual output (y1)=1 and it lies on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so its product with equation (2) will be 1,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𝑏</m:t>
                        </m:r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=1</m:t>
                    </m:r>
                  </m:oMath>
                </a14:m>
                <a:endParaRPr lang="en-IN" sz="2800" dirty="0" smtClean="0"/>
              </a:p>
              <a:p>
                <a:pPr algn="just"/>
                <a:r>
                  <a:rPr lang="en-US" sz="2800" dirty="0"/>
                  <a:t>For the point </a:t>
                </a:r>
                <a:r>
                  <a:rPr lang="en-US" sz="2800" dirty="0" smtClean="0"/>
                  <a:t>3, </a:t>
                </a:r>
                <a:r>
                  <a:rPr lang="en-US" sz="2800" dirty="0"/>
                  <a:t>actual output (y1)=1 and it lies </a:t>
                </a:r>
                <a:r>
                  <a:rPr lang="en-US" sz="2800" dirty="0" smtClean="0"/>
                  <a:t>away from </a:t>
                </a:r>
                <a:r>
                  <a:rPr lang="en-US" sz="2800" dirty="0"/>
                  <a:t>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so its product with equation (2) will be </a:t>
                </a:r>
                <a:r>
                  <a:rPr lang="en-US" sz="2800" dirty="0" smtClean="0"/>
                  <a:t>&gt; 1</a:t>
                </a:r>
                <a:r>
                  <a:rPr lang="en-US" sz="2800" dirty="0"/>
                  <a:t>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&gt;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</m:oMath>
                </a14:m>
                <a:endParaRPr lang="en-IN" sz="2800" dirty="0" smtClean="0"/>
              </a:p>
              <a:p>
                <a:pPr algn="just"/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33400"/>
                <a:ext cx="8229600" cy="6096000"/>
              </a:xfrm>
              <a:blipFill rotWithShape="1">
                <a:blip r:embed="rId2"/>
                <a:stretch>
                  <a:fillRect l="-1259" t="-900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70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1000"/>
                <a:ext cx="8229600" cy="6248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For the point 4, </a:t>
                </a:r>
                <a:r>
                  <a:rPr lang="en-US" sz="2800" dirty="0"/>
                  <a:t>actual output (y1</a:t>
                </a:r>
                <a:r>
                  <a:rPr lang="en-US" sz="2800" dirty="0" smtClean="0"/>
                  <a:t>)=-1 </a:t>
                </a:r>
                <a:r>
                  <a:rPr lang="en-US" sz="2800" dirty="0"/>
                  <a:t>and it lies on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so its product with equation </a:t>
                </a:r>
                <a:r>
                  <a:rPr lang="en-US" sz="2800" dirty="0" smtClean="0"/>
                  <a:t>(3) </a:t>
                </a:r>
                <a:r>
                  <a:rPr lang="en-US" sz="2800" dirty="0"/>
                  <a:t>will be 1,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=1</m:t>
                    </m:r>
                  </m:oMath>
                </a14:m>
                <a:endParaRPr lang="en-IN" sz="2800" dirty="0"/>
              </a:p>
              <a:p>
                <a:pPr algn="just"/>
                <a:r>
                  <a:rPr lang="en-US" sz="2800" dirty="0"/>
                  <a:t>For the point </a:t>
                </a:r>
                <a:r>
                  <a:rPr lang="en-US" sz="2800" dirty="0" smtClean="0"/>
                  <a:t>6, </a:t>
                </a:r>
                <a:r>
                  <a:rPr lang="en-US" sz="2800" dirty="0"/>
                  <a:t>actual output (y1</a:t>
                </a:r>
                <a:r>
                  <a:rPr lang="en-US" sz="2800" dirty="0" smtClean="0"/>
                  <a:t>)=-1 </a:t>
                </a:r>
                <a:r>
                  <a:rPr lang="en-US" sz="2800" dirty="0"/>
                  <a:t>and it lies </a:t>
                </a:r>
                <a:r>
                  <a:rPr lang="en-US" sz="2800" dirty="0" smtClean="0"/>
                  <a:t>away from </a:t>
                </a:r>
                <a:r>
                  <a:rPr lang="en-US" sz="2800" dirty="0"/>
                  <a:t>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/>
                  <a:t>so its product with equation </a:t>
                </a:r>
                <a:r>
                  <a:rPr lang="en-US" sz="2800" dirty="0" smtClean="0"/>
                  <a:t>(3) </a:t>
                </a:r>
                <a:r>
                  <a:rPr lang="en-US" sz="2800" dirty="0"/>
                  <a:t>will be </a:t>
                </a:r>
                <a:r>
                  <a:rPr lang="en-US" sz="2800" dirty="0" smtClean="0"/>
                  <a:t>&gt; 1</a:t>
                </a:r>
                <a:r>
                  <a:rPr lang="en-US" sz="2800" dirty="0"/>
                  <a:t>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&gt;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</m:oMath>
                </a14:m>
                <a:endParaRPr lang="en-IN" sz="2800" dirty="0"/>
              </a:p>
              <a:p>
                <a:pPr algn="just"/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1000"/>
                <a:ext cx="8229600" cy="6248400"/>
              </a:xfrm>
              <a:blipFill rotWithShape="1">
                <a:blip r:embed="rId2"/>
                <a:stretch>
                  <a:fillRect l="-1259" t="-878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3146702"/>
            <a:ext cx="5405437" cy="3635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80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For the point 7, </a:t>
                </a:r>
                <a:r>
                  <a:rPr lang="en-US" sz="2800" dirty="0"/>
                  <a:t>actual output (y1)=1 and </a:t>
                </a:r>
                <a:r>
                  <a:rPr lang="en-US" sz="2800" dirty="0" smtClean="0"/>
                  <a:t>equation of </a:t>
                </a:r>
                <a:r>
                  <a:rPr lang="en-US" sz="2800" dirty="0"/>
                  <a:t>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will give value &lt; 1, so </a:t>
                </a:r>
                <a:r>
                  <a:rPr lang="en-US" sz="2800" dirty="0"/>
                  <a:t>its product with equation (2) will be </a:t>
                </a:r>
                <a:r>
                  <a:rPr lang="en-US" sz="2800" dirty="0" smtClean="0"/>
                  <a:t>&lt; </a:t>
                </a:r>
                <a:r>
                  <a:rPr lang="en-US" sz="2800" dirty="0"/>
                  <a:t>1,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&lt;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</m:oMath>
                </a14:m>
                <a:endParaRPr lang="en-IN" sz="2800" dirty="0"/>
              </a:p>
              <a:p>
                <a:pPr algn="just"/>
                <a:r>
                  <a:rPr lang="en-US" sz="2800" dirty="0"/>
                  <a:t>For the point </a:t>
                </a:r>
                <a:r>
                  <a:rPr lang="en-US" sz="2800" dirty="0" smtClean="0"/>
                  <a:t>8, </a:t>
                </a:r>
                <a:r>
                  <a:rPr lang="en-US" sz="2800" dirty="0"/>
                  <a:t>actual output (y1</a:t>
                </a:r>
                <a:r>
                  <a:rPr lang="en-US" sz="2800" dirty="0" smtClean="0"/>
                  <a:t>)=-1 </a:t>
                </a:r>
                <a:r>
                  <a:rPr lang="en-US" sz="2800" dirty="0"/>
                  <a:t>and </a:t>
                </a:r>
                <a:r>
                  <a:rPr lang="en-US" sz="2800" dirty="0" smtClean="0"/>
                  <a:t>equation of hyperplane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will give value &lt; 0 but &gt; -1, so </a:t>
                </a:r>
                <a:r>
                  <a:rPr lang="en-US" sz="2800" dirty="0"/>
                  <a:t>its product with equation </a:t>
                </a:r>
                <a:r>
                  <a:rPr lang="en-US" sz="2800" dirty="0" smtClean="0"/>
                  <a:t>(3) </a:t>
                </a:r>
                <a:r>
                  <a:rPr lang="en-US" sz="2800" dirty="0"/>
                  <a:t>will be </a:t>
                </a:r>
                <a:r>
                  <a:rPr lang="en-US" sz="2800" dirty="0" smtClean="0"/>
                  <a:t>&lt; </a:t>
                </a:r>
                <a:r>
                  <a:rPr lang="en-US" sz="2800" dirty="0"/>
                  <a:t>1, that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𝑏</m:t>
                        </m:r>
                        <m:r>
                          <a:rPr lang="en-US" sz="2800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sz="2800" b="0" i="1" smtClean="0">
                        <a:latin typeface="Cambria Math"/>
                      </a:rPr>
                      <m:t>&lt;</m:t>
                    </m:r>
                    <m:r>
                      <a:rPr lang="en-US" sz="2800" i="1">
                        <a:latin typeface="Cambria Math"/>
                      </a:rPr>
                      <m:t>1</m:t>
                    </m:r>
                  </m:oMath>
                </a14:m>
                <a:endParaRPr lang="en-IN" sz="2800" dirty="0"/>
              </a:p>
              <a:p>
                <a:pPr algn="just"/>
                <a:r>
                  <a:rPr lang="en-US" sz="2800" dirty="0" smtClean="0"/>
                  <a:t>So, for any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IN" sz="2800" dirty="0" smtClean="0"/>
              </a:p>
              <a:p>
                <a:pPr marL="457200" lvl="1" indent="0" algn="just">
                  <a:buNone/>
                </a:pPr>
                <a:r>
                  <a:rPr lang="en-US" sz="2400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∗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≥1</m:t>
                    </m:r>
                  </m:oMath>
                </a14:m>
                <a:r>
                  <a:rPr lang="en-IN" sz="2400" dirty="0" smtClean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 smtClean="0"/>
                  <a:t> can be correctly classified</a:t>
                </a:r>
              </a:p>
              <a:p>
                <a:pPr marL="457200" lvl="1" indent="0" algn="just">
                  <a:buNone/>
                </a:pPr>
                <a:r>
                  <a:rPr lang="en-US" sz="2400" dirty="0" smtClean="0"/>
                  <a:t>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 smtClean="0"/>
                  <a:t> cannot be correctly classified.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64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2484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Nonlinearly separable data</a:t>
                </a:r>
              </a:p>
              <a:p>
                <a:endParaRPr lang="en-US" sz="2800" dirty="0" smtClean="0"/>
              </a:p>
              <a:p>
                <a:endParaRPr lang="en-US" sz="2800" dirty="0"/>
              </a:p>
              <a:p>
                <a:endParaRPr lang="en-US" sz="2800" dirty="0" smtClean="0"/>
              </a:p>
              <a:p>
                <a:endParaRPr lang="en-US" sz="2800" dirty="0"/>
              </a:p>
              <a:p>
                <a:endParaRPr lang="en-US" sz="2800" dirty="0" smtClean="0"/>
              </a:p>
              <a:p>
                <a:pPr lvl="1"/>
                <a:r>
                  <a:rPr lang="en-US" sz="2400" dirty="0" smtClean="0"/>
                  <a:t>Solution is to add a third dimension.</a:t>
                </a:r>
              </a:p>
              <a:p>
                <a:pPr lvl="1"/>
                <a:r>
                  <a:rPr lang="en-US" sz="2400" dirty="0" smtClean="0"/>
                  <a:t>Let this third dimension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𝑍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𝑌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IN" sz="2400" dirty="0" smtClean="0"/>
              </a:p>
              <a:p>
                <a:pPr lvl="1"/>
                <a:endParaRPr lang="en-IN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248400"/>
              </a:xfrm>
              <a:blipFill rotWithShape="1">
                <a:blip r:embed="rId2"/>
                <a:stretch>
                  <a:fillRect l="-1259" t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838200"/>
            <a:ext cx="2976563" cy="2673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4254910"/>
            <a:ext cx="3481387" cy="260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support vector machines (svm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254910"/>
            <a:ext cx="3024188" cy="257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68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/>
              <a:t>Mapping it back to two dimensions</a:t>
            </a:r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 algn="just"/>
            <a:endParaRPr lang="en-US" sz="2400" dirty="0" smtClean="0"/>
          </a:p>
          <a:p>
            <a:pPr lvl="1" algn="just"/>
            <a:r>
              <a:rPr lang="en-US" sz="2400" dirty="0" smtClean="0"/>
              <a:t>This type of projection to higher dimensional could be very expensive computationally for large dimensional data.</a:t>
            </a:r>
          </a:p>
          <a:p>
            <a:pPr lvl="1" algn="just"/>
            <a:r>
              <a:rPr lang="en-US" sz="2400" dirty="0" smtClean="0"/>
              <a:t>Kernel trick: </a:t>
            </a:r>
          </a:p>
          <a:p>
            <a:pPr lvl="2" algn="just"/>
            <a:r>
              <a:rPr lang="en-US" sz="2000" dirty="0" smtClean="0"/>
              <a:t>A function which takes low dimensional input space with linearly non-separable data and maps it to higher dimensional space such that data is linearly separable. </a:t>
            </a:r>
            <a:endParaRPr lang="en-IN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581" y="875072"/>
            <a:ext cx="3561819" cy="308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389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smtClean="0"/>
                  <a:t>SVM Kernels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800" dirty="0" smtClean="0"/>
                  <a:t>Linear kernel – used for linearly separable data</a:t>
                </a:r>
              </a:p>
              <a:p>
                <a:pPr marL="914400" lvl="1" indent="-514350" algn="just"/>
                <a:r>
                  <a:rPr lang="en-US" sz="2400" dirty="0" smtClean="0"/>
                  <a:t>Given as,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𝐾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𝑠𝑢𝑚</m:t>
                    </m:r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𝑋</m:t>
                    </m:r>
                    <m:r>
                      <a:rPr lang="en-US" sz="2400" b="0" i="1" smtClean="0">
                        <a:latin typeface="Cambria Math"/>
                      </a:rPr>
                      <m:t>∗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IN" sz="2400" dirty="0" smtClean="0"/>
                  <a:t>, It is based on dot product of training samples.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800" dirty="0" smtClean="0"/>
                  <a:t>Polynomial kernel – used for nonlinearly separable data</a:t>
                </a:r>
              </a:p>
              <a:p>
                <a:pPr marL="914400" lvl="1" indent="-514350" algn="just"/>
                <a:r>
                  <a:rPr lang="en-US" sz="2400" dirty="0" smtClean="0"/>
                  <a:t>Given as,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𝐾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=1+</m:t>
                    </m:r>
                    <m:r>
                      <a:rPr lang="en-US" sz="2400" b="0" i="1" smtClean="0">
                        <a:latin typeface="Cambria Math"/>
                      </a:rPr>
                      <m:t>𝑠𝑢𝑚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sz="2400" dirty="0" smtClean="0"/>
                  <a:t>, where d is degree of polynomial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sz="2800" dirty="0" smtClean="0"/>
                  <a:t>RBF (Radial Basis Function) kernel – used for nonlinearly separable data</a:t>
                </a:r>
              </a:p>
              <a:p>
                <a:pPr marL="914400" lvl="1" indent="-514350" algn="just"/>
                <a:r>
                  <a:rPr lang="en-US" sz="2400" dirty="0" smtClean="0"/>
                  <a:t>Given as,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𝐾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exp</m:t>
                    </m:r>
                    <m:r>
                      <a:rPr lang="en-US" sz="2400" b="0" i="1" smtClean="0">
                        <a:latin typeface="Cambria Math"/>
                      </a:rPr>
                      <m:t>⁡(−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𝛾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∗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𝑠𝑢𝑚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IN" sz="2400" dirty="0" smtClean="0"/>
                  <a:t>, where </a:t>
                </a:r>
                <a:r>
                  <a:rPr lang="en-IN" sz="2400" dirty="0" smtClean="0">
                    <a:sym typeface="Symbol"/>
                  </a:rPr>
                  <a:t> is in the range 0 to 1.</a:t>
                </a:r>
              </a:p>
              <a:p>
                <a:pPr marL="914400" lvl="1" indent="-514350" algn="just"/>
                <a:r>
                  <a:rPr lang="en-US" sz="2400" dirty="0" smtClean="0">
                    <a:sym typeface="Symbol"/>
                  </a:rPr>
                  <a:t>Usually set to 0.1</a:t>
                </a:r>
              </a:p>
              <a:p>
                <a:pPr marL="914400" lvl="1" indent="-514350" algn="just"/>
                <a:r>
                  <a:rPr lang="en-US" sz="2400" dirty="0" smtClean="0">
                    <a:sym typeface="Symbol"/>
                  </a:rPr>
                  <a:t>Also called Gaussian kernel</a:t>
                </a:r>
                <a:endParaRPr lang="en-IN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481" t="-867" r="-1481" b="-12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88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570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Introduction to SVM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SVM classifier</dc:title>
  <dc:creator>acer</dc:creator>
  <cp:lastModifiedBy>acer</cp:lastModifiedBy>
  <cp:revision>25</cp:revision>
  <dcterms:created xsi:type="dcterms:W3CDTF">2006-08-16T00:00:00Z</dcterms:created>
  <dcterms:modified xsi:type="dcterms:W3CDTF">2020-10-25T12:37:21Z</dcterms:modified>
</cp:coreProperties>
</file>