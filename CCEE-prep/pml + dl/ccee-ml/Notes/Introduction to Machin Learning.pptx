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11375"/>
            <a:ext cx="7772400" cy="2308225"/>
          </a:xfrm>
        </p:spPr>
        <p:txBody>
          <a:bodyPr/>
          <a:lstStyle/>
          <a:p>
            <a:r>
              <a:rPr lang="en-IN" dirty="0" smtClean="0"/>
              <a:t>Introduction to </a:t>
            </a:r>
            <a:br>
              <a:rPr lang="en-IN" dirty="0" smtClean="0"/>
            </a:br>
            <a:r>
              <a:rPr lang="en-IN" dirty="0" smtClean="0"/>
              <a:t>Machine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66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r>
              <a:rPr lang="en-IN" dirty="0" smtClean="0"/>
              <a:t>Basic Terminologies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791200"/>
          </a:xfrm>
        </p:spPr>
        <p:txBody>
          <a:bodyPr/>
          <a:lstStyle/>
          <a:p>
            <a:r>
              <a:rPr lang="en-IN" dirty="0" smtClean="0"/>
              <a:t>Machine Learning</a:t>
            </a:r>
          </a:p>
          <a:p>
            <a:r>
              <a:rPr lang="en-IN" dirty="0" smtClean="0"/>
              <a:t>Soft Computing</a:t>
            </a:r>
          </a:p>
          <a:p>
            <a:pPr lvl="1" algn="just"/>
            <a:r>
              <a:rPr lang="en-US" dirty="0" smtClean="0"/>
              <a:t>When the solution is not fixed to a problem and cannot be solved </a:t>
            </a:r>
            <a:r>
              <a:rPr lang="en-US" smtClean="0"/>
              <a:t>using </a:t>
            </a:r>
            <a:r>
              <a:rPr lang="en-US" smtClean="0"/>
              <a:t>binary/fixed </a:t>
            </a:r>
            <a:r>
              <a:rPr lang="en-US" dirty="0" smtClean="0"/>
              <a:t>logic</a:t>
            </a:r>
            <a:endParaRPr lang="en-IN" dirty="0" smtClean="0"/>
          </a:p>
          <a:p>
            <a:r>
              <a:rPr lang="en-IN" dirty="0" smtClean="0"/>
              <a:t>Hard Computing</a:t>
            </a:r>
          </a:p>
          <a:p>
            <a:pPr lvl="1" algn="just"/>
            <a:r>
              <a:rPr lang="en-US" dirty="0" smtClean="0"/>
              <a:t>When there is a fixed solution to a problem and can be solved using </a:t>
            </a:r>
            <a:r>
              <a:rPr lang="en-US" dirty="0" smtClean="0"/>
              <a:t>binary/fixed </a:t>
            </a:r>
            <a:r>
              <a:rPr lang="en-US" dirty="0" smtClean="0"/>
              <a:t>logic.</a:t>
            </a:r>
            <a:endParaRPr lang="en-IN" dirty="0" smtClean="0"/>
          </a:p>
          <a:p>
            <a:r>
              <a:rPr lang="en-IN" dirty="0" smtClean="0"/>
              <a:t>Computational Intelligence</a:t>
            </a:r>
          </a:p>
          <a:p>
            <a:r>
              <a:rPr lang="en-IN" dirty="0" smtClean="0"/>
              <a:t>Artificial Intelligence</a:t>
            </a:r>
          </a:p>
          <a:p>
            <a:pPr lvl="1" algn="just"/>
            <a:r>
              <a:rPr lang="en-US" dirty="0" smtClean="0"/>
              <a:t>Also called Machine intelligence and it is some form of intelligence demonstrated by a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25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r>
              <a:rPr lang="en-IN" dirty="0" smtClean="0"/>
              <a:t>Basic Terminologies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867400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Machine Learning</a:t>
            </a:r>
          </a:p>
          <a:p>
            <a:pPr lvl="1" algn="just"/>
            <a:r>
              <a:rPr lang="en-US" dirty="0" smtClean="0"/>
              <a:t>It is an application of AI </a:t>
            </a:r>
            <a:r>
              <a:rPr lang="en-IN" dirty="0"/>
              <a:t> that provides systems the ability to automatically learn and improve from experience without being explicitly programmed.</a:t>
            </a:r>
            <a:endParaRPr lang="en-IN" dirty="0" smtClean="0"/>
          </a:p>
          <a:p>
            <a:r>
              <a:rPr lang="en-IN" dirty="0" smtClean="0"/>
              <a:t>Soft Computing</a:t>
            </a:r>
          </a:p>
          <a:p>
            <a:r>
              <a:rPr lang="en-IN" dirty="0" smtClean="0"/>
              <a:t>Hard Computing</a:t>
            </a:r>
          </a:p>
          <a:p>
            <a:r>
              <a:rPr lang="en-IN" dirty="0" smtClean="0"/>
              <a:t>Computational Intelligence</a:t>
            </a:r>
          </a:p>
          <a:p>
            <a:pPr lvl="1" algn="just"/>
            <a:r>
              <a:rPr lang="en-IN" dirty="0" smtClean="0"/>
              <a:t>It is </a:t>
            </a:r>
            <a:r>
              <a:rPr lang="en-IN" dirty="0"/>
              <a:t>a set of nature-inspired computational methodologies and approaches to address complex real-world problems to which mathematical or traditional modelling can be useless</a:t>
            </a:r>
            <a:endParaRPr lang="en-IN" dirty="0" smtClean="0"/>
          </a:p>
          <a:p>
            <a:r>
              <a:rPr lang="en-IN" dirty="0" smtClean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70425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Types of Machine Learning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r>
              <a:rPr lang="en-US" dirty="0" smtClean="0"/>
              <a:t>There are mainly 4 types of ML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Supervised Learning</a:t>
            </a:r>
          </a:p>
          <a:p>
            <a:pPr marL="914400" lvl="1" indent="-514350" algn="just"/>
            <a:r>
              <a:rPr lang="en-US" dirty="0" smtClean="0"/>
              <a:t>In this type of learning algorithms, the expected output for a given input is known a prior.</a:t>
            </a:r>
          </a:p>
          <a:p>
            <a:pPr marL="914400" lvl="1" indent="-514350" algn="just"/>
            <a:r>
              <a:rPr lang="en-US" dirty="0" smtClean="0"/>
              <a:t>The machine must be able to map the given input to the expected output.</a:t>
            </a:r>
          </a:p>
          <a:p>
            <a:pPr marL="914400" lvl="1" indent="-514350" algn="just"/>
            <a:r>
              <a:rPr lang="en-US" dirty="0" smtClean="0"/>
              <a:t>A set of labelled data called training set is used to make the machine learn the mapping function.</a:t>
            </a:r>
          </a:p>
          <a:p>
            <a:pPr marL="914400" lvl="1" indent="-514350" algn="just"/>
            <a:r>
              <a:rPr lang="en-US" dirty="0" smtClean="0"/>
              <a:t>Regression &amp; classification problems are solved</a:t>
            </a:r>
          </a:p>
          <a:p>
            <a:pPr marL="914400" lvl="1" indent="-514350" algn="just"/>
            <a:r>
              <a:rPr lang="en-US" dirty="0" smtClean="0"/>
              <a:t>It is mainly used for predictive modelling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38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458200" cy="55626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Unsupervised Learning</a:t>
            </a:r>
          </a:p>
          <a:p>
            <a:pPr lvl="1" algn="just"/>
            <a:r>
              <a:rPr lang="en-US" dirty="0" smtClean="0"/>
              <a:t>In this type of learning algorithms, the expected output for a given input is not known.</a:t>
            </a:r>
          </a:p>
          <a:p>
            <a:pPr lvl="1" algn="just"/>
            <a:r>
              <a:rPr lang="en-US" dirty="0" smtClean="0"/>
              <a:t>The machine must be able to identify the similarities and/or dissimilarities among the given input samples.</a:t>
            </a:r>
          </a:p>
          <a:p>
            <a:pPr lvl="1" algn="just"/>
            <a:r>
              <a:rPr lang="en-US" dirty="0" smtClean="0"/>
              <a:t>An unlabeled set of data is used for unsupervised learning</a:t>
            </a:r>
          </a:p>
          <a:p>
            <a:pPr lvl="1" algn="just"/>
            <a:r>
              <a:rPr lang="en-US" dirty="0" smtClean="0"/>
              <a:t>Clustering problems are solved</a:t>
            </a:r>
          </a:p>
          <a:p>
            <a:pPr lvl="1" algn="just"/>
            <a:r>
              <a:rPr lang="en-US" dirty="0" smtClean="0"/>
              <a:t>It is mainly used for descriptive modelling 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Types of Machine Learning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5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Semi-supervised Learning</a:t>
            </a:r>
          </a:p>
          <a:p>
            <a:pPr marL="914400" lvl="1" indent="-514350" algn="just"/>
            <a:r>
              <a:rPr lang="en-US" dirty="0" smtClean="0"/>
              <a:t>In this type of learning algorithms, the machine is trained on combination of labeled and unlabeled dataset</a:t>
            </a:r>
          </a:p>
          <a:p>
            <a:pPr marL="914400" lvl="1" indent="-514350" algn="just"/>
            <a:r>
              <a:rPr lang="en-US" dirty="0" smtClean="0"/>
              <a:t>The combination contains a very few labeled data and very large amount of unlabeled data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Reinforcement Learning</a:t>
            </a:r>
          </a:p>
          <a:p>
            <a:pPr lvl="1" algn="just"/>
            <a:r>
              <a:rPr lang="en-US" dirty="0" smtClean="0"/>
              <a:t>In this type of algorithms, the machine learns using trial and error basis.</a:t>
            </a:r>
          </a:p>
          <a:p>
            <a:pPr lvl="1" algn="just"/>
            <a:r>
              <a:rPr lang="en-IN" dirty="0"/>
              <a:t>The machine learns from past experience and tries to capture the best possible knowledge to make accurate decisions</a:t>
            </a:r>
            <a:r>
              <a:rPr lang="en-IN" b="1" i="1" dirty="0"/>
              <a:t> </a:t>
            </a:r>
            <a:r>
              <a:rPr lang="en-IN" dirty="0"/>
              <a:t>based on the feedback received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Types of Machine Learning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0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Applications of Machine Learning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90600"/>
            <a:ext cx="6781800" cy="5638800"/>
          </a:xfrm>
        </p:spPr>
      </p:pic>
    </p:spTree>
    <p:extLst>
      <p:ext uri="{BB962C8B-B14F-4D97-AF65-F5344CB8AC3E}">
        <p14:creationId xmlns:p14="http://schemas.microsoft.com/office/powerpoint/2010/main" val="24310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334000"/>
          </a:xfrm>
        </p:spPr>
        <p:txBody>
          <a:bodyPr/>
          <a:lstStyle/>
          <a:p>
            <a:r>
              <a:rPr lang="en-IN" b="1" dirty="0"/>
              <a:t>True positives (TP)</a:t>
            </a:r>
            <a:r>
              <a:rPr lang="en-IN" dirty="0"/>
              <a:t>: Predicted positive and are actually positive.</a:t>
            </a:r>
          </a:p>
          <a:p>
            <a:r>
              <a:rPr lang="en-IN" b="1" dirty="0"/>
              <a:t>False positives (FP)</a:t>
            </a:r>
            <a:r>
              <a:rPr lang="en-IN" dirty="0"/>
              <a:t>: Predicted positive and are actually negative.</a:t>
            </a:r>
          </a:p>
          <a:p>
            <a:r>
              <a:rPr lang="en-IN" b="1" dirty="0"/>
              <a:t>True negatives (TN)</a:t>
            </a:r>
            <a:r>
              <a:rPr lang="en-IN" dirty="0"/>
              <a:t>: Predicted negative and are actually negative.</a:t>
            </a:r>
          </a:p>
          <a:p>
            <a:r>
              <a:rPr lang="en-IN" b="1" dirty="0"/>
              <a:t>False negatives (FN)</a:t>
            </a:r>
            <a:r>
              <a:rPr lang="en-IN" dirty="0"/>
              <a:t>: Predicted negative and are actually positive.</a:t>
            </a: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8392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Evaluating Machine Learning Techniques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2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r>
              <a:rPr lang="en-IN" b="1" dirty="0"/>
              <a:t>Confusion matrix</a:t>
            </a:r>
          </a:p>
          <a:p>
            <a:pPr lvl="1" algn="just"/>
            <a:r>
              <a:rPr lang="en-IN" dirty="0"/>
              <a:t>It’s just a representation of the above parameters in a matrix format.</a:t>
            </a: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8392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Evaluating Machine Learning Techniques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600"/>
            <a:ext cx="7696199" cy="419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2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867400"/>
          </a:xfrm>
        </p:spPr>
        <p:txBody>
          <a:bodyPr/>
          <a:lstStyle/>
          <a:p>
            <a:r>
              <a:rPr lang="en-IN" b="1" dirty="0" smtClean="0"/>
              <a:t>Accuracy</a:t>
            </a:r>
          </a:p>
          <a:p>
            <a:endParaRPr lang="en-US" b="1" dirty="0"/>
          </a:p>
          <a:p>
            <a:pPr lvl="1"/>
            <a:r>
              <a:rPr lang="en-US" dirty="0" smtClean="0"/>
              <a:t>Doesn’t work well with imbalance dataset</a:t>
            </a:r>
            <a:endParaRPr lang="en-IN" dirty="0"/>
          </a:p>
          <a:p>
            <a:r>
              <a:rPr lang="en-IN" b="1" dirty="0"/>
              <a:t>Precision</a:t>
            </a:r>
          </a:p>
          <a:p>
            <a:pPr lvl="1" algn="just"/>
            <a:r>
              <a:rPr lang="en-IN" dirty="0"/>
              <a:t>Percentage of positive instances out of the </a:t>
            </a:r>
            <a:r>
              <a:rPr lang="en-IN" b="1" i="1" dirty="0"/>
              <a:t>total predicted positive </a:t>
            </a:r>
            <a:r>
              <a:rPr lang="en-IN" dirty="0"/>
              <a:t>instances</a:t>
            </a:r>
            <a:r>
              <a:rPr lang="en-IN" dirty="0" smtClean="0"/>
              <a:t>.</a:t>
            </a:r>
          </a:p>
          <a:p>
            <a:pPr lvl="1" algn="just"/>
            <a:endParaRPr lang="en-US" dirty="0" smtClean="0"/>
          </a:p>
          <a:p>
            <a:pPr algn="just"/>
            <a:r>
              <a:rPr lang="en-IN" b="1" dirty="0"/>
              <a:t>Recall/Sensitivity/True Positive Rate</a:t>
            </a:r>
          </a:p>
          <a:p>
            <a:pPr lvl="1" algn="just"/>
            <a:r>
              <a:rPr lang="en-IN" dirty="0"/>
              <a:t>Percentage of positive instances out of the</a:t>
            </a:r>
            <a:r>
              <a:rPr lang="en-IN" b="1" i="1" dirty="0"/>
              <a:t> total actual positive</a:t>
            </a:r>
            <a:r>
              <a:rPr lang="en-IN" dirty="0"/>
              <a:t> instances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8392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Evaluating Machine Learning Techniques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1371600"/>
            <a:ext cx="21907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09104"/>
            <a:ext cx="1000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Image for pos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7" y="5943600"/>
            <a:ext cx="105727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69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62600"/>
          </a:xfrm>
        </p:spPr>
        <p:txBody>
          <a:bodyPr/>
          <a:lstStyle/>
          <a:p>
            <a:r>
              <a:rPr lang="en-IN" b="1" dirty="0" smtClean="0"/>
              <a:t>Specificity/True Negative Rate</a:t>
            </a:r>
          </a:p>
          <a:p>
            <a:pPr lvl="1" algn="just"/>
            <a:r>
              <a:rPr lang="en-IN" dirty="0"/>
              <a:t>Percentage of negative instances out of the</a:t>
            </a:r>
            <a:r>
              <a:rPr lang="en-IN" b="1" i="1" dirty="0"/>
              <a:t> total actual negative</a:t>
            </a:r>
            <a:r>
              <a:rPr lang="en-IN" dirty="0"/>
              <a:t> </a:t>
            </a:r>
            <a:r>
              <a:rPr lang="en-IN" dirty="0" smtClean="0"/>
              <a:t>instances</a:t>
            </a:r>
          </a:p>
          <a:p>
            <a:pPr lvl="1" algn="just"/>
            <a:endParaRPr lang="en-US" b="1" dirty="0" smtClean="0"/>
          </a:p>
          <a:p>
            <a:pPr algn="just"/>
            <a:r>
              <a:rPr lang="en-IN" b="1" dirty="0"/>
              <a:t>F1 score</a:t>
            </a:r>
          </a:p>
          <a:p>
            <a:pPr lvl="1" algn="just"/>
            <a:r>
              <a:rPr lang="en-IN" dirty="0"/>
              <a:t>It</a:t>
            </a:r>
            <a:r>
              <a:rPr lang="en-IN" b="1" dirty="0"/>
              <a:t> </a:t>
            </a:r>
            <a:r>
              <a:rPr lang="en-IN" dirty="0"/>
              <a:t>is the harmonic mean of precision and recall. This takes the contribution of </a:t>
            </a:r>
            <a:r>
              <a:rPr lang="en-IN" dirty="0" smtClean="0"/>
              <a:t>both, precision as well as recall</a:t>
            </a:r>
          </a:p>
          <a:p>
            <a:pPr lvl="1" algn="just"/>
            <a:endParaRPr lang="en-IN" b="1" dirty="0"/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8392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Evaluating Machine Learning Techniques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14600"/>
            <a:ext cx="10763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49" y="4879258"/>
            <a:ext cx="50768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665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10600" cy="5562600"/>
          </a:xfrm>
        </p:spPr>
        <p:txBody>
          <a:bodyPr/>
          <a:lstStyle/>
          <a:p>
            <a:r>
              <a:rPr lang="en-IN" b="1" dirty="0"/>
              <a:t>ROC curve</a:t>
            </a:r>
          </a:p>
          <a:p>
            <a:pPr lvl="1" algn="just"/>
            <a:r>
              <a:rPr lang="en-IN" dirty="0"/>
              <a:t>ROC stands for receiver operating characteristic and the graph is plotted against TPR and </a:t>
            </a:r>
            <a:r>
              <a:rPr lang="en-IN" dirty="0" smtClean="0"/>
              <a:t>FPR</a:t>
            </a:r>
          </a:p>
          <a:p>
            <a:pPr lvl="1" algn="just"/>
            <a:endParaRPr lang="en-IN" dirty="0" smtClean="0"/>
          </a:p>
          <a:p>
            <a:pPr lvl="1" algn="just"/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8392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Evaluating Machine Learning Techniques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49" y="3314700"/>
            <a:ext cx="6667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7" y="2590800"/>
            <a:ext cx="60293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199" y="3810000"/>
            <a:ext cx="4343401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9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Simple guide to confusion matrix termin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828800"/>
            <a:ext cx="6184501" cy="3519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582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418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Introduction to  Machine Learning</vt:lpstr>
      <vt:lpstr>Basic Terminologies</vt:lpstr>
      <vt:lpstr>Basic Terminologies</vt:lpstr>
      <vt:lpstr>Types of Machine Learning Algorithms</vt:lpstr>
      <vt:lpstr>Types of Machine Learning Algorithms</vt:lpstr>
      <vt:lpstr>Types of Machine Learning Algorithms</vt:lpstr>
      <vt:lpstr>Applications of Machine Learning</vt:lpstr>
      <vt:lpstr>Evaluating Machine Learning Techniques</vt:lpstr>
      <vt:lpstr>Evaluating Machine Learning Techniques</vt:lpstr>
      <vt:lpstr>Evaluating Machine Learning Techniques</vt:lpstr>
      <vt:lpstr>Evaluating Machine Learning Techniques</vt:lpstr>
      <vt:lpstr>Evaluating Machine Learning Techniques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Machine Learning</dc:title>
  <dc:creator>acer</dc:creator>
  <cp:lastModifiedBy>Vipul Dalal</cp:lastModifiedBy>
  <cp:revision>33</cp:revision>
  <dcterms:created xsi:type="dcterms:W3CDTF">2006-08-16T00:00:00Z</dcterms:created>
  <dcterms:modified xsi:type="dcterms:W3CDTF">2022-05-16T04:21:17Z</dcterms:modified>
</cp:coreProperties>
</file>