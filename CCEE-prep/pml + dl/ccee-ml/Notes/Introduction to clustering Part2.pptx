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8" r:id="rId3"/>
    <p:sldId id="279" r:id="rId4"/>
    <p:sldId id="280" r:id="rId5"/>
    <p:sldId id="281" r:id="rId6"/>
    <p:sldId id="282" r:id="rId7"/>
    <p:sldId id="291" r:id="rId8"/>
    <p:sldId id="292" r:id="rId9"/>
    <p:sldId id="293" r:id="rId10"/>
    <p:sldId id="283" r:id="rId11"/>
    <p:sldId id="284" r:id="rId12"/>
    <p:sldId id="285" r:id="rId13"/>
    <p:sldId id="286" r:id="rId14"/>
    <p:sldId id="287" r:id="rId15"/>
    <p:sldId id="288" r:id="rId16"/>
    <p:sldId id="289"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6" d="100"/>
          <a:sy n="66" d="100"/>
        </p:scale>
        <p:origin x="1422"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667000"/>
            <a:ext cx="7772400" cy="1470025"/>
          </a:xfrm>
        </p:spPr>
        <p:txBody>
          <a:bodyPr/>
          <a:lstStyle/>
          <a:p>
            <a:r>
              <a:rPr lang="en-US" dirty="0"/>
              <a:t>Introduction to Clustering</a:t>
            </a:r>
            <a:endParaRPr lang="en-IN" dirty="0"/>
          </a:p>
        </p:txBody>
      </p:sp>
    </p:spTree>
    <p:extLst>
      <p:ext uri="{BB962C8B-B14F-4D97-AF65-F5344CB8AC3E}">
        <p14:creationId xmlns:p14="http://schemas.microsoft.com/office/powerpoint/2010/main" val="180588549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lstStyle/>
          <a:p>
            <a:r>
              <a:rPr lang="en-IN" dirty="0"/>
              <a:t>K-means clustering</a:t>
            </a:r>
          </a:p>
        </p:txBody>
      </p:sp>
      <p:sp>
        <p:nvSpPr>
          <p:cNvPr id="3" name="Content Placeholder 2"/>
          <p:cNvSpPr>
            <a:spLocks noGrp="1"/>
          </p:cNvSpPr>
          <p:nvPr>
            <p:ph idx="1"/>
          </p:nvPr>
        </p:nvSpPr>
        <p:spPr>
          <a:xfrm>
            <a:off x="228600" y="762000"/>
            <a:ext cx="8763000" cy="5867400"/>
          </a:xfrm>
        </p:spPr>
        <p:txBody>
          <a:bodyPr>
            <a:normAutofit/>
          </a:bodyPr>
          <a:lstStyle/>
          <a:p>
            <a:pPr algn="just"/>
            <a:r>
              <a:rPr lang="en-IN" sz="2800" dirty="0"/>
              <a:t>centroid based partitioning approach </a:t>
            </a:r>
            <a:r>
              <a:rPr lang="en-IN" sz="2800"/>
              <a:t>to </a:t>
            </a:r>
            <a:r>
              <a:rPr lang="en-IN" sz="2800" smtClean="0"/>
              <a:t>clustering.</a:t>
            </a:r>
            <a:endParaRPr lang="en-IN" sz="2800" dirty="0"/>
          </a:p>
          <a:p>
            <a:pPr algn="just"/>
            <a:r>
              <a:rPr lang="en-IN" sz="2800" dirty="0"/>
              <a:t>Input: the set of objects and number of clusters k</a:t>
            </a:r>
          </a:p>
          <a:p>
            <a:pPr algn="just"/>
            <a:endParaRPr lang="en-IN" sz="2800" dirty="0"/>
          </a:p>
          <a:p>
            <a:pPr algn="just"/>
            <a:r>
              <a:rPr lang="en-IN" sz="2800" dirty="0"/>
              <a:t>K-means (set of objects, number of clusters k)</a:t>
            </a:r>
          </a:p>
          <a:p>
            <a:pPr marL="914400" lvl="1" indent="-514350" algn="just">
              <a:buFont typeface="+mj-lt"/>
              <a:buAutoNum type="arabicPeriod"/>
            </a:pPr>
            <a:r>
              <a:rPr lang="en-IN" sz="2400" dirty="0"/>
              <a:t>Select k objects arbitrarily as initial cluster centroids;</a:t>
            </a:r>
          </a:p>
          <a:p>
            <a:pPr marL="914400" lvl="1" indent="-514350" algn="just">
              <a:buFont typeface="+mj-lt"/>
              <a:buAutoNum type="arabicPeriod"/>
            </a:pPr>
            <a:r>
              <a:rPr lang="en-IN" sz="2400" dirty="0"/>
              <a:t>Assign/reassign each object to the cluster to which the object is closest based on its distance from the cluster centroid;</a:t>
            </a:r>
          </a:p>
          <a:p>
            <a:pPr marL="914400" lvl="1" indent="-514350" algn="just">
              <a:buFont typeface="+mj-lt"/>
              <a:buAutoNum type="arabicPeriod"/>
            </a:pPr>
            <a:r>
              <a:rPr lang="en-IN" sz="2400" dirty="0"/>
              <a:t>Update the cluster centroids;</a:t>
            </a:r>
          </a:p>
          <a:p>
            <a:pPr marL="914400" lvl="1" indent="-514350" algn="just">
              <a:buFont typeface="+mj-lt"/>
              <a:buAutoNum type="arabicPeriod"/>
            </a:pPr>
            <a:r>
              <a:rPr lang="en-IN" sz="2400" dirty="0"/>
              <a:t>Repeat steps (2) &amp; (3) until there is no change.</a:t>
            </a:r>
          </a:p>
        </p:txBody>
      </p:sp>
    </p:spTree>
    <p:extLst>
      <p:ext uri="{BB962C8B-B14F-4D97-AF65-F5344CB8AC3E}">
        <p14:creationId xmlns:p14="http://schemas.microsoft.com/office/powerpoint/2010/main" val="2360615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1000"/>
                                        <p:tgtEl>
                                          <p:spTgt spid="3">
                                            <p:txEl>
                                              <p:pRg st="6" end="6"/>
                                            </p:txEl>
                                          </p:spTgt>
                                        </p:tgtEl>
                                      </p:cBhvr>
                                    </p:animEffect>
                                    <p:anim calcmode="lin" valueType="num">
                                      <p:cBhvr>
                                        <p:cTn id="4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1000"/>
                                        <p:tgtEl>
                                          <p:spTgt spid="3">
                                            <p:txEl>
                                              <p:pRg st="7" end="7"/>
                                            </p:txEl>
                                          </p:spTgt>
                                        </p:tgtEl>
                                      </p:cBhvr>
                                    </p:animEffect>
                                    <p:anim calcmode="lin" valueType="num">
                                      <p:cBhvr>
                                        <p:cTn id="5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14400"/>
            <a:ext cx="8686800" cy="5638800"/>
          </a:xfrm>
        </p:spPr>
        <p:txBody>
          <a:bodyPr>
            <a:normAutofit/>
          </a:bodyPr>
          <a:lstStyle/>
          <a:p>
            <a:pPr algn="just"/>
            <a:r>
              <a:rPr lang="en-IN" sz="2800" dirty="0"/>
              <a:t>Consider a dataset D={22, 9, 12, 15, 10, 27, 35, 18, 36, 11}. Create 3 clusters using k-means clustering</a:t>
            </a:r>
          </a:p>
        </p:txBody>
      </p:sp>
      <p:sp>
        <p:nvSpPr>
          <p:cNvPr id="4" name="Title 1"/>
          <p:cNvSpPr>
            <a:spLocks noGrp="1"/>
          </p:cNvSpPr>
          <p:nvPr>
            <p:ph type="title"/>
          </p:nvPr>
        </p:nvSpPr>
        <p:spPr>
          <a:xfrm>
            <a:off x="457200" y="0"/>
            <a:ext cx="8229600" cy="838200"/>
          </a:xfrm>
        </p:spPr>
        <p:txBody>
          <a:bodyPr/>
          <a:lstStyle/>
          <a:p>
            <a:r>
              <a:rPr lang="en-IN" dirty="0"/>
              <a:t>K-means clustering</a:t>
            </a:r>
          </a:p>
        </p:txBody>
      </p:sp>
      <p:graphicFrame>
        <p:nvGraphicFramePr>
          <p:cNvPr id="5" name="Table 4"/>
          <p:cNvGraphicFramePr>
            <a:graphicFrameLocks noGrp="1"/>
          </p:cNvGraphicFramePr>
          <p:nvPr>
            <p:extLst>
              <p:ext uri="{D42A27DB-BD31-4B8C-83A1-F6EECF244321}">
                <p14:modId xmlns:p14="http://schemas.microsoft.com/office/powerpoint/2010/main" val="531204342"/>
              </p:ext>
            </p:extLst>
          </p:nvPr>
        </p:nvGraphicFramePr>
        <p:xfrm>
          <a:off x="304800" y="1945640"/>
          <a:ext cx="8610600" cy="1483360"/>
        </p:xfrm>
        <a:graphic>
          <a:graphicData uri="http://schemas.openxmlformats.org/drawingml/2006/table">
            <a:tbl>
              <a:tblPr firstRow="1" bandRow="1">
                <a:tableStyleId>{2D5ABB26-0587-4C30-8999-92F81FD0307C}</a:tableStyleId>
              </a:tblPr>
              <a:tblGrid>
                <a:gridCol w="9144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70840">
                <a:tc>
                  <a:txBody>
                    <a:bodyPr/>
                    <a:lstStyle/>
                    <a:p>
                      <a:pPr algn="ctr"/>
                      <a:r>
                        <a:rPr lang="en-IN" dirty="0"/>
                        <a:t>Cluster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Objects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Centroids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708084910"/>
              </p:ext>
            </p:extLst>
          </p:nvPr>
        </p:nvGraphicFramePr>
        <p:xfrm>
          <a:off x="304800" y="3505200"/>
          <a:ext cx="8610600" cy="1483360"/>
        </p:xfrm>
        <a:graphic>
          <a:graphicData uri="http://schemas.openxmlformats.org/drawingml/2006/table">
            <a:tbl>
              <a:tblPr firstRow="1" bandRow="1">
                <a:tableStyleId>{2D5ABB26-0587-4C30-8999-92F81FD0307C}</a:tableStyleId>
              </a:tblPr>
              <a:tblGrid>
                <a:gridCol w="9144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70840">
                <a:tc>
                  <a:txBody>
                    <a:bodyPr/>
                    <a:lstStyle/>
                    <a:p>
                      <a:pPr algn="ctr"/>
                      <a:r>
                        <a:rPr lang="en-IN" dirty="0"/>
                        <a:t>Cluster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Objects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Centroids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22, 27, 35, 18, 36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27.6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9, 10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9.5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12, 15, 11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12.6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42703682"/>
              </p:ext>
            </p:extLst>
          </p:nvPr>
        </p:nvGraphicFramePr>
        <p:xfrm>
          <a:off x="304800" y="5146040"/>
          <a:ext cx="8610600" cy="1483360"/>
        </p:xfrm>
        <a:graphic>
          <a:graphicData uri="http://schemas.openxmlformats.org/drawingml/2006/table">
            <a:tbl>
              <a:tblPr firstRow="1" bandRow="1">
                <a:tableStyleId>{2D5ABB26-0587-4C30-8999-92F81FD0307C}</a:tableStyleId>
              </a:tblPr>
              <a:tblGrid>
                <a:gridCol w="9144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70840">
                <a:tc>
                  <a:txBody>
                    <a:bodyPr/>
                    <a:lstStyle/>
                    <a:p>
                      <a:pPr algn="ctr"/>
                      <a:r>
                        <a:rPr lang="en-IN" dirty="0"/>
                        <a:t>Cluster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Objects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Centroids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22, 27, 35, 36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9, 10, 11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12, 15, 18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926370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1"/>
            <a:ext cx="8229600" cy="762000"/>
          </a:xfrm>
        </p:spPr>
        <p:txBody>
          <a:bodyPr>
            <a:normAutofit/>
          </a:bodyPr>
          <a:lstStyle/>
          <a:p>
            <a:r>
              <a:rPr lang="en-IN" sz="2800" dirty="0"/>
              <a:t>D={22, 9, 12, 15, 10, 27, 35, 18, 36, 11}</a:t>
            </a:r>
          </a:p>
        </p:txBody>
      </p:sp>
      <p:sp>
        <p:nvSpPr>
          <p:cNvPr id="4" name="Title 1"/>
          <p:cNvSpPr>
            <a:spLocks noGrp="1"/>
          </p:cNvSpPr>
          <p:nvPr>
            <p:ph type="title"/>
          </p:nvPr>
        </p:nvSpPr>
        <p:spPr>
          <a:xfrm>
            <a:off x="457200" y="0"/>
            <a:ext cx="8229600" cy="838200"/>
          </a:xfrm>
        </p:spPr>
        <p:txBody>
          <a:bodyPr/>
          <a:lstStyle/>
          <a:p>
            <a:r>
              <a:rPr lang="en-IN" dirty="0"/>
              <a:t>K-means clustering</a:t>
            </a:r>
          </a:p>
        </p:txBody>
      </p:sp>
      <p:graphicFrame>
        <p:nvGraphicFramePr>
          <p:cNvPr id="5" name="Table 4"/>
          <p:cNvGraphicFramePr>
            <a:graphicFrameLocks noGrp="1"/>
          </p:cNvGraphicFramePr>
          <p:nvPr>
            <p:extLst>
              <p:ext uri="{D42A27DB-BD31-4B8C-83A1-F6EECF244321}">
                <p14:modId xmlns:p14="http://schemas.microsoft.com/office/powerpoint/2010/main" val="3782441270"/>
              </p:ext>
            </p:extLst>
          </p:nvPr>
        </p:nvGraphicFramePr>
        <p:xfrm>
          <a:off x="304800" y="1676400"/>
          <a:ext cx="8610600" cy="1483360"/>
        </p:xfrm>
        <a:graphic>
          <a:graphicData uri="http://schemas.openxmlformats.org/drawingml/2006/table">
            <a:tbl>
              <a:tblPr firstRow="1" bandRow="1">
                <a:tableStyleId>{2D5ABB26-0587-4C30-8999-92F81FD0307C}</a:tableStyleId>
              </a:tblPr>
              <a:tblGrid>
                <a:gridCol w="9144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70840">
                <a:tc>
                  <a:txBody>
                    <a:bodyPr/>
                    <a:lstStyle/>
                    <a:p>
                      <a:pPr algn="ctr"/>
                      <a:r>
                        <a:rPr lang="en-IN" dirty="0"/>
                        <a:t>Cluster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Objects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Centroids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22, 27, 35, 36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9, 10, 11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12, 15, 18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031557294"/>
              </p:ext>
            </p:extLst>
          </p:nvPr>
        </p:nvGraphicFramePr>
        <p:xfrm>
          <a:off x="304800" y="3352800"/>
          <a:ext cx="8610600" cy="1483360"/>
        </p:xfrm>
        <a:graphic>
          <a:graphicData uri="http://schemas.openxmlformats.org/drawingml/2006/table">
            <a:tbl>
              <a:tblPr firstRow="1" bandRow="1">
                <a:tableStyleId>{2D5ABB26-0587-4C30-8999-92F81FD0307C}</a:tableStyleId>
              </a:tblPr>
              <a:tblGrid>
                <a:gridCol w="9144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70840">
                <a:tc>
                  <a:txBody>
                    <a:bodyPr/>
                    <a:lstStyle/>
                    <a:p>
                      <a:pPr algn="ctr"/>
                      <a:r>
                        <a:rPr lang="en-IN" dirty="0"/>
                        <a:t>Cluster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Objects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Centroids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27, 35, 36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32.6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9, 12, 10, 11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10.5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22, 15, 18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18.3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1682816612"/>
              </p:ext>
            </p:extLst>
          </p:nvPr>
        </p:nvGraphicFramePr>
        <p:xfrm>
          <a:off x="304800" y="4993640"/>
          <a:ext cx="8610600" cy="1483360"/>
        </p:xfrm>
        <a:graphic>
          <a:graphicData uri="http://schemas.openxmlformats.org/drawingml/2006/table">
            <a:tbl>
              <a:tblPr firstRow="1" bandRow="1">
                <a:tableStyleId>{2D5ABB26-0587-4C30-8999-92F81FD0307C}</a:tableStyleId>
              </a:tblPr>
              <a:tblGrid>
                <a:gridCol w="9144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70840">
                <a:tc>
                  <a:txBody>
                    <a:bodyPr/>
                    <a:lstStyle/>
                    <a:p>
                      <a:pPr algn="ctr"/>
                      <a:r>
                        <a:rPr lang="en-IN" dirty="0"/>
                        <a:t>Cluster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Objects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Centroids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27, 35, 36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32.6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9, 12, 10, 11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10.5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22, 15, 18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18.3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784287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lstStyle/>
          <a:p>
            <a:r>
              <a:rPr lang="en-IN" dirty="0"/>
              <a:t>Hierarchical clustering</a:t>
            </a:r>
          </a:p>
        </p:txBody>
      </p:sp>
      <p:sp>
        <p:nvSpPr>
          <p:cNvPr id="3" name="Content Placeholder 2"/>
          <p:cNvSpPr>
            <a:spLocks noGrp="1"/>
          </p:cNvSpPr>
          <p:nvPr>
            <p:ph idx="1"/>
          </p:nvPr>
        </p:nvSpPr>
        <p:spPr>
          <a:xfrm>
            <a:off x="228600" y="838200"/>
            <a:ext cx="8686800" cy="5791200"/>
          </a:xfrm>
        </p:spPr>
        <p:txBody>
          <a:bodyPr>
            <a:normAutofit/>
          </a:bodyPr>
          <a:lstStyle/>
          <a:p>
            <a:pPr algn="just"/>
            <a:r>
              <a:rPr lang="en-IN" sz="2800" dirty="0"/>
              <a:t>A tree structure called </a:t>
            </a:r>
            <a:r>
              <a:rPr lang="en-IN" sz="2800" dirty="0" err="1"/>
              <a:t>Dendrogram</a:t>
            </a:r>
            <a:r>
              <a:rPr lang="en-IN" sz="2800" dirty="0"/>
              <a:t> is used to specify the clustering process &amp; the clusters being created.</a:t>
            </a:r>
          </a:p>
          <a:p>
            <a:pPr algn="just"/>
            <a:r>
              <a:rPr lang="en-IN" sz="2800" dirty="0"/>
              <a:t>The root of the </a:t>
            </a:r>
            <a:r>
              <a:rPr lang="en-IN" sz="2800" dirty="0" err="1"/>
              <a:t>Dendrogram</a:t>
            </a:r>
            <a:r>
              <a:rPr lang="en-IN" sz="2800" dirty="0"/>
              <a:t> is a single clusters with all the objects in it whereas the leaf nodes consist of single element clusters.</a:t>
            </a:r>
          </a:p>
          <a:p>
            <a:pPr algn="just"/>
            <a:r>
              <a:rPr lang="en-IN" sz="2800" dirty="0"/>
              <a:t>Each level of </a:t>
            </a:r>
            <a:r>
              <a:rPr lang="en-IN" sz="2800" dirty="0" err="1"/>
              <a:t>Dendrogram</a:t>
            </a:r>
            <a:r>
              <a:rPr lang="en-IN" sz="2800" dirty="0"/>
              <a:t> is associated with a distance threshold which was used to form clusters at that level.</a:t>
            </a:r>
          </a:p>
          <a:p>
            <a:pPr algn="just"/>
            <a:r>
              <a:rPr lang="en-IN" sz="2800" dirty="0"/>
              <a:t>There are two approaches</a:t>
            </a:r>
          </a:p>
          <a:p>
            <a:pPr lvl="1" algn="just"/>
            <a:r>
              <a:rPr lang="en-IN" sz="2400" dirty="0"/>
              <a:t>Top down (Divisive): Starts with a single cluster which is iteratively subdivided into smaller clusters.</a:t>
            </a:r>
          </a:p>
          <a:p>
            <a:pPr lvl="1" algn="just"/>
            <a:r>
              <a:rPr lang="en-IN" sz="2400" dirty="0"/>
              <a:t>Bottom up (Agglomerative): Starts with each object in its own cluster and clusters are iteratively merged to form higher level larger clusters.</a:t>
            </a:r>
          </a:p>
        </p:txBody>
      </p:sp>
    </p:spTree>
    <p:extLst>
      <p:ext uri="{BB962C8B-B14F-4D97-AF65-F5344CB8AC3E}">
        <p14:creationId xmlns:p14="http://schemas.microsoft.com/office/powerpoint/2010/main" val="2371793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838200"/>
            <a:ext cx="8763000" cy="5791200"/>
          </a:xfrm>
        </p:spPr>
        <p:txBody>
          <a:bodyPr>
            <a:normAutofit/>
          </a:bodyPr>
          <a:lstStyle/>
          <a:p>
            <a:r>
              <a:rPr lang="en-IN" sz="2800" dirty="0"/>
              <a:t>Bottom up hierarchical clustering</a:t>
            </a:r>
          </a:p>
          <a:p>
            <a:pPr lvl="1" algn="just"/>
            <a:r>
              <a:rPr lang="en-IN" sz="2400" dirty="0"/>
              <a:t>There are three variations, depending up on how the distance between the clusters is calculated.</a:t>
            </a:r>
          </a:p>
          <a:p>
            <a:pPr lvl="1" algn="just"/>
            <a:r>
              <a:rPr lang="en-IN" sz="2400" dirty="0"/>
              <a:t>Single linkage, Complete linkage &amp; Average linkage</a:t>
            </a:r>
          </a:p>
          <a:p>
            <a:pPr lvl="1" algn="just"/>
            <a:endParaRPr lang="en-IN" sz="2400" dirty="0"/>
          </a:p>
          <a:p>
            <a:pPr lvl="1" algn="just"/>
            <a:endParaRPr lang="en-IN" sz="2400" dirty="0"/>
          </a:p>
          <a:p>
            <a:pPr lvl="1" algn="just"/>
            <a:endParaRPr lang="en-IN" sz="2400" dirty="0"/>
          </a:p>
          <a:p>
            <a:pPr lvl="1" algn="just"/>
            <a:endParaRPr lang="en-IN" sz="2400" dirty="0"/>
          </a:p>
          <a:p>
            <a:pPr lvl="1" algn="just"/>
            <a:endParaRPr lang="en-IN" sz="2400" dirty="0"/>
          </a:p>
          <a:p>
            <a:pPr lvl="1" algn="just"/>
            <a:endParaRPr lang="en-IN" sz="2400" dirty="0"/>
          </a:p>
          <a:p>
            <a:pPr algn="just"/>
            <a:r>
              <a:rPr lang="en-IN" sz="2800" dirty="0"/>
              <a:t>Top down hierarchical clustering</a:t>
            </a:r>
          </a:p>
          <a:p>
            <a:pPr lvl="1" algn="just"/>
            <a:r>
              <a:rPr lang="en-IN" sz="2400" dirty="0"/>
              <a:t>In each iteration, one of the existing clusters is selected for split</a:t>
            </a:r>
          </a:p>
          <a:p>
            <a:pPr lvl="1" algn="just"/>
            <a:r>
              <a:rPr lang="en-IN" sz="2400" dirty="0"/>
              <a:t>The split is performed such that the error is minimized</a:t>
            </a:r>
          </a:p>
        </p:txBody>
      </p:sp>
      <p:sp>
        <p:nvSpPr>
          <p:cNvPr id="4" name="Title 1"/>
          <p:cNvSpPr>
            <a:spLocks noGrp="1"/>
          </p:cNvSpPr>
          <p:nvPr>
            <p:ph type="title"/>
          </p:nvPr>
        </p:nvSpPr>
        <p:spPr>
          <a:xfrm>
            <a:off x="457200" y="0"/>
            <a:ext cx="8229600" cy="838200"/>
          </a:xfrm>
        </p:spPr>
        <p:txBody>
          <a:bodyPr/>
          <a:lstStyle/>
          <a:p>
            <a:r>
              <a:rPr lang="en-IN" dirty="0"/>
              <a:t>Hierarchical clustering</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357" y="2590800"/>
            <a:ext cx="2666999" cy="2673112"/>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1028" name="Picture 4" descr="https://www.solver.com/files/images/xlminer/HClst/farthest_neighbor1.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6157" y="2637504"/>
            <a:ext cx="2743199" cy="263151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2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2731" y="2651459"/>
            <a:ext cx="2714625" cy="2612453"/>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021052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026"/>
                                        </p:tgtEl>
                                        <p:attrNameLst>
                                          <p:attrName>style.visibility</p:attrName>
                                        </p:attrNameLst>
                                      </p:cBhvr>
                                      <p:to>
                                        <p:strVal val="visible"/>
                                      </p:to>
                                    </p:set>
                                    <p:animEffect transition="in" filter="fade">
                                      <p:cBhvr>
                                        <p:cTn id="28" dur="1000"/>
                                        <p:tgtEl>
                                          <p:spTgt spid="1026"/>
                                        </p:tgtEl>
                                      </p:cBhvr>
                                    </p:animEffect>
                                    <p:anim calcmode="lin" valueType="num">
                                      <p:cBhvr>
                                        <p:cTn id="29" dur="1000" fill="hold"/>
                                        <p:tgtEl>
                                          <p:spTgt spid="1026"/>
                                        </p:tgtEl>
                                        <p:attrNameLst>
                                          <p:attrName>ppt_x</p:attrName>
                                        </p:attrNameLst>
                                      </p:cBhvr>
                                      <p:tavLst>
                                        <p:tav tm="0">
                                          <p:val>
                                            <p:strVal val="#ppt_x"/>
                                          </p:val>
                                        </p:tav>
                                        <p:tav tm="100000">
                                          <p:val>
                                            <p:strVal val="#ppt_x"/>
                                          </p:val>
                                        </p:tav>
                                      </p:tavLst>
                                    </p:anim>
                                    <p:anim calcmode="lin" valueType="num">
                                      <p:cBhvr>
                                        <p:cTn id="30"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028"/>
                                        </p:tgtEl>
                                        <p:attrNameLst>
                                          <p:attrName>style.visibility</p:attrName>
                                        </p:attrNameLst>
                                      </p:cBhvr>
                                      <p:to>
                                        <p:strVal val="visible"/>
                                      </p:to>
                                    </p:set>
                                    <p:animEffect transition="in" filter="fade">
                                      <p:cBhvr>
                                        <p:cTn id="35" dur="1000"/>
                                        <p:tgtEl>
                                          <p:spTgt spid="1028"/>
                                        </p:tgtEl>
                                      </p:cBhvr>
                                    </p:animEffect>
                                    <p:anim calcmode="lin" valueType="num">
                                      <p:cBhvr>
                                        <p:cTn id="36" dur="1000" fill="hold"/>
                                        <p:tgtEl>
                                          <p:spTgt spid="1028"/>
                                        </p:tgtEl>
                                        <p:attrNameLst>
                                          <p:attrName>ppt_x</p:attrName>
                                        </p:attrNameLst>
                                      </p:cBhvr>
                                      <p:tavLst>
                                        <p:tav tm="0">
                                          <p:val>
                                            <p:strVal val="#ppt_x"/>
                                          </p:val>
                                        </p:tav>
                                        <p:tav tm="100000">
                                          <p:val>
                                            <p:strVal val="#ppt_x"/>
                                          </p:val>
                                        </p:tav>
                                      </p:tavLst>
                                    </p:anim>
                                    <p:anim calcmode="lin" valueType="num">
                                      <p:cBhvr>
                                        <p:cTn id="37" dur="1000" fill="hold"/>
                                        <p:tgtEl>
                                          <p:spTgt spid="1028"/>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029"/>
                                        </p:tgtEl>
                                        <p:attrNameLst>
                                          <p:attrName>style.visibility</p:attrName>
                                        </p:attrNameLst>
                                      </p:cBhvr>
                                      <p:to>
                                        <p:strVal val="visible"/>
                                      </p:to>
                                    </p:set>
                                    <p:animEffect transition="in" filter="fade">
                                      <p:cBhvr>
                                        <p:cTn id="42" dur="1000"/>
                                        <p:tgtEl>
                                          <p:spTgt spid="1029"/>
                                        </p:tgtEl>
                                      </p:cBhvr>
                                    </p:animEffect>
                                    <p:anim calcmode="lin" valueType="num">
                                      <p:cBhvr>
                                        <p:cTn id="43" dur="1000" fill="hold"/>
                                        <p:tgtEl>
                                          <p:spTgt spid="1029"/>
                                        </p:tgtEl>
                                        <p:attrNameLst>
                                          <p:attrName>ppt_x</p:attrName>
                                        </p:attrNameLst>
                                      </p:cBhvr>
                                      <p:tavLst>
                                        <p:tav tm="0">
                                          <p:val>
                                            <p:strVal val="#ppt_x"/>
                                          </p:val>
                                        </p:tav>
                                        <p:tav tm="100000">
                                          <p:val>
                                            <p:strVal val="#ppt_x"/>
                                          </p:val>
                                        </p:tav>
                                      </p:tavLst>
                                    </p:anim>
                                    <p:anim calcmode="lin" valueType="num">
                                      <p:cBhvr>
                                        <p:cTn id="44" dur="1000" fill="hold"/>
                                        <p:tgtEl>
                                          <p:spTgt spid="1029"/>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Effect transition="in" filter="fade">
                                      <p:cBhvr>
                                        <p:cTn id="49" dur="1000"/>
                                        <p:tgtEl>
                                          <p:spTgt spid="3">
                                            <p:txEl>
                                              <p:pRg st="9" end="9"/>
                                            </p:txEl>
                                          </p:spTgt>
                                        </p:tgtEl>
                                      </p:cBhvr>
                                    </p:animEffect>
                                    <p:anim calcmode="lin" valueType="num">
                                      <p:cBhvr>
                                        <p:cTn id="50"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10" end="10"/>
                                            </p:txEl>
                                          </p:spTgt>
                                        </p:tgtEl>
                                        <p:attrNameLst>
                                          <p:attrName>style.visibility</p:attrName>
                                        </p:attrNameLst>
                                      </p:cBhvr>
                                      <p:to>
                                        <p:strVal val="visible"/>
                                      </p:to>
                                    </p:set>
                                    <p:animEffect transition="in" filter="fade">
                                      <p:cBhvr>
                                        <p:cTn id="56" dur="1000"/>
                                        <p:tgtEl>
                                          <p:spTgt spid="3">
                                            <p:txEl>
                                              <p:pRg st="10" end="10"/>
                                            </p:txEl>
                                          </p:spTgt>
                                        </p:tgtEl>
                                      </p:cBhvr>
                                    </p:animEffect>
                                    <p:anim calcmode="lin" valueType="num">
                                      <p:cBhvr>
                                        <p:cTn id="57"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3">
                                            <p:txEl>
                                              <p:pRg st="11" end="11"/>
                                            </p:txEl>
                                          </p:spTgt>
                                        </p:tgtEl>
                                        <p:attrNameLst>
                                          <p:attrName>style.visibility</p:attrName>
                                        </p:attrNameLst>
                                      </p:cBhvr>
                                      <p:to>
                                        <p:strVal val="visible"/>
                                      </p:to>
                                    </p:set>
                                    <p:animEffect transition="in" filter="fade">
                                      <p:cBhvr>
                                        <p:cTn id="63" dur="1000"/>
                                        <p:tgtEl>
                                          <p:spTgt spid="3">
                                            <p:txEl>
                                              <p:pRg st="11" end="11"/>
                                            </p:txEl>
                                          </p:spTgt>
                                        </p:tgtEl>
                                      </p:cBhvr>
                                    </p:animEffect>
                                    <p:anim calcmode="lin" valueType="num">
                                      <p:cBhvr>
                                        <p:cTn id="64"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1847870797"/>
              </p:ext>
            </p:extLst>
          </p:nvPr>
        </p:nvGraphicFramePr>
        <p:xfrm>
          <a:off x="152400" y="838200"/>
          <a:ext cx="2438400" cy="2966720"/>
        </p:xfrm>
        <a:graphic>
          <a:graphicData uri="http://schemas.openxmlformats.org/drawingml/2006/table">
            <a:tbl>
              <a:tblPr firstRow="1" bandRow="1">
                <a:tableStyleId>{2D5ABB26-0587-4C30-8999-92F81FD0307C}</a:tableStyleId>
              </a:tblPr>
              <a:tblGrid>
                <a:gridCol w="10668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370840">
                <a:tc>
                  <a:txBody>
                    <a:bodyPr/>
                    <a:lstStyle/>
                    <a:p>
                      <a:r>
                        <a:rPr lang="en-US" sz="1600" dirty="0"/>
                        <a:t>Food item</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Protein </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fat</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1600" dirty="0"/>
                        <a:t>1</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1.1</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60</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1600" dirty="0"/>
                        <a:t>2</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8.2</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20</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1600" dirty="0"/>
                        <a:t>3</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4.2</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35</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sz="1600" dirty="0"/>
                        <a:t>4</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1.5</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21</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r>
                        <a:rPr lang="en-US" sz="1600" dirty="0"/>
                        <a:t>5</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7.6</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15</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r>
                        <a:rPr lang="en-US" sz="1600" dirty="0"/>
                        <a:t>6</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2</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55</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r>
                        <a:rPr lang="en-US" sz="1600" dirty="0"/>
                        <a:t>7</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3.9</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39</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4" name="Title 1"/>
          <p:cNvSpPr>
            <a:spLocks noGrp="1"/>
          </p:cNvSpPr>
          <p:nvPr>
            <p:ph type="title"/>
          </p:nvPr>
        </p:nvSpPr>
        <p:spPr>
          <a:xfrm>
            <a:off x="457200" y="0"/>
            <a:ext cx="8229600" cy="838200"/>
          </a:xfrm>
        </p:spPr>
        <p:txBody>
          <a:bodyPr/>
          <a:lstStyle/>
          <a:p>
            <a:r>
              <a:rPr lang="en-IN" dirty="0"/>
              <a:t>Hierarchical clustering</a:t>
            </a:r>
          </a:p>
        </p:txBody>
      </p:sp>
      <p:graphicFrame>
        <p:nvGraphicFramePr>
          <p:cNvPr id="6" name="Table 5"/>
          <p:cNvGraphicFramePr>
            <a:graphicFrameLocks noGrp="1"/>
          </p:cNvGraphicFramePr>
          <p:nvPr>
            <p:extLst>
              <p:ext uri="{D42A27DB-BD31-4B8C-83A1-F6EECF244321}">
                <p14:modId xmlns:p14="http://schemas.microsoft.com/office/powerpoint/2010/main" val="3420943888"/>
              </p:ext>
            </p:extLst>
          </p:nvPr>
        </p:nvGraphicFramePr>
        <p:xfrm>
          <a:off x="2819400" y="838200"/>
          <a:ext cx="6096000" cy="2966720"/>
        </p:xfrm>
        <a:graphic>
          <a:graphicData uri="http://schemas.openxmlformats.org/drawingml/2006/table">
            <a:tbl>
              <a:tblPr firstRow="1" bandRow="1">
                <a:tableStyleId>{2D5ABB26-0587-4C30-8999-92F81FD0307C}</a:tableStyleId>
              </a:tblPr>
              <a:tblGrid>
                <a:gridCol w="7620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762000">
                  <a:extLst>
                    <a:ext uri="{9D8B030D-6E8A-4147-A177-3AD203B41FA5}">
                      <a16:colId xmlns:a16="http://schemas.microsoft.com/office/drawing/2014/main" val="20004"/>
                    </a:ext>
                  </a:extLst>
                </a:gridCol>
                <a:gridCol w="762000">
                  <a:extLst>
                    <a:ext uri="{9D8B030D-6E8A-4147-A177-3AD203B41FA5}">
                      <a16:colId xmlns:a16="http://schemas.microsoft.com/office/drawing/2014/main" val="20005"/>
                    </a:ext>
                  </a:extLst>
                </a:gridCol>
                <a:gridCol w="762000">
                  <a:extLst>
                    <a:ext uri="{9D8B030D-6E8A-4147-A177-3AD203B41FA5}">
                      <a16:colId xmlns:a16="http://schemas.microsoft.com/office/drawing/2014/main" val="20006"/>
                    </a:ext>
                  </a:extLst>
                </a:gridCol>
                <a:gridCol w="762000">
                  <a:extLst>
                    <a:ext uri="{9D8B030D-6E8A-4147-A177-3AD203B41FA5}">
                      <a16:colId xmlns:a16="http://schemas.microsoft.com/office/drawing/2014/main" val="20007"/>
                    </a:ext>
                  </a:extLst>
                </a:gridCol>
              </a:tblGrid>
              <a:tr h="370840">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1</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2</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3</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4</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5</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6</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7</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1600" dirty="0"/>
                        <a:t>1</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0</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1600" dirty="0"/>
                        <a:t>2</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40.63</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0</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1600" dirty="0"/>
                        <a:t>3</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25.19</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15.24</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0</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sz="1600" dirty="0"/>
                        <a:t>4</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39</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6.77</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14.26</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0</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r>
                        <a:rPr lang="en-US" sz="1600" dirty="0"/>
                        <a:t>5</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45.47</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5.03</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20.27</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8.56</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0</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r>
                        <a:rPr lang="en-US" sz="1600" dirty="0"/>
                        <a:t>6</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5.08</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35.54</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20.12</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34</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40.39</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0</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r>
                        <a:rPr lang="en-US" sz="1600" dirty="0"/>
                        <a:t>7</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21.19</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19.48</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4.01</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18.16</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24.29</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16.11</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0</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Oval 6"/>
          <p:cNvSpPr/>
          <p:nvPr/>
        </p:nvSpPr>
        <p:spPr>
          <a:xfrm>
            <a:off x="5105400" y="3458496"/>
            <a:ext cx="609600" cy="3048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7" name="Group 16"/>
          <p:cNvGrpSpPr/>
          <p:nvPr/>
        </p:nvGrpSpPr>
        <p:grpSpPr>
          <a:xfrm>
            <a:off x="76200" y="4368969"/>
            <a:ext cx="3810000" cy="2412831"/>
            <a:chOff x="76200" y="4402723"/>
            <a:chExt cx="3810000" cy="2412831"/>
          </a:xfrm>
        </p:grpSpPr>
        <p:sp>
          <p:nvSpPr>
            <p:cNvPr id="8" name="TextBox 7"/>
            <p:cNvSpPr txBox="1"/>
            <p:nvPr/>
          </p:nvSpPr>
          <p:spPr>
            <a:xfrm>
              <a:off x="76200" y="6477000"/>
              <a:ext cx="3810000" cy="338554"/>
            </a:xfrm>
            <a:prstGeom prst="rect">
              <a:avLst/>
            </a:prstGeom>
            <a:noFill/>
          </p:spPr>
          <p:txBody>
            <a:bodyPr wrap="square" rtlCol="0">
              <a:spAutoFit/>
            </a:bodyPr>
            <a:lstStyle/>
            <a:p>
              <a:r>
                <a:rPr lang="en-US" sz="1600" dirty="0"/>
                <a:t>1    2    3    4    5     6     7       0</a:t>
              </a:r>
              <a:endParaRPr lang="en-IN" sz="1600" dirty="0"/>
            </a:p>
          </p:txBody>
        </p:sp>
        <p:cxnSp>
          <p:nvCxnSpPr>
            <p:cNvPr id="10" name="Straight Connector 9"/>
            <p:cNvCxnSpPr/>
            <p:nvPr/>
          </p:nvCxnSpPr>
          <p:spPr>
            <a:xfrm>
              <a:off x="2209800" y="4402723"/>
              <a:ext cx="0" cy="23790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762000" y="6096000"/>
              <a:ext cx="0" cy="381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2010696" y="6096000"/>
              <a:ext cx="0" cy="381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762000" y="6096000"/>
              <a:ext cx="1248696" cy="0"/>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2286000" y="6096000"/>
              <a:ext cx="990600" cy="338554"/>
            </a:xfrm>
            <a:prstGeom prst="rect">
              <a:avLst/>
            </a:prstGeom>
            <a:noFill/>
          </p:spPr>
          <p:txBody>
            <a:bodyPr wrap="square" rtlCol="0">
              <a:spAutoFit/>
            </a:bodyPr>
            <a:lstStyle/>
            <a:p>
              <a:r>
                <a:rPr lang="en-US" sz="1600" dirty="0"/>
                <a:t>4.01</a:t>
              </a:r>
              <a:endParaRPr lang="en-IN" sz="1600" dirty="0"/>
            </a:p>
          </p:txBody>
        </p:sp>
      </p:grpSp>
      <p:graphicFrame>
        <p:nvGraphicFramePr>
          <p:cNvPr id="18" name="Table 17"/>
          <p:cNvGraphicFramePr>
            <a:graphicFrameLocks noGrp="1"/>
          </p:cNvGraphicFramePr>
          <p:nvPr>
            <p:extLst>
              <p:ext uri="{D42A27DB-BD31-4B8C-83A1-F6EECF244321}">
                <p14:modId xmlns:p14="http://schemas.microsoft.com/office/powerpoint/2010/main" val="3717250754"/>
              </p:ext>
            </p:extLst>
          </p:nvPr>
        </p:nvGraphicFramePr>
        <p:xfrm>
          <a:off x="3352800" y="4033520"/>
          <a:ext cx="5334000" cy="2595880"/>
        </p:xfrm>
        <a:graphic>
          <a:graphicData uri="http://schemas.openxmlformats.org/drawingml/2006/table">
            <a:tbl>
              <a:tblPr firstRow="1" bandRow="1">
                <a:tableStyleId>{2D5ABB26-0587-4C30-8999-92F81FD0307C}</a:tableStyleId>
              </a:tblPr>
              <a:tblGrid>
                <a:gridCol w="7620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762000">
                  <a:extLst>
                    <a:ext uri="{9D8B030D-6E8A-4147-A177-3AD203B41FA5}">
                      <a16:colId xmlns:a16="http://schemas.microsoft.com/office/drawing/2014/main" val="20004"/>
                    </a:ext>
                  </a:extLst>
                </a:gridCol>
                <a:gridCol w="762000">
                  <a:extLst>
                    <a:ext uri="{9D8B030D-6E8A-4147-A177-3AD203B41FA5}">
                      <a16:colId xmlns:a16="http://schemas.microsoft.com/office/drawing/2014/main" val="20005"/>
                    </a:ext>
                  </a:extLst>
                </a:gridCol>
                <a:gridCol w="762000">
                  <a:extLst>
                    <a:ext uri="{9D8B030D-6E8A-4147-A177-3AD203B41FA5}">
                      <a16:colId xmlns:a16="http://schemas.microsoft.com/office/drawing/2014/main" val="20006"/>
                    </a:ext>
                  </a:extLst>
                </a:gridCol>
              </a:tblGrid>
              <a:tr h="370840">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1</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2</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3,7</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4</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5</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6</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1600" dirty="0"/>
                        <a:t>1</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0</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1600" dirty="0"/>
                        <a:t>2</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40.63</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0</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1600" dirty="0"/>
                        <a:t>3,7</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21.19</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15.24</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0</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sz="1600" dirty="0"/>
                        <a:t>4</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39</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6.77</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14.26</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0</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r>
                        <a:rPr lang="en-US" sz="1600" dirty="0"/>
                        <a:t>5</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45.47</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5.03</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20.27</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8.56</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0</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r>
                        <a:rPr lang="en-US" sz="1600" dirty="0"/>
                        <a:t>6</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5.08</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35.54</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16.11</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34</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40.39</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0</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9" name="Oval 18"/>
          <p:cNvSpPr/>
          <p:nvPr/>
        </p:nvSpPr>
        <p:spPr>
          <a:xfrm>
            <a:off x="4891548" y="5911644"/>
            <a:ext cx="609600" cy="3048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442584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1000"/>
                                        <p:tgtEl>
                                          <p:spTgt spid="17"/>
                                        </p:tgtEl>
                                      </p:cBhvr>
                                    </p:animEffect>
                                    <p:anim calcmode="lin" valueType="num">
                                      <p:cBhvr>
                                        <p:cTn id="22" dur="1000" fill="hold"/>
                                        <p:tgtEl>
                                          <p:spTgt spid="17"/>
                                        </p:tgtEl>
                                        <p:attrNameLst>
                                          <p:attrName>ppt_x</p:attrName>
                                        </p:attrNameLst>
                                      </p:cBhvr>
                                      <p:tavLst>
                                        <p:tav tm="0">
                                          <p:val>
                                            <p:strVal val="#ppt_x"/>
                                          </p:val>
                                        </p:tav>
                                        <p:tav tm="100000">
                                          <p:val>
                                            <p:strVal val="#ppt_x"/>
                                          </p:val>
                                        </p:tav>
                                      </p:tavLst>
                                    </p:anim>
                                    <p:anim calcmode="lin" valueType="num">
                                      <p:cBhvr>
                                        <p:cTn id="23"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1000"/>
                                        <p:tgtEl>
                                          <p:spTgt spid="18"/>
                                        </p:tgtEl>
                                      </p:cBhvr>
                                    </p:animEffect>
                                    <p:anim calcmode="lin" valueType="num">
                                      <p:cBhvr>
                                        <p:cTn id="29" dur="1000" fill="hold"/>
                                        <p:tgtEl>
                                          <p:spTgt spid="18"/>
                                        </p:tgtEl>
                                        <p:attrNameLst>
                                          <p:attrName>ppt_x</p:attrName>
                                        </p:attrNameLst>
                                      </p:cBhvr>
                                      <p:tavLst>
                                        <p:tav tm="0">
                                          <p:val>
                                            <p:strVal val="#ppt_x"/>
                                          </p:val>
                                        </p:tav>
                                        <p:tav tm="100000">
                                          <p:val>
                                            <p:strVal val="#ppt_x"/>
                                          </p:val>
                                        </p:tav>
                                      </p:tavLst>
                                    </p:anim>
                                    <p:anim calcmode="lin" valueType="num">
                                      <p:cBhvr>
                                        <p:cTn id="30"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1000"/>
                                        <p:tgtEl>
                                          <p:spTgt spid="19"/>
                                        </p:tgtEl>
                                      </p:cBhvr>
                                    </p:animEffect>
                                    <p:anim calcmode="lin" valueType="num">
                                      <p:cBhvr>
                                        <p:cTn id="36" dur="1000" fill="hold"/>
                                        <p:tgtEl>
                                          <p:spTgt spid="19"/>
                                        </p:tgtEl>
                                        <p:attrNameLst>
                                          <p:attrName>ppt_x</p:attrName>
                                        </p:attrNameLst>
                                      </p:cBhvr>
                                      <p:tavLst>
                                        <p:tav tm="0">
                                          <p:val>
                                            <p:strVal val="#ppt_x"/>
                                          </p:val>
                                        </p:tav>
                                        <p:tav tm="100000">
                                          <p:val>
                                            <p:strVal val="#ppt_x"/>
                                          </p:val>
                                        </p:tav>
                                      </p:tavLst>
                                    </p:anim>
                                    <p:anim calcmode="lin" valueType="num">
                                      <p:cBhvr>
                                        <p:cTn id="37"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0"/>
            <a:ext cx="8229600" cy="838200"/>
          </a:xfrm>
        </p:spPr>
        <p:txBody>
          <a:bodyPr/>
          <a:lstStyle/>
          <a:p>
            <a:r>
              <a:rPr lang="en-IN" dirty="0"/>
              <a:t>Hierarchical clustering</a:t>
            </a:r>
          </a:p>
        </p:txBody>
      </p:sp>
      <p:grpSp>
        <p:nvGrpSpPr>
          <p:cNvPr id="20" name="Group 19"/>
          <p:cNvGrpSpPr/>
          <p:nvPr/>
        </p:nvGrpSpPr>
        <p:grpSpPr>
          <a:xfrm>
            <a:off x="76200" y="762000"/>
            <a:ext cx="3810000" cy="2412831"/>
            <a:chOff x="76200" y="762000"/>
            <a:chExt cx="3810000" cy="2412831"/>
          </a:xfrm>
        </p:grpSpPr>
        <p:grpSp>
          <p:nvGrpSpPr>
            <p:cNvPr id="5" name="Group 4"/>
            <p:cNvGrpSpPr/>
            <p:nvPr/>
          </p:nvGrpSpPr>
          <p:grpSpPr>
            <a:xfrm>
              <a:off x="76200" y="762000"/>
              <a:ext cx="3810000" cy="2412831"/>
              <a:chOff x="76200" y="4402723"/>
              <a:chExt cx="3810000" cy="2412831"/>
            </a:xfrm>
          </p:grpSpPr>
          <p:sp>
            <p:nvSpPr>
              <p:cNvPr id="6" name="TextBox 5"/>
              <p:cNvSpPr txBox="1"/>
              <p:nvPr/>
            </p:nvSpPr>
            <p:spPr>
              <a:xfrm>
                <a:off x="76200" y="6477000"/>
                <a:ext cx="3810000" cy="338554"/>
              </a:xfrm>
              <a:prstGeom prst="rect">
                <a:avLst/>
              </a:prstGeom>
              <a:noFill/>
            </p:spPr>
            <p:txBody>
              <a:bodyPr wrap="square" rtlCol="0">
                <a:spAutoFit/>
              </a:bodyPr>
              <a:lstStyle/>
              <a:p>
                <a:r>
                  <a:rPr lang="en-US" sz="1600" dirty="0"/>
                  <a:t>1    2    3    4    5     6     7       0</a:t>
                </a:r>
                <a:endParaRPr lang="en-IN" sz="1600" dirty="0"/>
              </a:p>
            </p:txBody>
          </p:sp>
          <p:cxnSp>
            <p:nvCxnSpPr>
              <p:cNvPr id="7" name="Straight Connector 6"/>
              <p:cNvCxnSpPr/>
              <p:nvPr/>
            </p:nvCxnSpPr>
            <p:spPr>
              <a:xfrm>
                <a:off x="2209800" y="4402723"/>
                <a:ext cx="0" cy="23790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762000" y="6096000"/>
                <a:ext cx="0" cy="381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2010696" y="6096000"/>
                <a:ext cx="0" cy="381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762000" y="6096000"/>
                <a:ext cx="1248696"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286000" y="6096000"/>
                <a:ext cx="990600" cy="338554"/>
              </a:xfrm>
              <a:prstGeom prst="rect">
                <a:avLst/>
              </a:prstGeom>
              <a:noFill/>
            </p:spPr>
            <p:txBody>
              <a:bodyPr wrap="square" rtlCol="0">
                <a:spAutoFit/>
              </a:bodyPr>
              <a:lstStyle/>
              <a:p>
                <a:r>
                  <a:rPr lang="en-US" sz="1600" dirty="0"/>
                  <a:t>4.01</a:t>
                </a:r>
                <a:endParaRPr lang="en-IN" sz="1600" dirty="0"/>
              </a:p>
            </p:txBody>
          </p:sp>
        </p:grpSp>
        <p:cxnSp>
          <p:nvCxnSpPr>
            <p:cNvPr id="15" name="Straight Connector 14"/>
            <p:cNvCxnSpPr/>
            <p:nvPr/>
          </p:nvCxnSpPr>
          <p:spPr>
            <a:xfrm>
              <a:off x="457200" y="2057400"/>
              <a:ext cx="0" cy="7788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1371600" y="2057400"/>
              <a:ext cx="0" cy="7788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457200" y="2057400"/>
              <a:ext cx="914400"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2286000" y="1951538"/>
              <a:ext cx="685800" cy="338554"/>
            </a:xfrm>
            <a:prstGeom prst="rect">
              <a:avLst/>
            </a:prstGeom>
            <a:noFill/>
          </p:spPr>
          <p:txBody>
            <a:bodyPr wrap="square" rtlCol="0">
              <a:spAutoFit/>
            </a:bodyPr>
            <a:lstStyle/>
            <a:p>
              <a:r>
                <a:rPr lang="en-US" sz="1600" dirty="0"/>
                <a:t>5.03</a:t>
              </a:r>
              <a:endParaRPr lang="en-IN" sz="1600" dirty="0"/>
            </a:p>
          </p:txBody>
        </p:sp>
      </p:grpSp>
      <p:graphicFrame>
        <p:nvGraphicFramePr>
          <p:cNvPr id="21" name="Table 20"/>
          <p:cNvGraphicFramePr>
            <a:graphicFrameLocks noGrp="1"/>
          </p:cNvGraphicFramePr>
          <p:nvPr>
            <p:extLst>
              <p:ext uri="{D42A27DB-BD31-4B8C-83A1-F6EECF244321}">
                <p14:modId xmlns:p14="http://schemas.microsoft.com/office/powerpoint/2010/main" val="3149181244"/>
              </p:ext>
            </p:extLst>
          </p:nvPr>
        </p:nvGraphicFramePr>
        <p:xfrm>
          <a:off x="3733800" y="899160"/>
          <a:ext cx="4572000" cy="2225040"/>
        </p:xfrm>
        <a:graphic>
          <a:graphicData uri="http://schemas.openxmlformats.org/drawingml/2006/table">
            <a:tbl>
              <a:tblPr firstRow="1" bandRow="1">
                <a:tableStyleId>{2D5ABB26-0587-4C30-8999-92F81FD0307C}</a:tableStyleId>
              </a:tblPr>
              <a:tblGrid>
                <a:gridCol w="7620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762000">
                  <a:extLst>
                    <a:ext uri="{9D8B030D-6E8A-4147-A177-3AD203B41FA5}">
                      <a16:colId xmlns:a16="http://schemas.microsoft.com/office/drawing/2014/main" val="20004"/>
                    </a:ext>
                  </a:extLst>
                </a:gridCol>
                <a:gridCol w="762000">
                  <a:extLst>
                    <a:ext uri="{9D8B030D-6E8A-4147-A177-3AD203B41FA5}">
                      <a16:colId xmlns:a16="http://schemas.microsoft.com/office/drawing/2014/main" val="20005"/>
                    </a:ext>
                  </a:extLst>
                </a:gridCol>
              </a:tblGrid>
              <a:tr h="370840">
                <a:tc>
                  <a:txBody>
                    <a:bodyPr/>
                    <a:lstStyle/>
                    <a:p>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1</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2,5</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3,7</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4</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6</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1600" dirty="0"/>
                        <a:t>1</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0</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1600" dirty="0"/>
                        <a:t>2,5</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40.63</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0</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1600" dirty="0"/>
                        <a:t>3,7</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21.19</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15.24</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0</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sz="1600" dirty="0"/>
                        <a:t>4</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39</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6.77</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14.26</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0</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r>
                        <a:rPr lang="en-US" sz="1600" dirty="0"/>
                        <a:t>6</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5.08</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35.54</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16.11</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34</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0</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2" name="Oval 21"/>
          <p:cNvSpPr/>
          <p:nvPr/>
        </p:nvSpPr>
        <p:spPr>
          <a:xfrm>
            <a:off x="4510548" y="2775156"/>
            <a:ext cx="609600" cy="3048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41" name="Group 40"/>
          <p:cNvGrpSpPr/>
          <p:nvPr/>
        </p:nvGrpSpPr>
        <p:grpSpPr>
          <a:xfrm>
            <a:off x="152400" y="3987969"/>
            <a:ext cx="3810000" cy="2412831"/>
            <a:chOff x="152400" y="3987969"/>
            <a:chExt cx="3810000" cy="2412831"/>
          </a:xfrm>
        </p:grpSpPr>
        <p:grpSp>
          <p:nvGrpSpPr>
            <p:cNvPr id="23" name="Group 22"/>
            <p:cNvGrpSpPr/>
            <p:nvPr/>
          </p:nvGrpSpPr>
          <p:grpSpPr>
            <a:xfrm>
              <a:off x="152400" y="3987969"/>
              <a:ext cx="3810000" cy="2412831"/>
              <a:chOff x="76200" y="762000"/>
              <a:chExt cx="3810000" cy="2412831"/>
            </a:xfrm>
          </p:grpSpPr>
          <p:grpSp>
            <p:nvGrpSpPr>
              <p:cNvPr id="24" name="Group 23"/>
              <p:cNvGrpSpPr/>
              <p:nvPr/>
            </p:nvGrpSpPr>
            <p:grpSpPr>
              <a:xfrm>
                <a:off x="76200" y="762000"/>
                <a:ext cx="3810000" cy="2412831"/>
                <a:chOff x="76200" y="4402723"/>
                <a:chExt cx="3810000" cy="2412831"/>
              </a:xfrm>
            </p:grpSpPr>
            <p:sp>
              <p:nvSpPr>
                <p:cNvPr id="29" name="TextBox 28"/>
                <p:cNvSpPr txBox="1"/>
                <p:nvPr/>
              </p:nvSpPr>
              <p:spPr>
                <a:xfrm>
                  <a:off x="76200" y="6477000"/>
                  <a:ext cx="3810000" cy="338554"/>
                </a:xfrm>
                <a:prstGeom prst="rect">
                  <a:avLst/>
                </a:prstGeom>
                <a:noFill/>
              </p:spPr>
              <p:txBody>
                <a:bodyPr wrap="square" rtlCol="0">
                  <a:spAutoFit/>
                </a:bodyPr>
                <a:lstStyle/>
                <a:p>
                  <a:r>
                    <a:rPr lang="en-US" sz="1600" dirty="0"/>
                    <a:t>1    2    3    4    5     6     7       0</a:t>
                  </a:r>
                  <a:endParaRPr lang="en-IN" sz="1600" dirty="0"/>
                </a:p>
              </p:txBody>
            </p:sp>
            <p:cxnSp>
              <p:nvCxnSpPr>
                <p:cNvPr id="30" name="Straight Connector 29"/>
                <p:cNvCxnSpPr/>
                <p:nvPr/>
              </p:nvCxnSpPr>
              <p:spPr>
                <a:xfrm>
                  <a:off x="2209800" y="4402723"/>
                  <a:ext cx="0" cy="23790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762000" y="6096000"/>
                  <a:ext cx="0" cy="381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2010696" y="6096000"/>
                  <a:ext cx="0" cy="381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762000" y="6096000"/>
                  <a:ext cx="1248696" cy="0"/>
                </a:xfrm>
                <a:prstGeom prst="line">
                  <a:avLst/>
                </a:prstGeom>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2286000" y="6096000"/>
                  <a:ext cx="990600" cy="338554"/>
                </a:xfrm>
                <a:prstGeom prst="rect">
                  <a:avLst/>
                </a:prstGeom>
                <a:noFill/>
              </p:spPr>
              <p:txBody>
                <a:bodyPr wrap="square" rtlCol="0">
                  <a:spAutoFit/>
                </a:bodyPr>
                <a:lstStyle/>
                <a:p>
                  <a:r>
                    <a:rPr lang="en-US" sz="1600" dirty="0"/>
                    <a:t>4.01</a:t>
                  </a:r>
                  <a:endParaRPr lang="en-IN" sz="1600" dirty="0"/>
                </a:p>
              </p:txBody>
            </p:sp>
          </p:grpSp>
          <p:cxnSp>
            <p:nvCxnSpPr>
              <p:cNvPr id="25" name="Straight Connector 24"/>
              <p:cNvCxnSpPr/>
              <p:nvPr/>
            </p:nvCxnSpPr>
            <p:spPr>
              <a:xfrm>
                <a:off x="457200" y="2057400"/>
                <a:ext cx="0" cy="7788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1371600" y="2057400"/>
                <a:ext cx="0" cy="7788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457200" y="2057400"/>
                <a:ext cx="914400" cy="0"/>
              </a:xfrm>
              <a:prstGeom prst="line">
                <a:avLst/>
              </a:prstGeom>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2286000" y="1951538"/>
                <a:ext cx="685800" cy="338554"/>
              </a:xfrm>
              <a:prstGeom prst="rect">
                <a:avLst/>
              </a:prstGeom>
              <a:noFill/>
            </p:spPr>
            <p:txBody>
              <a:bodyPr wrap="square" rtlCol="0">
                <a:spAutoFit/>
              </a:bodyPr>
              <a:lstStyle/>
              <a:p>
                <a:r>
                  <a:rPr lang="en-US" sz="1600" dirty="0"/>
                  <a:t>5.03</a:t>
                </a:r>
                <a:endParaRPr lang="en-IN" sz="1600" dirty="0"/>
              </a:p>
            </p:txBody>
          </p:sp>
        </p:grpSp>
        <p:cxnSp>
          <p:nvCxnSpPr>
            <p:cNvPr id="36" name="Straight Connector 35"/>
            <p:cNvCxnSpPr/>
            <p:nvPr/>
          </p:nvCxnSpPr>
          <p:spPr>
            <a:xfrm>
              <a:off x="304800" y="4876800"/>
              <a:ext cx="0" cy="1185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1782096" y="4876800"/>
              <a:ext cx="0" cy="1185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304800" y="4876800"/>
              <a:ext cx="1477296" cy="0"/>
            </a:xfrm>
            <a:prstGeom prst="line">
              <a:avLst/>
            </a:prstGeom>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2362200" y="4800600"/>
              <a:ext cx="685800" cy="338554"/>
            </a:xfrm>
            <a:prstGeom prst="rect">
              <a:avLst/>
            </a:prstGeom>
            <a:noFill/>
          </p:spPr>
          <p:txBody>
            <a:bodyPr wrap="square" rtlCol="0">
              <a:spAutoFit/>
            </a:bodyPr>
            <a:lstStyle/>
            <a:p>
              <a:r>
                <a:rPr lang="en-US" sz="1600" dirty="0"/>
                <a:t>5.08</a:t>
              </a:r>
              <a:endParaRPr lang="en-IN" sz="1600" dirty="0"/>
            </a:p>
          </p:txBody>
        </p:sp>
      </p:grpSp>
      <p:graphicFrame>
        <p:nvGraphicFramePr>
          <p:cNvPr id="42" name="Table 41"/>
          <p:cNvGraphicFramePr>
            <a:graphicFrameLocks noGrp="1"/>
          </p:cNvGraphicFramePr>
          <p:nvPr>
            <p:extLst>
              <p:ext uri="{D42A27DB-BD31-4B8C-83A1-F6EECF244321}">
                <p14:modId xmlns:p14="http://schemas.microsoft.com/office/powerpoint/2010/main" val="1353485752"/>
              </p:ext>
            </p:extLst>
          </p:nvPr>
        </p:nvGraphicFramePr>
        <p:xfrm>
          <a:off x="3962400" y="4241800"/>
          <a:ext cx="3810000" cy="1854200"/>
        </p:xfrm>
        <a:graphic>
          <a:graphicData uri="http://schemas.openxmlformats.org/drawingml/2006/table">
            <a:tbl>
              <a:tblPr firstRow="1" bandRow="1">
                <a:tableStyleId>{2D5ABB26-0587-4C30-8999-92F81FD0307C}</a:tableStyleId>
              </a:tblPr>
              <a:tblGrid>
                <a:gridCol w="7620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762000">
                  <a:extLst>
                    <a:ext uri="{9D8B030D-6E8A-4147-A177-3AD203B41FA5}">
                      <a16:colId xmlns:a16="http://schemas.microsoft.com/office/drawing/2014/main" val="20004"/>
                    </a:ext>
                  </a:extLst>
                </a:gridCol>
              </a:tblGrid>
              <a:tr h="370840">
                <a:tc>
                  <a:txBody>
                    <a:bodyPr/>
                    <a:lstStyle/>
                    <a:p>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1,6</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2,5</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3,7</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4</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1600" dirty="0"/>
                        <a:t>1,6</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0</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1600" dirty="0"/>
                        <a:t>2,5</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35.54</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0</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1600" dirty="0"/>
                        <a:t>3,7</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16.11</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15.24</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0</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sz="1600" dirty="0"/>
                        <a:t>4</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34</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6.77</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14.26</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0</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3" name="Oval 42"/>
          <p:cNvSpPr/>
          <p:nvPr/>
        </p:nvSpPr>
        <p:spPr>
          <a:xfrm>
            <a:off x="5439696" y="5744496"/>
            <a:ext cx="609600" cy="3048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062789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1000"/>
                                        <p:tgtEl>
                                          <p:spTgt spid="21"/>
                                        </p:tgtEl>
                                      </p:cBhvr>
                                    </p:animEffect>
                                    <p:anim calcmode="lin" valueType="num">
                                      <p:cBhvr>
                                        <p:cTn id="15" dur="1000" fill="hold"/>
                                        <p:tgtEl>
                                          <p:spTgt spid="21"/>
                                        </p:tgtEl>
                                        <p:attrNameLst>
                                          <p:attrName>ppt_x</p:attrName>
                                        </p:attrNameLst>
                                      </p:cBhvr>
                                      <p:tavLst>
                                        <p:tav tm="0">
                                          <p:val>
                                            <p:strVal val="#ppt_x"/>
                                          </p:val>
                                        </p:tav>
                                        <p:tav tm="100000">
                                          <p:val>
                                            <p:strVal val="#ppt_x"/>
                                          </p:val>
                                        </p:tav>
                                      </p:tavLst>
                                    </p:anim>
                                    <p:anim calcmode="lin" valueType="num">
                                      <p:cBhvr>
                                        <p:cTn id="16"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1000"/>
                                        <p:tgtEl>
                                          <p:spTgt spid="22"/>
                                        </p:tgtEl>
                                      </p:cBhvr>
                                    </p:animEffect>
                                    <p:anim calcmode="lin" valueType="num">
                                      <p:cBhvr>
                                        <p:cTn id="22" dur="1000" fill="hold"/>
                                        <p:tgtEl>
                                          <p:spTgt spid="22"/>
                                        </p:tgtEl>
                                        <p:attrNameLst>
                                          <p:attrName>ppt_x</p:attrName>
                                        </p:attrNameLst>
                                      </p:cBhvr>
                                      <p:tavLst>
                                        <p:tav tm="0">
                                          <p:val>
                                            <p:strVal val="#ppt_x"/>
                                          </p:val>
                                        </p:tav>
                                        <p:tav tm="100000">
                                          <p:val>
                                            <p:strVal val="#ppt_x"/>
                                          </p:val>
                                        </p:tav>
                                      </p:tavLst>
                                    </p:anim>
                                    <p:anim calcmode="lin" valueType="num">
                                      <p:cBhvr>
                                        <p:cTn id="23"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fade">
                                      <p:cBhvr>
                                        <p:cTn id="28" dur="1000"/>
                                        <p:tgtEl>
                                          <p:spTgt spid="41"/>
                                        </p:tgtEl>
                                      </p:cBhvr>
                                    </p:animEffect>
                                    <p:anim calcmode="lin" valueType="num">
                                      <p:cBhvr>
                                        <p:cTn id="29" dur="1000" fill="hold"/>
                                        <p:tgtEl>
                                          <p:spTgt spid="41"/>
                                        </p:tgtEl>
                                        <p:attrNameLst>
                                          <p:attrName>ppt_x</p:attrName>
                                        </p:attrNameLst>
                                      </p:cBhvr>
                                      <p:tavLst>
                                        <p:tav tm="0">
                                          <p:val>
                                            <p:strVal val="#ppt_x"/>
                                          </p:val>
                                        </p:tav>
                                        <p:tav tm="100000">
                                          <p:val>
                                            <p:strVal val="#ppt_x"/>
                                          </p:val>
                                        </p:tav>
                                      </p:tavLst>
                                    </p:anim>
                                    <p:anim calcmode="lin" valueType="num">
                                      <p:cBhvr>
                                        <p:cTn id="30"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2"/>
                                        </p:tgtEl>
                                        <p:attrNameLst>
                                          <p:attrName>style.visibility</p:attrName>
                                        </p:attrNameLst>
                                      </p:cBhvr>
                                      <p:to>
                                        <p:strVal val="visible"/>
                                      </p:to>
                                    </p:set>
                                    <p:animEffect transition="in" filter="fade">
                                      <p:cBhvr>
                                        <p:cTn id="35" dur="1000"/>
                                        <p:tgtEl>
                                          <p:spTgt spid="42"/>
                                        </p:tgtEl>
                                      </p:cBhvr>
                                    </p:animEffect>
                                    <p:anim calcmode="lin" valueType="num">
                                      <p:cBhvr>
                                        <p:cTn id="36" dur="1000" fill="hold"/>
                                        <p:tgtEl>
                                          <p:spTgt spid="42"/>
                                        </p:tgtEl>
                                        <p:attrNameLst>
                                          <p:attrName>ppt_x</p:attrName>
                                        </p:attrNameLst>
                                      </p:cBhvr>
                                      <p:tavLst>
                                        <p:tav tm="0">
                                          <p:val>
                                            <p:strVal val="#ppt_x"/>
                                          </p:val>
                                        </p:tav>
                                        <p:tav tm="100000">
                                          <p:val>
                                            <p:strVal val="#ppt_x"/>
                                          </p:val>
                                        </p:tav>
                                      </p:tavLst>
                                    </p:anim>
                                    <p:anim calcmode="lin" valueType="num">
                                      <p:cBhvr>
                                        <p:cTn id="37"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fade">
                                      <p:cBhvr>
                                        <p:cTn id="42" dur="1000"/>
                                        <p:tgtEl>
                                          <p:spTgt spid="43"/>
                                        </p:tgtEl>
                                      </p:cBhvr>
                                    </p:animEffect>
                                    <p:anim calcmode="lin" valueType="num">
                                      <p:cBhvr>
                                        <p:cTn id="43" dur="1000" fill="hold"/>
                                        <p:tgtEl>
                                          <p:spTgt spid="43"/>
                                        </p:tgtEl>
                                        <p:attrNameLst>
                                          <p:attrName>ppt_x</p:attrName>
                                        </p:attrNameLst>
                                      </p:cBhvr>
                                      <p:tavLst>
                                        <p:tav tm="0">
                                          <p:val>
                                            <p:strVal val="#ppt_x"/>
                                          </p:val>
                                        </p:tav>
                                        <p:tav tm="100000">
                                          <p:val>
                                            <p:strVal val="#ppt_x"/>
                                          </p:val>
                                        </p:tav>
                                      </p:tavLst>
                                    </p:anim>
                                    <p:anim calcmode="lin" valueType="num">
                                      <p:cBhvr>
                                        <p:cTn id="44"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4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0"/>
            <a:ext cx="8229600" cy="838200"/>
          </a:xfrm>
        </p:spPr>
        <p:txBody>
          <a:bodyPr/>
          <a:lstStyle/>
          <a:p>
            <a:r>
              <a:rPr lang="en-IN" dirty="0"/>
              <a:t>Hierarchical clustering</a:t>
            </a:r>
          </a:p>
        </p:txBody>
      </p:sp>
      <p:grpSp>
        <p:nvGrpSpPr>
          <p:cNvPr id="30" name="Group 29"/>
          <p:cNvGrpSpPr/>
          <p:nvPr/>
        </p:nvGrpSpPr>
        <p:grpSpPr>
          <a:xfrm>
            <a:off x="152400" y="990600"/>
            <a:ext cx="3810000" cy="2412831"/>
            <a:chOff x="152400" y="990600"/>
            <a:chExt cx="3810000" cy="2412831"/>
          </a:xfrm>
        </p:grpSpPr>
        <p:grpSp>
          <p:nvGrpSpPr>
            <p:cNvPr id="28" name="Group 27"/>
            <p:cNvGrpSpPr/>
            <p:nvPr/>
          </p:nvGrpSpPr>
          <p:grpSpPr>
            <a:xfrm>
              <a:off x="152400" y="990600"/>
              <a:ext cx="3810000" cy="2412831"/>
              <a:chOff x="152400" y="990600"/>
              <a:chExt cx="3810000" cy="2412831"/>
            </a:xfrm>
          </p:grpSpPr>
          <p:grpSp>
            <p:nvGrpSpPr>
              <p:cNvPr id="5" name="Group 4"/>
              <p:cNvGrpSpPr/>
              <p:nvPr/>
            </p:nvGrpSpPr>
            <p:grpSpPr>
              <a:xfrm>
                <a:off x="152400" y="990600"/>
                <a:ext cx="3810000" cy="2412831"/>
                <a:chOff x="152400" y="3987969"/>
                <a:chExt cx="3810000" cy="2412831"/>
              </a:xfrm>
            </p:grpSpPr>
            <p:grpSp>
              <p:nvGrpSpPr>
                <p:cNvPr id="6" name="Group 5"/>
                <p:cNvGrpSpPr/>
                <p:nvPr/>
              </p:nvGrpSpPr>
              <p:grpSpPr>
                <a:xfrm>
                  <a:off x="152400" y="3987969"/>
                  <a:ext cx="3810000" cy="2412831"/>
                  <a:chOff x="76200" y="762000"/>
                  <a:chExt cx="3810000" cy="2412831"/>
                </a:xfrm>
              </p:grpSpPr>
              <p:grpSp>
                <p:nvGrpSpPr>
                  <p:cNvPr id="11" name="Group 10"/>
                  <p:cNvGrpSpPr/>
                  <p:nvPr/>
                </p:nvGrpSpPr>
                <p:grpSpPr>
                  <a:xfrm>
                    <a:off x="76200" y="762000"/>
                    <a:ext cx="3810000" cy="2412831"/>
                    <a:chOff x="76200" y="4402723"/>
                    <a:chExt cx="3810000" cy="2412831"/>
                  </a:xfrm>
                </p:grpSpPr>
                <p:sp>
                  <p:nvSpPr>
                    <p:cNvPr id="16" name="TextBox 15"/>
                    <p:cNvSpPr txBox="1"/>
                    <p:nvPr/>
                  </p:nvSpPr>
                  <p:spPr>
                    <a:xfrm>
                      <a:off x="76200" y="6477000"/>
                      <a:ext cx="3810000" cy="338554"/>
                    </a:xfrm>
                    <a:prstGeom prst="rect">
                      <a:avLst/>
                    </a:prstGeom>
                    <a:noFill/>
                  </p:spPr>
                  <p:txBody>
                    <a:bodyPr wrap="square" rtlCol="0">
                      <a:spAutoFit/>
                    </a:bodyPr>
                    <a:lstStyle/>
                    <a:p>
                      <a:r>
                        <a:rPr lang="en-US" sz="1600" dirty="0"/>
                        <a:t>1    2    3    4    5     6     7       0</a:t>
                      </a:r>
                      <a:endParaRPr lang="en-IN" sz="1600" dirty="0"/>
                    </a:p>
                  </p:txBody>
                </p:sp>
                <p:cxnSp>
                  <p:nvCxnSpPr>
                    <p:cNvPr id="17" name="Straight Connector 16"/>
                    <p:cNvCxnSpPr/>
                    <p:nvPr/>
                  </p:nvCxnSpPr>
                  <p:spPr>
                    <a:xfrm>
                      <a:off x="2209800" y="4402723"/>
                      <a:ext cx="0" cy="23790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762000" y="6096000"/>
                      <a:ext cx="0" cy="381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2010696" y="6096000"/>
                      <a:ext cx="0" cy="381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762000" y="6096000"/>
                      <a:ext cx="1248696" cy="0"/>
                    </a:xfrm>
                    <a:prstGeom prst="line">
                      <a:avLst/>
                    </a:prstGeom>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2286000" y="6096000"/>
                      <a:ext cx="990600" cy="338554"/>
                    </a:xfrm>
                    <a:prstGeom prst="rect">
                      <a:avLst/>
                    </a:prstGeom>
                    <a:noFill/>
                  </p:spPr>
                  <p:txBody>
                    <a:bodyPr wrap="square" rtlCol="0">
                      <a:spAutoFit/>
                    </a:bodyPr>
                    <a:lstStyle/>
                    <a:p>
                      <a:r>
                        <a:rPr lang="en-US" sz="1600" dirty="0"/>
                        <a:t>4.01</a:t>
                      </a:r>
                      <a:endParaRPr lang="en-IN" sz="1600" dirty="0"/>
                    </a:p>
                  </p:txBody>
                </p:sp>
              </p:grpSp>
              <p:cxnSp>
                <p:nvCxnSpPr>
                  <p:cNvPr id="12" name="Straight Connector 11"/>
                  <p:cNvCxnSpPr/>
                  <p:nvPr/>
                </p:nvCxnSpPr>
                <p:spPr>
                  <a:xfrm>
                    <a:off x="457200" y="2057400"/>
                    <a:ext cx="0" cy="7788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1371600" y="2057400"/>
                    <a:ext cx="0" cy="7788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457200" y="2057400"/>
                    <a:ext cx="914400"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286000" y="1951538"/>
                    <a:ext cx="685800" cy="338554"/>
                  </a:xfrm>
                  <a:prstGeom prst="rect">
                    <a:avLst/>
                  </a:prstGeom>
                  <a:noFill/>
                </p:spPr>
                <p:txBody>
                  <a:bodyPr wrap="square" rtlCol="0">
                    <a:spAutoFit/>
                  </a:bodyPr>
                  <a:lstStyle/>
                  <a:p>
                    <a:r>
                      <a:rPr lang="en-US" sz="1600" dirty="0"/>
                      <a:t>5.03</a:t>
                    </a:r>
                    <a:endParaRPr lang="en-IN" sz="1600" dirty="0"/>
                  </a:p>
                </p:txBody>
              </p:sp>
            </p:grpSp>
            <p:cxnSp>
              <p:nvCxnSpPr>
                <p:cNvPr id="7" name="Straight Connector 6"/>
                <p:cNvCxnSpPr/>
                <p:nvPr/>
              </p:nvCxnSpPr>
              <p:spPr>
                <a:xfrm>
                  <a:off x="304800" y="4876800"/>
                  <a:ext cx="0" cy="1185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782096" y="4876800"/>
                  <a:ext cx="0" cy="1185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304800" y="4876800"/>
                  <a:ext cx="1477296"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2362200" y="4800600"/>
                  <a:ext cx="685800" cy="338554"/>
                </a:xfrm>
                <a:prstGeom prst="rect">
                  <a:avLst/>
                </a:prstGeom>
                <a:noFill/>
              </p:spPr>
              <p:txBody>
                <a:bodyPr wrap="square" rtlCol="0">
                  <a:spAutoFit/>
                </a:bodyPr>
                <a:lstStyle/>
                <a:p>
                  <a:r>
                    <a:rPr lang="en-US" sz="1600" dirty="0"/>
                    <a:t>5.08</a:t>
                  </a:r>
                  <a:endParaRPr lang="en-IN" sz="1600" dirty="0"/>
                </a:p>
              </p:txBody>
            </p:sp>
          </p:grpSp>
          <p:cxnSp>
            <p:nvCxnSpPr>
              <p:cNvPr id="23" name="Straight Connector 22"/>
              <p:cNvCxnSpPr/>
              <p:nvPr/>
            </p:nvCxnSpPr>
            <p:spPr>
              <a:xfrm flipV="1">
                <a:off x="1143000" y="1447800"/>
                <a:ext cx="0" cy="16170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838200" y="1447800"/>
                <a:ext cx="0" cy="838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838200" y="1462548"/>
                <a:ext cx="30480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29" name="TextBox 28"/>
            <p:cNvSpPr txBox="1"/>
            <p:nvPr/>
          </p:nvSpPr>
          <p:spPr>
            <a:xfrm>
              <a:off x="2362200" y="1329816"/>
              <a:ext cx="762000" cy="338554"/>
            </a:xfrm>
            <a:prstGeom prst="rect">
              <a:avLst/>
            </a:prstGeom>
            <a:noFill/>
          </p:spPr>
          <p:txBody>
            <a:bodyPr wrap="square" rtlCol="0">
              <a:spAutoFit/>
            </a:bodyPr>
            <a:lstStyle/>
            <a:p>
              <a:r>
                <a:rPr lang="en-US" sz="1600" dirty="0"/>
                <a:t>6.77</a:t>
              </a:r>
              <a:endParaRPr lang="en-IN" sz="1600" dirty="0"/>
            </a:p>
          </p:txBody>
        </p:sp>
      </p:grpSp>
      <p:graphicFrame>
        <p:nvGraphicFramePr>
          <p:cNvPr id="31" name="Table 30"/>
          <p:cNvGraphicFramePr>
            <a:graphicFrameLocks noGrp="1"/>
          </p:cNvGraphicFramePr>
          <p:nvPr>
            <p:extLst>
              <p:ext uri="{D42A27DB-BD31-4B8C-83A1-F6EECF244321}">
                <p14:modId xmlns:p14="http://schemas.microsoft.com/office/powerpoint/2010/main" val="661187888"/>
              </p:ext>
            </p:extLst>
          </p:nvPr>
        </p:nvGraphicFramePr>
        <p:xfrm>
          <a:off x="4267200" y="1488440"/>
          <a:ext cx="3048000" cy="1483360"/>
        </p:xfrm>
        <a:graphic>
          <a:graphicData uri="http://schemas.openxmlformats.org/drawingml/2006/table">
            <a:tbl>
              <a:tblPr firstRow="1" bandRow="1">
                <a:tableStyleId>{2D5ABB26-0587-4C30-8999-92F81FD0307C}</a:tableStyleId>
              </a:tblPr>
              <a:tblGrid>
                <a:gridCol w="7620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tblGrid>
              <a:tr h="370840">
                <a:tc>
                  <a:txBody>
                    <a:bodyPr/>
                    <a:lstStyle/>
                    <a:p>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1,6</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2,5,4</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3,7</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1600" dirty="0"/>
                        <a:t>1,6</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0</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1600" dirty="0"/>
                        <a:t>2,5,4</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34</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0</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1600" dirty="0"/>
                        <a:t>3,7</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16.11</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14.26</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0</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2" name="Oval 31"/>
          <p:cNvSpPr/>
          <p:nvPr/>
        </p:nvSpPr>
        <p:spPr>
          <a:xfrm>
            <a:off x="5823156" y="2605548"/>
            <a:ext cx="609600" cy="3048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69" name="Group 68"/>
          <p:cNvGrpSpPr/>
          <p:nvPr/>
        </p:nvGrpSpPr>
        <p:grpSpPr>
          <a:xfrm>
            <a:off x="152400" y="3886200"/>
            <a:ext cx="3810000" cy="2895600"/>
            <a:chOff x="152400" y="3886200"/>
            <a:chExt cx="3810000" cy="2895600"/>
          </a:xfrm>
        </p:grpSpPr>
        <p:grpSp>
          <p:nvGrpSpPr>
            <p:cNvPr id="40" name="Group 39"/>
            <p:cNvGrpSpPr/>
            <p:nvPr/>
          </p:nvGrpSpPr>
          <p:grpSpPr>
            <a:xfrm>
              <a:off x="152400" y="5482307"/>
              <a:ext cx="3810000" cy="1223293"/>
              <a:chOff x="76200" y="1951538"/>
              <a:chExt cx="3810000" cy="1223293"/>
            </a:xfrm>
          </p:grpSpPr>
          <p:grpSp>
            <p:nvGrpSpPr>
              <p:cNvPr id="45" name="Group 44"/>
              <p:cNvGrpSpPr/>
              <p:nvPr/>
            </p:nvGrpSpPr>
            <p:grpSpPr>
              <a:xfrm>
                <a:off x="76200" y="2455277"/>
                <a:ext cx="3810000" cy="719554"/>
                <a:chOff x="76200" y="6096000"/>
                <a:chExt cx="3810000" cy="719554"/>
              </a:xfrm>
            </p:grpSpPr>
            <p:sp>
              <p:nvSpPr>
                <p:cNvPr id="50" name="TextBox 49"/>
                <p:cNvSpPr txBox="1"/>
                <p:nvPr/>
              </p:nvSpPr>
              <p:spPr>
                <a:xfrm>
                  <a:off x="76200" y="6477000"/>
                  <a:ext cx="3810000" cy="338554"/>
                </a:xfrm>
                <a:prstGeom prst="rect">
                  <a:avLst/>
                </a:prstGeom>
                <a:noFill/>
              </p:spPr>
              <p:txBody>
                <a:bodyPr wrap="square" rtlCol="0">
                  <a:spAutoFit/>
                </a:bodyPr>
                <a:lstStyle/>
                <a:p>
                  <a:r>
                    <a:rPr lang="en-US" sz="1600" dirty="0"/>
                    <a:t>1    2    3    4    5     6     7       0</a:t>
                  </a:r>
                  <a:endParaRPr lang="en-IN" sz="1600" dirty="0"/>
                </a:p>
              </p:txBody>
            </p:sp>
            <p:cxnSp>
              <p:nvCxnSpPr>
                <p:cNvPr id="52" name="Straight Connector 51"/>
                <p:cNvCxnSpPr/>
                <p:nvPr/>
              </p:nvCxnSpPr>
              <p:spPr>
                <a:xfrm>
                  <a:off x="762000" y="6096000"/>
                  <a:ext cx="0" cy="381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2010696" y="6096000"/>
                  <a:ext cx="0" cy="381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762000" y="6096000"/>
                  <a:ext cx="1248696" cy="0"/>
                </a:xfrm>
                <a:prstGeom prst="line">
                  <a:avLst/>
                </a:prstGeom>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2286000" y="6096000"/>
                  <a:ext cx="990600" cy="338554"/>
                </a:xfrm>
                <a:prstGeom prst="rect">
                  <a:avLst/>
                </a:prstGeom>
                <a:noFill/>
              </p:spPr>
              <p:txBody>
                <a:bodyPr wrap="square" rtlCol="0">
                  <a:spAutoFit/>
                </a:bodyPr>
                <a:lstStyle/>
                <a:p>
                  <a:r>
                    <a:rPr lang="en-US" sz="1600" dirty="0"/>
                    <a:t>4.01</a:t>
                  </a:r>
                  <a:endParaRPr lang="en-IN" sz="1600" dirty="0"/>
                </a:p>
              </p:txBody>
            </p:sp>
          </p:grpSp>
          <p:cxnSp>
            <p:nvCxnSpPr>
              <p:cNvPr id="46" name="Straight Connector 45"/>
              <p:cNvCxnSpPr/>
              <p:nvPr/>
            </p:nvCxnSpPr>
            <p:spPr>
              <a:xfrm>
                <a:off x="457200" y="2057400"/>
                <a:ext cx="0" cy="7788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1371600" y="2057400"/>
                <a:ext cx="0" cy="7788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457200" y="2057400"/>
                <a:ext cx="914400" cy="0"/>
              </a:xfrm>
              <a:prstGeom prst="line">
                <a:avLst/>
              </a:prstGeom>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2286000" y="1951538"/>
                <a:ext cx="685800" cy="338554"/>
              </a:xfrm>
              <a:prstGeom prst="rect">
                <a:avLst/>
              </a:prstGeom>
              <a:noFill/>
            </p:spPr>
            <p:txBody>
              <a:bodyPr wrap="square" rtlCol="0">
                <a:spAutoFit/>
              </a:bodyPr>
              <a:lstStyle/>
              <a:p>
                <a:r>
                  <a:rPr lang="en-US" sz="1600" dirty="0"/>
                  <a:t>5.03</a:t>
                </a:r>
                <a:endParaRPr lang="en-IN" sz="1600" dirty="0"/>
              </a:p>
            </p:txBody>
          </p:sp>
        </p:grpSp>
        <p:cxnSp>
          <p:nvCxnSpPr>
            <p:cNvPr id="41" name="Straight Connector 40"/>
            <p:cNvCxnSpPr/>
            <p:nvPr/>
          </p:nvCxnSpPr>
          <p:spPr>
            <a:xfrm>
              <a:off x="304800" y="5181600"/>
              <a:ext cx="0" cy="1185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1782096" y="5181600"/>
              <a:ext cx="0" cy="1185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304800" y="5181600"/>
              <a:ext cx="1477296" cy="0"/>
            </a:xfrm>
            <a:prstGeom prst="line">
              <a:avLst/>
            </a:prstGeom>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2362200" y="5105400"/>
              <a:ext cx="685800" cy="338554"/>
            </a:xfrm>
            <a:prstGeom prst="rect">
              <a:avLst/>
            </a:prstGeom>
            <a:noFill/>
          </p:spPr>
          <p:txBody>
            <a:bodyPr wrap="square" rtlCol="0">
              <a:spAutoFit/>
            </a:bodyPr>
            <a:lstStyle/>
            <a:p>
              <a:r>
                <a:rPr lang="en-US" sz="1600" dirty="0"/>
                <a:t>5.08</a:t>
              </a:r>
              <a:endParaRPr lang="en-IN" sz="1600" dirty="0"/>
            </a:p>
          </p:txBody>
        </p:sp>
        <p:cxnSp>
          <p:nvCxnSpPr>
            <p:cNvPr id="37" name="Straight Connector 36"/>
            <p:cNvCxnSpPr/>
            <p:nvPr/>
          </p:nvCxnSpPr>
          <p:spPr>
            <a:xfrm flipV="1">
              <a:off x="1143000" y="4749969"/>
              <a:ext cx="0" cy="16170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V="1">
              <a:off x="838200" y="4749969"/>
              <a:ext cx="0" cy="838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838200" y="4764717"/>
              <a:ext cx="304800" cy="0"/>
            </a:xfrm>
            <a:prstGeom prst="line">
              <a:avLst/>
            </a:prstGeom>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2362200" y="4631985"/>
              <a:ext cx="762000" cy="338554"/>
            </a:xfrm>
            <a:prstGeom prst="rect">
              <a:avLst/>
            </a:prstGeom>
            <a:noFill/>
          </p:spPr>
          <p:txBody>
            <a:bodyPr wrap="square" rtlCol="0">
              <a:spAutoFit/>
            </a:bodyPr>
            <a:lstStyle/>
            <a:p>
              <a:r>
                <a:rPr lang="en-US" sz="1600" dirty="0"/>
                <a:t>6.77</a:t>
              </a:r>
              <a:endParaRPr lang="en-IN" sz="1600" dirty="0"/>
            </a:p>
          </p:txBody>
        </p:sp>
        <p:cxnSp>
          <p:nvCxnSpPr>
            <p:cNvPr id="57" name="Straight Connector 56"/>
            <p:cNvCxnSpPr/>
            <p:nvPr/>
          </p:nvCxnSpPr>
          <p:spPr>
            <a:xfrm>
              <a:off x="2241756" y="3886200"/>
              <a:ext cx="76200" cy="2895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990600" y="4390104"/>
              <a:ext cx="0" cy="381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990600" y="4390104"/>
              <a:ext cx="914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1905000" y="4390104"/>
              <a:ext cx="0" cy="1595942"/>
            </a:xfrm>
            <a:prstGeom prst="line">
              <a:avLst/>
            </a:prstGeom>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2362200" y="4267200"/>
              <a:ext cx="762000" cy="338554"/>
            </a:xfrm>
            <a:prstGeom prst="rect">
              <a:avLst/>
            </a:prstGeom>
            <a:noFill/>
          </p:spPr>
          <p:txBody>
            <a:bodyPr wrap="square" rtlCol="0">
              <a:spAutoFit/>
            </a:bodyPr>
            <a:lstStyle/>
            <a:p>
              <a:r>
                <a:rPr lang="en-US" sz="1600" dirty="0"/>
                <a:t>14.26</a:t>
              </a:r>
              <a:endParaRPr lang="en-IN" sz="1600" dirty="0"/>
            </a:p>
          </p:txBody>
        </p:sp>
      </p:grpSp>
      <p:graphicFrame>
        <p:nvGraphicFramePr>
          <p:cNvPr id="68" name="Table 67"/>
          <p:cNvGraphicFramePr>
            <a:graphicFrameLocks noGrp="1"/>
          </p:cNvGraphicFramePr>
          <p:nvPr>
            <p:extLst>
              <p:ext uri="{D42A27DB-BD31-4B8C-83A1-F6EECF244321}">
                <p14:modId xmlns:p14="http://schemas.microsoft.com/office/powerpoint/2010/main" val="3739765317"/>
              </p:ext>
            </p:extLst>
          </p:nvPr>
        </p:nvGraphicFramePr>
        <p:xfrm>
          <a:off x="3048000" y="5364480"/>
          <a:ext cx="2667000" cy="1112520"/>
        </p:xfrm>
        <a:graphic>
          <a:graphicData uri="http://schemas.openxmlformats.org/drawingml/2006/table">
            <a:tbl>
              <a:tblPr firstRow="1" bandRow="1">
                <a:tableStyleId>{2D5ABB26-0587-4C30-8999-92F81FD0307C}</a:tableStyleId>
              </a:tblPr>
              <a:tblGrid>
                <a:gridCol w="9906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tblGrid>
              <a:tr h="370840">
                <a:tc>
                  <a:txBody>
                    <a:bodyPr/>
                    <a:lstStyle/>
                    <a:p>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1,6</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2,5,4,3,7</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1600" dirty="0"/>
                        <a:t>1,6</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0</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1600" dirty="0"/>
                        <a:t>2,5,4,3,7</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16.11</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0</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pSp>
        <p:nvGrpSpPr>
          <p:cNvPr id="102" name="Group 101"/>
          <p:cNvGrpSpPr/>
          <p:nvPr/>
        </p:nvGrpSpPr>
        <p:grpSpPr>
          <a:xfrm>
            <a:off x="6019800" y="3886200"/>
            <a:ext cx="3810000" cy="2895600"/>
            <a:chOff x="6019800" y="3886200"/>
            <a:chExt cx="3810000" cy="2895600"/>
          </a:xfrm>
        </p:grpSpPr>
        <p:grpSp>
          <p:nvGrpSpPr>
            <p:cNvPr id="70" name="Group 69"/>
            <p:cNvGrpSpPr/>
            <p:nvPr/>
          </p:nvGrpSpPr>
          <p:grpSpPr>
            <a:xfrm>
              <a:off x="6019800" y="3886200"/>
              <a:ext cx="3810000" cy="2895600"/>
              <a:chOff x="152400" y="3886200"/>
              <a:chExt cx="3810000" cy="2895600"/>
            </a:xfrm>
          </p:grpSpPr>
          <p:grpSp>
            <p:nvGrpSpPr>
              <p:cNvPr id="71" name="Group 70"/>
              <p:cNvGrpSpPr/>
              <p:nvPr/>
            </p:nvGrpSpPr>
            <p:grpSpPr>
              <a:xfrm>
                <a:off x="152400" y="5482307"/>
                <a:ext cx="3810000" cy="1223293"/>
                <a:chOff x="76200" y="1951538"/>
                <a:chExt cx="3810000" cy="1223293"/>
              </a:xfrm>
            </p:grpSpPr>
            <p:grpSp>
              <p:nvGrpSpPr>
                <p:cNvPr id="85" name="Group 84"/>
                <p:cNvGrpSpPr/>
                <p:nvPr/>
              </p:nvGrpSpPr>
              <p:grpSpPr>
                <a:xfrm>
                  <a:off x="76200" y="2455277"/>
                  <a:ext cx="3810000" cy="719554"/>
                  <a:chOff x="76200" y="6096000"/>
                  <a:chExt cx="3810000" cy="719554"/>
                </a:xfrm>
              </p:grpSpPr>
              <p:sp>
                <p:nvSpPr>
                  <p:cNvPr id="90" name="TextBox 89"/>
                  <p:cNvSpPr txBox="1"/>
                  <p:nvPr/>
                </p:nvSpPr>
                <p:spPr>
                  <a:xfrm>
                    <a:off x="76200" y="6477000"/>
                    <a:ext cx="3810000" cy="338554"/>
                  </a:xfrm>
                  <a:prstGeom prst="rect">
                    <a:avLst/>
                  </a:prstGeom>
                  <a:noFill/>
                </p:spPr>
                <p:txBody>
                  <a:bodyPr wrap="square" rtlCol="0">
                    <a:spAutoFit/>
                  </a:bodyPr>
                  <a:lstStyle/>
                  <a:p>
                    <a:r>
                      <a:rPr lang="en-US" sz="1600" dirty="0"/>
                      <a:t>1    2    3    4    5     6     7       0</a:t>
                    </a:r>
                    <a:endParaRPr lang="en-IN" sz="1600" dirty="0"/>
                  </a:p>
                </p:txBody>
              </p:sp>
              <p:cxnSp>
                <p:nvCxnSpPr>
                  <p:cNvPr id="91" name="Straight Connector 90"/>
                  <p:cNvCxnSpPr/>
                  <p:nvPr/>
                </p:nvCxnSpPr>
                <p:spPr>
                  <a:xfrm>
                    <a:off x="762000" y="6096000"/>
                    <a:ext cx="0" cy="381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2010696" y="6096000"/>
                    <a:ext cx="0" cy="381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a:off x="762000" y="6096000"/>
                    <a:ext cx="1248696" cy="0"/>
                  </a:xfrm>
                  <a:prstGeom prst="line">
                    <a:avLst/>
                  </a:prstGeom>
                </p:spPr>
                <p:style>
                  <a:lnRef idx="1">
                    <a:schemeClr val="accent1"/>
                  </a:lnRef>
                  <a:fillRef idx="0">
                    <a:schemeClr val="accent1"/>
                  </a:fillRef>
                  <a:effectRef idx="0">
                    <a:schemeClr val="accent1"/>
                  </a:effectRef>
                  <a:fontRef idx="minor">
                    <a:schemeClr val="tx1"/>
                  </a:fontRef>
                </p:style>
              </p:cxnSp>
              <p:sp>
                <p:nvSpPr>
                  <p:cNvPr id="94" name="TextBox 93"/>
                  <p:cNvSpPr txBox="1"/>
                  <p:nvPr/>
                </p:nvSpPr>
                <p:spPr>
                  <a:xfrm>
                    <a:off x="2286000" y="6096000"/>
                    <a:ext cx="990600" cy="338554"/>
                  </a:xfrm>
                  <a:prstGeom prst="rect">
                    <a:avLst/>
                  </a:prstGeom>
                  <a:noFill/>
                </p:spPr>
                <p:txBody>
                  <a:bodyPr wrap="square" rtlCol="0">
                    <a:spAutoFit/>
                  </a:bodyPr>
                  <a:lstStyle/>
                  <a:p>
                    <a:r>
                      <a:rPr lang="en-US" sz="1600" dirty="0"/>
                      <a:t>4.01</a:t>
                    </a:r>
                    <a:endParaRPr lang="en-IN" sz="1600" dirty="0"/>
                  </a:p>
                </p:txBody>
              </p:sp>
            </p:grpSp>
            <p:cxnSp>
              <p:nvCxnSpPr>
                <p:cNvPr id="86" name="Straight Connector 85"/>
                <p:cNvCxnSpPr/>
                <p:nvPr/>
              </p:nvCxnSpPr>
              <p:spPr>
                <a:xfrm>
                  <a:off x="457200" y="2057400"/>
                  <a:ext cx="0" cy="7788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371600" y="2057400"/>
                  <a:ext cx="0" cy="7788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457200" y="2057400"/>
                  <a:ext cx="914400" cy="0"/>
                </a:xfrm>
                <a:prstGeom prst="line">
                  <a:avLst/>
                </a:prstGeom>
              </p:spPr>
              <p:style>
                <a:lnRef idx="1">
                  <a:schemeClr val="accent1"/>
                </a:lnRef>
                <a:fillRef idx="0">
                  <a:schemeClr val="accent1"/>
                </a:fillRef>
                <a:effectRef idx="0">
                  <a:schemeClr val="accent1"/>
                </a:effectRef>
                <a:fontRef idx="minor">
                  <a:schemeClr val="tx1"/>
                </a:fontRef>
              </p:style>
            </p:cxnSp>
            <p:sp>
              <p:nvSpPr>
                <p:cNvPr id="89" name="TextBox 88"/>
                <p:cNvSpPr txBox="1"/>
                <p:nvPr/>
              </p:nvSpPr>
              <p:spPr>
                <a:xfrm>
                  <a:off x="2286000" y="1951538"/>
                  <a:ext cx="685800" cy="338554"/>
                </a:xfrm>
                <a:prstGeom prst="rect">
                  <a:avLst/>
                </a:prstGeom>
                <a:noFill/>
              </p:spPr>
              <p:txBody>
                <a:bodyPr wrap="square" rtlCol="0">
                  <a:spAutoFit/>
                </a:bodyPr>
                <a:lstStyle/>
                <a:p>
                  <a:r>
                    <a:rPr lang="en-US" sz="1600" dirty="0"/>
                    <a:t>5.03</a:t>
                  </a:r>
                  <a:endParaRPr lang="en-IN" sz="1600" dirty="0"/>
                </a:p>
              </p:txBody>
            </p:sp>
          </p:grpSp>
          <p:cxnSp>
            <p:nvCxnSpPr>
              <p:cNvPr id="72" name="Straight Connector 71"/>
              <p:cNvCxnSpPr/>
              <p:nvPr/>
            </p:nvCxnSpPr>
            <p:spPr>
              <a:xfrm>
                <a:off x="304800" y="5181600"/>
                <a:ext cx="0" cy="1185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a:off x="1782096" y="5181600"/>
                <a:ext cx="0" cy="1185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a:off x="304800" y="5181600"/>
                <a:ext cx="1477296" cy="0"/>
              </a:xfrm>
              <a:prstGeom prst="line">
                <a:avLst/>
              </a:prstGeom>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2362200" y="5105400"/>
                <a:ext cx="685800" cy="338554"/>
              </a:xfrm>
              <a:prstGeom prst="rect">
                <a:avLst/>
              </a:prstGeom>
              <a:noFill/>
            </p:spPr>
            <p:txBody>
              <a:bodyPr wrap="square" rtlCol="0">
                <a:spAutoFit/>
              </a:bodyPr>
              <a:lstStyle/>
              <a:p>
                <a:r>
                  <a:rPr lang="en-US" sz="1600" dirty="0"/>
                  <a:t>5.08</a:t>
                </a:r>
                <a:endParaRPr lang="en-IN" sz="1600" dirty="0"/>
              </a:p>
            </p:txBody>
          </p:sp>
          <p:cxnSp>
            <p:nvCxnSpPr>
              <p:cNvPr id="76" name="Straight Connector 75"/>
              <p:cNvCxnSpPr/>
              <p:nvPr/>
            </p:nvCxnSpPr>
            <p:spPr>
              <a:xfrm flipV="1">
                <a:off x="1143000" y="4749969"/>
                <a:ext cx="0" cy="16170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flipV="1">
                <a:off x="838200" y="4749969"/>
                <a:ext cx="0" cy="838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838200" y="4764717"/>
                <a:ext cx="304800" cy="0"/>
              </a:xfrm>
              <a:prstGeom prst="line">
                <a:avLst/>
              </a:prstGeom>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2362200" y="4631985"/>
                <a:ext cx="762000" cy="338554"/>
              </a:xfrm>
              <a:prstGeom prst="rect">
                <a:avLst/>
              </a:prstGeom>
              <a:noFill/>
            </p:spPr>
            <p:txBody>
              <a:bodyPr wrap="square" rtlCol="0">
                <a:spAutoFit/>
              </a:bodyPr>
              <a:lstStyle/>
              <a:p>
                <a:r>
                  <a:rPr lang="en-US" sz="1600" dirty="0"/>
                  <a:t>6.77</a:t>
                </a:r>
                <a:endParaRPr lang="en-IN" sz="1600" dirty="0"/>
              </a:p>
            </p:txBody>
          </p:sp>
          <p:cxnSp>
            <p:nvCxnSpPr>
              <p:cNvPr id="80" name="Straight Connector 79"/>
              <p:cNvCxnSpPr/>
              <p:nvPr/>
            </p:nvCxnSpPr>
            <p:spPr>
              <a:xfrm>
                <a:off x="2241756" y="3886200"/>
                <a:ext cx="76200" cy="2895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990600" y="4390104"/>
                <a:ext cx="0" cy="381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990600" y="4390104"/>
                <a:ext cx="914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905000" y="4390104"/>
                <a:ext cx="0" cy="1595942"/>
              </a:xfrm>
              <a:prstGeom prst="line">
                <a:avLst/>
              </a:prstGeom>
            </p:spPr>
            <p:style>
              <a:lnRef idx="1">
                <a:schemeClr val="accent1"/>
              </a:lnRef>
              <a:fillRef idx="0">
                <a:schemeClr val="accent1"/>
              </a:fillRef>
              <a:effectRef idx="0">
                <a:schemeClr val="accent1"/>
              </a:effectRef>
              <a:fontRef idx="minor">
                <a:schemeClr val="tx1"/>
              </a:fontRef>
            </p:style>
          </p:cxnSp>
          <p:sp>
            <p:nvSpPr>
              <p:cNvPr id="84" name="TextBox 83"/>
              <p:cNvSpPr txBox="1"/>
              <p:nvPr/>
            </p:nvSpPr>
            <p:spPr>
              <a:xfrm>
                <a:off x="2362200" y="4267200"/>
                <a:ext cx="762000" cy="338554"/>
              </a:xfrm>
              <a:prstGeom prst="rect">
                <a:avLst/>
              </a:prstGeom>
              <a:noFill/>
            </p:spPr>
            <p:txBody>
              <a:bodyPr wrap="square" rtlCol="0">
                <a:spAutoFit/>
              </a:bodyPr>
              <a:lstStyle/>
              <a:p>
                <a:r>
                  <a:rPr lang="en-US" sz="1600" dirty="0"/>
                  <a:t>14.26</a:t>
                </a:r>
                <a:endParaRPr lang="en-IN" sz="1600" dirty="0"/>
              </a:p>
            </p:txBody>
          </p:sp>
        </p:grpSp>
        <p:cxnSp>
          <p:nvCxnSpPr>
            <p:cNvPr id="96" name="Straight Connector 95"/>
            <p:cNvCxnSpPr/>
            <p:nvPr/>
          </p:nvCxnSpPr>
          <p:spPr>
            <a:xfrm>
              <a:off x="6324600" y="4191000"/>
              <a:ext cx="0" cy="997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a:xfrm>
              <a:off x="6324600" y="4191000"/>
              <a:ext cx="100534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a:off x="7329948" y="4191000"/>
              <a:ext cx="0" cy="199104"/>
            </a:xfrm>
            <a:prstGeom prst="line">
              <a:avLst/>
            </a:prstGeom>
          </p:spPr>
          <p:style>
            <a:lnRef idx="1">
              <a:schemeClr val="accent1"/>
            </a:lnRef>
            <a:fillRef idx="0">
              <a:schemeClr val="accent1"/>
            </a:fillRef>
            <a:effectRef idx="0">
              <a:schemeClr val="accent1"/>
            </a:effectRef>
            <a:fontRef idx="minor">
              <a:schemeClr val="tx1"/>
            </a:fontRef>
          </p:style>
        </p:cxnSp>
        <p:sp>
          <p:nvSpPr>
            <p:cNvPr id="101" name="TextBox 100"/>
            <p:cNvSpPr txBox="1"/>
            <p:nvPr/>
          </p:nvSpPr>
          <p:spPr>
            <a:xfrm>
              <a:off x="8185356" y="3886200"/>
              <a:ext cx="730044" cy="338554"/>
            </a:xfrm>
            <a:prstGeom prst="rect">
              <a:avLst/>
            </a:prstGeom>
            <a:noFill/>
          </p:spPr>
          <p:txBody>
            <a:bodyPr wrap="square" rtlCol="0">
              <a:spAutoFit/>
            </a:bodyPr>
            <a:lstStyle/>
            <a:p>
              <a:r>
                <a:rPr lang="en-US" sz="1600" dirty="0"/>
                <a:t>16.11</a:t>
              </a:r>
              <a:endParaRPr lang="en-IN" sz="1600" dirty="0"/>
            </a:p>
          </p:txBody>
        </p:sp>
      </p:grpSp>
    </p:spTree>
    <p:extLst>
      <p:ext uri="{BB962C8B-B14F-4D97-AF65-F5344CB8AC3E}">
        <p14:creationId xmlns:p14="http://schemas.microsoft.com/office/powerpoint/2010/main" val="3385975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anim calcmode="lin" valueType="num">
                                      <p:cBhvr>
                                        <p:cTn id="8" dur="1000" fill="hold"/>
                                        <p:tgtEl>
                                          <p:spTgt spid="30"/>
                                        </p:tgtEl>
                                        <p:attrNameLst>
                                          <p:attrName>ppt_x</p:attrName>
                                        </p:attrNameLst>
                                      </p:cBhvr>
                                      <p:tavLst>
                                        <p:tav tm="0">
                                          <p:val>
                                            <p:strVal val="#ppt_x"/>
                                          </p:val>
                                        </p:tav>
                                        <p:tav tm="100000">
                                          <p:val>
                                            <p:strVal val="#ppt_x"/>
                                          </p:val>
                                        </p:tav>
                                      </p:tavLst>
                                    </p:anim>
                                    <p:anim calcmode="lin" valueType="num">
                                      <p:cBhvr>
                                        <p:cTn id="9"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1000"/>
                                        <p:tgtEl>
                                          <p:spTgt spid="31"/>
                                        </p:tgtEl>
                                      </p:cBhvr>
                                    </p:animEffect>
                                    <p:anim calcmode="lin" valueType="num">
                                      <p:cBhvr>
                                        <p:cTn id="15" dur="1000" fill="hold"/>
                                        <p:tgtEl>
                                          <p:spTgt spid="31"/>
                                        </p:tgtEl>
                                        <p:attrNameLst>
                                          <p:attrName>ppt_x</p:attrName>
                                        </p:attrNameLst>
                                      </p:cBhvr>
                                      <p:tavLst>
                                        <p:tav tm="0">
                                          <p:val>
                                            <p:strVal val="#ppt_x"/>
                                          </p:val>
                                        </p:tav>
                                        <p:tav tm="100000">
                                          <p:val>
                                            <p:strVal val="#ppt_x"/>
                                          </p:val>
                                        </p:tav>
                                      </p:tavLst>
                                    </p:anim>
                                    <p:anim calcmode="lin" valueType="num">
                                      <p:cBhvr>
                                        <p:cTn id="16"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2"/>
                                        </p:tgtEl>
                                        <p:attrNameLst>
                                          <p:attrName>style.visibility</p:attrName>
                                        </p:attrNameLst>
                                      </p:cBhvr>
                                      <p:to>
                                        <p:strVal val="visible"/>
                                      </p:to>
                                    </p:set>
                                    <p:animEffect transition="in" filter="fade">
                                      <p:cBhvr>
                                        <p:cTn id="21" dur="1000"/>
                                        <p:tgtEl>
                                          <p:spTgt spid="32"/>
                                        </p:tgtEl>
                                      </p:cBhvr>
                                    </p:animEffect>
                                    <p:anim calcmode="lin" valueType="num">
                                      <p:cBhvr>
                                        <p:cTn id="22" dur="1000" fill="hold"/>
                                        <p:tgtEl>
                                          <p:spTgt spid="32"/>
                                        </p:tgtEl>
                                        <p:attrNameLst>
                                          <p:attrName>ppt_x</p:attrName>
                                        </p:attrNameLst>
                                      </p:cBhvr>
                                      <p:tavLst>
                                        <p:tav tm="0">
                                          <p:val>
                                            <p:strVal val="#ppt_x"/>
                                          </p:val>
                                        </p:tav>
                                        <p:tav tm="100000">
                                          <p:val>
                                            <p:strVal val="#ppt_x"/>
                                          </p:val>
                                        </p:tav>
                                      </p:tavLst>
                                    </p:anim>
                                    <p:anim calcmode="lin" valueType="num">
                                      <p:cBhvr>
                                        <p:cTn id="23"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69"/>
                                        </p:tgtEl>
                                        <p:attrNameLst>
                                          <p:attrName>style.visibility</p:attrName>
                                        </p:attrNameLst>
                                      </p:cBhvr>
                                      <p:to>
                                        <p:strVal val="visible"/>
                                      </p:to>
                                    </p:set>
                                    <p:animEffect transition="in" filter="fade">
                                      <p:cBhvr>
                                        <p:cTn id="28" dur="1000"/>
                                        <p:tgtEl>
                                          <p:spTgt spid="69"/>
                                        </p:tgtEl>
                                      </p:cBhvr>
                                    </p:animEffect>
                                    <p:anim calcmode="lin" valueType="num">
                                      <p:cBhvr>
                                        <p:cTn id="29" dur="1000" fill="hold"/>
                                        <p:tgtEl>
                                          <p:spTgt spid="69"/>
                                        </p:tgtEl>
                                        <p:attrNameLst>
                                          <p:attrName>ppt_x</p:attrName>
                                        </p:attrNameLst>
                                      </p:cBhvr>
                                      <p:tavLst>
                                        <p:tav tm="0">
                                          <p:val>
                                            <p:strVal val="#ppt_x"/>
                                          </p:val>
                                        </p:tav>
                                        <p:tav tm="100000">
                                          <p:val>
                                            <p:strVal val="#ppt_x"/>
                                          </p:val>
                                        </p:tav>
                                      </p:tavLst>
                                    </p:anim>
                                    <p:anim calcmode="lin" valueType="num">
                                      <p:cBhvr>
                                        <p:cTn id="30" dur="1000" fill="hold"/>
                                        <p:tgtEl>
                                          <p:spTgt spid="6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68"/>
                                        </p:tgtEl>
                                        <p:attrNameLst>
                                          <p:attrName>style.visibility</p:attrName>
                                        </p:attrNameLst>
                                      </p:cBhvr>
                                      <p:to>
                                        <p:strVal val="visible"/>
                                      </p:to>
                                    </p:set>
                                    <p:animEffect transition="in" filter="fade">
                                      <p:cBhvr>
                                        <p:cTn id="35" dur="1000"/>
                                        <p:tgtEl>
                                          <p:spTgt spid="68"/>
                                        </p:tgtEl>
                                      </p:cBhvr>
                                    </p:animEffect>
                                    <p:anim calcmode="lin" valueType="num">
                                      <p:cBhvr>
                                        <p:cTn id="36" dur="1000" fill="hold"/>
                                        <p:tgtEl>
                                          <p:spTgt spid="68"/>
                                        </p:tgtEl>
                                        <p:attrNameLst>
                                          <p:attrName>ppt_x</p:attrName>
                                        </p:attrNameLst>
                                      </p:cBhvr>
                                      <p:tavLst>
                                        <p:tav tm="0">
                                          <p:val>
                                            <p:strVal val="#ppt_x"/>
                                          </p:val>
                                        </p:tav>
                                        <p:tav tm="100000">
                                          <p:val>
                                            <p:strVal val="#ppt_x"/>
                                          </p:val>
                                        </p:tav>
                                      </p:tavLst>
                                    </p:anim>
                                    <p:anim calcmode="lin" valueType="num">
                                      <p:cBhvr>
                                        <p:cTn id="37" dur="1000" fill="hold"/>
                                        <p:tgtEl>
                                          <p:spTgt spid="68"/>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02"/>
                                        </p:tgtEl>
                                        <p:attrNameLst>
                                          <p:attrName>style.visibility</p:attrName>
                                        </p:attrNameLst>
                                      </p:cBhvr>
                                      <p:to>
                                        <p:strVal val="visible"/>
                                      </p:to>
                                    </p:set>
                                    <p:animEffect transition="in" filter="fade">
                                      <p:cBhvr>
                                        <p:cTn id="42" dur="1000"/>
                                        <p:tgtEl>
                                          <p:spTgt spid="102"/>
                                        </p:tgtEl>
                                      </p:cBhvr>
                                    </p:animEffect>
                                    <p:anim calcmode="lin" valueType="num">
                                      <p:cBhvr>
                                        <p:cTn id="43" dur="1000" fill="hold"/>
                                        <p:tgtEl>
                                          <p:spTgt spid="102"/>
                                        </p:tgtEl>
                                        <p:attrNameLst>
                                          <p:attrName>ppt_x</p:attrName>
                                        </p:attrNameLst>
                                      </p:cBhvr>
                                      <p:tavLst>
                                        <p:tav tm="0">
                                          <p:val>
                                            <p:strVal val="#ppt_x"/>
                                          </p:val>
                                        </p:tav>
                                        <p:tav tm="100000">
                                          <p:val>
                                            <p:strVal val="#ppt_x"/>
                                          </p:val>
                                        </p:tav>
                                      </p:tavLst>
                                    </p:anim>
                                    <p:anim calcmode="lin" valueType="num">
                                      <p:cBhvr>
                                        <p:cTn id="44" dur="1000" fill="hold"/>
                                        <p:tgtEl>
                                          <p:spTgt spid="10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28600" y="914400"/>
                <a:ext cx="8686800" cy="5715000"/>
              </a:xfrm>
            </p:spPr>
            <p:txBody>
              <a:bodyPr>
                <a:normAutofit/>
              </a:bodyPr>
              <a:lstStyle/>
              <a:p>
                <a:r>
                  <a:rPr lang="en-US" sz="2800" dirty="0"/>
                  <a:t>Clustering tendency </a:t>
                </a:r>
              </a:p>
              <a:p>
                <a:pPr lvl="1" algn="just"/>
                <a:r>
                  <a:rPr lang="en-US" sz="2400" dirty="0"/>
                  <a:t>Used to determine, if the dataset has meaningful clusters or not.</a:t>
                </a:r>
              </a:p>
              <a:p>
                <a:pPr lvl="1" algn="just"/>
                <a:r>
                  <a:rPr lang="en-US" sz="2400" dirty="0"/>
                  <a:t>Hopkins statistics can be used. It works as follows</a:t>
                </a:r>
              </a:p>
              <a:p>
                <a:pPr lvl="2" algn="just"/>
                <a:r>
                  <a:rPr lang="en-US" sz="2000" dirty="0"/>
                  <a:t>For each data point in the given set, find its distance to the nearest neighbor and add over all the data points. </a:t>
                </a:r>
                <a14:m>
                  <m:oMath xmlns:m="http://schemas.openxmlformats.org/officeDocument/2006/math">
                    <m:nary>
                      <m:naryPr>
                        <m:chr m:val="∑"/>
                        <m:ctrlPr>
                          <a:rPr lang="en-US" sz="2000" i="1" smtClean="0">
                            <a:latin typeface="Cambria Math" panose="02040503050406030204" pitchFamily="18" charset="0"/>
                          </a:rPr>
                        </m:ctrlPr>
                      </m:naryPr>
                      <m:sub>
                        <m:r>
                          <m:rPr>
                            <m:brk m:alnAt="23"/>
                          </m:rPr>
                          <a:rPr lang="en-US" sz="2000" b="0" i="1" smtClean="0">
                            <a:latin typeface="Cambria Math"/>
                          </a:rPr>
                          <m:t>𝑖</m:t>
                        </m:r>
                        <m:r>
                          <a:rPr lang="en-US" sz="2000" b="0" i="1" smtClean="0">
                            <a:latin typeface="Cambria Math"/>
                          </a:rPr>
                          <m:t>=1</m:t>
                        </m:r>
                      </m:sub>
                      <m:sup>
                        <m:r>
                          <a:rPr lang="en-US" sz="2000" b="0" i="1" smtClean="0">
                            <a:latin typeface="Cambria Math"/>
                          </a:rPr>
                          <m:t>𝑛</m:t>
                        </m:r>
                      </m:sup>
                      <m:e>
                        <m:sSub>
                          <m:sSubPr>
                            <m:ctrlPr>
                              <a:rPr lang="en-US" sz="2000" i="1" smtClean="0">
                                <a:latin typeface="Cambria Math" panose="02040503050406030204" pitchFamily="18" charset="0"/>
                              </a:rPr>
                            </m:ctrlPr>
                          </m:sSubPr>
                          <m:e>
                            <m:r>
                              <a:rPr lang="en-US" sz="2000" b="0" i="1" smtClean="0">
                                <a:latin typeface="Cambria Math"/>
                              </a:rPr>
                              <m:t>𝑥</m:t>
                            </m:r>
                          </m:e>
                          <m:sub>
                            <m:r>
                              <a:rPr lang="en-US" sz="2000" b="0" i="1" smtClean="0">
                                <a:latin typeface="Cambria Math"/>
                              </a:rPr>
                              <m:t>𝑖</m:t>
                            </m:r>
                          </m:sub>
                        </m:sSub>
                      </m:e>
                    </m:nary>
                  </m:oMath>
                </a14:m>
                <a:endParaRPr lang="en-US" sz="2000" dirty="0"/>
              </a:p>
              <a:p>
                <a:pPr lvl="2" algn="just"/>
                <a:r>
                  <a:rPr lang="en-US" sz="2000" dirty="0"/>
                  <a:t>Generate new data points with uniform distribution (with no meaningful clusters). </a:t>
                </a:r>
              </a:p>
              <a:p>
                <a:pPr lvl="2" algn="just"/>
                <a:r>
                  <a:rPr lang="en-US" sz="2000" dirty="0"/>
                  <a:t>For each new point, find its distance to the nearest neighbor in the original dataset and add over all the data points. </a:t>
                </a:r>
                <a14:m>
                  <m:oMath xmlns:m="http://schemas.openxmlformats.org/officeDocument/2006/math">
                    <m:nary>
                      <m:naryPr>
                        <m:chr m:val="∑"/>
                        <m:ctrlPr>
                          <a:rPr lang="en-US" sz="2000" i="1">
                            <a:latin typeface="Cambria Math" panose="02040503050406030204" pitchFamily="18" charset="0"/>
                          </a:rPr>
                        </m:ctrlPr>
                      </m:naryPr>
                      <m:sub>
                        <m:r>
                          <m:rPr>
                            <m:brk m:alnAt="23"/>
                          </m:rPr>
                          <a:rPr lang="en-US" sz="2000" i="1">
                            <a:latin typeface="Cambria Math"/>
                          </a:rPr>
                          <m:t>𝑖</m:t>
                        </m:r>
                        <m:r>
                          <a:rPr lang="en-US" sz="2000" i="1">
                            <a:latin typeface="Cambria Math"/>
                          </a:rPr>
                          <m:t>=1</m:t>
                        </m:r>
                      </m:sub>
                      <m:sup>
                        <m:r>
                          <a:rPr lang="en-US" sz="2000" i="1">
                            <a:latin typeface="Cambria Math"/>
                          </a:rPr>
                          <m:t>𝑛</m:t>
                        </m:r>
                      </m:sup>
                      <m:e>
                        <m:sSub>
                          <m:sSubPr>
                            <m:ctrlPr>
                              <a:rPr lang="en-US" sz="2000" i="1">
                                <a:latin typeface="Cambria Math" panose="02040503050406030204" pitchFamily="18" charset="0"/>
                              </a:rPr>
                            </m:ctrlPr>
                          </m:sSubPr>
                          <m:e>
                            <m:r>
                              <a:rPr lang="en-US" sz="2000" i="1">
                                <a:latin typeface="Cambria Math"/>
                              </a:rPr>
                              <m:t>𝑦</m:t>
                            </m:r>
                          </m:e>
                          <m:sub>
                            <m:r>
                              <a:rPr lang="en-US" sz="2000" i="1">
                                <a:latin typeface="Cambria Math"/>
                              </a:rPr>
                              <m:t>𝑖</m:t>
                            </m:r>
                          </m:sub>
                        </m:sSub>
                      </m:e>
                    </m:nary>
                  </m:oMath>
                </a14:m>
                <a:endParaRPr lang="en-US" sz="2000" dirty="0"/>
              </a:p>
              <a:p>
                <a:pPr lvl="2" algn="just"/>
                <a:r>
                  <a:rPr lang="en-US" sz="2000" dirty="0"/>
                  <a:t>Calculate Hopkins statistics as, </a:t>
                </a:r>
                <a14:m>
                  <m:oMath xmlns:m="http://schemas.openxmlformats.org/officeDocument/2006/math">
                    <m:r>
                      <a:rPr lang="en-US" sz="2000" b="0" i="1" smtClean="0">
                        <a:latin typeface="Cambria Math"/>
                      </a:rPr>
                      <m:t>𝐻</m:t>
                    </m:r>
                    <m:r>
                      <a:rPr lang="en-US" sz="2000" b="0" i="1" smtClean="0">
                        <a:latin typeface="Cambria Math"/>
                      </a:rPr>
                      <m:t>=</m:t>
                    </m:r>
                    <m:f>
                      <m:fPr>
                        <m:ctrlPr>
                          <a:rPr lang="en-US" sz="2000" b="0" i="1" smtClean="0">
                            <a:latin typeface="Cambria Math" panose="02040503050406030204" pitchFamily="18" charset="0"/>
                          </a:rPr>
                        </m:ctrlPr>
                      </m:fPr>
                      <m:num>
                        <m:nary>
                          <m:naryPr>
                            <m:chr m:val="∑"/>
                            <m:ctrlPr>
                              <a:rPr lang="en-US" sz="2000" b="0" i="1" smtClean="0">
                                <a:latin typeface="Cambria Math" panose="02040503050406030204" pitchFamily="18" charset="0"/>
                              </a:rPr>
                            </m:ctrlPr>
                          </m:naryPr>
                          <m:sub>
                            <m:r>
                              <m:rPr>
                                <m:brk m:alnAt="23"/>
                              </m:rPr>
                              <a:rPr lang="en-US" sz="2000" b="0" i="1" smtClean="0">
                                <a:latin typeface="Cambria Math"/>
                              </a:rPr>
                              <m:t>𝑖</m:t>
                            </m:r>
                            <m:r>
                              <a:rPr lang="en-US" sz="2000" b="0" i="1" smtClean="0">
                                <a:latin typeface="Cambria Math"/>
                              </a:rPr>
                              <m:t>=1</m:t>
                            </m:r>
                          </m:sub>
                          <m:sup>
                            <m:r>
                              <a:rPr lang="en-US" sz="2000" b="0" i="1" smtClean="0">
                                <a:latin typeface="Cambria Math"/>
                              </a:rPr>
                              <m:t>𝑛</m:t>
                            </m:r>
                          </m:sup>
                          <m:e>
                            <m:sSub>
                              <m:sSubPr>
                                <m:ctrlPr>
                                  <a:rPr lang="en-US" sz="2000" b="0" i="1" smtClean="0">
                                    <a:latin typeface="Cambria Math" panose="02040503050406030204" pitchFamily="18" charset="0"/>
                                  </a:rPr>
                                </m:ctrlPr>
                              </m:sSubPr>
                              <m:e>
                                <m:r>
                                  <a:rPr lang="en-US" sz="2000" b="0" i="1" smtClean="0">
                                    <a:latin typeface="Cambria Math"/>
                                  </a:rPr>
                                  <m:t>𝑦</m:t>
                                </m:r>
                              </m:e>
                              <m:sub>
                                <m:r>
                                  <a:rPr lang="en-US" sz="2000" b="0" i="1" smtClean="0">
                                    <a:latin typeface="Cambria Math"/>
                                  </a:rPr>
                                  <m:t>𝑖</m:t>
                                </m:r>
                              </m:sub>
                            </m:sSub>
                          </m:e>
                        </m:nary>
                      </m:num>
                      <m:den>
                        <m:nary>
                          <m:naryPr>
                            <m:chr m:val="∑"/>
                            <m:ctrlPr>
                              <a:rPr lang="en-US" sz="2000" b="0" i="1" smtClean="0">
                                <a:latin typeface="Cambria Math" panose="02040503050406030204" pitchFamily="18" charset="0"/>
                              </a:rPr>
                            </m:ctrlPr>
                          </m:naryPr>
                          <m:sub>
                            <m:r>
                              <m:rPr>
                                <m:brk m:alnAt="23"/>
                              </m:rPr>
                              <a:rPr lang="en-US" sz="2000" b="0" i="1" smtClean="0">
                                <a:latin typeface="Cambria Math"/>
                              </a:rPr>
                              <m:t>𝑖</m:t>
                            </m:r>
                            <m:r>
                              <a:rPr lang="en-US" sz="2000" b="0" i="1" smtClean="0">
                                <a:latin typeface="Cambria Math"/>
                              </a:rPr>
                              <m:t>=1</m:t>
                            </m:r>
                          </m:sub>
                          <m:sup>
                            <m:r>
                              <a:rPr lang="en-US" sz="2000" b="0" i="1" smtClean="0">
                                <a:latin typeface="Cambria Math"/>
                              </a:rPr>
                              <m:t>𝑛</m:t>
                            </m:r>
                          </m:sup>
                          <m:e>
                            <m:sSub>
                              <m:sSubPr>
                                <m:ctrlPr>
                                  <a:rPr lang="en-US" sz="2000" b="0" i="1" smtClean="0">
                                    <a:latin typeface="Cambria Math" panose="02040503050406030204" pitchFamily="18" charset="0"/>
                                  </a:rPr>
                                </m:ctrlPr>
                              </m:sSubPr>
                              <m:e>
                                <m:r>
                                  <a:rPr lang="en-US" sz="2000" b="0" i="1" smtClean="0">
                                    <a:latin typeface="Cambria Math"/>
                                  </a:rPr>
                                  <m:t>𝑥</m:t>
                                </m:r>
                              </m:e>
                              <m:sub>
                                <m:r>
                                  <a:rPr lang="en-US" sz="2000" b="0" i="1" smtClean="0">
                                    <a:latin typeface="Cambria Math"/>
                                  </a:rPr>
                                  <m:t>𝑖</m:t>
                                </m:r>
                              </m:sub>
                            </m:sSub>
                            <m:r>
                              <a:rPr lang="en-US" sz="2000" b="0" i="1" smtClean="0">
                                <a:latin typeface="Cambria Math"/>
                              </a:rPr>
                              <m:t>+</m:t>
                            </m:r>
                            <m:nary>
                              <m:naryPr>
                                <m:chr m:val="∑"/>
                                <m:ctrlPr>
                                  <a:rPr lang="en-US" sz="2000" b="0" i="1" smtClean="0">
                                    <a:latin typeface="Cambria Math" panose="02040503050406030204" pitchFamily="18" charset="0"/>
                                  </a:rPr>
                                </m:ctrlPr>
                              </m:naryPr>
                              <m:sub>
                                <m:r>
                                  <m:rPr>
                                    <m:brk m:alnAt="23"/>
                                  </m:rPr>
                                  <a:rPr lang="en-US" sz="2000" b="0" i="1" smtClean="0">
                                    <a:latin typeface="Cambria Math"/>
                                  </a:rPr>
                                  <m:t>𝑖</m:t>
                                </m:r>
                                <m:r>
                                  <a:rPr lang="en-US" sz="2000" b="0" i="1" smtClean="0">
                                    <a:latin typeface="Cambria Math"/>
                                  </a:rPr>
                                  <m:t>=1</m:t>
                                </m:r>
                              </m:sub>
                              <m:sup>
                                <m:r>
                                  <a:rPr lang="en-US" sz="2000" b="0" i="1" smtClean="0">
                                    <a:latin typeface="Cambria Math"/>
                                  </a:rPr>
                                  <m:t>𝑛</m:t>
                                </m:r>
                              </m:sup>
                              <m:e>
                                <m:sSub>
                                  <m:sSubPr>
                                    <m:ctrlPr>
                                      <a:rPr lang="en-US" sz="2000" b="0" i="1" smtClean="0">
                                        <a:latin typeface="Cambria Math" panose="02040503050406030204" pitchFamily="18" charset="0"/>
                                      </a:rPr>
                                    </m:ctrlPr>
                                  </m:sSubPr>
                                  <m:e>
                                    <m:r>
                                      <a:rPr lang="en-US" sz="2000" b="0" i="1" smtClean="0">
                                        <a:latin typeface="Cambria Math"/>
                                      </a:rPr>
                                      <m:t>𝑦</m:t>
                                    </m:r>
                                  </m:e>
                                  <m:sub>
                                    <m:r>
                                      <a:rPr lang="en-US" sz="2000" b="0" i="1" smtClean="0">
                                        <a:latin typeface="Cambria Math"/>
                                      </a:rPr>
                                      <m:t>𝑖</m:t>
                                    </m:r>
                                  </m:sub>
                                </m:sSub>
                              </m:e>
                            </m:nary>
                          </m:e>
                        </m:nary>
                      </m:den>
                    </m:f>
                  </m:oMath>
                </a14:m>
                <a:endParaRPr lang="en-IN" sz="2000" dirty="0"/>
              </a:p>
              <a:p>
                <a:pPr lvl="2" algn="just"/>
                <a:r>
                  <a:rPr lang="en-US" sz="2000" dirty="0"/>
                  <a:t>Value of H=0.5 means there is no clustering tendency</a:t>
                </a:r>
              </a:p>
              <a:p>
                <a:pPr lvl="2" algn="just"/>
                <a:r>
                  <a:rPr lang="en-US" sz="2000" dirty="0"/>
                  <a:t>Value of H&gt;0.5 means there are meaningful clusters in the dataset</a:t>
                </a:r>
                <a:endParaRPr lang="en-IN"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28600" y="914400"/>
                <a:ext cx="8686800" cy="5715000"/>
              </a:xfrm>
              <a:blipFill rotWithShape="1">
                <a:blip r:embed="rId2"/>
                <a:stretch>
                  <a:fillRect l="-1263" t="-959" r="-1053"/>
                </a:stretch>
              </a:blipFill>
            </p:spPr>
            <p:txBody>
              <a:bodyPr/>
              <a:lstStyle/>
              <a:p>
                <a:r>
                  <a:rPr lang="en-IN">
                    <a:noFill/>
                  </a:rPr>
                  <a:t> </a:t>
                </a:r>
              </a:p>
            </p:txBody>
          </p:sp>
        </mc:Fallback>
      </mc:AlternateContent>
      <p:sp>
        <p:nvSpPr>
          <p:cNvPr id="4" name="Title 1"/>
          <p:cNvSpPr>
            <a:spLocks noGrp="1"/>
          </p:cNvSpPr>
          <p:nvPr>
            <p:ph type="title"/>
          </p:nvPr>
        </p:nvSpPr>
        <p:spPr>
          <a:xfrm>
            <a:off x="457200" y="0"/>
            <a:ext cx="8229600" cy="838200"/>
          </a:xfrm>
        </p:spPr>
        <p:txBody>
          <a:bodyPr/>
          <a:lstStyle/>
          <a:p>
            <a:r>
              <a:rPr lang="en-US" dirty="0"/>
              <a:t>Evaluating clusters</a:t>
            </a:r>
            <a:endParaRPr lang="en-IN" dirty="0"/>
          </a:p>
        </p:txBody>
      </p:sp>
    </p:spTree>
    <p:extLst>
      <p:ext uri="{BB962C8B-B14F-4D97-AF65-F5344CB8AC3E}">
        <p14:creationId xmlns:p14="http://schemas.microsoft.com/office/powerpoint/2010/main" val="3690093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2400" y="914400"/>
                <a:ext cx="8763000" cy="5791200"/>
              </a:xfrm>
            </p:spPr>
            <p:txBody>
              <a:bodyPr>
                <a:normAutofit/>
              </a:bodyPr>
              <a:lstStyle/>
              <a:p>
                <a:pPr algn="just"/>
                <a:r>
                  <a:rPr lang="en-US" sz="2800" dirty="0"/>
                  <a:t>There are  two commonly used measures</a:t>
                </a:r>
              </a:p>
              <a:p>
                <a:pPr marL="514350" indent="-514350" algn="just">
                  <a:buFont typeface="+mj-lt"/>
                  <a:buAutoNum type="arabicPeriod"/>
                </a:pPr>
                <a:r>
                  <a:rPr lang="en-US" sz="2800" dirty="0"/>
                  <a:t>Sum Squared Error (SSE)</a:t>
                </a:r>
              </a:p>
              <a:p>
                <a:pPr lvl="1" algn="just"/>
                <a:r>
                  <a:rPr lang="en-US" sz="2400" dirty="0"/>
                  <a:t>Find centroid of each cluster as</a:t>
                </a:r>
              </a:p>
              <a:p>
                <a:pPr marL="457200" lvl="1" indent="0" algn="just">
                  <a:buNone/>
                </a:pPr>
                <a:r>
                  <a:rPr lang="en-US" sz="2400" dirty="0"/>
                  <a:t>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a:rPr>
                          <m:t>𝐶</m:t>
                        </m:r>
                      </m:e>
                      <m:sub>
                        <m:r>
                          <a:rPr lang="en-US" sz="2400" b="0" i="1" smtClean="0">
                            <a:latin typeface="Cambria Math"/>
                          </a:rPr>
                          <m:t>𝑖</m:t>
                        </m:r>
                      </m:sub>
                    </m:sSub>
                    <m:r>
                      <a:rPr lang="en-US" sz="2400" b="0" i="1" smtClean="0">
                        <a:latin typeface="Cambria Math"/>
                      </a:rPr>
                      <m:t>=</m:t>
                    </m:r>
                    <m:f>
                      <m:fPr>
                        <m:ctrlPr>
                          <a:rPr lang="en-US" sz="2400" b="0" i="1" smtClean="0">
                            <a:latin typeface="Cambria Math" panose="02040503050406030204" pitchFamily="18" charset="0"/>
                          </a:rPr>
                        </m:ctrlPr>
                      </m:fPr>
                      <m:num>
                        <m:r>
                          <a:rPr lang="en-US" sz="2400" b="0" i="1" smtClean="0">
                            <a:latin typeface="Cambria Math"/>
                          </a:rPr>
                          <m:t>1</m:t>
                        </m:r>
                      </m:num>
                      <m:den>
                        <m:sSub>
                          <m:sSubPr>
                            <m:ctrlPr>
                              <a:rPr lang="en-US" sz="2400" b="0" i="1" smtClean="0">
                                <a:latin typeface="Cambria Math" panose="02040503050406030204" pitchFamily="18" charset="0"/>
                              </a:rPr>
                            </m:ctrlPr>
                          </m:sSubPr>
                          <m:e>
                            <m:r>
                              <a:rPr lang="en-US" sz="2400" b="0" i="1" smtClean="0">
                                <a:latin typeface="Cambria Math"/>
                              </a:rPr>
                              <m:t>𝑚</m:t>
                            </m:r>
                          </m:e>
                          <m:sub>
                            <m:r>
                              <a:rPr lang="en-US" sz="2400" b="0" i="1" smtClean="0">
                                <a:latin typeface="Cambria Math"/>
                              </a:rPr>
                              <m:t>𝑖</m:t>
                            </m:r>
                          </m:sub>
                        </m:sSub>
                      </m:den>
                    </m:f>
                    <m:nary>
                      <m:naryPr>
                        <m:chr m:val="∑"/>
                        <m:supHide m:val="on"/>
                        <m:ctrlPr>
                          <a:rPr lang="en-US" sz="2400" b="0" i="1" smtClean="0">
                            <a:latin typeface="Cambria Math" panose="02040503050406030204" pitchFamily="18" charset="0"/>
                          </a:rPr>
                        </m:ctrlPr>
                      </m:naryPr>
                      <m:sub>
                        <m:r>
                          <m:rPr>
                            <m:brk m:alnAt="7"/>
                          </m:rPr>
                          <a:rPr lang="en-US" sz="2400" b="0" i="1" smtClean="0">
                            <a:latin typeface="Cambria Math"/>
                          </a:rPr>
                          <m:t>𝑥</m:t>
                        </m:r>
                        <m:r>
                          <a:rPr lang="en-US" sz="2400" b="0" i="1" smtClean="0">
                            <a:latin typeface="Cambria Math"/>
                            <a:ea typeface="Cambria Math"/>
                          </a:rPr>
                          <m:t>∈</m:t>
                        </m:r>
                        <m:sSub>
                          <m:sSubPr>
                            <m:ctrlPr>
                              <a:rPr lang="en-US" sz="2400" b="0" i="1" smtClean="0">
                                <a:latin typeface="Cambria Math" panose="02040503050406030204" pitchFamily="18" charset="0"/>
                                <a:ea typeface="Cambria Math"/>
                              </a:rPr>
                            </m:ctrlPr>
                          </m:sSubPr>
                          <m:e>
                            <m:r>
                              <a:rPr lang="en-US" sz="2400" b="0" i="1" smtClean="0">
                                <a:latin typeface="Cambria Math"/>
                                <a:ea typeface="Cambria Math"/>
                              </a:rPr>
                              <m:t>𝐶</m:t>
                            </m:r>
                          </m:e>
                          <m:sub>
                            <m:r>
                              <a:rPr lang="en-US" sz="2400" b="0" i="1" smtClean="0">
                                <a:latin typeface="Cambria Math"/>
                                <a:ea typeface="Cambria Math"/>
                              </a:rPr>
                              <m:t>𝑖</m:t>
                            </m:r>
                          </m:sub>
                        </m:sSub>
                      </m:sub>
                      <m:sup/>
                      <m:e>
                        <m:r>
                          <a:rPr lang="en-US" sz="2400" b="0" i="1" smtClean="0">
                            <a:latin typeface="Cambria Math"/>
                          </a:rPr>
                          <m:t>𝑋</m:t>
                        </m:r>
                      </m:e>
                    </m:nary>
                  </m:oMath>
                </a14:m>
                <a:endParaRPr lang="en-IN" sz="2400" dirty="0"/>
              </a:p>
              <a:p>
                <a:pPr lvl="1" algn="just"/>
                <a:r>
                  <a:rPr lang="en-US" sz="2400" dirty="0"/>
                  <a:t>Find sum square error as</a:t>
                </a:r>
              </a:p>
              <a:p>
                <a:pPr marL="457200" lvl="1" indent="0" algn="just">
                  <a:buNone/>
                </a:pPr>
                <a:r>
                  <a:rPr lang="en-US" sz="2400" dirty="0"/>
                  <a:t>			 </a:t>
                </a:r>
                <a14:m>
                  <m:oMath xmlns:m="http://schemas.openxmlformats.org/officeDocument/2006/math">
                    <m:r>
                      <a:rPr lang="en-US" sz="2400" b="0" i="1" smtClean="0">
                        <a:latin typeface="Cambria Math"/>
                      </a:rPr>
                      <m:t>𝑆𝑆𝐸</m:t>
                    </m:r>
                    <m:r>
                      <a:rPr lang="en-US" sz="2400" b="0" i="1" smtClean="0">
                        <a:latin typeface="Cambria Math"/>
                      </a:rPr>
                      <m:t>=</m:t>
                    </m:r>
                    <m:nary>
                      <m:naryPr>
                        <m:chr m:val="∑"/>
                        <m:ctrlPr>
                          <a:rPr lang="en-US" sz="2400" b="0" i="1" smtClean="0">
                            <a:latin typeface="Cambria Math" panose="02040503050406030204" pitchFamily="18" charset="0"/>
                          </a:rPr>
                        </m:ctrlPr>
                      </m:naryPr>
                      <m:sub>
                        <m:r>
                          <m:rPr>
                            <m:brk m:alnAt="23"/>
                          </m:rPr>
                          <a:rPr lang="en-US" sz="2400" b="0" i="1" smtClean="0">
                            <a:latin typeface="Cambria Math"/>
                          </a:rPr>
                          <m:t>𝑖</m:t>
                        </m:r>
                        <m:r>
                          <a:rPr lang="en-US" sz="2400" b="0" i="1" smtClean="0">
                            <a:latin typeface="Cambria Math"/>
                          </a:rPr>
                          <m:t>=1</m:t>
                        </m:r>
                      </m:sub>
                      <m:sup>
                        <m:r>
                          <a:rPr lang="en-US" sz="2400" b="0" i="1" smtClean="0">
                            <a:latin typeface="Cambria Math"/>
                          </a:rPr>
                          <m:t>𝐾</m:t>
                        </m:r>
                      </m:sup>
                      <m:e>
                        <m:nary>
                          <m:naryPr>
                            <m:chr m:val="∑"/>
                            <m:supHide m:val="on"/>
                            <m:ctrlPr>
                              <a:rPr lang="en-US" sz="2400" b="0" i="1" smtClean="0">
                                <a:latin typeface="Cambria Math" panose="02040503050406030204" pitchFamily="18" charset="0"/>
                              </a:rPr>
                            </m:ctrlPr>
                          </m:naryPr>
                          <m:sub>
                            <m:r>
                              <m:rPr>
                                <m:brk m:alnAt="7"/>
                              </m:rPr>
                              <a:rPr lang="en-US" sz="2400" b="0" i="1" smtClean="0">
                                <a:latin typeface="Cambria Math"/>
                              </a:rPr>
                              <m:t>𝑥</m:t>
                            </m:r>
                            <m:r>
                              <a:rPr lang="en-US" sz="2400" b="0" i="1" smtClean="0">
                                <a:latin typeface="Cambria Math"/>
                                <a:ea typeface="Cambria Math"/>
                              </a:rPr>
                              <m:t>∈</m:t>
                            </m:r>
                            <m:sSub>
                              <m:sSubPr>
                                <m:ctrlPr>
                                  <a:rPr lang="en-US" sz="2400" b="0" i="1" smtClean="0">
                                    <a:latin typeface="Cambria Math" panose="02040503050406030204" pitchFamily="18" charset="0"/>
                                    <a:ea typeface="Cambria Math"/>
                                  </a:rPr>
                                </m:ctrlPr>
                              </m:sSubPr>
                              <m:e>
                                <m:r>
                                  <a:rPr lang="en-US" sz="2400" b="0" i="1" smtClean="0">
                                    <a:latin typeface="Cambria Math"/>
                                    <a:ea typeface="Cambria Math"/>
                                  </a:rPr>
                                  <m:t>𝐶</m:t>
                                </m:r>
                              </m:e>
                              <m:sub>
                                <m:r>
                                  <a:rPr lang="en-US" sz="2400" b="0" i="1" smtClean="0">
                                    <a:latin typeface="Cambria Math"/>
                                    <a:ea typeface="Cambria Math"/>
                                  </a:rPr>
                                  <m:t>𝑖</m:t>
                                </m:r>
                              </m:sub>
                            </m:sSub>
                          </m:sub>
                          <m:sup/>
                          <m:e>
                            <m:sSup>
                              <m:sSupPr>
                                <m:ctrlPr>
                                  <a:rPr lang="en-US" sz="2400" b="0" i="1" smtClean="0">
                                    <a:latin typeface="Cambria Math" panose="02040503050406030204" pitchFamily="18" charset="0"/>
                                  </a:rPr>
                                </m:ctrlPr>
                              </m:sSupPr>
                              <m:e>
                                <m:r>
                                  <a:rPr lang="en-US" sz="2400" b="0" i="1" smtClean="0">
                                    <a:latin typeface="Cambria Math"/>
                                  </a:rPr>
                                  <m:t>𝑑𝑖𝑠𝑡</m:t>
                                </m:r>
                                <m:r>
                                  <a:rPr lang="en-US" sz="2400" b="0" i="1" smtClean="0">
                                    <a:latin typeface="Cambria Math"/>
                                  </a:rPr>
                                  <m:t>(</m:t>
                                </m:r>
                                <m:sSub>
                                  <m:sSubPr>
                                    <m:ctrlPr>
                                      <a:rPr lang="en-US" sz="2400" b="0" i="1" smtClean="0">
                                        <a:latin typeface="Cambria Math" panose="02040503050406030204" pitchFamily="18" charset="0"/>
                                      </a:rPr>
                                    </m:ctrlPr>
                                  </m:sSubPr>
                                  <m:e>
                                    <m:r>
                                      <a:rPr lang="en-US" sz="2400" b="0" i="1" smtClean="0">
                                        <a:latin typeface="Cambria Math"/>
                                      </a:rPr>
                                      <m:t>𝐶</m:t>
                                    </m:r>
                                  </m:e>
                                  <m:sub>
                                    <m:r>
                                      <a:rPr lang="en-US" sz="2400" b="0" i="1" smtClean="0">
                                        <a:latin typeface="Cambria Math"/>
                                      </a:rPr>
                                      <m:t>𝑖</m:t>
                                    </m:r>
                                    <m:r>
                                      <a:rPr lang="en-US" sz="2400" b="0" i="1" smtClean="0">
                                        <a:latin typeface="Cambria Math"/>
                                      </a:rPr>
                                      <m:t>,</m:t>
                                    </m:r>
                                  </m:sub>
                                </m:sSub>
                                <m:r>
                                  <a:rPr lang="en-US" sz="2400" b="0" i="1" smtClean="0">
                                    <a:latin typeface="Cambria Math"/>
                                  </a:rPr>
                                  <m:t>𝑋</m:t>
                                </m:r>
                                <m:r>
                                  <a:rPr lang="en-US" sz="2400" b="0" i="1" smtClean="0">
                                    <a:latin typeface="Cambria Math"/>
                                  </a:rPr>
                                  <m:t>)</m:t>
                                </m:r>
                              </m:e>
                              <m:sup>
                                <m:r>
                                  <a:rPr lang="en-US" sz="2400" b="0" i="1" smtClean="0">
                                    <a:latin typeface="Cambria Math"/>
                                  </a:rPr>
                                  <m:t>2</m:t>
                                </m:r>
                              </m:sup>
                            </m:sSup>
                          </m:e>
                        </m:nary>
                      </m:e>
                    </m:nary>
                  </m:oMath>
                </a14:m>
                <a:endParaRPr lang="en-IN" sz="2400" dirty="0"/>
              </a:p>
              <a:p>
                <a:pPr lvl="1" algn="just"/>
                <a:r>
                  <a:rPr lang="en-US" sz="2400" dirty="0"/>
                  <a:t>SSE should be as low as possible</a:t>
                </a:r>
              </a:p>
              <a:p>
                <a:pPr lvl="1" algn="just"/>
                <a:endParaRPr lang="en-US" sz="2400" dirty="0"/>
              </a:p>
              <a:p>
                <a:pPr lvl="1" algn="just"/>
                <a:r>
                  <a:rPr lang="en-US" sz="2400" dirty="0"/>
                  <a:t>For example, dataset={1,3,8,10}. Determine SSE if C1={1,3}, C2={8,10} and if C1=(1,3,8), C2={10}</a:t>
                </a:r>
                <a:endParaRPr lang="en-IN"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2400" y="914400"/>
                <a:ext cx="8763000" cy="5791200"/>
              </a:xfrm>
              <a:blipFill rotWithShape="1">
                <a:blip r:embed="rId2"/>
                <a:stretch>
                  <a:fillRect l="-1391" t="-947" r="-974"/>
                </a:stretch>
              </a:blipFill>
            </p:spPr>
            <p:txBody>
              <a:bodyPr/>
              <a:lstStyle/>
              <a:p>
                <a:r>
                  <a:rPr lang="en-IN">
                    <a:noFill/>
                  </a:rPr>
                  <a:t> </a:t>
                </a:r>
              </a:p>
            </p:txBody>
          </p:sp>
        </mc:Fallback>
      </mc:AlternateContent>
      <p:sp>
        <p:nvSpPr>
          <p:cNvPr id="4" name="Title 1"/>
          <p:cNvSpPr>
            <a:spLocks noGrp="1"/>
          </p:cNvSpPr>
          <p:nvPr>
            <p:ph type="title"/>
          </p:nvPr>
        </p:nvSpPr>
        <p:spPr>
          <a:xfrm>
            <a:off x="457200" y="0"/>
            <a:ext cx="8229600" cy="838200"/>
          </a:xfrm>
        </p:spPr>
        <p:txBody>
          <a:bodyPr/>
          <a:lstStyle/>
          <a:p>
            <a:r>
              <a:rPr lang="en-US" dirty="0"/>
              <a:t>Evaluating clusters</a:t>
            </a:r>
            <a:endParaRPr lang="en-IN" dirty="0"/>
          </a:p>
        </p:txBody>
      </p:sp>
    </p:spTree>
    <p:extLst>
      <p:ext uri="{BB962C8B-B14F-4D97-AF65-F5344CB8AC3E}">
        <p14:creationId xmlns:p14="http://schemas.microsoft.com/office/powerpoint/2010/main" val="4293374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8" end="8"/>
                                            </p:txEl>
                                          </p:spTgt>
                                        </p:tgtEl>
                                        <p:attrNameLst>
                                          <p:attrName>style.visibility</p:attrName>
                                        </p:attrNameLst>
                                      </p:cBhvr>
                                      <p:to>
                                        <p:strVal val="visible"/>
                                      </p:to>
                                    </p:set>
                                    <p:animEffect transition="in" filter="fade">
                                      <p:cBhvr>
                                        <p:cTn id="56" dur="1000"/>
                                        <p:tgtEl>
                                          <p:spTgt spid="3">
                                            <p:txEl>
                                              <p:pRg st="8" end="8"/>
                                            </p:txEl>
                                          </p:spTgt>
                                        </p:tgtEl>
                                      </p:cBhvr>
                                    </p:animEffect>
                                    <p:anim calcmode="lin" valueType="num">
                                      <p:cBhvr>
                                        <p:cTn id="57"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2400" y="1219200"/>
                <a:ext cx="8763000" cy="5410200"/>
              </a:xfrm>
            </p:spPr>
            <p:txBody>
              <a:bodyPr>
                <a:normAutofit/>
              </a:bodyPr>
              <a:lstStyle/>
              <a:p>
                <a:pPr marL="514350" indent="-514350" algn="just">
                  <a:buFont typeface="+mj-lt"/>
                  <a:buAutoNum type="arabicPeriod" startAt="2"/>
                </a:pPr>
                <a:r>
                  <a:rPr lang="en-IN" sz="2800" dirty="0"/>
                  <a:t>Silhouette coefficient </a:t>
                </a:r>
              </a:p>
              <a:p>
                <a:pPr lvl="1" algn="just"/>
                <a:r>
                  <a:rPr lang="en-US" sz="2400" dirty="0"/>
                  <a:t>It is based on intra cluster and inter cluster distances.</a:t>
                </a:r>
              </a:p>
              <a:p>
                <a:pPr lvl="1" algn="just"/>
                <a:r>
                  <a:rPr lang="en-US" sz="2400" dirty="0"/>
                  <a:t>It works as follows</a:t>
                </a:r>
              </a:p>
              <a:p>
                <a:pPr lvl="2" algn="just"/>
                <a:r>
                  <a:rPr lang="en-US" sz="2000" dirty="0"/>
                  <a:t>For each point, find its distance to all the other points within the cluster and find average distance. Let’s denote it by </a:t>
                </a:r>
                <a:r>
                  <a:rPr lang="en-US" sz="2000" dirty="0" err="1"/>
                  <a:t>ai</a:t>
                </a:r>
                <a:endParaRPr lang="en-US" sz="2000" dirty="0"/>
              </a:p>
              <a:p>
                <a:pPr lvl="2" algn="just"/>
                <a:r>
                  <a:rPr lang="en-US" sz="2000" dirty="0"/>
                  <a:t>For each point, find its average distance to all the other points in other clusters and find the smallest average distance. Let’s denote it by bi</a:t>
                </a:r>
              </a:p>
              <a:p>
                <a:pPr lvl="2" algn="just"/>
                <a:r>
                  <a:rPr lang="en-US" sz="2000" dirty="0"/>
                  <a:t>The Silhouette coefficient for that point is,</a:t>
                </a:r>
              </a:p>
              <a:p>
                <a:pPr marL="914400" lvl="2" indent="0" algn="just">
                  <a:buNone/>
                </a:pPr>
                <a:r>
                  <a:rPr lang="en-US" sz="2000" dirty="0"/>
                  <a:t>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a:rPr>
                          <m:t>𝑆</m:t>
                        </m:r>
                      </m:e>
                      <m:sub>
                        <m:r>
                          <a:rPr lang="en-US" sz="2000" b="0" i="1" smtClean="0">
                            <a:latin typeface="Cambria Math"/>
                          </a:rPr>
                          <m:t>𝑖</m:t>
                        </m:r>
                      </m:sub>
                    </m:sSub>
                    <m:r>
                      <a:rPr lang="en-US" sz="2000" b="0" i="1" smtClean="0">
                        <a:latin typeface="Cambria Math"/>
                      </a:rPr>
                      <m:t>=</m:t>
                    </m:r>
                    <m:f>
                      <m:fPr>
                        <m:ctrlPr>
                          <a:rPr lang="en-US" sz="2000" b="0" i="1" smtClean="0">
                            <a:latin typeface="Cambria Math" panose="02040503050406030204" pitchFamily="18" charset="0"/>
                          </a:rPr>
                        </m:ctrlPr>
                      </m:fPr>
                      <m:num>
                        <m:r>
                          <a:rPr lang="en-US" sz="2000" b="0" i="1" smtClean="0">
                            <a:latin typeface="Cambria Math"/>
                          </a:rPr>
                          <m:t>(</m:t>
                        </m:r>
                        <m:sSub>
                          <m:sSubPr>
                            <m:ctrlPr>
                              <a:rPr lang="en-US" sz="2000" b="0" i="1" smtClean="0">
                                <a:latin typeface="Cambria Math" panose="02040503050406030204" pitchFamily="18" charset="0"/>
                              </a:rPr>
                            </m:ctrlPr>
                          </m:sSubPr>
                          <m:e>
                            <m:r>
                              <a:rPr lang="en-US" sz="2000" b="0" i="1" smtClean="0">
                                <a:latin typeface="Cambria Math"/>
                              </a:rPr>
                              <m:t>𝑏</m:t>
                            </m:r>
                          </m:e>
                          <m:sub>
                            <m:r>
                              <a:rPr lang="en-US" sz="2000" b="0" i="1" smtClean="0">
                                <a:latin typeface="Cambria Math"/>
                              </a:rPr>
                              <m:t>𝑖</m:t>
                            </m:r>
                          </m:sub>
                        </m:sSub>
                        <m:r>
                          <a:rPr lang="en-US" sz="2000" b="0" i="1" smtClean="0">
                            <a:latin typeface="Cambria Math"/>
                          </a:rPr>
                          <m:t>−</m:t>
                        </m:r>
                        <m:sSub>
                          <m:sSubPr>
                            <m:ctrlPr>
                              <a:rPr lang="en-US" sz="2000" b="0" i="1" smtClean="0">
                                <a:latin typeface="Cambria Math" panose="02040503050406030204" pitchFamily="18" charset="0"/>
                              </a:rPr>
                            </m:ctrlPr>
                          </m:sSubPr>
                          <m:e>
                            <m:r>
                              <a:rPr lang="en-US" sz="2000" b="0" i="1" smtClean="0">
                                <a:latin typeface="Cambria Math"/>
                              </a:rPr>
                              <m:t>𝑎</m:t>
                            </m:r>
                          </m:e>
                          <m:sub>
                            <m:r>
                              <a:rPr lang="en-US" sz="2000" b="0" i="1" smtClean="0">
                                <a:latin typeface="Cambria Math"/>
                              </a:rPr>
                              <m:t>𝑖</m:t>
                            </m:r>
                          </m:sub>
                        </m:sSub>
                        <m:r>
                          <a:rPr lang="en-US" sz="2000" b="0" i="1" smtClean="0">
                            <a:latin typeface="Cambria Math"/>
                          </a:rPr>
                          <m:t>)</m:t>
                        </m:r>
                      </m:num>
                      <m:den>
                        <m:r>
                          <m:rPr>
                            <m:sty m:val="p"/>
                          </m:rPr>
                          <a:rPr lang="en-US" sz="2000" b="0" i="0" smtClean="0">
                            <a:latin typeface="Cambria Math"/>
                          </a:rPr>
                          <m:t>max</m:t>
                        </m:r>
                        <m:r>
                          <a:rPr lang="en-US" sz="2000" b="0" i="1" smtClean="0">
                            <a:latin typeface="Cambria Math"/>
                          </a:rPr>
                          <m:t>⁡(</m:t>
                        </m:r>
                        <m:sSub>
                          <m:sSubPr>
                            <m:ctrlPr>
                              <a:rPr lang="en-US" sz="2000" b="0" i="1" smtClean="0">
                                <a:latin typeface="Cambria Math" panose="02040503050406030204" pitchFamily="18" charset="0"/>
                              </a:rPr>
                            </m:ctrlPr>
                          </m:sSubPr>
                          <m:e>
                            <m:r>
                              <a:rPr lang="en-US" sz="2000" b="0" i="1" smtClean="0">
                                <a:latin typeface="Cambria Math"/>
                              </a:rPr>
                              <m:t>𝑎</m:t>
                            </m:r>
                          </m:e>
                          <m:sub>
                            <m:r>
                              <a:rPr lang="en-US" sz="2000" b="0" i="1" smtClean="0">
                                <a:latin typeface="Cambria Math"/>
                              </a:rPr>
                              <m:t>𝑖</m:t>
                            </m:r>
                          </m:sub>
                        </m:sSub>
                        <m:r>
                          <a:rPr lang="en-US" sz="2000" b="0" i="1" smtClean="0">
                            <a:latin typeface="Cambria Math"/>
                          </a:rPr>
                          <m:t>,</m:t>
                        </m:r>
                        <m:sSub>
                          <m:sSubPr>
                            <m:ctrlPr>
                              <a:rPr lang="en-US" sz="2000" b="0" i="1" smtClean="0">
                                <a:latin typeface="Cambria Math" panose="02040503050406030204" pitchFamily="18" charset="0"/>
                              </a:rPr>
                            </m:ctrlPr>
                          </m:sSubPr>
                          <m:e>
                            <m:r>
                              <a:rPr lang="en-US" sz="2000" b="0" i="1" smtClean="0">
                                <a:latin typeface="Cambria Math"/>
                              </a:rPr>
                              <m:t>𝑏</m:t>
                            </m:r>
                          </m:e>
                          <m:sub>
                            <m:r>
                              <a:rPr lang="en-US" sz="2000" b="0" i="1" smtClean="0">
                                <a:latin typeface="Cambria Math"/>
                              </a:rPr>
                              <m:t>𝑖</m:t>
                            </m:r>
                          </m:sub>
                        </m:sSub>
                        <m:r>
                          <a:rPr lang="en-US" sz="2000" b="0" i="1" smtClean="0">
                            <a:latin typeface="Cambria Math"/>
                          </a:rPr>
                          <m:t>)</m:t>
                        </m:r>
                      </m:den>
                    </m:f>
                  </m:oMath>
                </a14:m>
                <a:endParaRPr lang="en-IN" sz="2000" dirty="0"/>
              </a:p>
              <a:p>
                <a:pPr lvl="2" algn="just"/>
                <a:r>
                  <a:rPr lang="en-US" sz="2000" dirty="0"/>
                  <a:t>Silhouette coefficient for the cluster is average of Si for all points in the cluster.</a:t>
                </a:r>
                <a:endParaRPr lang="en-IN"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2400" y="1219200"/>
                <a:ext cx="8763000" cy="5410200"/>
              </a:xfrm>
              <a:blipFill rotWithShape="1">
                <a:blip r:embed="rId2"/>
                <a:stretch>
                  <a:fillRect l="-1391" t="-1126" r="-626"/>
                </a:stretch>
              </a:blipFill>
            </p:spPr>
            <p:txBody>
              <a:bodyPr/>
              <a:lstStyle/>
              <a:p>
                <a:r>
                  <a:rPr lang="en-IN">
                    <a:noFill/>
                  </a:rPr>
                  <a:t> </a:t>
                </a:r>
              </a:p>
            </p:txBody>
          </p:sp>
        </mc:Fallback>
      </mc:AlternateContent>
      <p:sp>
        <p:nvSpPr>
          <p:cNvPr id="4" name="Title 1"/>
          <p:cNvSpPr>
            <a:spLocks noGrp="1"/>
          </p:cNvSpPr>
          <p:nvPr>
            <p:ph type="title"/>
          </p:nvPr>
        </p:nvSpPr>
        <p:spPr>
          <a:xfrm>
            <a:off x="457200" y="228600"/>
            <a:ext cx="8229600" cy="838200"/>
          </a:xfrm>
        </p:spPr>
        <p:txBody>
          <a:bodyPr/>
          <a:lstStyle/>
          <a:p>
            <a:r>
              <a:rPr lang="en-US" dirty="0"/>
              <a:t>Evaluating clusters</a:t>
            </a:r>
            <a:endParaRPr lang="en-IN" dirty="0"/>
          </a:p>
        </p:txBody>
      </p:sp>
    </p:spTree>
    <p:extLst>
      <p:ext uri="{BB962C8B-B14F-4D97-AF65-F5344CB8AC3E}">
        <p14:creationId xmlns:p14="http://schemas.microsoft.com/office/powerpoint/2010/main" val="1569448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76200"/>
            <a:ext cx="8229600" cy="685800"/>
          </a:xfrm>
        </p:spPr>
        <p:txBody>
          <a:bodyPr>
            <a:normAutofit fontScale="90000"/>
          </a:bodyPr>
          <a:lstStyle/>
          <a:p>
            <a:r>
              <a:rPr lang="en-US" dirty="0"/>
              <a:t>Evaluating clusters</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3948147070"/>
              </p:ext>
            </p:extLst>
          </p:nvPr>
        </p:nvGraphicFramePr>
        <p:xfrm>
          <a:off x="304800" y="685800"/>
          <a:ext cx="8534400" cy="2865120"/>
        </p:xfrm>
        <a:graphic>
          <a:graphicData uri="http://schemas.openxmlformats.org/drawingml/2006/table">
            <a:tbl>
              <a:tblPr firstRow="1" bandRow="1">
                <a:tableStyleId>{2D5ABB26-0587-4C30-8999-92F81FD0307C}</a:tableStyleId>
              </a:tblPr>
              <a:tblGrid>
                <a:gridCol w="9906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1447800">
                  <a:extLst>
                    <a:ext uri="{9D8B030D-6E8A-4147-A177-3AD203B41FA5}">
                      <a16:colId xmlns:a16="http://schemas.microsoft.com/office/drawing/2014/main" val="20003"/>
                    </a:ext>
                  </a:extLst>
                </a:gridCol>
                <a:gridCol w="762000">
                  <a:extLst>
                    <a:ext uri="{9D8B030D-6E8A-4147-A177-3AD203B41FA5}">
                      <a16:colId xmlns:a16="http://schemas.microsoft.com/office/drawing/2014/main" val="20004"/>
                    </a:ext>
                  </a:extLst>
                </a:gridCol>
                <a:gridCol w="838200">
                  <a:extLst>
                    <a:ext uri="{9D8B030D-6E8A-4147-A177-3AD203B41FA5}">
                      <a16:colId xmlns:a16="http://schemas.microsoft.com/office/drawing/2014/main" val="20005"/>
                    </a:ext>
                  </a:extLst>
                </a:gridCol>
                <a:gridCol w="2057400">
                  <a:extLst>
                    <a:ext uri="{9D8B030D-6E8A-4147-A177-3AD203B41FA5}">
                      <a16:colId xmlns:a16="http://schemas.microsoft.com/office/drawing/2014/main" val="20006"/>
                    </a:ext>
                  </a:extLst>
                </a:gridCol>
              </a:tblGrid>
              <a:tr h="370840">
                <a:tc>
                  <a:txBody>
                    <a:bodyPr/>
                    <a:lstStyle/>
                    <a:p>
                      <a:pPr algn="ctr"/>
                      <a:r>
                        <a:rPr lang="en-US" dirty="0"/>
                        <a:t>Clusters</a:t>
                      </a:r>
                      <a:r>
                        <a:rPr lang="en-US" baseline="0" dirty="0"/>
                        <a:t> </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Intra-cluster</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err="1" smtClean="0"/>
                        <a:t>ai</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Inter-cluster</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t>bi</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Si</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t>Cluster’s Silhouette Score </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US" dirty="0"/>
                        <a:t>1</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2,4</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7,8,9</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8</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0.63</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algn="ctr"/>
                      <a:r>
                        <a:rPr lang="en-US" dirty="0"/>
                        <a:t>0.52</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US" dirty="0"/>
                        <a:t>3</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2,2</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5,6,7</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6</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0.67</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n-US" dirty="0"/>
                        <a:t>5</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4,2</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3,4,5</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4</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0.25</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a:r>
                        <a:rPr lang="en-US" dirty="0"/>
                        <a:t>8</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rowSpan="3">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4"/>
                  </a:ext>
                </a:extLst>
              </a:tr>
              <a:tr h="370840">
                <a:tc>
                  <a:txBody>
                    <a:bodyPr/>
                    <a:lstStyle/>
                    <a:p>
                      <a:pPr algn="ctr"/>
                      <a:r>
                        <a:rPr lang="en-US" dirty="0"/>
                        <a:t>9</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vMerge="1">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5"/>
                  </a:ext>
                </a:extLst>
              </a:tr>
              <a:tr h="370840">
                <a:tc>
                  <a:txBody>
                    <a:bodyPr/>
                    <a:lstStyle/>
                    <a:p>
                      <a:pPr algn="ctr"/>
                      <a:r>
                        <a:rPr lang="en-US" dirty="0"/>
                        <a:t>10</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vMerge="1">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6"/>
                  </a:ext>
                </a:extLst>
              </a:tr>
            </a:tbl>
          </a:graphicData>
        </a:graphic>
      </p:graphicFrame>
      <p:sp>
        <p:nvSpPr>
          <p:cNvPr id="6" name="Title 1">
            <a:extLst>
              <a:ext uri="{FF2B5EF4-FFF2-40B4-BE49-F238E27FC236}">
                <a16:creationId xmlns:a16="http://schemas.microsoft.com/office/drawing/2014/main" id="{D3C14E83-A469-4E27-AA3B-167AB48FE994}"/>
              </a:ext>
            </a:extLst>
          </p:cNvPr>
          <p:cNvSpPr txBox="1">
            <a:spLocks/>
          </p:cNvSpPr>
          <p:nvPr/>
        </p:nvSpPr>
        <p:spPr>
          <a:xfrm>
            <a:off x="457200" y="3514969"/>
            <a:ext cx="8229600" cy="685800"/>
          </a:xfrm>
          <a:prstGeom prst="rect">
            <a:avLst/>
          </a:prstGeom>
        </p:spPr>
        <p:txBody>
          <a:bodyPr vert="horz" lIns="91440" tIns="45720" rIns="91440" bIns="45720" rtlCol="0" anchor="ctr">
            <a:normAutofit fontScale="900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Profiling clusters</a:t>
            </a:r>
            <a:endParaRPr lang="en-IN" dirty="0"/>
          </a:p>
        </p:txBody>
      </p:sp>
      <p:sp>
        <p:nvSpPr>
          <p:cNvPr id="2" name="TextBox 1">
            <a:extLst>
              <a:ext uri="{FF2B5EF4-FFF2-40B4-BE49-F238E27FC236}">
                <a16:creationId xmlns:a16="http://schemas.microsoft.com/office/drawing/2014/main" id="{9B411FC3-0038-49EA-9B48-535FCFD69D5D}"/>
              </a:ext>
            </a:extLst>
          </p:cNvPr>
          <p:cNvSpPr txBox="1"/>
          <p:nvPr/>
        </p:nvSpPr>
        <p:spPr>
          <a:xfrm>
            <a:off x="304800" y="4200769"/>
            <a:ext cx="8382000" cy="2554545"/>
          </a:xfrm>
          <a:prstGeom prst="rect">
            <a:avLst/>
          </a:prstGeom>
          <a:noFill/>
        </p:spPr>
        <p:txBody>
          <a:bodyPr wrap="square" rtlCol="0">
            <a:spAutoFit/>
          </a:bodyPr>
          <a:lstStyle/>
          <a:p>
            <a:pPr marL="285750" indent="-285750" algn="just">
              <a:buFont typeface="Arial" panose="020B0604020202020204" pitchFamily="34" charset="0"/>
              <a:buChar char="•"/>
            </a:pPr>
            <a:r>
              <a:rPr lang="en-US" sz="2000" dirty="0"/>
              <a:t>It is used to describe/summarize the generated clusters.</a:t>
            </a:r>
          </a:p>
          <a:p>
            <a:pPr marL="285750" indent="-285750" algn="just">
              <a:buFont typeface="Arial" panose="020B0604020202020204" pitchFamily="34" charset="0"/>
              <a:buChar char="•"/>
            </a:pPr>
            <a:r>
              <a:rPr lang="en-US" sz="2000" dirty="0"/>
              <a:t>Allows users to draw insights/conclusions from the clusters.</a:t>
            </a:r>
          </a:p>
          <a:p>
            <a:pPr marL="285750" indent="-285750" algn="just">
              <a:buFont typeface="Arial" panose="020B0604020202020204" pitchFamily="34" charset="0"/>
              <a:buChar char="•"/>
            </a:pPr>
            <a:r>
              <a:rPr lang="en-US" sz="2000" dirty="0"/>
              <a:t>Common steps are</a:t>
            </a:r>
          </a:p>
          <a:p>
            <a:pPr marL="742950" lvl="1" indent="-285750" algn="just">
              <a:buFont typeface="Arial" panose="020B0604020202020204" pitchFamily="34" charset="0"/>
              <a:buChar char="•"/>
            </a:pPr>
            <a:r>
              <a:rPr lang="en-US" sz="2000" dirty="0"/>
              <a:t>Count number of objects in each cluster (segment size)</a:t>
            </a:r>
          </a:p>
          <a:p>
            <a:pPr marL="742950" lvl="1" indent="-285750" algn="just">
              <a:buFont typeface="Arial" panose="020B0604020202020204" pitchFamily="34" charset="0"/>
              <a:buChar char="•"/>
            </a:pPr>
            <a:r>
              <a:rPr lang="en-US" sz="2000" dirty="0"/>
              <a:t>Calculate mean/median/min/max </a:t>
            </a:r>
            <a:r>
              <a:rPr lang="en-US" sz="2000" dirty="0" err="1"/>
              <a:t>etc</a:t>
            </a:r>
            <a:r>
              <a:rPr lang="en-US" sz="2000" dirty="0"/>
              <a:t> for each variable across all the clusters</a:t>
            </a:r>
          </a:p>
          <a:p>
            <a:pPr marL="742950" lvl="1" indent="-285750" algn="just">
              <a:buFont typeface="Arial" panose="020B0604020202020204" pitchFamily="34" charset="0"/>
              <a:buChar char="•"/>
            </a:pPr>
            <a:r>
              <a:rPr lang="en-US" sz="2000" dirty="0"/>
              <a:t>Convert the description into visual pattern such as heat map for better interpretability.</a:t>
            </a:r>
          </a:p>
        </p:txBody>
      </p:sp>
    </p:spTree>
    <p:extLst>
      <p:ext uri="{BB962C8B-B14F-4D97-AF65-F5344CB8AC3E}">
        <p14:creationId xmlns:p14="http://schemas.microsoft.com/office/powerpoint/2010/main" val="2719652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5257800"/>
          </a:xfrm>
        </p:spPr>
        <p:txBody>
          <a:bodyPr>
            <a:normAutofit/>
          </a:bodyPr>
          <a:lstStyle/>
          <a:p>
            <a:pPr algn="just"/>
            <a:r>
              <a:rPr lang="en-US" sz="2800" dirty="0"/>
              <a:t>Curse of dimensionality</a:t>
            </a:r>
          </a:p>
          <a:p>
            <a:pPr lvl="1" algn="just"/>
            <a:r>
              <a:rPr lang="en-US" sz="2400" dirty="0"/>
              <a:t>With increase in dimensionality, the amount of data needed to get sound and reliable results from ML models grows exponentially. </a:t>
            </a:r>
          </a:p>
          <a:p>
            <a:pPr algn="just"/>
            <a:r>
              <a:rPr lang="en-US" sz="2800" dirty="0"/>
              <a:t>Dimensionality reduction</a:t>
            </a:r>
          </a:p>
          <a:p>
            <a:pPr lvl="1" algn="just"/>
            <a:r>
              <a:rPr lang="en-US" sz="2400" dirty="0"/>
              <a:t>Feature selection: Methods such as attribute relevance analysis can be used to select top relevant features.</a:t>
            </a:r>
          </a:p>
          <a:p>
            <a:pPr lvl="2" algn="just"/>
            <a:r>
              <a:rPr lang="en-US" sz="2000" dirty="0"/>
              <a:t>Learning from dropped features will be missed out.</a:t>
            </a:r>
          </a:p>
          <a:p>
            <a:pPr lvl="1" algn="just"/>
            <a:r>
              <a:rPr lang="en-US" sz="2400" dirty="0"/>
              <a:t>Feature extraction: New features are extracted from the existing ones by projecting them on to new feature space.</a:t>
            </a:r>
          </a:p>
          <a:p>
            <a:pPr algn="just"/>
            <a:r>
              <a:rPr lang="en-US" sz="2800" dirty="0"/>
              <a:t>PCA is used for feature extraction</a:t>
            </a:r>
            <a:endParaRPr lang="en-IN" sz="2800" dirty="0"/>
          </a:p>
        </p:txBody>
      </p:sp>
      <p:sp>
        <p:nvSpPr>
          <p:cNvPr id="4" name="Title 1"/>
          <p:cNvSpPr>
            <a:spLocks noGrp="1"/>
          </p:cNvSpPr>
          <p:nvPr>
            <p:ph type="title"/>
          </p:nvPr>
        </p:nvSpPr>
        <p:spPr>
          <a:xfrm>
            <a:off x="457200" y="304800"/>
            <a:ext cx="8229600" cy="838200"/>
          </a:xfrm>
        </p:spPr>
        <p:txBody>
          <a:bodyPr/>
          <a:lstStyle/>
          <a:p>
            <a:r>
              <a:rPr lang="en-US" dirty="0"/>
              <a:t>Principal Component Analysis</a:t>
            </a:r>
            <a:endParaRPr lang="en-IN" dirty="0"/>
          </a:p>
        </p:txBody>
      </p:sp>
    </p:spTree>
    <p:extLst>
      <p:ext uri="{BB962C8B-B14F-4D97-AF65-F5344CB8AC3E}">
        <p14:creationId xmlns:p14="http://schemas.microsoft.com/office/powerpoint/2010/main" val="484779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71600"/>
            <a:ext cx="8229600" cy="5181600"/>
          </a:xfrm>
        </p:spPr>
        <p:txBody>
          <a:bodyPr>
            <a:normAutofit/>
          </a:bodyPr>
          <a:lstStyle/>
          <a:p>
            <a:pPr algn="just"/>
            <a:r>
              <a:rPr lang="en-US" sz="2800" dirty="0"/>
              <a:t>It combines the existing variables in such a way that each of the new variables retains varying degree of  information from all the existing variables.</a:t>
            </a:r>
          </a:p>
          <a:p>
            <a:pPr algn="just"/>
            <a:r>
              <a:rPr lang="en-US" sz="2800" dirty="0"/>
              <a:t>Because of this, even if we drop some of these new variables, which could retain very little information from the existing ones, then also final result of the ML model won’t be affected adversely.</a:t>
            </a:r>
          </a:p>
          <a:p>
            <a:pPr algn="just"/>
            <a:r>
              <a:rPr lang="en-US" sz="2800" dirty="0"/>
              <a:t>There are two more advantages</a:t>
            </a:r>
          </a:p>
          <a:p>
            <a:pPr lvl="1" algn="just"/>
            <a:r>
              <a:rPr lang="en-US" sz="2400" dirty="0"/>
              <a:t>The new variables are independent of each other</a:t>
            </a:r>
          </a:p>
          <a:p>
            <a:pPr lvl="1" algn="just"/>
            <a:r>
              <a:rPr lang="en-US" sz="2400" dirty="0"/>
              <a:t>The entire process is completely reversible without any loss of information </a:t>
            </a:r>
            <a:endParaRPr lang="en-IN" sz="2400" dirty="0"/>
          </a:p>
        </p:txBody>
      </p:sp>
      <p:sp>
        <p:nvSpPr>
          <p:cNvPr id="4" name="Title 1"/>
          <p:cNvSpPr>
            <a:spLocks noGrp="1"/>
          </p:cNvSpPr>
          <p:nvPr>
            <p:ph type="title"/>
          </p:nvPr>
        </p:nvSpPr>
        <p:spPr>
          <a:xfrm>
            <a:off x="457200" y="304800"/>
            <a:ext cx="8229600" cy="838200"/>
          </a:xfrm>
        </p:spPr>
        <p:txBody>
          <a:bodyPr/>
          <a:lstStyle/>
          <a:p>
            <a:r>
              <a:rPr lang="en-US" dirty="0"/>
              <a:t>Principal Component Analysis</a:t>
            </a:r>
            <a:endParaRPr lang="en-IN" dirty="0"/>
          </a:p>
        </p:txBody>
      </p:sp>
    </p:spTree>
    <p:extLst>
      <p:ext uri="{BB962C8B-B14F-4D97-AF65-F5344CB8AC3E}">
        <p14:creationId xmlns:p14="http://schemas.microsoft.com/office/powerpoint/2010/main" val="1181425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838200"/>
            <a:ext cx="8610600" cy="5943600"/>
          </a:xfrm>
        </p:spPr>
        <p:txBody>
          <a:bodyPr>
            <a:normAutofit lnSpcReduction="10000"/>
          </a:bodyPr>
          <a:lstStyle/>
          <a:p>
            <a:pPr algn="just"/>
            <a:r>
              <a:rPr lang="en-US" sz="2800" dirty="0"/>
              <a:t>It has following steps</a:t>
            </a:r>
          </a:p>
          <a:p>
            <a:pPr marL="914400" lvl="1" indent="-457200" algn="just">
              <a:buFont typeface="+mj-lt"/>
              <a:buAutoNum type="arabicPeriod"/>
            </a:pPr>
            <a:r>
              <a:rPr lang="en-US" sz="2400" dirty="0"/>
              <a:t>For each column (existing variable), subtract the mean of that column from every value in the column. Call this matrix X.</a:t>
            </a:r>
          </a:p>
          <a:p>
            <a:pPr marL="914400" lvl="1" indent="-457200" algn="just">
              <a:buFont typeface="+mj-lt"/>
              <a:buAutoNum type="arabicPeriod"/>
            </a:pPr>
            <a:r>
              <a:rPr lang="en-US" sz="2400" dirty="0"/>
              <a:t>Take the transpose of X and multiply it with X, </a:t>
            </a:r>
            <a:r>
              <a:rPr lang="en-US" sz="2400" dirty="0" err="1"/>
              <a:t>ie</a:t>
            </a:r>
            <a:r>
              <a:rPr lang="en-US" sz="2400" dirty="0"/>
              <a:t> X</a:t>
            </a:r>
            <a:r>
              <a:rPr lang="en-US" sz="2400" baseline="30000" dirty="0"/>
              <a:t>T</a:t>
            </a:r>
            <a:r>
              <a:rPr lang="en-US" sz="2400" dirty="0"/>
              <a:t>*X. This resultant matrix after multiplication is called Covariance matrix of X</a:t>
            </a:r>
          </a:p>
          <a:p>
            <a:pPr marL="914400" lvl="1" indent="-457200" algn="just">
              <a:buFont typeface="+mj-lt"/>
              <a:buAutoNum type="arabicPeriod"/>
            </a:pPr>
            <a:r>
              <a:rPr lang="en-US" sz="2400" dirty="0"/>
              <a:t>Calculate </a:t>
            </a:r>
            <a:r>
              <a:rPr lang="en-US" sz="2400" dirty="0" err="1"/>
              <a:t>eigen</a:t>
            </a:r>
            <a:r>
              <a:rPr lang="en-US" sz="2400" dirty="0"/>
              <a:t> vectors and corresponding </a:t>
            </a:r>
            <a:r>
              <a:rPr lang="en-US" sz="2400" dirty="0" err="1"/>
              <a:t>eigen</a:t>
            </a:r>
            <a:r>
              <a:rPr lang="en-US" sz="2400" dirty="0"/>
              <a:t> values of the Covariance matrix of X</a:t>
            </a:r>
          </a:p>
          <a:p>
            <a:pPr marL="914400" lvl="1" indent="-457200" algn="just">
              <a:buFont typeface="+mj-lt"/>
              <a:buAutoNum type="arabicPeriod"/>
            </a:pPr>
            <a:r>
              <a:rPr lang="en-US" sz="2400" dirty="0"/>
              <a:t>Arrange the </a:t>
            </a:r>
            <a:r>
              <a:rPr lang="en-US" sz="2400" dirty="0" err="1"/>
              <a:t>eigen</a:t>
            </a:r>
            <a:r>
              <a:rPr lang="en-US" sz="2400" dirty="0"/>
              <a:t> vectors in descending order of </a:t>
            </a:r>
            <a:r>
              <a:rPr lang="en-US" sz="2400" dirty="0" err="1"/>
              <a:t>eigen</a:t>
            </a:r>
            <a:r>
              <a:rPr lang="en-US" sz="2400" dirty="0"/>
              <a:t> values in a new matrix. Call this matrix P.</a:t>
            </a:r>
          </a:p>
          <a:p>
            <a:pPr marL="914400" lvl="1" indent="-457200" algn="just">
              <a:buFont typeface="+mj-lt"/>
              <a:buAutoNum type="arabicPeriod"/>
            </a:pPr>
            <a:r>
              <a:rPr lang="en-US" sz="2400" dirty="0"/>
              <a:t>This matrix P contains our newly extracted variables, where each column of the matrix is an </a:t>
            </a:r>
            <a:r>
              <a:rPr lang="en-US" sz="2400" dirty="0" err="1"/>
              <a:t>eigen</a:t>
            </a:r>
            <a:r>
              <a:rPr lang="en-US" sz="2400" dirty="0"/>
              <a:t> vector.</a:t>
            </a:r>
          </a:p>
          <a:p>
            <a:pPr marL="914400" lvl="1" indent="-457200" algn="just">
              <a:buFont typeface="+mj-lt"/>
              <a:buAutoNum type="arabicPeriod"/>
            </a:pPr>
            <a:r>
              <a:rPr lang="en-US" sz="2400" dirty="0"/>
              <a:t>Each </a:t>
            </a:r>
            <a:r>
              <a:rPr lang="en-US" sz="2400" dirty="0" err="1"/>
              <a:t>eigen</a:t>
            </a:r>
            <a:r>
              <a:rPr lang="en-US" sz="2400" dirty="0"/>
              <a:t> value is an indicator of how much learning information is retained by that new variable.</a:t>
            </a:r>
          </a:p>
          <a:p>
            <a:pPr marL="914400" lvl="1" indent="-457200" algn="just">
              <a:buFont typeface="+mj-lt"/>
              <a:buAutoNum type="arabicPeriod"/>
            </a:pPr>
            <a:endParaRPr lang="en-IN" sz="2400" dirty="0"/>
          </a:p>
        </p:txBody>
      </p:sp>
      <p:sp>
        <p:nvSpPr>
          <p:cNvPr id="4" name="Title 1"/>
          <p:cNvSpPr>
            <a:spLocks noGrp="1"/>
          </p:cNvSpPr>
          <p:nvPr>
            <p:ph type="title"/>
          </p:nvPr>
        </p:nvSpPr>
        <p:spPr>
          <a:xfrm>
            <a:off x="457200" y="0"/>
            <a:ext cx="8229600" cy="838200"/>
          </a:xfrm>
        </p:spPr>
        <p:txBody>
          <a:bodyPr/>
          <a:lstStyle/>
          <a:p>
            <a:r>
              <a:rPr lang="en-US" dirty="0"/>
              <a:t>Principal Component Analysis</a:t>
            </a:r>
            <a:endParaRPr lang="en-IN" dirty="0"/>
          </a:p>
        </p:txBody>
      </p:sp>
    </p:spTree>
    <p:extLst>
      <p:ext uri="{BB962C8B-B14F-4D97-AF65-F5344CB8AC3E}">
        <p14:creationId xmlns:p14="http://schemas.microsoft.com/office/powerpoint/2010/main" val="2282457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1000"/>
                                        <p:tgtEl>
                                          <p:spTgt spid="3">
                                            <p:txEl>
                                              <p:pRg st="6" end="6"/>
                                            </p:txEl>
                                          </p:spTgt>
                                        </p:tgtEl>
                                      </p:cBhvr>
                                    </p:animEffect>
                                    <p:anim calcmode="lin" valueType="num">
                                      <p:cBhvr>
                                        <p:cTn id="4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1688</TotalTime>
  <Words>1234</Words>
  <Application>Microsoft Office PowerPoint</Application>
  <PresentationFormat>On-screen Show (4:3)</PresentationFormat>
  <Paragraphs>385</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 Math</vt:lpstr>
      <vt:lpstr>Office Theme</vt:lpstr>
      <vt:lpstr>Introduction to Clustering</vt:lpstr>
      <vt:lpstr>K-means clustering</vt:lpstr>
      <vt:lpstr>K-means clustering</vt:lpstr>
      <vt:lpstr>K-means clustering</vt:lpstr>
      <vt:lpstr>Hierarchical clustering</vt:lpstr>
      <vt:lpstr>Hierarchical clustering</vt:lpstr>
      <vt:lpstr>Hierarchical clustering</vt:lpstr>
      <vt:lpstr>Hierarchical clustering</vt:lpstr>
      <vt:lpstr>Hierarchical clustering</vt:lpstr>
      <vt:lpstr>Evaluating clusters</vt:lpstr>
      <vt:lpstr>Evaluating clusters</vt:lpstr>
      <vt:lpstr>Evaluating clusters</vt:lpstr>
      <vt:lpstr>Evaluating clusters</vt:lpstr>
      <vt:lpstr>Principal Component Analysis</vt:lpstr>
      <vt:lpstr>Principal Component Analysis</vt:lpstr>
      <vt:lpstr>Principal Component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Clustering</dc:title>
  <dc:creator>acer</dc:creator>
  <cp:lastModifiedBy>Vipul Dalal</cp:lastModifiedBy>
  <cp:revision>123</cp:revision>
  <dcterms:created xsi:type="dcterms:W3CDTF">2006-08-16T00:00:00Z</dcterms:created>
  <dcterms:modified xsi:type="dcterms:W3CDTF">2022-06-02T12:30:39Z</dcterms:modified>
</cp:coreProperties>
</file>