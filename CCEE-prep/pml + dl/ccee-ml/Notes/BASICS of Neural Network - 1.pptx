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  <p:sldMasterId id="2147483775" r:id="rId2"/>
    <p:sldMasterId id="2147483787" r:id="rId3"/>
    <p:sldMasterId id="2147483799" r:id="rId4"/>
    <p:sldMasterId id="2147483813" r:id="rId5"/>
    <p:sldMasterId id="2147483860" r:id="rId6"/>
  </p:sldMasterIdLst>
  <p:notesMasterIdLst>
    <p:notesMasterId r:id="rId75"/>
  </p:notesMasterIdLst>
  <p:sldIdLst>
    <p:sldId id="257" r:id="rId7"/>
    <p:sldId id="327" r:id="rId8"/>
    <p:sldId id="328" r:id="rId9"/>
    <p:sldId id="329" r:id="rId10"/>
    <p:sldId id="330" r:id="rId11"/>
    <p:sldId id="331" r:id="rId12"/>
    <p:sldId id="332" r:id="rId13"/>
    <p:sldId id="333" r:id="rId14"/>
    <p:sldId id="334" r:id="rId15"/>
    <p:sldId id="335" r:id="rId16"/>
    <p:sldId id="336" r:id="rId17"/>
    <p:sldId id="337" r:id="rId18"/>
    <p:sldId id="338" r:id="rId19"/>
    <p:sldId id="339" r:id="rId20"/>
    <p:sldId id="340" r:id="rId21"/>
    <p:sldId id="341" r:id="rId22"/>
    <p:sldId id="342" r:id="rId23"/>
    <p:sldId id="343" r:id="rId24"/>
    <p:sldId id="344" r:id="rId25"/>
    <p:sldId id="345" r:id="rId26"/>
    <p:sldId id="346" r:id="rId27"/>
    <p:sldId id="347" r:id="rId28"/>
    <p:sldId id="348" r:id="rId29"/>
    <p:sldId id="349" r:id="rId30"/>
    <p:sldId id="350" r:id="rId31"/>
    <p:sldId id="351" r:id="rId32"/>
    <p:sldId id="352" r:id="rId33"/>
    <p:sldId id="353" r:id="rId34"/>
    <p:sldId id="326" r:id="rId35"/>
    <p:sldId id="285" r:id="rId36"/>
    <p:sldId id="287" r:id="rId37"/>
    <p:sldId id="288" r:id="rId38"/>
    <p:sldId id="289" r:id="rId39"/>
    <p:sldId id="290" r:id="rId40"/>
    <p:sldId id="291" r:id="rId41"/>
    <p:sldId id="325" r:id="rId42"/>
    <p:sldId id="292" r:id="rId43"/>
    <p:sldId id="354" r:id="rId44"/>
    <p:sldId id="355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24" r:id="rId54"/>
    <p:sldId id="301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1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16" Type="http://schemas.openxmlformats.org/officeDocument/2006/relationships/slide" Target="slides/slide10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slide" Target="slides/slide60.xml"/><Relationship Id="rId74" Type="http://schemas.openxmlformats.org/officeDocument/2006/relationships/slide" Target="slides/slide68.xml"/><Relationship Id="rId79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77" Type="http://schemas.openxmlformats.org/officeDocument/2006/relationships/viewProps" Target="viewProp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presProps" Target="presProps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F7ED0A-A813-4B37-9A4B-A76ACDF5AB6F}" type="datetimeFigureOut">
              <a:rPr lang="en-IN" smtClean="0"/>
              <a:t>06-06-2022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A9150-CB92-42AF-BC20-261C2805C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465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467d35d49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467d35d49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9690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467d35d497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1" name="Google Shape;1091;g467d35d497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75629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g467d35d497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g467d35d497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8645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467d35d497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6" name="Google Shape;1126;g467d35d497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62552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467d35d497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1" name="Google Shape;1141;g467d35d497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41686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467d35d497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467d35d497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8231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467d35d497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1" name="Google Shape;1171;g467d35d497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22255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467d35d497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8" name="Google Shape;1188;g467d35d497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83935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g467d35d497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7" name="Google Shape;1207;g467d35d497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8206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g467d35d497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6" name="Google Shape;1226;g467d35d497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03842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467d35d497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g467d35d497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44437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467d35d497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4" name="Google Shape;1264;g467d35d497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23112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g467d35d497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1" name="Google Shape;1281;g467d35d497_0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57441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467d35d497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9" name="Google Shape;1299;g467d35d497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00560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g467d35d497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7" name="Google Shape;1317;g467d35d497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76004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g467d35d497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5" name="Google Shape;1335;g467d35d497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64865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467d35d497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g467d35d497_0_2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51948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g467d35d497_0_2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2" name="Google Shape;1372;g467d35d497_0_2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0456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g467d35d497_0_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1" name="Google Shape;1391;g467d35d497_0_3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09924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g467d35d497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0" name="Google Shape;1410;g467d35d497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99645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g467d35d497_0_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2" name="Google Shape;1432;g467d35d497_0_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7349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g467d35d497_0_3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4" name="Google Shape;1454;g467d35d497_0_3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46594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g467d35d497_0_3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3" name="Google Shape;1463;g467d35d497_0_3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08122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g467d35d497_0_3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3" name="Google Shape;1463;g467d35d497_0_3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92936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g467d35d497_0_3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0" name="Google Shape;1480;g467d35d497_0_3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69502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g467d35d497_0_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7" name="Google Shape;1487;g467d35d497_0_3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25506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467d35d497_0_4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467d35d497_0_4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41229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g467d35d497_0_4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7" name="Google Shape;1527;g467d35d497_0_4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507604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g467d35d497_0_4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9" name="Google Shape;1559;g467d35d497_0_4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82223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Google Shape;1566;g467d35d497_0_4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7" name="Google Shape;1567;g467d35d497_0_4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86618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48195bab50_0_26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1" name="Google Shape;1051;g48195bab50_0_26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983268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48195bab50_0_26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48195bab50_0_26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51593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g467d35d497_0_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5" name="Google Shape;1575;g467d35d497_0_4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242465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g467d35d497_0_4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1" name="Google Shape;1591;g467d35d497_0_4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829096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g467d35d497_0_5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7" name="Google Shape;1607;g467d35d497_0_5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816517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g467d35d497_0_5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4" name="Google Shape;1624;g467d35d497_0_5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285172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467d35d497_0_5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g467d35d497_0_5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971848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g467d35d497_0_5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0" name="Google Shape;1660;g467d35d497_0_5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458453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Google Shape;1674;g467d35d497_0_5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5" name="Google Shape;1675;g467d35d497_0_5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375450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g467d35d497_0_5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3" name="Google Shape;1693;g467d35d497_0_5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002882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g467d35d497_0_5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3" name="Google Shape;1693;g467d35d497_0_5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613655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g467d35d497_0_6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7" name="Google Shape;1707;g467d35d497_0_6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325794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g467d35d497_0_6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3" name="Google Shape;1723;g467d35d497_0_6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634239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g467d35d497_0_6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0" name="Google Shape;1730;g467d35d497_0_6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238236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g467d35d497_0_6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8" name="Google Shape;1738;g467d35d497_0_6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620603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g467d35d497_0_6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6" name="Google Shape;1746;g467d35d497_0_6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585285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Google Shape;1753;g467d35d497_0_6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4" name="Google Shape;1754;g467d35d497_0_6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613629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Google Shape;1761;g467d35d497_0_6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2" name="Google Shape;1762;g467d35d497_0_6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710381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9" name="Google Shape;1769;g467d35d497_0_6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0" name="Google Shape;1770;g467d35d497_0_6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159944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5" name="Google Shape;1785;g467d35d497_0_6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6" name="Google Shape;1786;g467d35d497_0_6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961282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1800;g467d35d497_0_6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1" name="Google Shape;1801;g467d35d497_0_6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244737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g467d35d497_0_6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9" name="Google Shape;1809;g467d35d497_0_6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431991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g467d35d497_0_7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2" name="Google Shape;1822;g467d35d497_0_7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107338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Google Shape;1835;g467d35d497_0_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6" name="Google Shape;1836;g467d35d497_0_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392135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Google Shape;1850;g467d35d497_0_7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1" name="Google Shape;1851;g467d35d497_0_7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348594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g467d35d497_0_7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6" name="Google Shape;1866;g467d35d497_0_7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911974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g467d35d497_0_7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0" name="Google Shape;1880;g467d35d497_0_7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394728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467d35d497_0_7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467d35d497_0_7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408288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5" name="Google Shape;1895;g467d35d497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6" name="Google Shape;1896;g467d35d497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629644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g467d35d497_0_7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4" name="Google Shape;1904;g467d35d497_0_7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020503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Google Shape;1911;g467d35d497_0_7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2" name="Google Shape;1912;g467d35d497_0_7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5744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625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585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62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1112838"/>
            <a:ext cx="5526617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017" y="1112838"/>
            <a:ext cx="5526616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034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045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212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8081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99606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15095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116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00585" y="446088"/>
            <a:ext cx="2813049" cy="51927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46088"/>
            <a:ext cx="8240184" cy="51927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9239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4080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0FF85B-876A-47D9-ABC4-1896852DECF9}" type="datetime3">
              <a:rPr lang="en-US"/>
              <a:pPr>
                <a:defRPr/>
              </a:pPr>
              <a:t>6 June 2022</a:t>
            </a:fld>
            <a:endParaRPr lang="en-US"/>
          </a:p>
        </p:txBody>
      </p:sp>
      <p:sp>
        <p:nvSpPr>
          <p:cNvPr id="5" name="Footer Placeholder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147988"/>
      </p:ext>
    </p:extLst>
  </p:cSld>
  <p:clrMapOvr>
    <a:masterClrMapping/>
  </p:clrMapOvr>
  <p:transition advClick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700088"/>
            <a:ext cx="11256433" cy="595312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0FF85B-876A-47D9-ABC4-1896852DECF9}" type="datetime3">
              <a:rPr lang="en-US"/>
              <a:pPr>
                <a:defRPr/>
              </a:pPr>
              <a:t>6 June 2022</a:t>
            </a:fld>
            <a:endParaRPr lang="en-US"/>
          </a:p>
        </p:txBody>
      </p:sp>
      <p:sp>
        <p:nvSpPr>
          <p:cNvPr id="5" name="Footer Placeholder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216378"/>
      </p:ext>
    </p:extLst>
  </p:cSld>
  <p:clrMapOvr>
    <a:masterClrMapping/>
  </p:clrMapOvr>
  <p:transition advClick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0FF85B-876A-47D9-ABC4-1896852DECF9}" type="datetime3">
              <a:rPr lang="en-US"/>
              <a:pPr>
                <a:defRPr/>
              </a:pPr>
              <a:t>6 June 2022</a:t>
            </a:fld>
            <a:endParaRPr lang="en-US"/>
          </a:p>
        </p:txBody>
      </p:sp>
      <p:sp>
        <p:nvSpPr>
          <p:cNvPr id="5" name="Footer Placeholder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376183"/>
      </p:ext>
    </p:extLst>
  </p:cSld>
  <p:clrMapOvr>
    <a:masterClrMapping/>
  </p:clrMapOvr>
  <p:transition advClick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700088"/>
            <a:ext cx="11256433" cy="595312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1370013"/>
            <a:ext cx="5526617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017" y="1370013"/>
            <a:ext cx="5526616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0FF85B-876A-47D9-ABC4-1896852DECF9}" type="datetime3">
              <a:rPr lang="en-US"/>
              <a:pPr>
                <a:defRPr/>
              </a:pPr>
              <a:t>6 June 2022</a:t>
            </a:fld>
            <a:endParaRPr lang="en-US"/>
          </a:p>
        </p:txBody>
      </p:sp>
      <p:sp>
        <p:nvSpPr>
          <p:cNvPr id="6" name="Footer Placeholder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506582"/>
      </p:ext>
    </p:extLst>
  </p:cSld>
  <p:clrMapOvr>
    <a:masterClrMapping/>
  </p:clrMapOvr>
  <p:transition advClick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0FF85B-876A-47D9-ABC4-1896852DECF9}" type="datetime3">
              <a:rPr lang="en-US"/>
              <a:pPr>
                <a:defRPr/>
              </a:pPr>
              <a:t>6 June 2022</a:t>
            </a:fld>
            <a:endParaRPr lang="en-US"/>
          </a:p>
        </p:txBody>
      </p:sp>
      <p:sp>
        <p:nvSpPr>
          <p:cNvPr id="8" name="Footer Placeholder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255831"/>
      </p:ext>
    </p:extLst>
  </p:cSld>
  <p:clrMapOvr>
    <a:masterClrMapping/>
  </p:clrMapOvr>
  <p:transition advClick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700088"/>
            <a:ext cx="11256433" cy="595312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0FF85B-876A-47D9-ABC4-1896852DECF9}" type="datetime3">
              <a:rPr lang="en-US"/>
              <a:pPr>
                <a:defRPr/>
              </a:pPr>
              <a:t>6 June 2022</a:t>
            </a:fld>
            <a:endParaRPr lang="en-US"/>
          </a:p>
        </p:txBody>
      </p:sp>
      <p:sp>
        <p:nvSpPr>
          <p:cNvPr id="4" name="Footer Placeholder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571936"/>
      </p:ext>
    </p:extLst>
  </p:cSld>
  <p:clrMapOvr>
    <a:masterClrMapping/>
  </p:clrMapOvr>
  <p:transition advClick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0FF85B-876A-47D9-ABC4-1896852DECF9}" type="datetime3">
              <a:rPr lang="en-US"/>
              <a:pPr>
                <a:defRPr/>
              </a:pPr>
              <a:t>6 June 2022</a:t>
            </a:fld>
            <a:endParaRPr lang="en-US"/>
          </a:p>
        </p:txBody>
      </p:sp>
      <p:sp>
        <p:nvSpPr>
          <p:cNvPr id="3" name="Footer Placeholder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91778"/>
      </p:ext>
    </p:extLst>
  </p:cSld>
  <p:clrMapOvr>
    <a:masterClrMapping/>
  </p:clrMapOvr>
  <p:transition advClick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0FF85B-876A-47D9-ABC4-1896852DECF9}" type="datetime3">
              <a:rPr lang="en-US"/>
              <a:pPr>
                <a:defRPr/>
              </a:pPr>
              <a:t>6 June 2022</a:t>
            </a:fld>
            <a:endParaRPr lang="en-US"/>
          </a:p>
        </p:txBody>
      </p:sp>
      <p:sp>
        <p:nvSpPr>
          <p:cNvPr id="6" name="Footer Placeholder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972052"/>
      </p:ext>
    </p:extLst>
  </p:cSld>
  <p:clrMapOvr>
    <a:masterClrMapping/>
  </p:clrMapOvr>
  <p:transition advClick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0FF85B-876A-47D9-ABC4-1896852DECF9}" type="datetime3">
              <a:rPr lang="en-US"/>
              <a:pPr>
                <a:defRPr/>
              </a:pPr>
              <a:t>6 June 2022</a:t>
            </a:fld>
            <a:endParaRPr lang="en-US"/>
          </a:p>
        </p:txBody>
      </p:sp>
      <p:sp>
        <p:nvSpPr>
          <p:cNvPr id="6" name="Footer Placeholder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479350"/>
      </p:ext>
    </p:extLst>
  </p:cSld>
  <p:clrMapOvr>
    <a:masterClrMapping/>
  </p:clrMapOvr>
  <p:transition advClick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700088"/>
            <a:ext cx="11256433" cy="595312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0FF85B-876A-47D9-ABC4-1896852DECF9}" type="datetime3">
              <a:rPr lang="en-US"/>
              <a:pPr>
                <a:defRPr/>
              </a:pPr>
              <a:t>6 June 2022</a:t>
            </a:fld>
            <a:endParaRPr lang="en-US"/>
          </a:p>
        </p:txBody>
      </p:sp>
      <p:sp>
        <p:nvSpPr>
          <p:cNvPr id="5" name="Footer Placeholder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03863"/>
      </p:ext>
    </p:extLst>
  </p:cSld>
  <p:clrMapOvr>
    <a:masterClrMapping/>
  </p:clrMapOvr>
  <p:transition advClick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00585" y="700089"/>
            <a:ext cx="2813049" cy="5195887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700089"/>
            <a:ext cx="8240184" cy="51958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0FF85B-876A-47D9-ABC4-1896852DECF9}" type="datetime3">
              <a:rPr lang="en-US"/>
              <a:pPr>
                <a:defRPr/>
              </a:pPr>
              <a:t>6 June 2022</a:t>
            </a:fld>
            <a:endParaRPr lang="en-US"/>
          </a:p>
        </p:txBody>
      </p:sp>
      <p:sp>
        <p:nvSpPr>
          <p:cNvPr id="5" name="Footer Placeholder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311896"/>
      </p:ext>
    </p:extLst>
  </p:cSld>
  <p:clrMapOvr>
    <a:masterClrMapping/>
  </p:clrMapOvr>
  <p:transition advClick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48167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338554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- </a:t>
            </a:r>
            <a:fld id="{AFD8CAFB-2602-4370-9A6E-78D0ADBA5DC9}" type="slidenum">
              <a:rPr lang="en-US"/>
              <a:pPr>
                <a:defRPr/>
              </a:pPr>
              <a:t>‹#›</a:t>
            </a:fld>
            <a:r>
              <a:rPr lang="en-US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291765558"/>
      </p:ext>
    </p:extLst>
  </p:cSld>
  <p:clrMapOvr>
    <a:masterClrMapping/>
  </p:clrMapOvr>
  <p:transition advClick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- </a:t>
            </a:r>
            <a:fld id="{841EB6CA-505D-4EEF-9E82-B379C1A53950}" type="slidenum">
              <a:rPr lang="en-US"/>
              <a:pPr>
                <a:defRPr/>
              </a:pPr>
              <a:t>‹#›</a:t>
            </a:fld>
            <a:r>
              <a:rPr lang="en-US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64440062"/>
      </p:ext>
    </p:extLst>
  </p:cSld>
  <p:clrMapOvr>
    <a:masterClrMapping/>
  </p:clrMapOvr>
  <p:transition advClick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800219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006790"/>
            <a:ext cx="10363200" cy="40011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- </a:t>
            </a:r>
            <a:fld id="{12969B0C-A43A-42FF-BB78-3AAF809145B0}" type="slidenum">
              <a:rPr lang="en-US"/>
              <a:pPr>
                <a:defRPr/>
              </a:pPr>
              <a:t>‹#›</a:t>
            </a:fld>
            <a:r>
              <a:rPr lang="en-US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150081509"/>
      </p:ext>
    </p:extLst>
  </p:cSld>
  <p:clrMapOvr>
    <a:masterClrMapping/>
  </p:clrMapOvr>
  <p:transition advClick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7517" y="1536701"/>
            <a:ext cx="4713816" cy="243143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4534" y="1536701"/>
            <a:ext cx="4713817" cy="243143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- </a:t>
            </a:r>
            <a:fld id="{777C7348-B505-4966-A190-34B8C7BA1D58}" type="slidenum">
              <a:rPr lang="en-US"/>
              <a:pPr>
                <a:defRPr/>
              </a:pPr>
              <a:t>‹#›</a:t>
            </a:fld>
            <a:r>
              <a:rPr lang="en-US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2805407878"/>
      </p:ext>
    </p:extLst>
  </p:cSld>
  <p:clrMapOvr>
    <a:masterClrMapping/>
  </p:clrMapOvr>
  <p:transition advClick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48167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13210"/>
            <a:ext cx="5386917" cy="4616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175432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713210"/>
            <a:ext cx="5389033" cy="4616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175432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- </a:t>
            </a:r>
            <a:fld id="{3FF0585E-3145-4867-A5D3-545B84F3B2B2}" type="slidenum">
              <a:rPr lang="en-US"/>
              <a:pPr>
                <a:defRPr/>
              </a:pPr>
              <a:t>‹#›</a:t>
            </a:fld>
            <a:r>
              <a:rPr lang="en-US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2322367158"/>
      </p:ext>
    </p:extLst>
  </p:cSld>
  <p:clrMapOvr>
    <a:masterClrMapping/>
  </p:clrMapOvr>
  <p:transition advClick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- </a:t>
            </a:r>
            <a:fld id="{4FCE4F2E-81F1-461D-A827-43F94168AF62}" type="slidenum">
              <a:rPr lang="en-US"/>
              <a:pPr>
                <a:defRPr/>
              </a:pPr>
              <a:t>‹#›</a:t>
            </a:fld>
            <a:r>
              <a:rPr lang="en-US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050336041"/>
      </p:ext>
    </p:extLst>
  </p:cSld>
  <p:clrMapOvr>
    <a:masterClrMapping/>
  </p:clrMapOvr>
  <p:transition advClick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- </a:t>
            </a:r>
            <a:fld id="{67838DCB-C427-4176-8E9F-FE7B3115E1EA}" type="slidenum">
              <a:rPr lang="en-US"/>
              <a:pPr>
                <a:defRPr/>
              </a:pPr>
              <a:t>‹#›</a:t>
            </a:fld>
            <a:r>
              <a:rPr lang="en-US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453435549"/>
      </p:ext>
    </p:extLst>
  </p:cSld>
  <p:clrMapOvr>
    <a:masterClrMapping/>
  </p:clrMapOvr>
  <p:transition advClick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988824"/>
            <a:ext cx="4011084" cy="44627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22837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30777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- </a:t>
            </a:r>
            <a:fld id="{23EE60A9-9A2E-4EEA-8C7E-A03E70B3807F}" type="slidenum">
              <a:rPr lang="en-US"/>
              <a:pPr>
                <a:defRPr/>
              </a:pPr>
              <a:t>‹#›</a:t>
            </a:fld>
            <a:r>
              <a:rPr lang="en-US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2310138835"/>
      </p:ext>
    </p:extLst>
  </p:cSld>
  <p:clrMapOvr>
    <a:masterClrMapping/>
  </p:clrMapOvr>
  <p:transition advClick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921062"/>
            <a:ext cx="7315200" cy="44627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584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30777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- </a:t>
            </a:r>
            <a:fld id="{517DA06D-BB88-4333-BD49-1F8F4B9CC15F}" type="slidenum">
              <a:rPr lang="en-US"/>
              <a:pPr>
                <a:defRPr/>
              </a:pPr>
              <a:t>‹#›</a:t>
            </a:fld>
            <a:r>
              <a:rPr lang="en-US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468935534"/>
      </p:ext>
    </p:extLst>
  </p:cSld>
  <p:clrMapOvr>
    <a:masterClrMapping/>
  </p:clrMapOvr>
  <p:transition advClick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45503" y="1536701"/>
            <a:ext cx="4782848" cy="132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- </a:t>
            </a:r>
            <a:fld id="{B4C18125-BEA1-47D4-8C9A-48177BEF094B}" type="slidenum">
              <a:rPr lang="en-US"/>
              <a:pPr>
                <a:defRPr/>
              </a:pPr>
              <a:t>‹#›</a:t>
            </a:fld>
            <a:r>
              <a:rPr lang="en-US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2763565159"/>
      </p:ext>
    </p:extLst>
  </p:cSld>
  <p:clrMapOvr>
    <a:masterClrMapping/>
  </p:clrMapOvr>
  <p:transition advClick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923860" y="53975"/>
            <a:ext cx="963341" cy="28067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92929" y="53975"/>
            <a:ext cx="1674305" cy="28067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- </a:t>
            </a:r>
            <a:fld id="{05D501AC-45CE-4E60-9E23-8EACE99256DE}" type="slidenum">
              <a:rPr lang="en-US"/>
              <a:pPr>
                <a:defRPr/>
              </a:pPr>
              <a:t>‹#›</a:t>
            </a:fld>
            <a:r>
              <a:rPr lang="en-US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2401033503"/>
      </p:ext>
    </p:extLst>
  </p:cSld>
  <p:clrMapOvr>
    <a:masterClrMapping/>
  </p:clrMapOvr>
  <p:transition advClick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/>
          <p:nvPr/>
        </p:nvSpPr>
        <p:spPr>
          <a:xfrm>
            <a:off x="304800" y="304800"/>
            <a:ext cx="406400" cy="152400"/>
          </a:xfrm>
          <a:prstGeom prst="rect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sz="1800"/>
          </a:p>
        </p:txBody>
      </p:sp>
      <p:sp>
        <p:nvSpPr>
          <p:cNvPr id="5" name="Rectangle 80"/>
          <p:cNvSpPr/>
          <p:nvPr/>
        </p:nvSpPr>
        <p:spPr>
          <a:xfrm>
            <a:off x="0" y="0"/>
            <a:ext cx="12192000" cy="1066800"/>
          </a:xfrm>
          <a:prstGeom prst="rect">
            <a:avLst/>
          </a:prstGeom>
          <a:gradFill flip="none" rotWithShape="1">
            <a:gsLst>
              <a:gs pos="10000">
                <a:srgbClr val="0067AC"/>
              </a:gs>
              <a:gs pos="100000">
                <a:srgbClr val="56BBED"/>
              </a:gs>
            </a:gsLst>
            <a:lin ang="9120000" scaled="0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sz="1800"/>
          </a:p>
        </p:txBody>
      </p:sp>
      <p:sp>
        <p:nvSpPr>
          <p:cNvPr id="6" name="Rectangle 71"/>
          <p:cNvSpPr txBox="1">
            <a:spLocks noChangeArrowheads="1"/>
          </p:cNvSpPr>
          <p:nvPr/>
        </p:nvSpPr>
        <p:spPr bwMode="auto">
          <a:xfrm>
            <a:off x="10972801" y="6311901"/>
            <a:ext cx="884767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>
            <a:lvl1pPr>
              <a:defRPr sz="1000">
                <a:solidFill>
                  <a:srgbClr val="4E84C4"/>
                </a:solidFill>
              </a:defRPr>
            </a:lvl1pPr>
          </a:lstStyle>
          <a:p>
            <a:pPr algn="r" defTabSz="914400" fontAlgn="auto">
              <a:spcBef>
                <a:spcPts val="0"/>
              </a:spcBef>
              <a:spcAft>
                <a:spcPts val="0"/>
              </a:spcAft>
              <a:defRPr/>
            </a:pPr>
            <a:fld id="{43767A44-E164-41DA-A2CE-747DB94C91B8}" type="slidenum">
              <a:rPr lang="en-US" sz="1200" smtClean="0">
                <a:solidFill>
                  <a:schemeClr val="tx1"/>
                </a:solidFill>
                <a:latin typeface="Myriad Pro" pitchFamily="34" charset="0"/>
                <a:cs typeface="+mn-cs"/>
              </a:rPr>
              <a:pPr algn="r" defTabSz="9144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lang="en-US" sz="1200" dirty="0" smtClean="0">
                <a:solidFill>
                  <a:schemeClr val="tx1"/>
                </a:solidFill>
                <a:latin typeface="Myriad Pro" pitchFamily="34" charset="0"/>
                <a:cs typeface="+mn-cs"/>
              </a:rPr>
              <a:t> </a:t>
            </a:r>
            <a:endParaRPr lang="en-US" sz="1200" dirty="0">
              <a:solidFill>
                <a:schemeClr val="tx1"/>
              </a:solidFill>
              <a:latin typeface="Myriad Pro" pitchFamily="34" charset="0"/>
              <a:cs typeface="+mn-cs"/>
            </a:endParaRPr>
          </a:p>
        </p:txBody>
      </p:sp>
      <p:grpSp>
        <p:nvGrpSpPr>
          <p:cNvPr id="7" name="Group 8"/>
          <p:cNvGrpSpPr>
            <a:grpSpLocks noChangeAspect="1"/>
          </p:cNvGrpSpPr>
          <p:nvPr/>
        </p:nvGrpSpPr>
        <p:grpSpPr bwMode="auto">
          <a:xfrm>
            <a:off x="567268" y="6426200"/>
            <a:ext cx="3230033" cy="279400"/>
            <a:chOff x="240" y="3744"/>
            <a:chExt cx="2055" cy="237"/>
          </a:xfrm>
        </p:grpSpPr>
        <p:sp>
          <p:nvSpPr>
            <p:cNvPr id="8" name="AutoShape 7"/>
            <p:cNvSpPr>
              <a:spLocks noChangeAspect="1" noChangeArrowheads="1" noTextEdit="1"/>
            </p:cNvSpPr>
            <p:nvPr/>
          </p:nvSpPr>
          <p:spPr bwMode="auto">
            <a:xfrm>
              <a:off x="240" y="3744"/>
              <a:ext cx="2055" cy="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endParaRPr lang="en-US" sz="1800"/>
            </a:p>
          </p:txBody>
        </p:sp>
        <p:sp>
          <p:nvSpPr>
            <p:cNvPr id="9" name="Freeform 9"/>
            <p:cNvSpPr>
              <a:spLocks noEditPoints="1"/>
            </p:cNvSpPr>
            <p:nvPr/>
          </p:nvSpPr>
          <p:spPr bwMode="auto">
            <a:xfrm>
              <a:off x="1355" y="3744"/>
              <a:ext cx="462" cy="79"/>
            </a:xfrm>
            <a:custGeom>
              <a:avLst/>
              <a:gdLst/>
              <a:ahLst/>
              <a:cxnLst>
                <a:cxn ang="0">
                  <a:pos x="3511" y="637"/>
                </a:cxn>
                <a:cxn ang="0">
                  <a:pos x="3625" y="591"/>
                </a:cxn>
                <a:cxn ang="0">
                  <a:pos x="3691" y="454"/>
                </a:cxn>
                <a:cxn ang="0">
                  <a:pos x="3616" y="313"/>
                </a:cxn>
                <a:cxn ang="0">
                  <a:pos x="3441" y="224"/>
                </a:cxn>
                <a:cxn ang="0">
                  <a:pos x="3415" y="147"/>
                </a:cxn>
                <a:cxn ang="0">
                  <a:pos x="3489" y="95"/>
                </a:cxn>
                <a:cxn ang="0">
                  <a:pos x="3666" y="31"/>
                </a:cxn>
                <a:cxn ang="0">
                  <a:pos x="3447" y="8"/>
                </a:cxn>
                <a:cxn ang="0">
                  <a:pos x="3301" y="142"/>
                </a:cxn>
                <a:cxn ang="0">
                  <a:pos x="3355" y="299"/>
                </a:cxn>
                <a:cxn ang="0">
                  <a:pos x="3534" y="392"/>
                </a:cxn>
                <a:cxn ang="0">
                  <a:pos x="3575" y="471"/>
                </a:cxn>
                <a:cxn ang="0">
                  <a:pos x="3511" y="540"/>
                </a:cxn>
                <a:cxn ang="0">
                  <a:pos x="3327" y="514"/>
                </a:cxn>
                <a:cxn ang="0">
                  <a:pos x="3216" y="537"/>
                </a:cxn>
                <a:cxn ang="0">
                  <a:pos x="2637" y="544"/>
                </a:cxn>
                <a:cxn ang="0">
                  <a:pos x="2502" y="526"/>
                </a:cxn>
                <a:cxn ang="0">
                  <a:pos x="2420" y="453"/>
                </a:cxn>
                <a:cxn ang="0">
                  <a:pos x="2390" y="282"/>
                </a:cxn>
                <a:cxn ang="0">
                  <a:pos x="2435" y="168"/>
                </a:cxn>
                <a:cxn ang="0">
                  <a:pos x="2538" y="102"/>
                </a:cxn>
                <a:cxn ang="0">
                  <a:pos x="2726" y="118"/>
                </a:cxn>
                <a:cxn ang="0">
                  <a:pos x="2566" y="2"/>
                </a:cxn>
                <a:cxn ang="0">
                  <a:pos x="2399" y="59"/>
                </a:cxn>
                <a:cxn ang="0">
                  <a:pos x="2293" y="190"/>
                </a:cxn>
                <a:cxn ang="0">
                  <a:pos x="2272" y="380"/>
                </a:cxn>
                <a:cxn ang="0">
                  <a:pos x="2333" y="534"/>
                </a:cxn>
                <a:cxn ang="0">
                  <a:pos x="2467" y="623"/>
                </a:cxn>
                <a:cxn ang="0">
                  <a:pos x="2684" y="632"/>
                </a:cxn>
                <a:cxn ang="0">
                  <a:pos x="1776" y="631"/>
                </a:cxn>
                <a:cxn ang="0">
                  <a:pos x="1717" y="518"/>
                </a:cxn>
                <a:cxn ang="0">
                  <a:pos x="1447" y="10"/>
                </a:cxn>
                <a:cxn ang="0">
                  <a:pos x="1210" y="97"/>
                </a:cxn>
                <a:cxn ang="0">
                  <a:pos x="1281" y="178"/>
                </a:cxn>
                <a:cxn ang="0">
                  <a:pos x="1231" y="277"/>
                </a:cxn>
                <a:cxn ang="0">
                  <a:pos x="1090" y="375"/>
                </a:cxn>
                <a:cxn ang="0">
                  <a:pos x="1233" y="415"/>
                </a:cxn>
                <a:cxn ang="0">
                  <a:pos x="1297" y="622"/>
                </a:cxn>
                <a:cxn ang="0">
                  <a:pos x="1362" y="436"/>
                </a:cxn>
                <a:cxn ang="0">
                  <a:pos x="1282" y="337"/>
                </a:cxn>
                <a:cxn ang="0">
                  <a:pos x="1374" y="258"/>
                </a:cxn>
                <a:cxn ang="0">
                  <a:pos x="1373" y="94"/>
                </a:cxn>
                <a:cxn ang="0">
                  <a:pos x="1263" y="17"/>
                </a:cxn>
                <a:cxn ang="0">
                  <a:pos x="995" y="15"/>
                </a:cxn>
                <a:cxn ang="0">
                  <a:pos x="879" y="537"/>
                </a:cxn>
                <a:cxn ang="0">
                  <a:pos x="118" y="637"/>
                </a:cxn>
                <a:cxn ang="0">
                  <a:pos x="303" y="613"/>
                </a:cxn>
                <a:cxn ang="0">
                  <a:pos x="388" y="526"/>
                </a:cxn>
                <a:cxn ang="0">
                  <a:pos x="373" y="355"/>
                </a:cxn>
                <a:cxn ang="0">
                  <a:pos x="190" y="247"/>
                </a:cxn>
                <a:cxn ang="0">
                  <a:pos x="125" y="177"/>
                </a:cxn>
                <a:cxn ang="0">
                  <a:pos x="163" y="107"/>
                </a:cxn>
                <a:cxn ang="0">
                  <a:pos x="317" y="108"/>
                </a:cxn>
                <a:cxn ang="0">
                  <a:pos x="254" y="1"/>
                </a:cxn>
                <a:cxn ang="0">
                  <a:pos x="44" y="77"/>
                </a:cxn>
                <a:cxn ang="0">
                  <a:pos x="29" y="253"/>
                </a:cxn>
                <a:cxn ang="0">
                  <a:pos x="178" y="359"/>
                </a:cxn>
                <a:cxn ang="0">
                  <a:pos x="284" y="437"/>
                </a:cxn>
                <a:cxn ang="0">
                  <a:pos x="259" y="524"/>
                </a:cxn>
                <a:cxn ang="0">
                  <a:pos x="112" y="540"/>
                </a:cxn>
              </a:cxnLst>
              <a:rect l="0" t="0" r="r" b="b"/>
              <a:pathLst>
                <a:path w="3691" h="641">
                  <a:moveTo>
                    <a:pt x="3288" y="601"/>
                  </a:moveTo>
                  <a:lnTo>
                    <a:pt x="3302" y="609"/>
                  </a:lnTo>
                  <a:lnTo>
                    <a:pt x="3319" y="616"/>
                  </a:lnTo>
                  <a:lnTo>
                    <a:pt x="3338" y="622"/>
                  </a:lnTo>
                  <a:lnTo>
                    <a:pt x="3360" y="629"/>
                  </a:lnTo>
                  <a:lnTo>
                    <a:pt x="3382" y="634"/>
                  </a:lnTo>
                  <a:lnTo>
                    <a:pt x="3406" y="637"/>
                  </a:lnTo>
                  <a:lnTo>
                    <a:pt x="3431" y="640"/>
                  </a:lnTo>
                  <a:lnTo>
                    <a:pt x="3455" y="641"/>
                  </a:lnTo>
                  <a:lnTo>
                    <a:pt x="3484" y="640"/>
                  </a:lnTo>
                  <a:lnTo>
                    <a:pt x="3511" y="637"/>
                  </a:lnTo>
                  <a:lnTo>
                    <a:pt x="3524" y="635"/>
                  </a:lnTo>
                  <a:lnTo>
                    <a:pt x="3536" y="632"/>
                  </a:lnTo>
                  <a:lnTo>
                    <a:pt x="3548" y="629"/>
                  </a:lnTo>
                  <a:lnTo>
                    <a:pt x="3559" y="625"/>
                  </a:lnTo>
                  <a:lnTo>
                    <a:pt x="3570" y="621"/>
                  </a:lnTo>
                  <a:lnTo>
                    <a:pt x="3581" y="617"/>
                  </a:lnTo>
                  <a:lnTo>
                    <a:pt x="3590" y="613"/>
                  </a:lnTo>
                  <a:lnTo>
                    <a:pt x="3600" y="608"/>
                  </a:lnTo>
                  <a:lnTo>
                    <a:pt x="3608" y="603"/>
                  </a:lnTo>
                  <a:lnTo>
                    <a:pt x="3618" y="597"/>
                  </a:lnTo>
                  <a:lnTo>
                    <a:pt x="3625" y="591"/>
                  </a:lnTo>
                  <a:lnTo>
                    <a:pt x="3633" y="584"/>
                  </a:lnTo>
                  <a:lnTo>
                    <a:pt x="3639" y="578"/>
                  </a:lnTo>
                  <a:lnTo>
                    <a:pt x="3646" y="571"/>
                  </a:lnTo>
                  <a:lnTo>
                    <a:pt x="3653" y="564"/>
                  </a:lnTo>
                  <a:lnTo>
                    <a:pt x="3658" y="557"/>
                  </a:lnTo>
                  <a:lnTo>
                    <a:pt x="3668" y="541"/>
                  </a:lnTo>
                  <a:lnTo>
                    <a:pt x="3676" y="526"/>
                  </a:lnTo>
                  <a:lnTo>
                    <a:pt x="3682" y="508"/>
                  </a:lnTo>
                  <a:lnTo>
                    <a:pt x="3687" y="491"/>
                  </a:lnTo>
                  <a:lnTo>
                    <a:pt x="3690" y="472"/>
                  </a:lnTo>
                  <a:lnTo>
                    <a:pt x="3691" y="454"/>
                  </a:lnTo>
                  <a:lnTo>
                    <a:pt x="3690" y="437"/>
                  </a:lnTo>
                  <a:lnTo>
                    <a:pt x="3688" y="422"/>
                  </a:lnTo>
                  <a:lnTo>
                    <a:pt x="3684" y="407"/>
                  </a:lnTo>
                  <a:lnTo>
                    <a:pt x="3680" y="393"/>
                  </a:lnTo>
                  <a:lnTo>
                    <a:pt x="3675" y="380"/>
                  </a:lnTo>
                  <a:lnTo>
                    <a:pt x="3668" y="367"/>
                  </a:lnTo>
                  <a:lnTo>
                    <a:pt x="3660" y="355"/>
                  </a:lnTo>
                  <a:lnTo>
                    <a:pt x="3651" y="344"/>
                  </a:lnTo>
                  <a:lnTo>
                    <a:pt x="3640" y="332"/>
                  </a:lnTo>
                  <a:lnTo>
                    <a:pt x="3629" y="322"/>
                  </a:lnTo>
                  <a:lnTo>
                    <a:pt x="3616" y="313"/>
                  </a:lnTo>
                  <a:lnTo>
                    <a:pt x="3601" y="303"/>
                  </a:lnTo>
                  <a:lnTo>
                    <a:pt x="3586" y="294"/>
                  </a:lnTo>
                  <a:lnTo>
                    <a:pt x="3568" y="286"/>
                  </a:lnTo>
                  <a:lnTo>
                    <a:pt x="3550" y="278"/>
                  </a:lnTo>
                  <a:lnTo>
                    <a:pt x="3530" y="270"/>
                  </a:lnTo>
                  <a:lnTo>
                    <a:pt x="3502" y="258"/>
                  </a:lnTo>
                  <a:lnTo>
                    <a:pt x="3477" y="247"/>
                  </a:lnTo>
                  <a:lnTo>
                    <a:pt x="3467" y="242"/>
                  </a:lnTo>
                  <a:lnTo>
                    <a:pt x="3457" y="236"/>
                  </a:lnTo>
                  <a:lnTo>
                    <a:pt x="3448" y="230"/>
                  </a:lnTo>
                  <a:lnTo>
                    <a:pt x="3441" y="224"/>
                  </a:lnTo>
                  <a:lnTo>
                    <a:pt x="3434" y="219"/>
                  </a:lnTo>
                  <a:lnTo>
                    <a:pt x="3428" y="213"/>
                  </a:lnTo>
                  <a:lnTo>
                    <a:pt x="3423" y="206"/>
                  </a:lnTo>
                  <a:lnTo>
                    <a:pt x="3419" y="200"/>
                  </a:lnTo>
                  <a:lnTo>
                    <a:pt x="3416" y="192"/>
                  </a:lnTo>
                  <a:lnTo>
                    <a:pt x="3414" y="184"/>
                  </a:lnTo>
                  <a:lnTo>
                    <a:pt x="3412" y="177"/>
                  </a:lnTo>
                  <a:lnTo>
                    <a:pt x="3412" y="168"/>
                  </a:lnTo>
                  <a:lnTo>
                    <a:pt x="3412" y="162"/>
                  </a:lnTo>
                  <a:lnTo>
                    <a:pt x="3413" y="154"/>
                  </a:lnTo>
                  <a:lnTo>
                    <a:pt x="3415" y="147"/>
                  </a:lnTo>
                  <a:lnTo>
                    <a:pt x="3418" y="141"/>
                  </a:lnTo>
                  <a:lnTo>
                    <a:pt x="3421" y="135"/>
                  </a:lnTo>
                  <a:lnTo>
                    <a:pt x="3426" y="129"/>
                  </a:lnTo>
                  <a:lnTo>
                    <a:pt x="3431" y="122"/>
                  </a:lnTo>
                  <a:lnTo>
                    <a:pt x="3437" y="117"/>
                  </a:lnTo>
                  <a:lnTo>
                    <a:pt x="3443" y="112"/>
                  </a:lnTo>
                  <a:lnTo>
                    <a:pt x="3450" y="107"/>
                  </a:lnTo>
                  <a:lnTo>
                    <a:pt x="3459" y="103"/>
                  </a:lnTo>
                  <a:lnTo>
                    <a:pt x="3469" y="100"/>
                  </a:lnTo>
                  <a:lnTo>
                    <a:pt x="3479" y="97"/>
                  </a:lnTo>
                  <a:lnTo>
                    <a:pt x="3489" y="95"/>
                  </a:lnTo>
                  <a:lnTo>
                    <a:pt x="3502" y="94"/>
                  </a:lnTo>
                  <a:lnTo>
                    <a:pt x="3515" y="94"/>
                  </a:lnTo>
                  <a:lnTo>
                    <a:pt x="3535" y="94"/>
                  </a:lnTo>
                  <a:lnTo>
                    <a:pt x="3555" y="96"/>
                  </a:lnTo>
                  <a:lnTo>
                    <a:pt x="3573" y="100"/>
                  </a:lnTo>
                  <a:lnTo>
                    <a:pt x="3590" y="104"/>
                  </a:lnTo>
                  <a:lnTo>
                    <a:pt x="3604" y="108"/>
                  </a:lnTo>
                  <a:lnTo>
                    <a:pt x="3618" y="113"/>
                  </a:lnTo>
                  <a:lnTo>
                    <a:pt x="3629" y="118"/>
                  </a:lnTo>
                  <a:lnTo>
                    <a:pt x="3638" y="122"/>
                  </a:lnTo>
                  <a:lnTo>
                    <a:pt x="3666" y="31"/>
                  </a:lnTo>
                  <a:lnTo>
                    <a:pt x="3653" y="25"/>
                  </a:lnTo>
                  <a:lnTo>
                    <a:pt x="3638" y="20"/>
                  </a:lnTo>
                  <a:lnTo>
                    <a:pt x="3622" y="14"/>
                  </a:lnTo>
                  <a:lnTo>
                    <a:pt x="3604" y="9"/>
                  </a:lnTo>
                  <a:lnTo>
                    <a:pt x="3585" y="6"/>
                  </a:lnTo>
                  <a:lnTo>
                    <a:pt x="3564" y="3"/>
                  </a:lnTo>
                  <a:lnTo>
                    <a:pt x="3542" y="1"/>
                  </a:lnTo>
                  <a:lnTo>
                    <a:pt x="3517" y="0"/>
                  </a:lnTo>
                  <a:lnTo>
                    <a:pt x="3492" y="1"/>
                  </a:lnTo>
                  <a:lnTo>
                    <a:pt x="3469" y="4"/>
                  </a:lnTo>
                  <a:lnTo>
                    <a:pt x="3447" y="8"/>
                  </a:lnTo>
                  <a:lnTo>
                    <a:pt x="3426" y="14"/>
                  </a:lnTo>
                  <a:lnTo>
                    <a:pt x="3406" y="22"/>
                  </a:lnTo>
                  <a:lnTo>
                    <a:pt x="3389" y="30"/>
                  </a:lnTo>
                  <a:lnTo>
                    <a:pt x="3372" y="40"/>
                  </a:lnTo>
                  <a:lnTo>
                    <a:pt x="3357" y="51"/>
                  </a:lnTo>
                  <a:lnTo>
                    <a:pt x="3343" y="64"/>
                  </a:lnTo>
                  <a:lnTo>
                    <a:pt x="3331" y="77"/>
                  </a:lnTo>
                  <a:lnTo>
                    <a:pt x="3322" y="93"/>
                  </a:lnTo>
                  <a:lnTo>
                    <a:pt x="3312" y="108"/>
                  </a:lnTo>
                  <a:lnTo>
                    <a:pt x="3306" y="124"/>
                  </a:lnTo>
                  <a:lnTo>
                    <a:pt x="3301" y="142"/>
                  </a:lnTo>
                  <a:lnTo>
                    <a:pt x="3298" y="159"/>
                  </a:lnTo>
                  <a:lnTo>
                    <a:pt x="3297" y="179"/>
                  </a:lnTo>
                  <a:lnTo>
                    <a:pt x="3298" y="194"/>
                  </a:lnTo>
                  <a:lnTo>
                    <a:pt x="3300" y="211"/>
                  </a:lnTo>
                  <a:lnTo>
                    <a:pt x="3304" y="225"/>
                  </a:lnTo>
                  <a:lnTo>
                    <a:pt x="3309" y="240"/>
                  </a:lnTo>
                  <a:lnTo>
                    <a:pt x="3316" y="253"/>
                  </a:lnTo>
                  <a:lnTo>
                    <a:pt x="3324" y="265"/>
                  </a:lnTo>
                  <a:lnTo>
                    <a:pt x="3333" y="277"/>
                  </a:lnTo>
                  <a:lnTo>
                    <a:pt x="3343" y="288"/>
                  </a:lnTo>
                  <a:lnTo>
                    <a:pt x="3355" y="299"/>
                  </a:lnTo>
                  <a:lnTo>
                    <a:pt x="3367" y="310"/>
                  </a:lnTo>
                  <a:lnTo>
                    <a:pt x="3381" y="319"/>
                  </a:lnTo>
                  <a:lnTo>
                    <a:pt x="3396" y="328"/>
                  </a:lnTo>
                  <a:lnTo>
                    <a:pt x="3412" y="336"/>
                  </a:lnTo>
                  <a:lnTo>
                    <a:pt x="3429" y="345"/>
                  </a:lnTo>
                  <a:lnTo>
                    <a:pt x="3447" y="352"/>
                  </a:lnTo>
                  <a:lnTo>
                    <a:pt x="3466" y="359"/>
                  </a:lnTo>
                  <a:lnTo>
                    <a:pt x="3492" y="369"/>
                  </a:lnTo>
                  <a:lnTo>
                    <a:pt x="3516" y="381"/>
                  </a:lnTo>
                  <a:lnTo>
                    <a:pt x="3525" y="386"/>
                  </a:lnTo>
                  <a:lnTo>
                    <a:pt x="3534" y="392"/>
                  </a:lnTo>
                  <a:lnTo>
                    <a:pt x="3543" y="397"/>
                  </a:lnTo>
                  <a:lnTo>
                    <a:pt x="3550" y="403"/>
                  </a:lnTo>
                  <a:lnTo>
                    <a:pt x="3556" y="409"/>
                  </a:lnTo>
                  <a:lnTo>
                    <a:pt x="3561" y="417"/>
                  </a:lnTo>
                  <a:lnTo>
                    <a:pt x="3565" y="423"/>
                  </a:lnTo>
                  <a:lnTo>
                    <a:pt x="3569" y="430"/>
                  </a:lnTo>
                  <a:lnTo>
                    <a:pt x="3571" y="437"/>
                  </a:lnTo>
                  <a:lnTo>
                    <a:pt x="3573" y="445"/>
                  </a:lnTo>
                  <a:lnTo>
                    <a:pt x="3575" y="454"/>
                  </a:lnTo>
                  <a:lnTo>
                    <a:pt x="3576" y="462"/>
                  </a:lnTo>
                  <a:lnTo>
                    <a:pt x="3575" y="471"/>
                  </a:lnTo>
                  <a:lnTo>
                    <a:pt x="3573" y="480"/>
                  </a:lnTo>
                  <a:lnTo>
                    <a:pt x="3571" y="489"/>
                  </a:lnTo>
                  <a:lnTo>
                    <a:pt x="3567" y="497"/>
                  </a:lnTo>
                  <a:lnTo>
                    <a:pt x="3563" y="504"/>
                  </a:lnTo>
                  <a:lnTo>
                    <a:pt x="3558" y="511"/>
                  </a:lnTo>
                  <a:lnTo>
                    <a:pt x="3553" y="517"/>
                  </a:lnTo>
                  <a:lnTo>
                    <a:pt x="3546" y="524"/>
                  </a:lnTo>
                  <a:lnTo>
                    <a:pt x="3539" y="529"/>
                  </a:lnTo>
                  <a:lnTo>
                    <a:pt x="3530" y="533"/>
                  </a:lnTo>
                  <a:lnTo>
                    <a:pt x="3521" y="537"/>
                  </a:lnTo>
                  <a:lnTo>
                    <a:pt x="3511" y="540"/>
                  </a:lnTo>
                  <a:lnTo>
                    <a:pt x="3500" y="543"/>
                  </a:lnTo>
                  <a:lnTo>
                    <a:pt x="3488" y="545"/>
                  </a:lnTo>
                  <a:lnTo>
                    <a:pt x="3476" y="546"/>
                  </a:lnTo>
                  <a:lnTo>
                    <a:pt x="3463" y="546"/>
                  </a:lnTo>
                  <a:lnTo>
                    <a:pt x="3441" y="546"/>
                  </a:lnTo>
                  <a:lnTo>
                    <a:pt x="3420" y="543"/>
                  </a:lnTo>
                  <a:lnTo>
                    <a:pt x="3400" y="540"/>
                  </a:lnTo>
                  <a:lnTo>
                    <a:pt x="3379" y="535"/>
                  </a:lnTo>
                  <a:lnTo>
                    <a:pt x="3361" y="529"/>
                  </a:lnTo>
                  <a:lnTo>
                    <a:pt x="3343" y="523"/>
                  </a:lnTo>
                  <a:lnTo>
                    <a:pt x="3327" y="514"/>
                  </a:lnTo>
                  <a:lnTo>
                    <a:pt x="3312" y="507"/>
                  </a:lnTo>
                  <a:lnTo>
                    <a:pt x="3288" y="601"/>
                  </a:lnTo>
                  <a:close/>
                  <a:moveTo>
                    <a:pt x="3188" y="263"/>
                  </a:moveTo>
                  <a:lnTo>
                    <a:pt x="2955" y="263"/>
                  </a:lnTo>
                  <a:lnTo>
                    <a:pt x="2955" y="104"/>
                  </a:lnTo>
                  <a:lnTo>
                    <a:pt x="3202" y="104"/>
                  </a:lnTo>
                  <a:lnTo>
                    <a:pt x="3202" y="10"/>
                  </a:lnTo>
                  <a:lnTo>
                    <a:pt x="2841" y="10"/>
                  </a:lnTo>
                  <a:lnTo>
                    <a:pt x="2841" y="631"/>
                  </a:lnTo>
                  <a:lnTo>
                    <a:pt x="3216" y="631"/>
                  </a:lnTo>
                  <a:lnTo>
                    <a:pt x="3216" y="537"/>
                  </a:lnTo>
                  <a:lnTo>
                    <a:pt x="2955" y="537"/>
                  </a:lnTo>
                  <a:lnTo>
                    <a:pt x="2955" y="355"/>
                  </a:lnTo>
                  <a:lnTo>
                    <a:pt x="3188" y="355"/>
                  </a:lnTo>
                  <a:lnTo>
                    <a:pt x="3188" y="263"/>
                  </a:lnTo>
                  <a:close/>
                  <a:moveTo>
                    <a:pt x="2727" y="523"/>
                  </a:moveTo>
                  <a:lnTo>
                    <a:pt x="2714" y="528"/>
                  </a:lnTo>
                  <a:lnTo>
                    <a:pt x="2701" y="532"/>
                  </a:lnTo>
                  <a:lnTo>
                    <a:pt x="2687" y="536"/>
                  </a:lnTo>
                  <a:lnTo>
                    <a:pt x="2671" y="539"/>
                  </a:lnTo>
                  <a:lnTo>
                    <a:pt x="2655" y="542"/>
                  </a:lnTo>
                  <a:lnTo>
                    <a:pt x="2637" y="544"/>
                  </a:lnTo>
                  <a:lnTo>
                    <a:pt x="2621" y="545"/>
                  </a:lnTo>
                  <a:lnTo>
                    <a:pt x="2604" y="545"/>
                  </a:lnTo>
                  <a:lnTo>
                    <a:pt x="2590" y="545"/>
                  </a:lnTo>
                  <a:lnTo>
                    <a:pt x="2579" y="544"/>
                  </a:lnTo>
                  <a:lnTo>
                    <a:pt x="2567" y="543"/>
                  </a:lnTo>
                  <a:lnTo>
                    <a:pt x="2555" y="541"/>
                  </a:lnTo>
                  <a:lnTo>
                    <a:pt x="2544" y="539"/>
                  </a:lnTo>
                  <a:lnTo>
                    <a:pt x="2533" y="537"/>
                  </a:lnTo>
                  <a:lnTo>
                    <a:pt x="2522" y="534"/>
                  </a:lnTo>
                  <a:lnTo>
                    <a:pt x="2512" y="530"/>
                  </a:lnTo>
                  <a:lnTo>
                    <a:pt x="2502" y="526"/>
                  </a:lnTo>
                  <a:lnTo>
                    <a:pt x="2493" y="522"/>
                  </a:lnTo>
                  <a:lnTo>
                    <a:pt x="2483" y="516"/>
                  </a:lnTo>
                  <a:lnTo>
                    <a:pt x="2475" y="511"/>
                  </a:lnTo>
                  <a:lnTo>
                    <a:pt x="2467" y="505"/>
                  </a:lnTo>
                  <a:lnTo>
                    <a:pt x="2459" y="499"/>
                  </a:lnTo>
                  <a:lnTo>
                    <a:pt x="2451" y="492"/>
                  </a:lnTo>
                  <a:lnTo>
                    <a:pt x="2444" y="486"/>
                  </a:lnTo>
                  <a:lnTo>
                    <a:pt x="2437" y="477"/>
                  </a:lnTo>
                  <a:lnTo>
                    <a:pt x="2431" y="470"/>
                  </a:lnTo>
                  <a:lnTo>
                    <a:pt x="2426" y="462"/>
                  </a:lnTo>
                  <a:lnTo>
                    <a:pt x="2420" y="453"/>
                  </a:lnTo>
                  <a:lnTo>
                    <a:pt x="2414" y="443"/>
                  </a:lnTo>
                  <a:lnTo>
                    <a:pt x="2410" y="434"/>
                  </a:lnTo>
                  <a:lnTo>
                    <a:pt x="2406" y="425"/>
                  </a:lnTo>
                  <a:lnTo>
                    <a:pt x="2402" y="415"/>
                  </a:lnTo>
                  <a:lnTo>
                    <a:pt x="2396" y="393"/>
                  </a:lnTo>
                  <a:lnTo>
                    <a:pt x="2391" y="371"/>
                  </a:lnTo>
                  <a:lnTo>
                    <a:pt x="2389" y="347"/>
                  </a:lnTo>
                  <a:lnTo>
                    <a:pt x="2388" y="322"/>
                  </a:lnTo>
                  <a:lnTo>
                    <a:pt x="2388" y="309"/>
                  </a:lnTo>
                  <a:lnTo>
                    <a:pt x="2389" y="295"/>
                  </a:lnTo>
                  <a:lnTo>
                    <a:pt x="2390" y="282"/>
                  </a:lnTo>
                  <a:lnTo>
                    <a:pt x="2392" y="270"/>
                  </a:lnTo>
                  <a:lnTo>
                    <a:pt x="2394" y="257"/>
                  </a:lnTo>
                  <a:lnTo>
                    <a:pt x="2397" y="246"/>
                  </a:lnTo>
                  <a:lnTo>
                    <a:pt x="2400" y="235"/>
                  </a:lnTo>
                  <a:lnTo>
                    <a:pt x="2403" y="223"/>
                  </a:lnTo>
                  <a:lnTo>
                    <a:pt x="2408" y="213"/>
                  </a:lnTo>
                  <a:lnTo>
                    <a:pt x="2412" y="203"/>
                  </a:lnTo>
                  <a:lnTo>
                    <a:pt x="2418" y="193"/>
                  </a:lnTo>
                  <a:lnTo>
                    <a:pt x="2423" y="184"/>
                  </a:lnTo>
                  <a:lnTo>
                    <a:pt x="2429" y="176"/>
                  </a:lnTo>
                  <a:lnTo>
                    <a:pt x="2435" y="168"/>
                  </a:lnTo>
                  <a:lnTo>
                    <a:pt x="2441" y="159"/>
                  </a:lnTo>
                  <a:lnTo>
                    <a:pt x="2448" y="152"/>
                  </a:lnTo>
                  <a:lnTo>
                    <a:pt x="2457" y="145"/>
                  </a:lnTo>
                  <a:lnTo>
                    <a:pt x="2464" y="139"/>
                  </a:lnTo>
                  <a:lnTo>
                    <a:pt x="2472" y="133"/>
                  </a:lnTo>
                  <a:lnTo>
                    <a:pt x="2480" y="127"/>
                  </a:lnTo>
                  <a:lnTo>
                    <a:pt x="2489" y="121"/>
                  </a:lnTo>
                  <a:lnTo>
                    <a:pt x="2499" y="117"/>
                  </a:lnTo>
                  <a:lnTo>
                    <a:pt x="2508" y="112"/>
                  </a:lnTo>
                  <a:lnTo>
                    <a:pt x="2517" y="109"/>
                  </a:lnTo>
                  <a:lnTo>
                    <a:pt x="2538" y="102"/>
                  </a:lnTo>
                  <a:lnTo>
                    <a:pt x="2559" y="98"/>
                  </a:lnTo>
                  <a:lnTo>
                    <a:pt x="2582" y="95"/>
                  </a:lnTo>
                  <a:lnTo>
                    <a:pt x="2605" y="94"/>
                  </a:lnTo>
                  <a:lnTo>
                    <a:pt x="2623" y="95"/>
                  </a:lnTo>
                  <a:lnTo>
                    <a:pt x="2641" y="96"/>
                  </a:lnTo>
                  <a:lnTo>
                    <a:pt x="2658" y="98"/>
                  </a:lnTo>
                  <a:lnTo>
                    <a:pt x="2673" y="101"/>
                  </a:lnTo>
                  <a:lnTo>
                    <a:pt x="2688" y="105"/>
                  </a:lnTo>
                  <a:lnTo>
                    <a:pt x="2701" y="109"/>
                  </a:lnTo>
                  <a:lnTo>
                    <a:pt x="2714" y="113"/>
                  </a:lnTo>
                  <a:lnTo>
                    <a:pt x="2726" y="118"/>
                  </a:lnTo>
                  <a:lnTo>
                    <a:pt x="2750" y="28"/>
                  </a:lnTo>
                  <a:lnTo>
                    <a:pt x="2740" y="24"/>
                  </a:lnTo>
                  <a:lnTo>
                    <a:pt x="2728" y="19"/>
                  </a:lnTo>
                  <a:lnTo>
                    <a:pt x="2712" y="13"/>
                  </a:lnTo>
                  <a:lnTo>
                    <a:pt x="2695" y="9"/>
                  </a:lnTo>
                  <a:lnTo>
                    <a:pt x="2674" y="6"/>
                  </a:lnTo>
                  <a:lnTo>
                    <a:pt x="2652" y="3"/>
                  </a:lnTo>
                  <a:lnTo>
                    <a:pt x="2627" y="1"/>
                  </a:lnTo>
                  <a:lnTo>
                    <a:pt x="2600" y="0"/>
                  </a:lnTo>
                  <a:lnTo>
                    <a:pt x="2583" y="1"/>
                  </a:lnTo>
                  <a:lnTo>
                    <a:pt x="2566" y="2"/>
                  </a:lnTo>
                  <a:lnTo>
                    <a:pt x="2548" y="4"/>
                  </a:lnTo>
                  <a:lnTo>
                    <a:pt x="2532" y="6"/>
                  </a:lnTo>
                  <a:lnTo>
                    <a:pt x="2515" y="9"/>
                  </a:lnTo>
                  <a:lnTo>
                    <a:pt x="2499" y="13"/>
                  </a:lnTo>
                  <a:lnTo>
                    <a:pt x="2483" y="17"/>
                  </a:lnTo>
                  <a:lnTo>
                    <a:pt x="2468" y="23"/>
                  </a:lnTo>
                  <a:lnTo>
                    <a:pt x="2454" y="29"/>
                  </a:lnTo>
                  <a:lnTo>
                    <a:pt x="2439" y="35"/>
                  </a:lnTo>
                  <a:lnTo>
                    <a:pt x="2426" y="42"/>
                  </a:lnTo>
                  <a:lnTo>
                    <a:pt x="2411" y="50"/>
                  </a:lnTo>
                  <a:lnTo>
                    <a:pt x="2399" y="59"/>
                  </a:lnTo>
                  <a:lnTo>
                    <a:pt x="2387" y="68"/>
                  </a:lnTo>
                  <a:lnTo>
                    <a:pt x="2374" y="77"/>
                  </a:lnTo>
                  <a:lnTo>
                    <a:pt x="2363" y="87"/>
                  </a:lnTo>
                  <a:lnTo>
                    <a:pt x="2352" y="99"/>
                  </a:lnTo>
                  <a:lnTo>
                    <a:pt x="2342" y="110"/>
                  </a:lnTo>
                  <a:lnTo>
                    <a:pt x="2332" y="122"/>
                  </a:lnTo>
                  <a:lnTo>
                    <a:pt x="2323" y="135"/>
                  </a:lnTo>
                  <a:lnTo>
                    <a:pt x="2315" y="148"/>
                  </a:lnTo>
                  <a:lnTo>
                    <a:pt x="2307" y="162"/>
                  </a:lnTo>
                  <a:lnTo>
                    <a:pt x="2300" y="176"/>
                  </a:lnTo>
                  <a:lnTo>
                    <a:pt x="2293" y="190"/>
                  </a:lnTo>
                  <a:lnTo>
                    <a:pt x="2288" y="206"/>
                  </a:lnTo>
                  <a:lnTo>
                    <a:pt x="2283" y="222"/>
                  </a:lnTo>
                  <a:lnTo>
                    <a:pt x="2278" y="239"/>
                  </a:lnTo>
                  <a:lnTo>
                    <a:pt x="2275" y="255"/>
                  </a:lnTo>
                  <a:lnTo>
                    <a:pt x="2272" y="273"/>
                  </a:lnTo>
                  <a:lnTo>
                    <a:pt x="2270" y="290"/>
                  </a:lnTo>
                  <a:lnTo>
                    <a:pt x="2269" y="309"/>
                  </a:lnTo>
                  <a:lnTo>
                    <a:pt x="2269" y="328"/>
                  </a:lnTo>
                  <a:lnTo>
                    <a:pt x="2269" y="346"/>
                  </a:lnTo>
                  <a:lnTo>
                    <a:pt x="2270" y="362"/>
                  </a:lnTo>
                  <a:lnTo>
                    <a:pt x="2272" y="380"/>
                  </a:lnTo>
                  <a:lnTo>
                    <a:pt x="2274" y="395"/>
                  </a:lnTo>
                  <a:lnTo>
                    <a:pt x="2277" y="412"/>
                  </a:lnTo>
                  <a:lnTo>
                    <a:pt x="2281" y="427"/>
                  </a:lnTo>
                  <a:lnTo>
                    <a:pt x="2285" y="441"/>
                  </a:lnTo>
                  <a:lnTo>
                    <a:pt x="2290" y="457"/>
                  </a:lnTo>
                  <a:lnTo>
                    <a:pt x="2295" y="470"/>
                  </a:lnTo>
                  <a:lnTo>
                    <a:pt x="2302" y="484"/>
                  </a:lnTo>
                  <a:lnTo>
                    <a:pt x="2309" y="497"/>
                  </a:lnTo>
                  <a:lnTo>
                    <a:pt x="2317" y="509"/>
                  </a:lnTo>
                  <a:lnTo>
                    <a:pt x="2325" y="522"/>
                  </a:lnTo>
                  <a:lnTo>
                    <a:pt x="2333" y="534"/>
                  </a:lnTo>
                  <a:lnTo>
                    <a:pt x="2343" y="544"/>
                  </a:lnTo>
                  <a:lnTo>
                    <a:pt x="2353" y="555"/>
                  </a:lnTo>
                  <a:lnTo>
                    <a:pt x="2363" y="565"/>
                  </a:lnTo>
                  <a:lnTo>
                    <a:pt x="2374" y="574"/>
                  </a:lnTo>
                  <a:lnTo>
                    <a:pt x="2386" y="583"/>
                  </a:lnTo>
                  <a:lnTo>
                    <a:pt x="2398" y="592"/>
                  </a:lnTo>
                  <a:lnTo>
                    <a:pt x="2411" y="599"/>
                  </a:lnTo>
                  <a:lnTo>
                    <a:pt x="2424" y="606"/>
                  </a:lnTo>
                  <a:lnTo>
                    <a:pt x="2438" y="612"/>
                  </a:lnTo>
                  <a:lnTo>
                    <a:pt x="2452" y="618"/>
                  </a:lnTo>
                  <a:lnTo>
                    <a:pt x="2467" y="623"/>
                  </a:lnTo>
                  <a:lnTo>
                    <a:pt x="2482" y="628"/>
                  </a:lnTo>
                  <a:lnTo>
                    <a:pt x="2499" y="632"/>
                  </a:lnTo>
                  <a:lnTo>
                    <a:pt x="2515" y="635"/>
                  </a:lnTo>
                  <a:lnTo>
                    <a:pt x="2532" y="637"/>
                  </a:lnTo>
                  <a:lnTo>
                    <a:pt x="2549" y="639"/>
                  </a:lnTo>
                  <a:lnTo>
                    <a:pt x="2567" y="640"/>
                  </a:lnTo>
                  <a:lnTo>
                    <a:pt x="2585" y="641"/>
                  </a:lnTo>
                  <a:lnTo>
                    <a:pt x="2612" y="640"/>
                  </a:lnTo>
                  <a:lnTo>
                    <a:pt x="2637" y="638"/>
                  </a:lnTo>
                  <a:lnTo>
                    <a:pt x="2661" y="635"/>
                  </a:lnTo>
                  <a:lnTo>
                    <a:pt x="2684" y="632"/>
                  </a:lnTo>
                  <a:lnTo>
                    <a:pt x="2702" y="628"/>
                  </a:lnTo>
                  <a:lnTo>
                    <a:pt x="2720" y="622"/>
                  </a:lnTo>
                  <a:lnTo>
                    <a:pt x="2734" y="617"/>
                  </a:lnTo>
                  <a:lnTo>
                    <a:pt x="2745" y="612"/>
                  </a:lnTo>
                  <a:lnTo>
                    <a:pt x="2727" y="523"/>
                  </a:lnTo>
                  <a:close/>
                  <a:moveTo>
                    <a:pt x="2058" y="10"/>
                  </a:moveTo>
                  <a:lnTo>
                    <a:pt x="2058" y="631"/>
                  </a:lnTo>
                  <a:lnTo>
                    <a:pt x="2171" y="631"/>
                  </a:lnTo>
                  <a:lnTo>
                    <a:pt x="2171" y="10"/>
                  </a:lnTo>
                  <a:lnTo>
                    <a:pt x="2058" y="10"/>
                  </a:lnTo>
                  <a:close/>
                  <a:moveTo>
                    <a:pt x="1776" y="631"/>
                  </a:moveTo>
                  <a:lnTo>
                    <a:pt x="1991" y="10"/>
                  </a:lnTo>
                  <a:lnTo>
                    <a:pt x="1871" y="10"/>
                  </a:lnTo>
                  <a:lnTo>
                    <a:pt x="1780" y="294"/>
                  </a:lnTo>
                  <a:lnTo>
                    <a:pt x="1771" y="322"/>
                  </a:lnTo>
                  <a:lnTo>
                    <a:pt x="1762" y="351"/>
                  </a:lnTo>
                  <a:lnTo>
                    <a:pt x="1754" y="379"/>
                  </a:lnTo>
                  <a:lnTo>
                    <a:pt x="1746" y="407"/>
                  </a:lnTo>
                  <a:lnTo>
                    <a:pt x="1738" y="435"/>
                  </a:lnTo>
                  <a:lnTo>
                    <a:pt x="1730" y="463"/>
                  </a:lnTo>
                  <a:lnTo>
                    <a:pt x="1724" y="491"/>
                  </a:lnTo>
                  <a:lnTo>
                    <a:pt x="1717" y="518"/>
                  </a:lnTo>
                  <a:lnTo>
                    <a:pt x="1715" y="518"/>
                  </a:lnTo>
                  <a:lnTo>
                    <a:pt x="1709" y="491"/>
                  </a:lnTo>
                  <a:lnTo>
                    <a:pt x="1702" y="462"/>
                  </a:lnTo>
                  <a:lnTo>
                    <a:pt x="1695" y="434"/>
                  </a:lnTo>
                  <a:lnTo>
                    <a:pt x="1688" y="406"/>
                  </a:lnTo>
                  <a:lnTo>
                    <a:pt x="1680" y="379"/>
                  </a:lnTo>
                  <a:lnTo>
                    <a:pt x="1672" y="350"/>
                  </a:lnTo>
                  <a:lnTo>
                    <a:pt x="1663" y="321"/>
                  </a:lnTo>
                  <a:lnTo>
                    <a:pt x="1654" y="292"/>
                  </a:lnTo>
                  <a:lnTo>
                    <a:pt x="1570" y="10"/>
                  </a:lnTo>
                  <a:lnTo>
                    <a:pt x="1447" y="10"/>
                  </a:lnTo>
                  <a:lnTo>
                    <a:pt x="1647" y="631"/>
                  </a:lnTo>
                  <a:lnTo>
                    <a:pt x="1776" y="631"/>
                  </a:lnTo>
                  <a:close/>
                  <a:moveTo>
                    <a:pt x="1090" y="97"/>
                  </a:moveTo>
                  <a:lnTo>
                    <a:pt x="1101" y="95"/>
                  </a:lnTo>
                  <a:lnTo>
                    <a:pt x="1117" y="93"/>
                  </a:lnTo>
                  <a:lnTo>
                    <a:pt x="1136" y="92"/>
                  </a:lnTo>
                  <a:lnTo>
                    <a:pt x="1161" y="91"/>
                  </a:lnTo>
                  <a:lnTo>
                    <a:pt x="1174" y="92"/>
                  </a:lnTo>
                  <a:lnTo>
                    <a:pt x="1187" y="93"/>
                  </a:lnTo>
                  <a:lnTo>
                    <a:pt x="1199" y="95"/>
                  </a:lnTo>
                  <a:lnTo>
                    <a:pt x="1210" y="97"/>
                  </a:lnTo>
                  <a:lnTo>
                    <a:pt x="1222" y="100"/>
                  </a:lnTo>
                  <a:lnTo>
                    <a:pt x="1231" y="105"/>
                  </a:lnTo>
                  <a:lnTo>
                    <a:pt x="1240" y="109"/>
                  </a:lnTo>
                  <a:lnTo>
                    <a:pt x="1248" y="115"/>
                  </a:lnTo>
                  <a:lnTo>
                    <a:pt x="1256" y="121"/>
                  </a:lnTo>
                  <a:lnTo>
                    <a:pt x="1263" y="130"/>
                  </a:lnTo>
                  <a:lnTo>
                    <a:pt x="1268" y="137"/>
                  </a:lnTo>
                  <a:lnTo>
                    <a:pt x="1273" y="146"/>
                  </a:lnTo>
                  <a:lnTo>
                    <a:pt x="1277" y="156"/>
                  </a:lnTo>
                  <a:lnTo>
                    <a:pt x="1279" y="167"/>
                  </a:lnTo>
                  <a:lnTo>
                    <a:pt x="1281" y="178"/>
                  </a:lnTo>
                  <a:lnTo>
                    <a:pt x="1281" y="190"/>
                  </a:lnTo>
                  <a:lnTo>
                    <a:pt x="1281" y="202"/>
                  </a:lnTo>
                  <a:lnTo>
                    <a:pt x="1279" y="212"/>
                  </a:lnTo>
                  <a:lnTo>
                    <a:pt x="1277" y="222"/>
                  </a:lnTo>
                  <a:lnTo>
                    <a:pt x="1273" y="232"/>
                  </a:lnTo>
                  <a:lnTo>
                    <a:pt x="1268" y="242"/>
                  </a:lnTo>
                  <a:lnTo>
                    <a:pt x="1263" y="250"/>
                  </a:lnTo>
                  <a:lnTo>
                    <a:pt x="1255" y="257"/>
                  </a:lnTo>
                  <a:lnTo>
                    <a:pt x="1248" y="264"/>
                  </a:lnTo>
                  <a:lnTo>
                    <a:pt x="1240" y="271"/>
                  </a:lnTo>
                  <a:lnTo>
                    <a:pt x="1231" y="277"/>
                  </a:lnTo>
                  <a:lnTo>
                    <a:pt x="1221" y="281"/>
                  </a:lnTo>
                  <a:lnTo>
                    <a:pt x="1209" y="285"/>
                  </a:lnTo>
                  <a:lnTo>
                    <a:pt x="1197" y="288"/>
                  </a:lnTo>
                  <a:lnTo>
                    <a:pt x="1185" y="291"/>
                  </a:lnTo>
                  <a:lnTo>
                    <a:pt x="1171" y="292"/>
                  </a:lnTo>
                  <a:lnTo>
                    <a:pt x="1158" y="292"/>
                  </a:lnTo>
                  <a:lnTo>
                    <a:pt x="1090" y="292"/>
                  </a:lnTo>
                  <a:lnTo>
                    <a:pt x="1090" y="97"/>
                  </a:lnTo>
                  <a:close/>
                  <a:moveTo>
                    <a:pt x="978" y="631"/>
                  </a:moveTo>
                  <a:lnTo>
                    <a:pt x="1090" y="631"/>
                  </a:lnTo>
                  <a:lnTo>
                    <a:pt x="1090" y="375"/>
                  </a:lnTo>
                  <a:lnTo>
                    <a:pt x="1148" y="375"/>
                  </a:lnTo>
                  <a:lnTo>
                    <a:pt x="1159" y="377"/>
                  </a:lnTo>
                  <a:lnTo>
                    <a:pt x="1170" y="378"/>
                  </a:lnTo>
                  <a:lnTo>
                    <a:pt x="1180" y="380"/>
                  </a:lnTo>
                  <a:lnTo>
                    <a:pt x="1190" y="382"/>
                  </a:lnTo>
                  <a:lnTo>
                    <a:pt x="1198" y="385"/>
                  </a:lnTo>
                  <a:lnTo>
                    <a:pt x="1206" y="389"/>
                  </a:lnTo>
                  <a:lnTo>
                    <a:pt x="1213" y="394"/>
                  </a:lnTo>
                  <a:lnTo>
                    <a:pt x="1221" y="400"/>
                  </a:lnTo>
                  <a:lnTo>
                    <a:pt x="1227" y="407"/>
                  </a:lnTo>
                  <a:lnTo>
                    <a:pt x="1233" y="415"/>
                  </a:lnTo>
                  <a:lnTo>
                    <a:pt x="1238" y="424"/>
                  </a:lnTo>
                  <a:lnTo>
                    <a:pt x="1243" y="433"/>
                  </a:lnTo>
                  <a:lnTo>
                    <a:pt x="1247" y="444"/>
                  </a:lnTo>
                  <a:lnTo>
                    <a:pt x="1251" y="457"/>
                  </a:lnTo>
                  <a:lnTo>
                    <a:pt x="1255" y="470"/>
                  </a:lnTo>
                  <a:lnTo>
                    <a:pt x="1259" y="485"/>
                  </a:lnTo>
                  <a:lnTo>
                    <a:pt x="1272" y="537"/>
                  </a:lnTo>
                  <a:lnTo>
                    <a:pt x="1283" y="579"/>
                  </a:lnTo>
                  <a:lnTo>
                    <a:pt x="1288" y="597"/>
                  </a:lnTo>
                  <a:lnTo>
                    <a:pt x="1292" y="611"/>
                  </a:lnTo>
                  <a:lnTo>
                    <a:pt x="1297" y="622"/>
                  </a:lnTo>
                  <a:lnTo>
                    <a:pt x="1301" y="631"/>
                  </a:lnTo>
                  <a:lnTo>
                    <a:pt x="1417" y="631"/>
                  </a:lnTo>
                  <a:lnTo>
                    <a:pt x="1413" y="619"/>
                  </a:lnTo>
                  <a:lnTo>
                    <a:pt x="1406" y="605"/>
                  </a:lnTo>
                  <a:lnTo>
                    <a:pt x="1401" y="585"/>
                  </a:lnTo>
                  <a:lnTo>
                    <a:pt x="1395" y="565"/>
                  </a:lnTo>
                  <a:lnTo>
                    <a:pt x="1389" y="540"/>
                  </a:lnTo>
                  <a:lnTo>
                    <a:pt x="1382" y="514"/>
                  </a:lnTo>
                  <a:lnTo>
                    <a:pt x="1376" y="487"/>
                  </a:lnTo>
                  <a:lnTo>
                    <a:pt x="1368" y="458"/>
                  </a:lnTo>
                  <a:lnTo>
                    <a:pt x="1362" y="436"/>
                  </a:lnTo>
                  <a:lnTo>
                    <a:pt x="1354" y="416"/>
                  </a:lnTo>
                  <a:lnTo>
                    <a:pt x="1346" y="398"/>
                  </a:lnTo>
                  <a:lnTo>
                    <a:pt x="1336" y="382"/>
                  </a:lnTo>
                  <a:lnTo>
                    <a:pt x="1330" y="374"/>
                  </a:lnTo>
                  <a:lnTo>
                    <a:pt x="1324" y="367"/>
                  </a:lnTo>
                  <a:lnTo>
                    <a:pt x="1318" y="361"/>
                  </a:lnTo>
                  <a:lnTo>
                    <a:pt x="1312" y="355"/>
                  </a:lnTo>
                  <a:lnTo>
                    <a:pt x="1305" y="350"/>
                  </a:lnTo>
                  <a:lnTo>
                    <a:pt x="1298" y="346"/>
                  </a:lnTo>
                  <a:lnTo>
                    <a:pt x="1290" y="342"/>
                  </a:lnTo>
                  <a:lnTo>
                    <a:pt x="1282" y="337"/>
                  </a:lnTo>
                  <a:lnTo>
                    <a:pt x="1282" y="335"/>
                  </a:lnTo>
                  <a:lnTo>
                    <a:pt x="1292" y="330"/>
                  </a:lnTo>
                  <a:lnTo>
                    <a:pt x="1304" y="326"/>
                  </a:lnTo>
                  <a:lnTo>
                    <a:pt x="1314" y="320"/>
                  </a:lnTo>
                  <a:lnTo>
                    <a:pt x="1324" y="314"/>
                  </a:lnTo>
                  <a:lnTo>
                    <a:pt x="1334" y="306"/>
                  </a:lnTo>
                  <a:lnTo>
                    <a:pt x="1343" y="298"/>
                  </a:lnTo>
                  <a:lnTo>
                    <a:pt x="1352" y="289"/>
                  </a:lnTo>
                  <a:lnTo>
                    <a:pt x="1360" y="280"/>
                  </a:lnTo>
                  <a:lnTo>
                    <a:pt x="1367" y="270"/>
                  </a:lnTo>
                  <a:lnTo>
                    <a:pt x="1374" y="258"/>
                  </a:lnTo>
                  <a:lnTo>
                    <a:pt x="1380" y="247"/>
                  </a:lnTo>
                  <a:lnTo>
                    <a:pt x="1385" y="235"/>
                  </a:lnTo>
                  <a:lnTo>
                    <a:pt x="1389" y="222"/>
                  </a:lnTo>
                  <a:lnTo>
                    <a:pt x="1392" y="209"/>
                  </a:lnTo>
                  <a:lnTo>
                    <a:pt x="1394" y="194"/>
                  </a:lnTo>
                  <a:lnTo>
                    <a:pt x="1394" y="180"/>
                  </a:lnTo>
                  <a:lnTo>
                    <a:pt x="1393" y="160"/>
                  </a:lnTo>
                  <a:lnTo>
                    <a:pt x="1391" y="142"/>
                  </a:lnTo>
                  <a:lnTo>
                    <a:pt x="1386" y="124"/>
                  </a:lnTo>
                  <a:lnTo>
                    <a:pt x="1381" y="108"/>
                  </a:lnTo>
                  <a:lnTo>
                    <a:pt x="1373" y="94"/>
                  </a:lnTo>
                  <a:lnTo>
                    <a:pt x="1363" y="79"/>
                  </a:lnTo>
                  <a:lnTo>
                    <a:pt x="1353" y="67"/>
                  </a:lnTo>
                  <a:lnTo>
                    <a:pt x="1341" y="56"/>
                  </a:lnTo>
                  <a:lnTo>
                    <a:pt x="1333" y="49"/>
                  </a:lnTo>
                  <a:lnTo>
                    <a:pt x="1324" y="43"/>
                  </a:lnTo>
                  <a:lnTo>
                    <a:pt x="1315" y="38"/>
                  </a:lnTo>
                  <a:lnTo>
                    <a:pt x="1306" y="33"/>
                  </a:lnTo>
                  <a:lnTo>
                    <a:pt x="1296" y="28"/>
                  </a:lnTo>
                  <a:lnTo>
                    <a:pt x="1285" y="24"/>
                  </a:lnTo>
                  <a:lnTo>
                    <a:pt x="1275" y="21"/>
                  </a:lnTo>
                  <a:lnTo>
                    <a:pt x="1263" y="17"/>
                  </a:lnTo>
                  <a:lnTo>
                    <a:pt x="1238" y="12"/>
                  </a:lnTo>
                  <a:lnTo>
                    <a:pt x="1211" y="8"/>
                  </a:lnTo>
                  <a:lnTo>
                    <a:pt x="1181" y="6"/>
                  </a:lnTo>
                  <a:lnTo>
                    <a:pt x="1150" y="5"/>
                  </a:lnTo>
                  <a:lnTo>
                    <a:pt x="1125" y="5"/>
                  </a:lnTo>
                  <a:lnTo>
                    <a:pt x="1101" y="6"/>
                  </a:lnTo>
                  <a:lnTo>
                    <a:pt x="1078" y="7"/>
                  </a:lnTo>
                  <a:lnTo>
                    <a:pt x="1055" y="9"/>
                  </a:lnTo>
                  <a:lnTo>
                    <a:pt x="1034" y="11"/>
                  </a:lnTo>
                  <a:lnTo>
                    <a:pt x="1014" y="13"/>
                  </a:lnTo>
                  <a:lnTo>
                    <a:pt x="995" y="15"/>
                  </a:lnTo>
                  <a:lnTo>
                    <a:pt x="978" y="19"/>
                  </a:lnTo>
                  <a:lnTo>
                    <a:pt x="978" y="631"/>
                  </a:lnTo>
                  <a:close/>
                  <a:moveTo>
                    <a:pt x="852" y="263"/>
                  </a:moveTo>
                  <a:lnTo>
                    <a:pt x="617" y="263"/>
                  </a:lnTo>
                  <a:lnTo>
                    <a:pt x="617" y="104"/>
                  </a:lnTo>
                  <a:lnTo>
                    <a:pt x="865" y="104"/>
                  </a:lnTo>
                  <a:lnTo>
                    <a:pt x="865" y="10"/>
                  </a:lnTo>
                  <a:lnTo>
                    <a:pt x="504" y="10"/>
                  </a:lnTo>
                  <a:lnTo>
                    <a:pt x="504" y="631"/>
                  </a:lnTo>
                  <a:lnTo>
                    <a:pt x="879" y="631"/>
                  </a:lnTo>
                  <a:lnTo>
                    <a:pt x="879" y="537"/>
                  </a:lnTo>
                  <a:lnTo>
                    <a:pt x="617" y="537"/>
                  </a:lnTo>
                  <a:lnTo>
                    <a:pt x="617" y="355"/>
                  </a:lnTo>
                  <a:lnTo>
                    <a:pt x="852" y="355"/>
                  </a:lnTo>
                  <a:lnTo>
                    <a:pt x="852" y="263"/>
                  </a:lnTo>
                  <a:close/>
                  <a:moveTo>
                    <a:pt x="0" y="601"/>
                  </a:moveTo>
                  <a:lnTo>
                    <a:pt x="14" y="609"/>
                  </a:lnTo>
                  <a:lnTo>
                    <a:pt x="32" y="616"/>
                  </a:lnTo>
                  <a:lnTo>
                    <a:pt x="50" y="622"/>
                  </a:lnTo>
                  <a:lnTo>
                    <a:pt x="72" y="629"/>
                  </a:lnTo>
                  <a:lnTo>
                    <a:pt x="94" y="634"/>
                  </a:lnTo>
                  <a:lnTo>
                    <a:pt x="118" y="637"/>
                  </a:lnTo>
                  <a:lnTo>
                    <a:pt x="143" y="640"/>
                  </a:lnTo>
                  <a:lnTo>
                    <a:pt x="167" y="641"/>
                  </a:lnTo>
                  <a:lnTo>
                    <a:pt x="196" y="640"/>
                  </a:lnTo>
                  <a:lnTo>
                    <a:pt x="224" y="637"/>
                  </a:lnTo>
                  <a:lnTo>
                    <a:pt x="236" y="635"/>
                  </a:lnTo>
                  <a:lnTo>
                    <a:pt x="248" y="632"/>
                  </a:lnTo>
                  <a:lnTo>
                    <a:pt x="261" y="629"/>
                  </a:lnTo>
                  <a:lnTo>
                    <a:pt x="272" y="625"/>
                  </a:lnTo>
                  <a:lnTo>
                    <a:pt x="282" y="621"/>
                  </a:lnTo>
                  <a:lnTo>
                    <a:pt x="293" y="617"/>
                  </a:lnTo>
                  <a:lnTo>
                    <a:pt x="303" y="613"/>
                  </a:lnTo>
                  <a:lnTo>
                    <a:pt x="312" y="608"/>
                  </a:lnTo>
                  <a:lnTo>
                    <a:pt x="321" y="603"/>
                  </a:lnTo>
                  <a:lnTo>
                    <a:pt x="330" y="597"/>
                  </a:lnTo>
                  <a:lnTo>
                    <a:pt x="338" y="591"/>
                  </a:lnTo>
                  <a:lnTo>
                    <a:pt x="345" y="584"/>
                  </a:lnTo>
                  <a:lnTo>
                    <a:pt x="352" y="578"/>
                  </a:lnTo>
                  <a:lnTo>
                    <a:pt x="358" y="571"/>
                  </a:lnTo>
                  <a:lnTo>
                    <a:pt x="365" y="564"/>
                  </a:lnTo>
                  <a:lnTo>
                    <a:pt x="371" y="557"/>
                  </a:lnTo>
                  <a:lnTo>
                    <a:pt x="380" y="541"/>
                  </a:lnTo>
                  <a:lnTo>
                    <a:pt x="388" y="526"/>
                  </a:lnTo>
                  <a:lnTo>
                    <a:pt x="394" y="508"/>
                  </a:lnTo>
                  <a:lnTo>
                    <a:pt x="400" y="491"/>
                  </a:lnTo>
                  <a:lnTo>
                    <a:pt x="402" y="472"/>
                  </a:lnTo>
                  <a:lnTo>
                    <a:pt x="403" y="454"/>
                  </a:lnTo>
                  <a:lnTo>
                    <a:pt x="402" y="437"/>
                  </a:lnTo>
                  <a:lnTo>
                    <a:pt x="401" y="422"/>
                  </a:lnTo>
                  <a:lnTo>
                    <a:pt x="397" y="407"/>
                  </a:lnTo>
                  <a:lnTo>
                    <a:pt x="393" y="393"/>
                  </a:lnTo>
                  <a:lnTo>
                    <a:pt x="387" y="380"/>
                  </a:lnTo>
                  <a:lnTo>
                    <a:pt x="381" y="367"/>
                  </a:lnTo>
                  <a:lnTo>
                    <a:pt x="373" y="355"/>
                  </a:lnTo>
                  <a:lnTo>
                    <a:pt x="364" y="344"/>
                  </a:lnTo>
                  <a:lnTo>
                    <a:pt x="353" y="332"/>
                  </a:lnTo>
                  <a:lnTo>
                    <a:pt x="341" y="322"/>
                  </a:lnTo>
                  <a:lnTo>
                    <a:pt x="328" y="313"/>
                  </a:lnTo>
                  <a:lnTo>
                    <a:pt x="313" y="303"/>
                  </a:lnTo>
                  <a:lnTo>
                    <a:pt x="298" y="294"/>
                  </a:lnTo>
                  <a:lnTo>
                    <a:pt x="281" y="286"/>
                  </a:lnTo>
                  <a:lnTo>
                    <a:pt x="263" y="278"/>
                  </a:lnTo>
                  <a:lnTo>
                    <a:pt x="243" y="270"/>
                  </a:lnTo>
                  <a:lnTo>
                    <a:pt x="215" y="258"/>
                  </a:lnTo>
                  <a:lnTo>
                    <a:pt x="190" y="247"/>
                  </a:lnTo>
                  <a:lnTo>
                    <a:pt x="179" y="242"/>
                  </a:lnTo>
                  <a:lnTo>
                    <a:pt x="169" y="236"/>
                  </a:lnTo>
                  <a:lnTo>
                    <a:pt x="161" y="230"/>
                  </a:lnTo>
                  <a:lnTo>
                    <a:pt x="153" y="224"/>
                  </a:lnTo>
                  <a:lnTo>
                    <a:pt x="146" y="219"/>
                  </a:lnTo>
                  <a:lnTo>
                    <a:pt x="141" y="213"/>
                  </a:lnTo>
                  <a:lnTo>
                    <a:pt x="135" y="206"/>
                  </a:lnTo>
                  <a:lnTo>
                    <a:pt x="131" y="200"/>
                  </a:lnTo>
                  <a:lnTo>
                    <a:pt x="128" y="192"/>
                  </a:lnTo>
                  <a:lnTo>
                    <a:pt x="126" y="184"/>
                  </a:lnTo>
                  <a:lnTo>
                    <a:pt x="125" y="177"/>
                  </a:lnTo>
                  <a:lnTo>
                    <a:pt x="125" y="168"/>
                  </a:lnTo>
                  <a:lnTo>
                    <a:pt x="125" y="162"/>
                  </a:lnTo>
                  <a:lnTo>
                    <a:pt x="126" y="154"/>
                  </a:lnTo>
                  <a:lnTo>
                    <a:pt x="128" y="147"/>
                  </a:lnTo>
                  <a:lnTo>
                    <a:pt x="130" y="141"/>
                  </a:lnTo>
                  <a:lnTo>
                    <a:pt x="134" y="135"/>
                  </a:lnTo>
                  <a:lnTo>
                    <a:pt x="139" y="129"/>
                  </a:lnTo>
                  <a:lnTo>
                    <a:pt x="143" y="122"/>
                  </a:lnTo>
                  <a:lnTo>
                    <a:pt x="149" y="117"/>
                  </a:lnTo>
                  <a:lnTo>
                    <a:pt x="156" y="112"/>
                  </a:lnTo>
                  <a:lnTo>
                    <a:pt x="163" y="107"/>
                  </a:lnTo>
                  <a:lnTo>
                    <a:pt x="171" y="103"/>
                  </a:lnTo>
                  <a:lnTo>
                    <a:pt x="181" y="100"/>
                  </a:lnTo>
                  <a:lnTo>
                    <a:pt x="191" y="97"/>
                  </a:lnTo>
                  <a:lnTo>
                    <a:pt x="202" y="95"/>
                  </a:lnTo>
                  <a:lnTo>
                    <a:pt x="215" y="94"/>
                  </a:lnTo>
                  <a:lnTo>
                    <a:pt x="227" y="94"/>
                  </a:lnTo>
                  <a:lnTo>
                    <a:pt x="248" y="94"/>
                  </a:lnTo>
                  <a:lnTo>
                    <a:pt x="268" y="96"/>
                  </a:lnTo>
                  <a:lnTo>
                    <a:pt x="285" y="100"/>
                  </a:lnTo>
                  <a:lnTo>
                    <a:pt x="302" y="104"/>
                  </a:lnTo>
                  <a:lnTo>
                    <a:pt x="317" y="108"/>
                  </a:lnTo>
                  <a:lnTo>
                    <a:pt x="331" y="113"/>
                  </a:lnTo>
                  <a:lnTo>
                    <a:pt x="342" y="118"/>
                  </a:lnTo>
                  <a:lnTo>
                    <a:pt x="351" y="122"/>
                  </a:lnTo>
                  <a:lnTo>
                    <a:pt x="378" y="31"/>
                  </a:lnTo>
                  <a:lnTo>
                    <a:pt x="366" y="25"/>
                  </a:lnTo>
                  <a:lnTo>
                    <a:pt x="350" y="20"/>
                  </a:lnTo>
                  <a:lnTo>
                    <a:pt x="335" y="14"/>
                  </a:lnTo>
                  <a:lnTo>
                    <a:pt x="316" y="9"/>
                  </a:lnTo>
                  <a:lnTo>
                    <a:pt x="298" y="6"/>
                  </a:lnTo>
                  <a:lnTo>
                    <a:pt x="276" y="3"/>
                  </a:lnTo>
                  <a:lnTo>
                    <a:pt x="254" y="1"/>
                  </a:lnTo>
                  <a:lnTo>
                    <a:pt x="229" y="0"/>
                  </a:lnTo>
                  <a:lnTo>
                    <a:pt x="204" y="1"/>
                  </a:lnTo>
                  <a:lnTo>
                    <a:pt x="182" y="4"/>
                  </a:lnTo>
                  <a:lnTo>
                    <a:pt x="159" y="8"/>
                  </a:lnTo>
                  <a:lnTo>
                    <a:pt x="139" y="14"/>
                  </a:lnTo>
                  <a:lnTo>
                    <a:pt x="119" y="22"/>
                  </a:lnTo>
                  <a:lnTo>
                    <a:pt x="101" y="30"/>
                  </a:lnTo>
                  <a:lnTo>
                    <a:pt x="84" y="40"/>
                  </a:lnTo>
                  <a:lnTo>
                    <a:pt x="70" y="51"/>
                  </a:lnTo>
                  <a:lnTo>
                    <a:pt x="56" y="64"/>
                  </a:lnTo>
                  <a:lnTo>
                    <a:pt x="44" y="77"/>
                  </a:lnTo>
                  <a:lnTo>
                    <a:pt x="34" y="93"/>
                  </a:lnTo>
                  <a:lnTo>
                    <a:pt x="26" y="108"/>
                  </a:lnTo>
                  <a:lnTo>
                    <a:pt x="18" y="124"/>
                  </a:lnTo>
                  <a:lnTo>
                    <a:pt x="14" y="142"/>
                  </a:lnTo>
                  <a:lnTo>
                    <a:pt x="11" y="159"/>
                  </a:lnTo>
                  <a:lnTo>
                    <a:pt x="10" y="179"/>
                  </a:lnTo>
                  <a:lnTo>
                    <a:pt x="11" y="194"/>
                  </a:lnTo>
                  <a:lnTo>
                    <a:pt x="13" y="211"/>
                  </a:lnTo>
                  <a:lnTo>
                    <a:pt x="16" y="225"/>
                  </a:lnTo>
                  <a:lnTo>
                    <a:pt x="21" y="240"/>
                  </a:lnTo>
                  <a:lnTo>
                    <a:pt x="29" y="253"/>
                  </a:lnTo>
                  <a:lnTo>
                    <a:pt x="36" y="265"/>
                  </a:lnTo>
                  <a:lnTo>
                    <a:pt x="45" y="277"/>
                  </a:lnTo>
                  <a:lnTo>
                    <a:pt x="55" y="288"/>
                  </a:lnTo>
                  <a:lnTo>
                    <a:pt x="67" y="299"/>
                  </a:lnTo>
                  <a:lnTo>
                    <a:pt x="80" y="310"/>
                  </a:lnTo>
                  <a:lnTo>
                    <a:pt x="93" y="319"/>
                  </a:lnTo>
                  <a:lnTo>
                    <a:pt x="109" y="328"/>
                  </a:lnTo>
                  <a:lnTo>
                    <a:pt x="124" y="336"/>
                  </a:lnTo>
                  <a:lnTo>
                    <a:pt x="142" y="345"/>
                  </a:lnTo>
                  <a:lnTo>
                    <a:pt x="159" y="352"/>
                  </a:lnTo>
                  <a:lnTo>
                    <a:pt x="178" y="359"/>
                  </a:lnTo>
                  <a:lnTo>
                    <a:pt x="205" y="369"/>
                  </a:lnTo>
                  <a:lnTo>
                    <a:pt x="228" y="381"/>
                  </a:lnTo>
                  <a:lnTo>
                    <a:pt x="238" y="386"/>
                  </a:lnTo>
                  <a:lnTo>
                    <a:pt x="247" y="392"/>
                  </a:lnTo>
                  <a:lnTo>
                    <a:pt x="255" y="397"/>
                  </a:lnTo>
                  <a:lnTo>
                    <a:pt x="262" y="403"/>
                  </a:lnTo>
                  <a:lnTo>
                    <a:pt x="268" y="409"/>
                  </a:lnTo>
                  <a:lnTo>
                    <a:pt x="273" y="417"/>
                  </a:lnTo>
                  <a:lnTo>
                    <a:pt x="278" y="423"/>
                  </a:lnTo>
                  <a:lnTo>
                    <a:pt x="281" y="430"/>
                  </a:lnTo>
                  <a:lnTo>
                    <a:pt x="284" y="437"/>
                  </a:lnTo>
                  <a:lnTo>
                    <a:pt x="287" y="445"/>
                  </a:lnTo>
                  <a:lnTo>
                    <a:pt x="288" y="454"/>
                  </a:lnTo>
                  <a:lnTo>
                    <a:pt x="288" y="462"/>
                  </a:lnTo>
                  <a:lnTo>
                    <a:pt x="288" y="471"/>
                  </a:lnTo>
                  <a:lnTo>
                    <a:pt x="285" y="480"/>
                  </a:lnTo>
                  <a:lnTo>
                    <a:pt x="283" y="489"/>
                  </a:lnTo>
                  <a:lnTo>
                    <a:pt x="280" y="497"/>
                  </a:lnTo>
                  <a:lnTo>
                    <a:pt x="276" y="504"/>
                  </a:lnTo>
                  <a:lnTo>
                    <a:pt x="271" y="511"/>
                  </a:lnTo>
                  <a:lnTo>
                    <a:pt x="265" y="517"/>
                  </a:lnTo>
                  <a:lnTo>
                    <a:pt x="259" y="524"/>
                  </a:lnTo>
                  <a:lnTo>
                    <a:pt x="251" y="529"/>
                  </a:lnTo>
                  <a:lnTo>
                    <a:pt x="242" y="533"/>
                  </a:lnTo>
                  <a:lnTo>
                    <a:pt x="233" y="537"/>
                  </a:lnTo>
                  <a:lnTo>
                    <a:pt x="223" y="540"/>
                  </a:lnTo>
                  <a:lnTo>
                    <a:pt x="213" y="543"/>
                  </a:lnTo>
                  <a:lnTo>
                    <a:pt x="200" y="545"/>
                  </a:lnTo>
                  <a:lnTo>
                    <a:pt x="188" y="546"/>
                  </a:lnTo>
                  <a:lnTo>
                    <a:pt x="175" y="546"/>
                  </a:lnTo>
                  <a:lnTo>
                    <a:pt x="154" y="546"/>
                  </a:lnTo>
                  <a:lnTo>
                    <a:pt x="132" y="543"/>
                  </a:lnTo>
                  <a:lnTo>
                    <a:pt x="112" y="540"/>
                  </a:lnTo>
                  <a:lnTo>
                    <a:pt x="92" y="535"/>
                  </a:lnTo>
                  <a:lnTo>
                    <a:pt x="74" y="529"/>
                  </a:lnTo>
                  <a:lnTo>
                    <a:pt x="56" y="523"/>
                  </a:lnTo>
                  <a:lnTo>
                    <a:pt x="40" y="514"/>
                  </a:lnTo>
                  <a:lnTo>
                    <a:pt x="26" y="507"/>
                  </a:lnTo>
                  <a:lnTo>
                    <a:pt x="0" y="601"/>
                  </a:lnTo>
                  <a:close/>
                </a:path>
              </a:pathLst>
            </a:custGeom>
            <a:solidFill>
              <a:srgbClr val="4473B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endParaRPr lang="en-US" sz="1800"/>
            </a:p>
          </p:txBody>
        </p:sp>
        <p:sp>
          <p:nvSpPr>
            <p:cNvPr id="10" name="Freeform 10"/>
            <p:cNvSpPr>
              <a:spLocks noEditPoints="1"/>
            </p:cNvSpPr>
            <p:nvPr/>
          </p:nvSpPr>
          <p:spPr bwMode="auto">
            <a:xfrm>
              <a:off x="590" y="3744"/>
              <a:ext cx="737" cy="79"/>
            </a:xfrm>
            <a:custGeom>
              <a:avLst/>
              <a:gdLst/>
              <a:ahLst/>
              <a:cxnLst>
                <a:cxn ang="0">
                  <a:pos x="5506" y="10"/>
                </a:cxn>
                <a:cxn ang="0">
                  <a:pos x="5169" y="544"/>
                </a:cxn>
                <a:cxn ang="0">
                  <a:pos x="5029" y="477"/>
                </a:cxn>
                <a:cxn ang="0">
                  <a:pos x="4982" y="270"/>
                </a:cxn>
                <a:cxn ang="0">
                  <a:pos x="5063" y="133"/>
                </a:cxn>
                <a:cxn ang="0">
                  <a:pos x="5293" y="109"/>
                </a:cxn>
                <a:cxn ang="0">
                  <a:pos x="5122" y="6"/>
                </a:cxn>
                <a:cxn ang="0">
                  <a:pos x="4924" y="122"/>
                </a:cxn>
                <a:cxn ang="0">
                  <a:pos x="4861" y="362"/>
                </a:cxn>
                <a:cxn ang="0">
                  <a:pos x="4955" y="565"/>
                </a:cxn>
                <a:cxn ang="0">
                  <a:pos x="5175" y="641"/>
                </a:cxn>
                <a:cxn ang="0">
                  <a:pos x="4373" y="269"/>
                </a:cxn>
                <a:cxn ang="0">
                  <a:pos x="4761" y="631"/>
                </a:cxn>
                <a:cxn ang="0">
                  <a:pos x="4630" y="407"/>
                </a:cxn>
                <a:cxn ang="0">
                  <a:pos x="3905" y="100"/>
                </a:cxn>
                <a:cxn ang="0">
                  <a:pos x="3809" y="456"/>
                </a:cxn>
                <a:cxn ang="0">
                  <a:pos x="3020" y="10"/>
                </a:cxn>
                <a:cxn ang="0">
                  <a:pos x="2324" y="528"/>
                </a:cxn>
                <a:cxn ang="0">
                  <a:pos x="2455" y="633"/>
                </a:cxn>
                <a:cxn ang="0">
                  <a:pos x="2663" y="610"/>
                </a:cxn>
                <a:cxn ang="0">
                  <a:pos x="2767" y="461"/>
                </a:cxn>
                <a:cxn ang="0">
                  <a:pos x="2644" y="481"/>
                </a:cxn>
                <a:cxn ang="0">
                  <a:pos x="2470" y="533"/>
                </a:cxn>
                <a:cxn ang="0">
                  <a:pos x="1803" y="609"/>
                </a:cxn>
                <a:cxn ang="0">
                  <a:pos x="2082" y="617"/>
                </a:cxn>
                <a:cxn ang="0">
                  <a:pos x="2191" y="472"/>
                </a:cxn>
                <a:cxn ang="0">
                  <a:pos x="2070" y="286"/>
                </a:cxn>
                <a:cxn ang="0">
                  <a:pos x="1914" y="177"/>
                </a:cxn>
                <a:cxn ang="0">
                  <a:pos x="1991" y="95"/>
                </a:cxn>
                <a:cxn ang="0">
                  <a:pos x="2106" y="9"/>
                </a:cxn>
                <a:cxn ang="0">
                  <a:pos x="1823" y="93"/>
                </a:cxn>
                <a:cxn ang="0">
                  <a:pos x="1869" y="310"/>
                </a:cxn>
                <a:cxn ang="0">
                  <a:pos x="2067" y="423"/>
                </a:cxn>
                <a:cxn ang="0">
                  <a:pos x="2031" y="533"/>
                </a:cxn>
                <a:cxn ang="0">
                  <a:pos x="1789" y="601"/>
                </a:cxn>
                <a:cxn ang="0">
                  <a:pos x="1348" y="251"/>
                </a:cxn>
                <a:cxn ang="0">
                  <a:pos x="1587" y="422"/>
                </a:cxn>
                <a:cxn ang="0">
                  <a:pos x="1300" y="631"/>
                </a:cxn>
                <a:cxn ang="0">
                  <a:pos x="679" y="482"/>
                </a:cxn>
                <a:cxn ang="0">
                  <a:pos x="668" y="177"/>
                </a:cxn>
                <a:cxn ang="0">
                  <a:pos x="807" y="91"/>
                </a:cxn>
                <a:cxn ang="0">
                  <a:pos x="944" y="177"/>
                </a:cxn>
                <a:cxn ang="0">
                  <a:pos x="933" y="482"/>
                </a:cxn>
                <a:cxn ang="0">
                  <a:pos x="804" y="550"/>
                </a:cxn>
                <a:cxn ang="0">
                  <a:pos x="993" y="575"/>
                </a:cxn>
                <a:cxn ang="0">
                  <a:pos x="1094" y="370"/>
                </a:cxn>
                <a:cxn ang="0">
                  <a:pos x="1054" y="137"/>
                </a:cxn>
                <a:cxn ang="0">
                  <a:pos x="890" y="9"/>
                </a:cxn>
                <a:cxn ang="0">
                  <a:pos x="665" y="37"/>
                </a:cxn>
                <a:cxn ang="0">
                  <a:pos x="531" y="209"/>
                </a:cxn>
                <a:cxn ang="0">
                  <a:pos x="535" y="452"/>
                </a:cxn>
                <a:cxn ang="0">
                  <a:pos x="670" y="611"/>
                </a:cxn>
                <a:cxn ang="0">
                  <a:pos x="403" y="539"/>
                </a:cxn>
                <a:cxn ang="0">
                  <a:pos x="216" y="516"/>
                </a:cxn>
                <a:cxn ang="0">
                  <a:pos x="123" y="371"/>
                </a:cxn>
                <a:cxn ang="0">
                  <a:pos x="160" y="176"/>
                </a:cxn>
                <a:cxn ang="0">
                  <a:pos x="337" y="94"/>
                </a:cxn>
                <a:cxn ang="0">
                  <a:pos x="383" y="3"/>
                </a:cxn>
                <a:cxn ang="0">
                  <a:pos x="130" y="59"/>
                </a:cxn>
                <a:cxn ang="0">
                  <a:pos x="6" y="255"/>
                </a:cxn>
                <a:cxn ang="0">
                  <a:pos x="41" y="497"/>
                </a:cxn>
                <a:cxn ang="0">
                  <a:pos x="215" y="628"/>
                </a:cxn>
                <a:cxn ang="0">
                  <a:pos x="458" y="523"/>
                </a:cxn>
              </a:cxnLst>
              <a:rect l="0" t="0" r="r" b="b"/>
              <a:pathLst>
                <a:path w="5893" h="641">
                  <a:moveTo>
                    <a:pt x="5686" y="631"/>
                  </a:moveTo>
                  <a:lnTo>
                    <a:pt x="5686" y="369"/>
                  </a:lnTo>
                  <a:lnTo>
                    <a:pt x="5893" y="10"/>
                  </a:lnTo>
                  <a:lnTo>
                    <a:pt x="5764" y="10"/>
                  </a:lnTo>
                  <a:lnTo>
                    <a:pt x="5690" y="169"/>
                  </a:lnTo>
                  <a:lnTo>
                    <a:pt x="5675" y="202"/>
                  </a:lnTo>
                  <a:lnTo>
                    <a:pt x="5661" y="232"/>
                  </a:lnTo>
                  <a:lnTo>
                    <a:pt x="5648" y="262"/>
                  </a:lnTo>
                  <a:lnTo>
                    <a:pt x="5636" y="292"/>
                  </a:lnTo>
                  <a:lnTo>
                    <a:pt x="5635" y="292"/>
                  </a:lnTo>
                  <a:lnTo>
                    <a:pt x="5621" y="261"/>
                  </a:lnTo>
                  <a:lnTo>
                    <a:pt x="5609" y="232"/>
                  </a:lnTo>
                  <a:lnTo>
                    <a:pt x="5596" y="202"/>
                  </a:lnTo>
                  <a:lnTo>
                    <a:pt x="5580" y="170"/>
                  </a:lnTo>
                  <a:lnTo>
                    <a:pt x="5506" y="10"/>
                  </a:lnTo>
                  <a:lnTo>
                    <a:pt x="5377" y="10"/>
                  </a:lnTo>
                  <a:lnTo>
                    <a:pt x="5573" y="372"/>
                  </a:lnTo>
                  <a:lnTo>
                    <a:pt x="5573" y="631"/>
                  </a:lnTo>
                  <a:lnTo>
                    <a:pt x="5686" y="631"/>
                  </a:lnTo>
                  <a:close/>
                  <a:moveTo>
                    <a:pt x="5318" y="523"/>
                  </a:moveTo>
                  <a:lnTo>
                    <a:pt x="5306" y="528"/>
                  </a:lnTo>
                  <a:lnTo>
                    <a:pt x="5293" y="532"/>
                  </a:lnTo>
                  <a:lnTo>
                    <a:pt x="5277" y="536"/>
                  </a:lnTo>
                  <a:lnTo>
                    <a:pt x="5262" y="539"/>
                  </a:lnTo>
                  <a:lnTo>
                    <a:pt x="5245" y="542"/>
                  </a:lnTo>
                  <a:lnTo>
                    <a:pt x="5229" y="544"/>
                  </a:lnTo>
                  <a:lnTo>
                    <a:pt x="5211" y="545"/>
                  </a:lnTo>
                  <a:lnTo>
                    <a:pt x="5194" y="545"/>
                  </a:lnTo>
                  <a:lnTo>
                    <a:pt x="5182" y="545"/>
                  </a:lnTo>
                  <a:lnTo>
                    <a:pt x="5169" y="544"/>
                  </a:lnTo>
                  <a:lnTo>
                    <a:pt x="5157" y="543"/>
                  </a:lnTo>
                  <a:lnTo>
                    <a:pt x="5146" y="541"/>
                  </a:lnTo>
                  <a:lnTo>
                    <a:pt x="5134" y="539"/>
                  </a:lnTo>
                  <a:lnTo>
                    <a:pt x="5124" y="537"/>
                  </a:lnTo>
                  <a:lnTo>
                    <a:pt x="5113" y="534"/>
                  </a:lnTo>
                  <a:lnTo>
                    <a:pt x="5104" y="530"/>
                  </a:lnTo>
                  <a:lnTo>
                    <a:pt x="5093" y="526"/>
                  </a:lnTo>
                  <a:lnTo>
                    <a:pt x="5084" y="522"/>
                  </a:lnTo>
                  <a:lnTo>
                    <a:pt x="5075" y="516"/>
                  </a:lnTo>
                  <a:lnTo>
                    <a:pt x="5067" y="511"/>
                  </a:lnTo>
                  <a:lnTo>
                    <a:pt x="5057" y="505"/>
                  </a:lnTo>
                  <a:lnTo>
                    <a:pt x="5050" y="499"/>
                  </a:lnTo>
                  <a:lnTo>
                    <a:pt x="5042" y="492"/>
                  </a:lnTo>
                  <a:lnTo>
                    <a:pt x="5036" y="486"/>
                  </a:lnTo>
                  <a:lnTo>
                    <a:pt x="5029" y="477"/>
                  </a:lnTo>
                  <a:lnTo>
                    <a:pt x="5022" y="470"/>
                  </a:lnTo>
                  <a:lnTo>
                    <a:pt x="5016" y="462"/>
                  </a:lnTo>
                  <a:lnTo>
                    <a:pt x="5011" y="453"/>
                  </a:lnTo>
                  <a:lnTo>
                    <a:pt x="5006" y="443"/>
                  </a:lnTo>
                  <a:lnTo>
                    <a:pt x="5001" y="434"/>
                  </a:lnTo>
                  <a:lnTo>
                    <a:pt x="4997" y="425"/>
                  </a:lnTo>
                  <a:lnTo>
                    <a:pt x="4993" y="415"/>
                  </a:lnTo>
                  <a:lnTo>
                    <a:pt x="4986" y="393"/>
                  </a:lnTo>
                  <a:lnTo>
                    <a:pt x="4982" y="371"/>
                  </a:lnTo>
                  <a:lnTo>
                    <a:pt x="4979" y="347"/>
                  </a:lnTo>
                  <a:lnTo>
                    <a:pt x="4978" y="322"/>
                  </a:lnTo>
                  <a:lnTo>
                    <a:pt x="4979" y="309"/>
                  </a:lnTo>
                  <a:lnTo>
                    <a:pt x="4979" y="295"/>
                  </a:lnTo>
                  <a:lnTo>
                    <a:pt x="4981" y="282"/>
                  </a:lnTo>
                  <a:lnTo>
                    <a:pt x="4982" y="270"/>
                  </a:lnTo>
                  <a:lnTo>
                    <a:pt x="4985" y="257"/>
                  </a:lnTo>
                  <a:lnTo>
                    <a:pt x="4987" y="246"/>
                  </a:lnTo>
                  <a:lnTo>
                    <a:pt x="4991" y="235"/>
                  </a:lnTo>
                  <a:lnTo>
                    <a:pt x="4995" y="223"/>
                  </a:lnTo>
                  <a:lnTo>
                    <a:pt x="4999" y="213"/>
                  </a:lnTo>
                  <a:lnTo>
                    <a:pt x="5004" y="203"/>
                  </a:lnTo>
                  <a:lnTo>
                    <a:pt x="5008" y="193"/>
                  </a:lnTo>
                  <a:lnTo>
                    <a:pt x="5014" y="184"/>
                  </a:lnTo>
                  <a:lnTo>
                    <a:pt x="5019" y="176"/>
                  </a:lnTo>
                  <a:lnTo>
                    <a:pt x="5026" y="168"/>
                  </a:lnTo>
                  <a:lnTo>
                    <a:pt x="5033" y="159"/>
                  </a:lnTo>
                  <a:lnTo>
                    <a:pt x="5040" y="152"/>
                  </a:lnTo>
                  <a:lnTo>
                    <a:pt x="5047" y="145"/>
                  </a:lnTo>
                  <a:lnTo>
                    <a:pt x="5055" y="139"/>
                  </a:lnTo>
                  <a:lnTo>
                    <a:pt x="5063" y="133"/>
                  </a:lnTo>
                  <a:lnTo>
                    <a:pt x="5072" y="127"/>
                  </a:lnTo>
                  <a:lnTo>
                    <a:pt x="5080" y="121"/>
                  </a:lnTo>
                  <a:lnTo>
                    <a:pt x="5089" y="117"/>
                  </a:lnTo>
                  <a:lnTo>
                    <a:pt x="5098" y="112"/>
                  </a:lnTo>
                  <a:lnTo>
                    <a:pt x="5109" y="109"/>
                  </a:lnTo>
                  <a:lnTo>
                    <a:pt x="5129" y="102"/>
                  </a:lnTo>
                  <a:lnTo>
                    <a:pt x="5150" y="98"/>
                  </a:lnTo>
                  <a:lnTo>
                    <a:pt x="5172" y="95"/>
                  </a:lnTo>
                  <a:lnTo>
                    <a:pt x="5196" y="94"/>
                  </a:lnTo>
                  <a:lnTo>
                    <a:pt x="5215" y="95"/>
                  </a:lnTo>
                  <a:lnTo>
                    <a:pt x="5232" y="96"/>
                  </a:lnTo>
                  <a:lnTo>
                    <a:pt x="5248" y="98"/>
                  </a:lnTo>
                  <a:lnTo>
                    <a:pt x="5264" y="101"/>
                  </a:lnTo>
                  <a:lnTo>
                    <a:pt x="5279" y="105"/>
                  </a:lnTo>
                  <a:lnTo>
                    <a:pt x="5293" y="109"/>
                  </a:lnTo>
                  <a:lnTo>
                    <a:pt x="5305" y="113"/>
                  </a:lnTo>
                  <a:lnTo>
                    <a:pt x="5316" y="118"/>
                  </a:lnTo>
                  <a:lnTo>
                    <a:pt x="5341" y="28"/>
                  </a:lnTo>
                  <a:lnTo>
                    <a:pt x="5332" y="24"/>
                  </a:lnTo>
                  <a:lnTo>
                    <a:pt x="5318" y="19"/>
                  </a:lnTo>
                  <a:lnTo>
                    <a:pt x="5303" y="13"/>
                  </a:lnTo>
                  <a:lnTo>
                    <a:pt x="5285" y="9"/>
                  </a:lnTo>
                  <a:lnTo>
                    <a:pt x="5265" y="6"/>
                  </a:lnTo>
                  <a:lnTo>
                    <a:pt x="5242" y="3"/>
                  </a:lnTo>
                  <a:lnTo>
                    <a:pt x="5218" y="1"/>
                  </a:lnTo>
                  <a:lnTo>
                    <a:pt x="5191" y="0"/>
                  </a:lnTo>
                  <a:lnTo>
                    <a:pt x="5173" y="1"/>
                  </a:lnTo>
                  <a:lnTo>
                    <a:pt x="5156" y="2"/>
                  </a:lnTo>
                  <a:lnTo>
                    <a:pt x="5139" y="4"/>
                  </a:lnTo>
                  <a:lnTo>
                    <a:pt x="5122" y="6"/>
                  </a:lnTo>
                  <a:lnTo>
                    <a:pt x="5106" y="9"/>
                  </a:lnTo>
                  <a:lnTo>
                    <a:pt x="5090" y="13"/>
                  </a:lnTo>
                  <a:lnTo>
                    <a:pt x="5075" y="17"/>
                  </a:lnTo>
                  <a:lnTo>
                    <a:pt x="5059" y="23"/>
                  </a:lnTo>
                  <a:lnTo>
                    <a:pt x="5045" y="29"/>
                  </a:lnTo>
                  <a:lnTo>
                    <a:pt x="5031" y="35"/>
                  </a:lnTo>
                  <a:lnTo>
                    <a:pt x="5016" y="42"/>
                  </a:lnTo>
                  <a:lnTo>
                    <a:pt x="5003" y="50"/>
                  </a:lnTo>
                  <a:lnTo>
                    <a:pt x="4989" y="59"/>
                  </a:lnTo>
                  <a:lnTo>
                    <a:pt x="4977" y="68"/>
                  </a:lnTo>
                  <a:lnTo>
                    <a:pt x="4966" y="77"/>
                  </a:lnTo>
                  <a:lnTo>
                    <a:pt x="4955" y="87"/>
                  </a:lnTo>
                  <a:lnTo>
                    <a:pt x="4943" y="99"/>
                  </a:lnTo>
                  <a:lnTo>
                    <a:pt x="4933" y="110"/>
                  </a:lnTo>
                  <a:lnTo>
                    <a:pt x="4924" y="122"/>
                  </a:lnTo>
                  <a:lnTo>
                    <a:pt x="4914" y="135"/>
                  </a:lnTo>
                  <a:lnTo>
                    <a:pt x="4906" y="148"/>
                  </a:lnTo>
                  <a:lnTo>
                    <a:pt x="4898" y="162"/>
                  </a:lnTo>
                  <a:lnTo>
                    <a:pt x="4891" y="176"/>
                  </a:lnTo>
                  <a:lnTo>
                    <a:pt x="4885" y="190"/>
                  </a:lnTo>
                  <a:lnTo>
                    <a:pt x="4879" y="206"/>
                  </a:lnTo>
                  <a:lnTo>
                    <a:pt x="4873" y="222"/>
                  </a:lnTo>
                  <a:lnTo>
                    <a:pt x="4869" y="239"/>
                  </a:lnTo>
                  <a:lnTo>
                    <a:pt x="4866" y="255"/>
                  </a:lnTo>
                  <a:lnTo>
                    <a:pt x="4863" y="273"/>
                  </a:lnTo>
                  <a:lnTo>
                    <a:pt x="4861" y="290"/>
                  </a:lnTo>
                  <a:lnTo>
                    <a:pt x="4860" y="309"/>
                  </a:lnTo>
                  <a:lnTo>
                    <a:pt x="4859" y="328"/>
                  </a:lnTo>
                  <a:lnTo>
                    <a:pt x="4860" y="346"/>
                  </a:lnTo>
                  <a:lnTo>
                    <a:pt x="4861" y="362"/>
                  </a:lnTo>
                  <a:lnTo>
                    <a:pt x="4862" y="380"/>
                  </a:lnTo>
                  <a:lnTo>
                    <a:pt x="4865" y="395"/>
                  </a:lnTo>
                  <a:lnTo>
                    <a:pt x="4868" y="412"/>
                  </a:lnTo>
                  <a:lnTo>
                    <a:pt x="4871" y="427"/>
                  </a:lnTo>
                  <a:lnTo>
                    <a:pt x="4876" y="441"/>
                  </a:lnTo>
                  <a:lnTo>
                    <a:pt x="4881" y="457"/>
                  </a:lnTo>
                  <a:lnTo>
                    <a:pt x="4887" y="470"/>
                  </a:lnTo>
                  <a:lnTo>
                    <a:pt x="4893" y="484"/>
                  </a:lnTo>
                  <a:lnTo>
                    <a:pt x="4900" y="497"/>
                  </a:lnTo>
                  <a:lnTo>
                    <a:pt x="4907" y="509"/>
                  </a:lnTo>
                  <a:lnTo>
                    <a:pt x="4915" y="522"/>
                  </a:lnTo>
                  <a:lnTo>
                    <a:pt x="4925" y="534"/>
                  </a:lnTo>
                  <a:lnTo>
                    <a:pt x="4934" y="544"/>
                  </a:lnTo>
                  <a:lnTo>
                    <a:pt x="4943" y="555"/>
                  </a:lnTo>
                  <a:lnTo>
                    <a:pt x="4955" y="565"/>
                  </a:lnTo>
                  <a:lnTo>
                    <a:pt x="4965" y="574"/>
                  </a:lnTo>
                  <a:lnTo>
                    <a:pt x="4977" y="583"/>
                  </a:lnTo>
                  <a:lnTo>
                    <a:pt x="4989" y="592"/>
                  </a:lnTo>
                  <a:lnTo>
                    <a:pt x="5002" y="599"/>
                  </a:lnTo>
                  <a:lnTo>
                    <a:pt x="5015" y="606"/>
                  </a:lnTo>
                  <a:lnTo>
                    <a:pt x="5029" y="612"/>
                  </a:lnTo>
                  <a:lnTo>
                    <a:pt x="5043" y="618"/>
                  </a:lnTo>
                  <a:lnTo>
                    <a:pt x="5058" y="623"/>
                  </a:lnTo>
                  <a:lnTo>
                    <a:pt x="5074" y="628"/>
                  </a:lnTo>
                  <a:lnTo>
                    <a:pt x="5089" y="632"/>
                  </a:lnTo>
                  <a:lnTo>
                    <a:pt x="5106" y="635"/>
                  </a:lnTo>
                  <a:lnTo>
                    <a:pt x="5122" y="637"/>
                  </a:lnTo>
                  <a:lnTo>
                    <a:pt x="5139" y="639"/>
                  </a:lnTo>
                  <a:lnTo>
                    <a:pt x="5158" y="640"/>
                  </a:lnTo>
                  <a:lnTo>
                    <a:pt x="5175" y="641"/>
                  </a:lnTo>
                  <a:lnTo>
                    <a:pt x="5203" y="640"/>
                  </a:lnTo>
                  <a:lnTo>
                    <a:pt x="5229" y="638"/>
                  </a:lnTo>
                  <a:lnTo>
                    <a:pt x="5253" y="635"/>
                  </a:lnTo>
                  <a:lnTo>
                    <a:pt x="5274" y="632"/>
                  </a:lnTo>
                  <a:lnTo>
                    <a:pt x="5294" y="628"/>
                  </a:lnTo>
                  <a:lnTo>
                    <a:pt x="5310" y="622"/>
                  </a:lnTo>
                  <a:lnTo>
                    <a:pt x="5324" y="617"/>
                  </a:lnTo>
                  <a:lnTo>
                    <a:pt x="5337" y="612"/>
                  </a:lnTo>
                  <a:lnTo>
                    <a:pt x="5318" y="523"/>
                  </a:lnTo>
                  <a:close/>
                  <a:moveTo>
                    <a:pt x="4374" y="631"/>
                  </a:moveTo>
                  <a:lnTo>
                    <a:pt x="4374" y="408"/>
                  </a:lnTo>
                  <a:lnTo>
                    <a:pt x="4374" y="371"/>
                  </a:lnTo>
                  <a:lnTo>
                    <a:pt x="4374" y="335"/>
                  </a:lnTo>
                  <a:lnTo>
                    <a:pt x="4374" y="301"/>
                  </a:lnTo>
                  <a:lnTo>
                    <a:pt x="4373" y="269"/>
                  </a:lnTo>
                  <a:lnTo>
                    <a:pt x="4372" y="237"/>
                  </a:lnTo>
                  <a:lnTo>
                    <a:pt x="4371" y="205"/>
                  </a:lnTo>
                  <a:lnTo>
                    <a:pt x="4370" y="175"/>
                  </a:lnTo>
                  <a:lnTo>
                    <a:pt x="4369" y="144"/>
                  </a:lnTo>
                  <a:lnTo>
                    <a:pt x="4371" y="144"/>
                  </a:lnTo>
                  <a:lnTo>
                    <a:pt x="4383" y="170"/>
                  </a:lnTo>
                  <a:lnTo>
                    <a:pt x="4396" y="198"/>
                  </a:lnTo>
                  <a:lnTo>
                    <a:pt x="4410" y="224"/>
                  </a:lnTo>
                  <a:lnTo>
                    <a:pt x="4423" y="251"/>
                  </a:lnTo>
                  <a:lnTo>
                    <a:pt x="4438" y="279"/>
                  </a:lnTo>
                  <a:lnTo>
                    <a:pt x="4453" y="306"/>
                  </a:lnTo>
                  <a:lnTo>
                    <a:pt x="4468" y="332"/>
                  </a:lnTo>
                  <a:lnTo>
                    <a:pt x="4483" y="358"/>
                  </a:lnTo>
                  <a:lnTo>
                    <a:pt x="4644" y="631"/>
                  </a:lnTo>
                  <a:lnTo>
                    <a:pt x="4761" y="631"/>
                  </a:lnTo>
                  <a:lnTo>
                    <a:pt x="4761" y="10"/>
                  </a:lnTo>
                  <a:lnTo>
                    <a:pt x="4657" y="10"/>
                  </a:lnTo>
                  <a:lnTo>
                    <a:pt x="4657" y="226"/>
                  </a:lnTo>
                  <a:lnTo>
                    <a:pt x="4657" y="261"/>
                  </a:lnTo>
                  <a:lnTo>
                    <a:pt x="4658" y="295"/>
                  </a:lnTo>
                  <a:lnTo>
                    <a:pt x="4658" y="328"/>
                  </a:lnTo>
                  <a:lnTo>
                    <a:pt x="4659" y="360"/>
                  </a:lnTo>
                  <a:lnTo>
                    <a:pt x="4661" y="391"/>
                  </a:lnTo>
                  <a:lnTo>
                    <a:pt x="4662" y="422"/>
                  </a:lnTo>
                  <a:lnTo>
                    <a:pt x="4665" y="453"/>
                  </a:lnTo>
                  <a:lnTo>
                    <a:pt x="4667" y="484"/>
                  </a:lnTo>
                  <a:lnTo>
                    <a:pt x="4665" y="485"/>
                  </a:lnTo>
                  <a:lnTo>
                    <a:pt x="4653" y="459"/>
                  </a:lnTo>
                  <a:lnTo>
                    <a:pt x="4642" y="433"/>
                  </a:lnTo>
                  <a:lnTo>
                    <a:pt x="4630" y="407"/>
                  </a:lnTo>
                  <a:lnTo>
                    <a:pt x="4616" y="381"/>
                  </a:lnTo>
                  <a:lnTo>
                    <a:pt x="4603" y="355"/>
                  </a:lnTo>
                  <a:lnTo>
                    <a:pt x="4589" y="328"/>
                  </a:lnTo>
                  <a:lnTo>
                    <a:pt x="4574" y="302"/>
                  </a:lnTo>
                  <a:lnTo>
                    <a:pt x="4559" y="277"/>
                  </a:lnTo>
                  <a:lnTo>
                    <a:pt x="4399" y="10"/>
                  </a:lnTo>
                  <a:lnTo>
                    <a:pt x="4270" y="10"/>
                  </a:lnTo>
                  <a:lnTo>
                    <a:pt x="4270" y="631"/>
                  </a:lnTo>
                  <a:lnTo>
                    <a:pt x="4374" y="631"/>
                  </a:lnTo>
                  <a:close/>
                  <a:moveTo>
                    <a:pt x="3827" y="369"/>
                  </a:moveTo>
                  <a:lnTo>
                    <a:pt x="3876" y="216"/>
                  </a:lnTo>
                  <a:lnTo>
                    <a:pt x="3884" y="187"/>
                  </a:lnTo>
                  <a:lnTo>
                    <a:pt x="3891" y="158"/>
                  </a:lnTo>
                  <a:lnTo>
                    <a:pt x="3898" y="129"/>
                  </a:lnTo>
                  <a:lnTo>
                    <a:pt x="3905" y="100"/>
                  </a:lnTo>
                  <a:lnTo>
                    <a:pt x="3908" y="100"/>
                  </a:lnTo>
                  <a:lnTo>
                    <a:pt x="3915" y="128"/>
                  </a:lnTo>
                  <a:lnTo>
                    <a:pt x="3922" y="157"/>
                  </a:lnTo>
                  <a:lnTo>
                    <a:pt x="3930" y="187"/>
                  </a:lnTo>
                  <a:lnTo>
                    <a:pt x="3938" y="217"/>
                  </a:lnTo>
                  <a:lnTo>
                    <a:pt x="3988" y="369"/>
                  </a:lnTo>
                  <a:lnTo>
                    <a:pt x="3827" y="369"/>
                  </a:lnTo>
                  <a:close/>
                  <a:moveTo>
                    <a:pt x="4006" y="456"/>
                  </a:moveTo>
                  <a:lnTo>
                    <a:pt x="4063" y="631"/>
                  </a:lnTo>
                  <a:lnTo>
                    <a:pt x="4184" y="631"/>
                  </a:lnTo>
                  <a:lnTo>
                    <a:pt x="3983" y="10"/>
                  </a:lnTo>
                  <a:lnTo>
                    <a:pt x="3839" y="10"/>
                  </a:lnTo>
                  <a:lnTo>
                    <a:pt x="3639" y="631"/>
                  </a:lnTo>
                  <a:lnTo>
                    <a:pt x="3756" y="631"/>
                  </a:lnTo>
                  <a:lnTo>
                    <a:pt x="3809" y="456"/>
                  </a:lnTo>
                  <a:lnTo>
                    <a:pt x="4006" y="456"/>
                  </a:lnTo>
                  <a:close/>
                  <a:moveTo>
                    <a:pt x="3389" y="631"/>
                  </a:moveTo>
                  <a:lnTo>
                    <a:pt x="3502" y="631"/>
                  </a:lnTo>
                  <a:lnTo>
                    <a:pt x="3502" y="105"/>
                  </a:lnTo>
                  <a:lnTo>
                    <a:pt x="3680" y="105"/>
                  </a:lnTo>
                  <a:lnTo>
                    <a:pt x="3680" y="10"/>
                  </a:lnTo>
                  <a:lnTo>
                    <a:pt x="3211" y="10"/>
                  </a:lnTo>
                  <a:lnTo>
                    <a:pt x="3211" y="105"/>
                  </a:lnTo>
                  <a:lnTo>
                    <a:pt x="3389" y="105"/>
                  </a:lnTo>
                  <a:lnTo>
                    <a:pt x="3389" y="631"/>
                  </a:lnTo>
                  <a:close/>
                  <a:moveTo>
                    <a:pt x="2906" y="631"/>
                  </a:moveTo>
                  <a:lnTo>
                    <a:pt x="3275" y="631"/>
                  </a:lnTo>
                  <a:lnTo>
                    <a:pt x="3275" y="536"/>
                  </a:lnTo>
                  <a:lnTo>
                    <a:pt x="3020" y="536"/>
                  </a:lnTo>
                  <a:lnTo>
                    <a:pt x="3020" y="10"/>
                  </a:lnTo>
                  <a:lnTo>
                    <a:pt x="2906" y="10"/>
                  </a:lnTo>
                  <a:lnTo>
                    <a:pt x="2906" y="631"/>
                  </a:lnTo>
                  <a:close/>
                  <a:moveTo>
                    <a:pt x="2293" y="10"/>
                  </a:moveTo>
                  <a:lnTo>
                    <a:pt x="2293" y="365"/>
                  </a:lnTo>
                  <a:lnTo>
                    <a:pt x="2293" y="383"/>
                  </a:lnTo>
                  <a:lnTo>
                    <a:pt x="2294" y="400"/>
                  </a:lnTo>
                  <a:lnTo>
                    <a:pt x="2295" y="417"/>
                  </a:lnTo>
                  <a:lnTo>
                    <a:pt x="2297" y="433"/>
                  </a:lnTo>
                  <a:lnTo>
                    <a:pt x="2299" y="449"/>
                  </a:lnTo>
                  <a:lnTo>
                    <a:pt x="2303" y="463"/>
                  </a:lnTo>
                  <a:lnTo>
                    <a:pt x="2306" y="477"/>
                  </a:lnTo>
                  <a:lnTo>
                    <a:pt x="2310" y="491"/>
                  </a:lnTo>
                  <a:lnTo>
                    <a:pt x="2314" y="503"/>
                  </a:lnTo>
                  <a:lnTo>
                    <a:pt x="2319" y="515"/>
                  </a:lnTo>
                  <a:lnTo>
                    <a:pt x="2324" y="528"/>
                  </a:lnTo>
                  <a:lnTo>
                    <a:pt x="2330" y="538"/>
                  </a:lnTo>
                  <a:lnTo>
                    <a:pt x="2336" y="548"/>
                  </a:lnTo>
                  <a:lnTo>
                    <a:pt x="2343" y="559"/>
                  </a:lnTo>
                  <a:lnTo>
                    <a:pt x="2350" y="568"/>
                  </a:lnTo>
                  <a:lnTo>
                    <a:pt x="2357" y="576"/>
                  </a:lnTo>
                  <a:lnTo>
                    <a:pt x="2365" y="584"/>
                  </a:lnTo>
                  <a:lnTo>
                    <a:pt x="2373" y="592"/>
                  </a:lnTo>
                  <a:lnTo>
                    <a:pt x="2383" y="599"/>
                  </a:lnTo>
                  <a:lnTo>
                    <a:pt x="2392" y="605"/>
                  </a:lnTo>
                  <a:lnTo>
                    <a:pt x="2401" y="611"/>
                  </a:lnTo>
                  <a:lnTo>
                    <a:pt x="2411" y="616"/>
                  </a:lnTo>
                  <a:lnTo>
                    <a:pt x="2422" y="621"/>
                  </a:lnTo>
                  <a:lnTo>
                    <a:pt x="2432" y="625"/>
                  </a:lnTo>
                  <a:lnTo>
                    <a:pt x="2443" y="629"/>
                  </a:lnTo>
                  <a:lnTo>
                    <a:pt x="2455" y="633"/>
                  </a:lnTo>
                  <a:lnTo>
                    <a:pt x="2466" y="635"/>
                  </a:lnTo>
                  <a:lnTo>
                    <a:pt x="2478" y="637"/>
                  </a:lnTo>
                  <a:lnTo>
                    <a:pt x="2503" y="640"/>
                  </a:lnTo>
                  <a:lnTo>
                    <a:pt x="2530" y="641"/>
                  </a:lnTo>
                  <a:lnTo>
                    <a:pt x="2543" y="641"/>
                  </a:lnTo>
                  <a:lnTo>
                    <a:pt x="2556" y="640"/>
                  </a:lnTo>
                  <a:lnTo>
                    <a:pt x="2570" y="639"/>
                  </a:lnTo>
                  <a:lnTo>
                    <a:pt x="2583" y="637"/>
                  </a:lnTo>
                  <a:lnTo>
                    <a:pt x="2595" y="635"/>
                  </a:lnTo>
                  <a:lnTo>
                    <a:pt x="2608" y="632"/>
                  </a:lnTo>
                  <a:lnTo>
                    <a:pt x="2619" y="629"/>
                  </a:lnTo>
                  <a:lnTo>
                    <a:pt x="2631" y="624"/>
                  </a:lnTo>
                  <a:lnTo>
                    <a:pt x="2643" y="620"/>
                  </a:lnTo>
                  <a:lnTo>
                    <a:pt x="2653" y="615"/>
                  </a:lnTo>
                  <a:lnTo>
                    <a:pt x="2663" y="610"/>
                  </a:lnTo>
                  <a:lnTo>
                    <a:pt x="2673" y="604"/>
                  </a:lnTo>
                  <a:lnTo>
                    <a:pt x="2683" y="598"/>
                  </a:lnTo>
                  <a:lnTo>
                    <a:pt x="2692" y="591"/>
                  </a:lnTo>
                  <a:lnTo>
                    <a:pt x="2701" y="582"/>
                  </a:lnTo>
                  <a:lnTo>
                    <a:pt x="2709" y="574"/>
                  </a:lnTo>
                  <a:lnTo>
                    <a:pt x="2718" y="566"/>
                  </a:lnTo>
                  <a:lnTo>
                    <a:pt x="2725" y="557"/>
                  </a:lnTo>
                  <a:lnTo>
                    <a:pt x="2732" y="546"/>
                  </a:lnTo>
                  <a:lnTo>
                    <a:pt x="2738" y="536"/>
                  </a:lnTo>
                  <a:lnTo>
                    <a:pt x="2744" y="525"/>
                  </a:lnTo>
                  <a:lnTo>
                    <a:pt x="2750" y="513"/>
                  </a:lnTo>
                  <a:lnTo>
                    <a:pt x="2755" y="501"/>
                  </a:lnTo>
                  <a:lnTo>
                    <a:pt x="2760" y="489"/>
                  </a:lnTo>
                  <a:lnTo>
                    <a:pt x="2764" y="475"/>
                  </a:lnTo>
                  <a:lnTo>
                    <a:pt x="2767" y="461"/>
                  </a:lnTo>
                  <a:lnTo>
                    <a:pt x="2770" y="446"/>
                  </a:lnTo>
                  <a:lnTo>
                    <a:pt x="2772" y="431"/>
                  </a:lnTo>
                  <a:lnTo>
                    <a:pt x="2774" y="416"/>
                  </a:lnTo>
                  <a:lnTo>
                    <a:pt x="2776" y="399"/>
                  </a:lnTo>
                  <a:lnTo>
                    <a:pt x="2777" y="383"/>
                  </a:lnTo>
                  <a:lnTo>
                    <a:pt x="2777" y="364"/>
                  </a:lnTo>
                  <a:lnTo>
                    <a:pt x="2777" y="10"/>
                  </a:lnTo>
                  <a:lnTo>
                    <a:pt x="2664" y="10"/>
                  </a:lnTo>
                  <a:lnTo>
                    <a:pt x="2664" y="372"/>
                  </a:lnTo>
                  <a:lnTo>
                    <a:pt x="2663" y="394"/>
                  </a:lnTo>
                  <a:lnTo>
                    <a:pt x="2661" y="415"/>
                  </a:lnTo>
                  <a:lnTo>
                    <a:pt x="2659" y="433"/>
                  </a:lnTo>
                  <a:lnTo>
                    <a:pt x="2655" y="451"/>
                  </a:lnTo>
                  <a:lnTo>
                    <a:pt x="2650" y="467"/>
                  </a:lnTo>
                  <a:lnTo>
                    <a:pt x="2644" y="481"/>
                  </a:lnTo>
                  <a:lnTo>
                    <a:pt x="2638" y="495"/>
                  </a:lnTo>
                  <a:lnTo>
                    <a:pt x="2629" y="506"/>
                  </a:lnTo>
                  <a:lnTo>
                    <a:pt x="2620" y="516"/>
                  </a:lnTo>
                  <a:lnTo>
                    <a:pt x="2611" y="526"/>
                  </a:lnTo>
                  <a:lnTo>
                    <a:pt x="2600" y="533"/>
                  </a:lnTo>
                  <a:lnTo>
                    <a:pt x="2588" y="539"/>
                  </a:lnTo>
                  <a:lnTo>
                    <a:pt x="2576" y="544"/>
                  </a:lnTo>
                  <a:lnTo>
                    <a:pt x="2563" y="547"/>
                  </a:lnTo>
                  <a:lnTo>
                    <a:pt x="2548" y="549"/>
                  </a:lnTo>
                  <a:lnTo>
                    <a:pt x="2534" y="549"/>
                  </a:lnTo>
                  <a:lnTo>
                    <a:pt x="2519" y="549"/>
                  </a:lnTo>
                  <a:lnTo>
                    <a:pt x="2506" y="547"/>
                  </a:lnTo>
                  <a:lnTo>
                    <a:pt x="2493" y="543"/>
                  </a:lnTo>
                  <a:lnTo>
                    <a:pt x="2481" y="539"/>
                  </a:lnTo>
                  <a:lnTo>
                    <a:pt x="2470" y="533"/>
                  </a:lnTo>
                  <a:lnTo>
                    <a:pt x="2460" y="526"/>
                  </a:lnTo>
                  <a:lnTo>
                    <a:pt x="2449" y="516"/>
                  </a:lnTo>
                  <a:lnTo>
                    <a:pt x="2441" y="506"/>
                  </a:lnTo>
                  <a:lnTo>
                    <a:pt x="2433" y="495"/>
                  </a:lnTo>
                  <a:lnTo>
                    <a:pt x="2426" y="481"/>
                  </a:lnTo>
                  <a:lnTo>
                    <a:pt x="2421" y="467"/>
                  </a:lnTo>
                  <a:lnTo>
                    <a:pt x="2416" y="451"/>
                  </a:lnTo>
                  <a:lnTo>
                    <a:pt x="2411" y="433"/>
                  </a:lnTo>
                  <a:lnTo>
                    <a:pt x="2408" y="415"/>
                  </a:lnTo>
                  <a:lnTo>
                    <a:pt x="2406" y="394"/>
                  </a:lnTo>
                  <a:lnTo>
                    <a:pt x="2406" y="372"/>
                  </a:lnTo>
                  <a:lnTo>
                    <a:pt x="2406" y="10"/>
                  </a:lnTo>
                  <a:lnTo>
                    <a:pt x="2293" y="10"/>
                  </a:lnTo>
                  <a:close/>
                  <a:moveTo>
                    <a:pt x="1789" y="601"/>
                  </a:moveTo>
                  <a:lnTo>
                    <a:pt x="1803" y="609"/>
                  </a:lnTo>
                  <a:lnTo>
                    <a:pt x="1821" y="616"/>
                  </a:lnTo>
                  <a:lnTo>
                    <a:pt x="1840" y="622"/>
                  </a:lnTo>
                  <a:lnTo>
                    <a:pt x="1861" y="629"/>
                  </a:lnTo>
                  <a:lnTo>
                    <a:pt x="1883" y="634"/>
                  </a:lnTo>
                  <a:lnTo>
                    <a:pt x="1908" y="637"/>
                  </a:lnTo>
                  <a:lnTo>
                    <a:pt x="1932" y="640"/>
                  </a:lnTo>
                  <a:lnTo>
                    <a:pt x="1956" y="641"/>
                  </a:lnTo>
                  <a:lnTo>
                    <a:pt x="1986" y="640"/>
                  </a:lnTo>
                  <a:lnTo>
                    <a:pt x="2013" y="637"/>
                  </a:lnTo>
                  <a:lnTo>
                    <a:pt x="2025" y="635"/>
                  </a:lnTo>
                  <a:lnTo>
                    <a:pt x="2037" y="632"/>
                  </a:lnTo>
                  <a:lnTo>
                    <a:pt x="2050" y="629"/>
                  </a:lnTo>
                  <a:lnTo>
                    <a:pt x="2061" y="625"/>
                  </a:lnTo>
                  <a:lnTo>
                    <a:pt x="2071" y="621"/>
                  </a:lnTo>
                  <a:lnTo>
                    <a:pt x="2082" y="617"/>
                  </a:lnTo>
                  <a:lnTo>
                    <a:pt x="2092" y="613"/>
                  </a:lnTo>
                  <a:lnTo>
                    <a:pt x="2101" y="608"/>
                  </a:lnTo>
                  <a:lnTo>
                    <a:pt x="2110" y="603"/>
                  </a:lnTo>
                  <a:lnTo>
                    <a:pt x="2119" y="597"/>
                  </a:lnTo>
                  <a:lnTo>
                    <a:pt x="2127" y="591"/>
                  </a:lnTo>
                  <a:lnTo>
                    <a:pt x="2134" y="584"/>
                  </a:lnTo>
                  <a:lnTo>
                    <a:pt x="2141" y="578"/>
                  </a:lnTo>
                  <a:lnTo>
                    <a:pt x="2147" y="571"/>
                  </a:lnTo>
                  <a:lnTo>
                    <a:pt x="2154" y="564"/>
                  </a:lnTo>
                  <a:lnTo>
                    <a:pt x="2160" y="557"/>
                  </a:lnTo>
                  <a:lnTo>
                    <a:pt x="2170" y="541"/>
                  </a:lnTo>
                  <a:lnTo>
                    <a:pt x="2177" y="526"/>
                  </a:lnTo>
                  <a:lnTo>
                    <a:pt x="2183" y="508"/>
                  </a:lnTo>
                  <a:lnTo>
                    <a:pt x="2189" y="491"/>
                  </a:lnTo>
                  <a:lnTo>
                    <a:pt x="2191" y="472"/>
                  </a:lnTo>
                  <a:lnTo>
                    <a:pt x="2192" y="454"/>
                  </a:lnTo>
                  <a:lnTo>
                    <a:pt x="2192" y="437"/>
                  </a:lnTo>
                  <a:lnTo>
                    <a:pt x="2190" y="422"/>
                  </a:lnTo>
                  <a:lnTo>
                    <a:pt x="2186" y="407"/>
                  </a:lnTo>
                  <a:lnTo>
                    <a:pt x="2182" y="393"/>
                  </a:lnTo>
                  <a:lnTo>
                    <a:pt x="2176" y="380"/>
                  </a:lnTo>
                  <a:lnTo>
                    <a:pt x="2170" y="367"/>
                  </a:lnTo>
                  <a:lnTo>
                    <a:pt x="2162" y="355"/>
                  </a:lnTo>
                  <a:lnTo>
                    <a:pt x="2153" y="344"/>
                  </a:lnTo>
                  <a:lnTo>
                    <a:pt x="2142" y="332"/>
                  </a:lnTo>
                  <a:lnTo>
                    <a:pt x="2130" y="322"/>
                  </a:lnTo>
                  <a:lnTo>
                    <a:pt x="2117" y="313"/>
                  </a:lnTo>
                  <a:lnTo>
                    <a:pt x="2102" y="303"/>
                  </a:lnTo>
                  <a:lnTo>
                    <a:pt x="2087" y="294"/>
                  </a:lnTo>
                  <a:lnTo>
                    <a:pt x="2070" y="286"/>
                  </a:lnTo>
                  <a:lnTo>
                    <a:pt x="2052" y="278"/>
                  </a:lnTo>
                  <a:lnTo>
                    <a:pt x="2032" y="270"/>
                  </a:lnTo>
                  <a:lnTo>
                    <a:pt x="2004" y="258"/>
                  </a:lnTo>
                  <a:lnTo>
                    <a:pt x="1979" y="247"/>
                  </a:lnTo>
                  <a:lnTo>
                    <a:pt x="1969" y="242"/>
                  </a:lnTo>
                  <a:lnTo>
                    <a:pt x="1958" y="236"/>
                  </a:lnTo>
                  <a:lnTo>
                    <a:pt x="1950" y="230"/>
                  </a:lnTo>
                  <a:lnTo>
                    <a:pt x="1942" y="224"/>
                  </a:lnTo>
                  <a:lnTo>
                    <a:pt x="1936" y="219"/>
                  </a:lnTo>
                  <a:lnTo>
                    <a:pt x="1930" y="213"/>
                  </a:lnTo>
                  <a:lnTo>
                    <a:pt x="1924" y="206"/>
                  </a:lnTo>
                  <a:lnTo>
                    <a:pt x="1920" y="200"/>
                  </a:lnTo>
                  <a:lnTo>
                    <a:pt x="1917" y="192"/>
                  </a:lnTo>
                  <a:lnTo>
                    <a:pt x="1915" y="184"/>
                  </a:lnTo>
                  <a:lnTo>
                    <a:pt x="1914" y="177"/>
                  </a:lnTo>
                  <a:lnTo>
                    <a:pt x="1914" y="168"/>
                  </a:lnTo>
                  <a:lnTo>
                    <a:pt x="1914" y="162"/>
                  </a:lnTo>
                  <a:lnTo>
                    <a:pt x="1915" y="154"/>
                  </a:lnTo>
                  <a:lnTo>
                    <a:pt x="1917" y="147"/>
                  </a:lnTo>
                  <a:lnTo>
                    <a:pt x="1919" y="141"/>
                  </a:lnTo>
                  <a:lnTo>
                    <a:pt x="1923" y="135"/>
                  </a:lnTo>
                  <a:lnTo>
                    <a:pt x="1928" y="129"/>
                  </a:lnTo>
                  <a:lnTo>
                    <a:pt x="1933" y="122"/>
                  </a:lnTo>
                  <a:lnTo>
                    <a:pt x="1938" y="117"/>
                  </a:lnTo>
                  <a:lnTo>
                    <a:pt x="1945" y="112"/>
                  </a:lnTo>
                  <a:lnTo>
                    <a:pt x="1952" y="107"/>
                  </a:lnTo>
                  <a:lnTo>
                    <a:pt x="1960" y="103"/>
                  </a:lnTo>
                  <a:lnTo>
                    <a:pt x="1970" y="100"/>
                  </a:lnTo>
                  <a:lnTo>
                    <a:pt x="1980" y="97"/>
                  </a:lnTo>
                  <a:lnTo>
                    <a:pt x="1991" y="95"/>
                  </a:lnTo>
                  <a:lnTo>
                    <a:pt x="2004" y="94"/>
                  </a:lnTo>
                  <a:lnTo>
                    <a:pt x="2016" y="94"/>
                  </a:lnTo>
                  <a:lnTo>
                    <a:pt x="2037" y="94"/>
                  </a:lnTo>
                  <a:lnTo>
                    <a:pt x="2057" y="96"/>
                  </a:lnTo>
                  <a:lnTo>
                    <a:pt x="2075" y="100"/>
                  </a:lnTo>
                  <a:lnTo>
                    <a:pt x="2092" y="104"/>
                  </a:lnTo>
                  <a:lnTo>
                    <a:pt x="2106" y="108"/>
                  </a:lnTo>
                  <a:lnTo>
                    <a:pt x="2120" y="113"/>
                  </a:lnTo>
                  <a:lnTo>
                    <a:pt x="2131" y="118"/>
                  </a:lnTo>
                  <a:lnTo>
                    <a:pt x="2140" y="122"/>
                  </a:lnTo>
                  <a:lnTo>
                    <a:pt x="2167" y="31"/>
                  </a:lnTo>
                  <a:lnTo>
                    <a:pt x="2155" y="25"/>
                  </a:lnTo>
                  <a:lnTo>
                    <a:pt x="2139" y="20"/>
                  </a:lnTo>
                  <a:lnTo>
                    <a:pt x="2124" y="14"/>
                  </a:lnTo>
                  <a:lnTo>
                    <a:pt x="2106" y="9"/>
                  </a:lnTo>
                  <a:lnTo>
                    <a:pt x="2087" y="6"/>
                  </a:lnTo>
                  <a:lnTo>
                    <a:pt x="2065" y="3"/>
                  </a:lnTo>
                  <a:lnTo>
                    <a:pt x="2043" y="1"/>
                  </a:lnTo>
                  <a:lnTo>
                    <a:pt x="2019" y="0"/>
                  </a:lnTo>
                  <a:lnTo>
                    <a:pt x="1994" y="1"/>
                  </a:lnTo>
                  <a:lnTo>
                    <a:pt x="1971" y="4"/>
                  </a:lnTo>
                  <a:lnTo>
                    <a:pt x="1948" y="8"/>
                  </a:lnTo>
                  <a:lnTo>
                    <a:pt x="1928" y="14"/>
                  </a:lnTo>
                  <a:lnTo>
                    <a:pt x="1908" y="22"/>
                  </a:lnTo>
                  <a:lnTo>
                    <a:pt x="1890" y="30"/>
                  </a:lnTo>
                  <a:lnTo>
                    <a:pt x="1873" y="40"/>
                  </a:lnTo>
                  <a:lnTo>
                    <a:pt x="1859" y="51"/>
                  </a:lnTo>
                  <a:lnTo>
                    <a:pt x="1845" y="64"/>
                  </a:lnTo>
                  <a:lnTo>
                    <a:pt x="1833" y="77"/>
                  </a:lnTo>
                  <a:lnTo>
                    <a:pt x="1823" y="93"/>
                  </a:lnTo>
                  <a:lnTo>
                    <a:pt x="1815" y="108"/>
                  </a:lnTo>
                  <a:lnTo>
                    <a:pt x="1808" y="124"/>
                  </a:lnTo>
                  <a:lnTo>
                    <a:pt x="1803" y="142"/>
                  </a:lnTo>
                  <a:lnTo>
                    <a:pt x="1800" y="159"/>
                  </a:lnTo>
                  <a:lnTo>
                    <a:pt x="1799" y="179"/>
                  </a:lnTo>
                  <a:lnTo>
                    <a:pt x="1800" y="194"/>
                  </a:lnTo>
                  <a:lnTo>
                    <a:pt x="1802" y="211"/>
                  </a:lnTo>
                  <a:lnTo>
                    <a:pt x="1806" y="225"/>
                  </a:lnTo>
                  <a:lnTo>
                    <a:pt x="1811" y="240"/>
                  </a:lnTo>
                  <a:lnTo>
                    <a:pt x="1818" y="253"/>
                  </a:lnTo>
                  <a:lnTo>
                    <a:pt x="1825" y="265"/>
                  </a:lnTo>
                  <a:lnTo>
                    <a:pt x="1834" y="277"/>
                  </a:lnTo>
                  <a:lnTo>
                    <a:pt x="1844" y="288"/>
                  </a:lnTo>
                  <a:lnTo>
                    <a:pt x="1857" y="299"/>
                  </a:lnTo>
                  <a:lnTo>
                    <a:pt x="1869" y="310"/>
                  </a:lnTo>
                  <a:lnTo>
                    <a:pt x="1882" y="319"/>
                  </a:lnTo>
                  <a:lnTo>
                    <a:pt x="1898" y="328"/>
                  </a:lnTo>
                  <a:lnTo>
                    <a:pt x="1913" y="336"/>
                  </a:lnTo>
                  <a:lnTo>
                    <a:pt x="1931" y="345"/>
                  </a:lnTo>
                  <a:lnTo>
                    <a:pt x="1948" y="352"/>
                  </a:lnTo>
                  <a:lnTo>
                    <a:pt x="1967" y="359"/>
                  </a:lnTo>
                  <a:lnTo>
                    <a:pt x="1994" y="369"/>
                  </a:lnTo>
                  <a:lnTo>
                    <a:pt x="2017" y="381"/>
                  </a:lnTo>
                  <a:lnTo>
                    <a:pt x="2027" y="386"/>
                  </a:lnTo>
                  <a:lnTo>
                    <a:pt x="2036" y="392"/>
                  </a:lnTo>
                  <a:lnTo>
                    <a:pt x="2044" y="397"/>
                  </a:lnTo>
                  <a:lnTo>
                    <a:pt x="2051" y="403"/>
                  </a:lnTo>
                  <a:lnTo>
                    <a:pt x="2057" y="409"/>
                  </a:lnTo>
                  <a:lnTo>
                    <a:pt x="2062" y="417"/>
                  </a:lnTo>
                  <a:lnTo>
                    <a:pt x="2067" y="423"/>
                  </a:lnTo>
                  <a:lnTo>
                    <a:pt x="2070" y="430"/>
                  </a:lnTo>
                  <a:lnTo>
                    <a:pt x="2073" y="437"/>
                  </a:lnTo>
                  <a:lnTo>
                    <a:pt x="2075" y="445"/>
                  </a:lnTo>
                  <a:lnTo>
                    <a:pt x="2077" y="454"/>
                  </a:lnTo>
                  <a:lnTo>
                    <a:pt x="2077" y="462"/>
                  </a:lnTo>
                  <a:lnTo>
                    <a:pt x="2077" y="471"/>
                  </a:lnTo>
                  <a:lnTo>
                    <a:pt x="2074" y="480"/>
                  </a:lnTo>
                  <a:lnTo>
                    <a:pt x="2072" y="489"/>
                  </a:lnTo>
                  <a:lnTo>
                    <a:pt x="2069" y="497"/>
                  </a:lnTo>
                  <a:lnTo>
                    <a:pt x="2065" y="504"/>
                  </a:lnTo>
                  <a:lnTo>
                    <a:pt x="2060" y="511"/>
                  </a:lnTo>
                  <a:lnTo>
                    <a:pt x="2054" y="517"/>
                  </a:lnTo>
                  <a:lnTo>
                    <a:pt x="2048" y="524"/>
                  </a:lnTo>
                  <a:lnTo>
                    <a:pt x="2040" y="529"/>
                  </a:lnTo>
                  <a:lnTo>
                    <a:pt x="2031" y="533"/>
                  </a:lnTo>
                  <a:lnTo>
                    <a:pt x="2022" y="537"/>
                  </a:lnTo>
                  <a:lnTo>
                    <a:pt x="2012" y="540"/>
                  </a:lnTo>
                  <a:lnTo>
                    <a:pt x="2002" y="543"/>
                  </a:lnTo>
                  <a:lnTo>
                    <a:pt x="1989" y="545"/>
                  </a:lnTo>
                  <a:lnTo>
                    <a:pt x="1977" y="546"/>
                  </a:lnTo>
                  <a:lnTo>
                    <a:pt x="1965" y="546"/>
                  </a:lnTo>
                  <a:lnTo>
                    <a:pt x="1943" y="546"/>
                  </a:lnTo>
                  <a:lnTo>
                    <a:pt x="1921" y="543"/>
                  </a:lnTo>
                  <a:lnTo>
                    <a:pt x="1901" y="540"/>
                  </a:lnTo>
                  <a:lnTo>
                    <a:pt x="1881" y="535"/>
                  </a:lnTo>
                  <a:lnTo>
                    <a:pt x="1863" y="529"/>
                  </a:lnTo>
                  <a:lnTo>
                    <a:pt x="1845" y="523"/>
                  </a:lnTo>
                  <a:lnTo>
                    <a:pt x="1829" y="514"/>
                  </a:lnTo>
                  <a:lnTo>
                    <a:pt x="1815" y="507"/>
                  </a:lnTo>
                  <a:lnTo>
                    <a:pt x="1789" y="601"/>
                  </a:lnTo>
                  <a:close/>
                  <a:moveTo>
                    <a:pt x="1300" y="631"/>
                  </a:moveTo>
                  <a:lnTo>
                    <a:pt x="1300" y="408"/>
                  </a:lnTo>
                  <a:lnTo>
                    <a:pt x="1300" y="371"/>
                  </a:lnTo>
                  <a:lnTo>
                    <a:pt x="1299" y="335"/>
                  </a:lnTo>
                  <a:lnTo>
                    <a:pt x="1299" y="301"/>
                  </a:lnTo>
                  <a:lnTo>
                    <a:pt x="1298" y="269"/>
                  </a:lnTo>
                  <a:lnTo>
                    <a:pt x="1298" y="237"/>
                  </a:lnTo>
                  <a:lnTo>
                    <a:pt x="1297" y="205"/>
                  </a:lnTo>
                  <a:lnTo>
                    <a:pt x="1295" y="175"/>
                  </a:lnTo>
                  <a:lnTo>
                    <a:pt x="1294" y="144"/>
                  </a:lnTo>
                  <a:lnTo>
                    <a:pt x="1297" y="144"/>
                  </a:lnTo>
                  <a:lnTo>
                    <a:pt x="1308" y="170"/>
                  </a:lnTo>
                  <a:lnTo>
                    <a:pt x="1321" y="198"/>
                  </a:lnTo>
                  <a:lnTo>
                    <a:pt x="1335" y="224"/>
                  </a:lnTo>
                  <a:lnTo>
                    <a:pt x="1348" y="251"/>
                  </a:lnTo>
                  <a:lnTo>
                    <a:pt x="1362" y="279"/>
                  </a:lnTo>
                  <a:lnTo>
                    <a:pt x="1378" y="306"/>
                  </a:lnTo>
                  <a:lnTo>
                    <a:pt x="1392" y="332"/>
                  </a:lnTo>
                  <a:lnTo>
                    <a:pt x="1408" y="358"/>
                  </a:lnTo>
                  <a:lnTo>
                    <a:pt x="1569" y="631"/>
                  </a:lnTo>
                  <a:lnTo>
                    <a:pt x="1686" y="631"/>
                  </a:lnTo>
                  <a:lnTo>
                    <a:pt x="1686" y="10"/>
                  </a:lnTo>
                  <a:lnTo>
                    <a:pt x="1582" y="10"/>
                  </a:lnTo>
                  <a:lnTo>
                    <a:pt x="1582" y="226"/>
                  </a:lnTo>
                  <a:lnTo>
                    <a:pt x="1582" y="261"/>
                  </a:lnTo>
                  <a:lnTo>
                    <a:pt x="1582" y="295"/>
                  </a:lnTo>
                  <a:lnTo>
                    <a:pt x="1583" y="328"/>
                  </a:lnTo>
                  <a:lnTo>
                    <a:pt x="1584" y="360"/>
                  </a:lnTo>
                  <a:lnTo>
                    <a:pt x="1585" y="391"/>
                  </a:lnTo>
                  <a:lnTo>
                    <a:pt x="1587" y="422"/>
                  </a:lnTo>
                  <a:lnTo>
                    <a:pt x="1589" y="453"/>
                  </a:lnTo>
                  <a:lnTo>
                    <a:pt x="1592" y="484"/>
                  </a:lnTo>
                  <a:lnTo>
                    <a:pt x="1589" y="485"/>
                  </a:lnTo>
                  <a:lnTo>
                    <a:pt x="1578" y="459"/>
                  </a:lnTo>
                  <a:lnTo>
                    <a:pt x="1567" y="433"/>
                  </a:lnTo>
                  <a:lnTo>
                    <a:pt x="1555" y="407"/>
                  </a:lnTo>
                  <a:lnTo>
                    <a:pt x="1541" y="381"/>
                  </a:lnTo>
                  <a:lnTo>
                    <a:pt x="1528" y="355"/>
                  </a:lnTo>
                  <a:lnTo>
                    <a:pt x="1513" y="328"/>
                  </a:lnTo>
                  <a:lnTo>
                    <a:pt x="1499" y="302"/>
                  </a:lnTo>
                  <a:lnTo>
                    <a:pt x="1484" y="277"/>
                  </a:lnTo>
                  <a:lnTo>
                    <a:pt x="1324" y="10"/>
                  </a:lnTo>
                  <a:lnTo>
                    <a:pt x="1195" y="10"/>
                  </a:lnTo>
                  <a:lnTo>
                    <a:pt x="1195" y="631"/>
                  </a:lnTo>
                  <a:lnTo>
                    <a:pt x="1300" y="631"/>
                  </a:lnTo>
                  <a:close/>
                  <a:moveTo>
                    <a:pt x="804" y="550"/>
                  </a:moveTo>
                  <a:lnTo>
                    <a:pt x="795" y="549"/>
                  </a:lnTo>
                  <a:lnTo>
                    <a:pt x="785" y="549"/>
                  </a:lnTo>
                  <a:lnTo>
                    <a:pt x="776" y="547"/>
                  </a:lnTo>
                  <a:lnTo>
                    <a:pt x="766" y="545"/>
                  </a:lnTo>
                  <a:lnTo>
                    <a:pt x="757" y="543"/>
                  </a:lnTo>
                  <a:lnTo>
                    <a:pt x="749" y="540"/>
                  </a:lnTo>
                  <a:lnTo>
                    <a:pt x="741" y="536"/>
                  </a:lnTo>
                  <a:lnTo>
                    <a:pt x="733" y="532"/>
                  </a:lnTo>
                  <a:lnTo>
                    <a:pt x="724" y="527"/>
                  </a:lnTo>
                  <a:lnTo>
                    <a:pt x="717" y="523"/>
                  </a:lnTo>
                  <a:lnTo>
                    <a:pt x="710" y="516"/>
                  </a:lnTo>
                  <a:lnTo>
                    <a:pt x="703" y="510"/>
                  </a:lnTo>
                  <a:lnTo>
                    <a:pt x="690" y="497"/>
                  </a:lnTo>
                  <a:lnTo>
                    <a:pt x="679" y="482"/>
                  </a:lnTo>
                  <a:lnTo>
                    <a:pt x="668" y="466"/>
                  </a:lnTo>
                  <a:lnTo>
                    <a:pt x="660" y="449"/>
                  </a:lnTo>
                  <a:lnTo>
                    <a:pt x="651" y="430"/>
                  </a:lnTo>
                  <a:lnTo>
                    <a:pt x="645" y="410"/>
                  </a:lnTo>
                  <a:lnTo>
                    <a:pt x="640" y="389"/>
                  </a:lnTo>
                  <a:lnTo>
                    <a:pt x="637" y="367"/>
                  </a:lnTo>
                  <a:lnTo>
                    <a:pt x="634" y="346"/>
                  </a:lnTo>
                  <a:lnTo>
                    <a:pt x="634" y="322"/>
                  </a:lnTo>
                  <a:lnTo>
                    <a:pt x="634" y="299"/>
                  </a:lnTo>
                  <a:lnTo>
                    <a:pt x="636" y="277"/>
                  </a:lnTo>
                  <a:lnTo>
                    <a:pt x="640" y="255"/>
                  </a:lnTo>
                  <a:lnTo>
                    <a:pt x="645" y="235"/>
                  </a:lnTo>
                  <a:lnTo>
                    <a:pt x="651" y="214"/>
                  </a:lnTo>
                  <a:lnTo>
                    <a:pt x="659" y="194"/>
                  </a:lnTo>
                  <a:lnTo>
                    <a:pt x="668" y="177"/>
                  </a:lnTo>
                  <a:lnTo>
                    <a:pt x="677" y="160"/>
                  </a:lnTo>
                  <a:lnTo>
                    <a:pt x="689" y="145"/>
                  </a:lnTo>
                  <a:lnTo>
                    <a:pt x="702" y="132"/>
                  </a:lnTo>
                  <a:lnTo>
                    <a:pt x="709" y="126"/>
                  </a:lnTo>
                  <a:lnTo>
                    <a:pt x="716" y="119"/>
                  </a:lnTo>
                  <a:lnTo>
                    <a:pt x="723" y="114"/>
                  </a:lnTo>
                  <a:lnTo>
                    <a:pt x="732" y="109"/>
                  </a:lnTo>
                  <a:lnTo>
                    <a:pt x="740" y="105"/>
                  </a:lnTo>
                  <a:lnTo>
                    <a:pt x="748" y="102"/>
                  </a:lnTo>
                  <a:lnTo>
                    <a:pt x="757" y="99"/>
                  </a:lnTo>
                  <a:lnTo>
                    <a:pt x="766" y="96"/>
                  </a:lnTo>
                  <a:lnTo>
                    <a:pt x="776" y="94"/>
                  </a:lnTo>
                  <a:lnTo>
                    <a:pt x="786" y="92"/>
                  </a:lnTo>
                  <a:lnTo>
                    <a:pt x="795" y="91"/>
                  </a:lnTo>
                  <a:lnTo>
                    <a:pt x="807" y="91"/>
                  </a:lnTo>
                  <a:lnTo>
                    <a:pt x="817" y="91"/>
                  </a:lnTo>
                  <a:lnTo>
                    <a:pt x="827" y="92"/>
                  </a:lnTo>
                  <a:lnTo>
                    <a:pt x="836" y="94"/>
                  </a:lnTo>
                  <a:lnTo>
                    <a:pt x="846" y="96"/>
                  </a:lnTo>
                  <a:lnTo>
                    <a:pt x="855" y="99"/>
                  </a:lnTo>
                  <a:lnTo>
                    <a:pt x="864" y="102"/>
                  </a:lnTo>
                  <a:lnTo>
                    <a:pt x="872" y="106"/>
                  </a:lnTo>
                  <a:lnTo>
                    <a:pt x="881" y="110"/>
                  </a:lnTo>
                  <a:lnTo>
                    <a:pt x="889" y="114"/>
                  </a:lnTo>
                  <a:lnTo>
                    <a:pt x="896" y="120"/>
                  </a:lnTo>
                  <a:lnTo>
                    <a:pt x="903" y="126"/>
                  </a:lnTo>
                  <a:lnTo>
                    <a:pt x="910" y="132"/>
                  </a:lnTo>
                  <a:lnTo>
                    <a:pt x="923" y="145"/>
                  </a:lnTo>
                  <a:lnTo>
                    <a:pt x="934" y="160"/>
                  </a:lnTo>
                  <a:lnTo>
                    <a:pt x="944" y="177"/>
                  </a:lnTo>
                  <a:lnTo>
                    <a:pt x="952" y="194"/>
                  </a:lnTo>
                  <a:lnTo>
                    <a:pt x="961" y="214"/>
                  </a:lnTo>
                  <a:lnTo>
                    <a:pt x="967" y="234"/>
                  </a:lnTo>
                  <a:lnTo>
                    <a:pt x="971" y="254"/>
                  </a:lnTo>
                  <a:lnTo>
                    <a:pt x="974" y="275"/>
                  </a:lnTo>
                  <a:lnTo>
                    <a:pt x="976" y="296"/>
                  </a:lnTo>
                  <a:lnTo>
                    <a:pt x="977" y="318"/>
                  </a:lnTo>
                  <a:lnTo>
                    <a:pt x="976" y="343"/>
                  </a:lnTo>
                  <a:lnTo>
                    <a:pt x="974" y="365"/>
                  </a:lnTo>
                  <a:lnTo>
                    <a:pt x="971" y="388"/>
                  </a:lnTo>
                  <a:lnTo>
                    <a:pt x="966" y="409"/>
                  </a:lnTo>
                  <a:lnTo>
                    <a:pt x="960" y="430"/>
                  </a:lnTo>
                  <a:lnTo>
                    <a:pt x="951" y="449"/>
                  </a:lnTo>
                  <a:lnTo>
                    <a:pt x="943" y="467"/>
                  </a:lnTo>
                  <a:lnTo>
                    <a:pt x="933" y="482"/>
                  </a:lnTo>
                  <a:lnTo>
                    <a:pt x="921" y="498"/>
                  </a:lnTo>
                  <a:lnTo>
                    <a:pt x="908" y="511"/>
                  </a:lnTo>
                  <a:lnTo>
                    <a:pt x="901" y="517"/>
                  </a:lnTo>
                  <a:lnTo>
                    <a:pt x="894" y="523"/>
                  </a:lnTo>
                  <a:lnTo>
                    <a:pt x="887" y="528"/>
                  </a:lnTo>
                  <a:lnTo>
                    <a:pt x="878" y="532"/>
                  </a:lnTo>
                  <a:lnTo>
                    <a:pt x="870" y="536"/>
                  </a:lnTo>
                  <a:lnTo>
                    <a:pt x="862" y="540"/>
                  </a:lnTo>
                  <a:lnTo>
                    <a:pt x="854" y="543"/>
                  </a:lnTo>
                  <a:lnTo>
                    <a:pt x="845" y="545"/>
                  </a:lnTo>
                  <a:lnTo>
                    <a:pt x="835" y="547"/>
                  </a:lnTo>
                  <a:lnTo>
                    <a:pt x="826" y="549"/>
                  </a:lnTo>
                  <a:lnTo>
                    <a:pt x="816" y="549"/>
                  </a:lnTo>
                  <a:lnTo>
                    <a:pt x="805" y="550"/>
                  </a:lnTo>
                  <a:lnTo>
                    <a:pt x="804" y="550"/>
                  </a:lnTo>
                  <a:close/>
                  <a:moveTo>
                    <a:pt x="802" y="641"/>
                  </a:moveTo>
                  <a:lnTo>
                    <a:pt x="818" y="641"/>
                  </a:lnTo>
                  <a:lnTo>
                    <a:pt x="833" y="640"/>
                  </a:lnTo>
                  <a:lnTo>
                    <a:pt x="849" y="638"/>
                  </a:lnTo>
                  <a:lnTo>
                    <a:pt x="863" y="636"/>
                  </a:lnTo>
                  <a:lnTo>
                    <a:pt x="878" y="633"/>
                  </a:lnTo>
                  <a:lnTo>
                    <a:pt x="893" y="629"/>
                  </a:lnTo>
                  <a:lnTo>
                    <a:pt x="906" y="624"/>
                  </a:lnTo>
                  <a:lnTo>
                    <a:pt x="920" y="619"/>
                  </a:lnTo>
                  <a:lnTo>
                    <a:pt x="933" y="613"/>
                  </a:lnTo>
                  <a:lnTo>
                    <a:pt x="946" y="607"/>
                  </a:lnTo>
                  <a:lnTo>
                    <a:pt x="959" y="600"/>
                  </a:lnTo>
                  <a:lnTo>
                    <a:pt x="970" y="593"/>
                  </a:lnTo>
                  <a:lnTo>
                    <a:pt x="982" y="584"/>
                  </a:lnTo>
                  <a:lnTo>
                    <a:pt x="993" y="575"/>
                  </a:lnTo>
                  <a:lnTo>
                    <a:pt x="1004" y="566"/>
                  </a:lnTo>
                  <a:lnTo>
                    <a:pt x="1013" y="556"/>
                  </a:lnTo>
                  <a:lnTo>
                    <a:pt x="1023" y="545"/>
                  </a:lnTo>
                  <a:lnTo>
                    <a:pt x="1033" y="533"/>
                  </a:lnTo>
                  <a:lnTo>
                    <a:pt x="1041" y="522"/>
                  </a:lnTo>
                  <a:lnTo>
                    <a:pt x="1049" y="509"/>
                  </a:lnTo>
                  <a:lnTo>
                    <a:pt x="1056" y="496"/>
                  </a:lnTo>
                  <a:lnTo>
                    <a:pt x="1063" y="482"/>
                  </a:lnTo>
                  <a:lnTo>
                    <a:pt x="1070" y="468"/>
                  </a:lnTo>
                  <a:lnTo>
                    <a:pt x="1076" y="453"/>
                  </a:lnTo>
                  <a:lnTo>
                    <a:pt x="1081" y="437"/>
                  </a:lnTo>
                  <a:lnTo>
                    <a:pt x="1085" y="422"/>
                  </a:lnTo>
                  <a:lnTo>
                    <a:pt x="1089" y="405"/>
                  </a:lnTo>
                  <a:lnTo>
                    <a:pt x="1092" y="388"/>
                  </a:lnTo>
                  <a:lnTo>
                    <a:pt x="1094" y="370"/>
                  </a:lnTo>
                  <a:lnTo>
                    <a:pt x="1096" y="352"/>
                  </a:lnTo>
                  <a:lnTo>
                    <a:pt x="1097" y="333"/>
                  </a:lnTo>
                  <a:lnTo>
                    <a:pt x="1097" y="314"/>
                  </a:lnTo>
                  <a:lnTo>
                    <a:pt x="1097" y="297"/>
                  </a:lnTo>
                  <a:lnTo>
                    <a:pt x="1096" y="281"/>
                  </a:lnTo>
                  <a:lnTo>
                    <a:pt x="1095" y="265"/>
                  </a:lnTo>
                  <a:lnTo>
                    <a:pt x="1093" y="250"/>
                  </a:lnTo>
                  <a:lnTo>
                    <a:pt x="1090" y="235"/>
                  </a:lnTo>
                  <a:lnTo>
                    <a:pt x="1087" y="219"/>
                  </a:lnTo>
                  <a:lnTo>
                    <a:pt x="1083" y="205"/>
                  </a:lnTo>
                  <a:lnTo>
                    <a:pt x="1078" y="190"/>
                  </a:lnTo>
                  <a:lnTo>
                    <a:pt x="1073" y="176"/>
                  </a:lnTo>
                  <a:lnTo>
                    <a:pt x="1068" y="163"/>
                  </a:lnTo>
                  <a:lnTo>
                    <a:pt x="1061" y="149"/>
                  </a:lnTo>
                  <a:lnTo>
                    <a:pt x="1054" y="137"/>
                  </a:lnTo>
                  <a:lnTo>
                    <a:pt x="1047" y="124"/>
                  </a:lnTo>
                  <a:lnTo>
                    <a:pt x="1039" y="113"/>
                  </a:lnTo>
                  <a:lnTo>
                    <a:pt x="1031" y="102"/>
                  </a:lnTo>
                  <a:lnTo>
                    <a:pt x="1021" y="91"/>
                  </a:lnTo>
                  <a:lnTo>
                    <a:pt x="1012" y="80"/>
                  </a:lnTo>
                  <a:lnTo>
                    <a:pt x="1002" y="71"/>
                  </a:lnTo>
                  <a:lnTo>
                    <a:pt x="991" y="62"/>
                  </a:lnTo>
                  <a:lnTo>
                    <a:pt x="980" y="52"/>
                  </a:lnTo>
                  <a:lnTo>
                    <a:pt x="969" y="44"/>
                  </a:lnTo>
                  <a:lnTo>
                    <a:pt x="957" y="37"/>
                  </a:lnTo>
                  <a:lnTo>
                    <a:pt x="944" y="30"/>
                  </a:lnTo>
                  <a:lnTo>
                    <a:pt x="932" y="24"/>
                  </a:lnTo>
                  <a:lnTo>
                    <a:pt x="917" y="19"/>
                  </a:lnTo>
                  <a:lnTo>
                    <a:pt x="904" y="13"/>
                  </a:lnTo>
                  <a:lnTo>
                    <a:pt x="890" y="9"/>
                  </a:lnTo>
                  <a:lnTo>
                    <a:pt x="874" y="6"/>
                  </a:lnTo>
                  <a:lnTo>
                    <a:pt x="859" y="3"/>
                  </a:lnTo>
                  <a:lnTo>
                    <a:pt x="844" y="2"/>
                  </a:lnTo>
                  <a:lnTo>
                    <a:pt x="827" y="0"/>
                  </a:lnTo>
                  <a:lnTo>
                    <a:pt x="811" y="0"/>
                  </a:lnTo>
                  <a:lnTo>
                    <a:pt x="794" y="0"/>
                  </a:lnTo>
                  <a:lnTo>
                    <a:pt x="778" y="2"/>
                  </a:lnTo>
                  <a:lnTo>
                    <a:pt x="762" y="3"/>
                  </a:lnTo>
                  <a:lnTo>
                    <a:pt x="747" y="6"/>
                  </a:lnTo>
                  <a:lnTo>
                    <a:pt x="733" y="9"/>
                  </a:lnTo>
                  <a:lnTo>
                    <a:pt x="718" y="13"/>
                  </a:lnTo>
                  <a:lnTo>
                    <a:pt x="704" y="19"/>
                  </a:lnTo>
                  <a:lnTo>
                    <a:pt x="690" y="24"/>
                  </a:lnTo>
                  <a:lnTo>
                    <a:pt x="677" y="30"/>
                  </a:lnTo>
                  <a:lnTo>
                    <a:pt x="665" y="37"/>
                  </a:lnTo>
                  <a:lnTo>
                    <a:pt x="652" y="44"/>
                  </a:lnTo>
                  <a:lnTo>
                    <a:pt x="640" y="52"/>
                  </a:lnTo>
                  <a:lnTo>
                    <a:pt x="629" y="62"/>
                  </a:lnTo>
                  <a:lnTo>
                    <a:pt x="617" y="71"/>
                  </a:lnTo>
                  <a:lnTo>
                    <a:pt x="607" y="80"/>
                  </a:lnTo>
                  <a:lnTo>
                    <a:pt x="597" y="92"/>
                  </a:lnTo>
                  <a:lnTo>
                    <a:pt x="588" y="102"/>
                  </a:lnTo>
                  <a:lnTo>
                    <a:pt x="578" y="114"/>
                  </a:lnTo>
                  <a:lnTo>
                    <a:pt x="570" y="126"/>
                  </a:lnTo>
                  <a:lnTo>
                    <a:pt x="562" y="139"/>
                  </a:lnTo>
                  <a:lnTo>
                    <a:pt x="555" y="151"/>
                  </a:lnTo>
                  <a:lnTo>
                    <a:pt x="549" y="166"/>
                  </a:lnTo>
                  <a:lnTo>
                    <a:pt x="542" y="179"/>
                  </a:lnTo>
                  <a:lnTo>
                    <a:pt x="536" y="194"/>
                  </a:lnTo>
                  <a:lnTo>
                    <a:pt x="531" y="209"/>
                  </a:lnTo>
                  <a:lnTo>
                    <a:pt x="527" y="224"/>
                  </a:lnTo>
                  <a:lnTo>
                    <a:pt x="524" y="241"/>
                  </a:lnTo>
                  <a:lnTo>
                    <a:pt x="521" y="256"/>
                  </a:lnTo>
                  <a:lnTo>
                    <a:pt x="518" y="273"/>
                  </a:lnTo>
                  <a:lnTo>
                    <a:pt x="517" y="290"/>
                  </a:lnTo>
                  <a:lnTo>
                    <a:pt x="516" y="308"/>
                  </a:lnTo>
                  <a:lnTo>
                    <a:pt x="515" y="325"/>
                  </a:lnTo>
                  <a:lnTo>
                    <a:pt x="516" y="342"/>
                  </a:lnTo>
                  <a:lnTo>
                    <a:pt x="517" y="359"/>
                  </a:lnTo>
                  <a:lnTo>
                    <a:pt x="518" y="374"/>
                  </a:lnTo>
                  <a:lnTo>
                    <a:pt x="520" y="391"/>
                  </a:lnTo>
                  <a:lnTo>
                    <a:pt x="523" y="406"/>
                  </a:lnTo>
                  <a:lnTo>
                    <a:pt x="526" y="422"/>
                  </a:lnTo>
                  <a:lnTo>
                    <a:pt x="530" y="436"/>
                  </a:lnTo>
                  <a:lnTo>
                    <a:pt x="535" y="452"/>
                  </a:lnTo>
                  <a:lnTo>
                    <a:pt x="540" y="465"/>
                  </a:lnTo>
                  <a:lnTo>
                    <a:pt x="547" y="479"/>
                  </a:lnTo>
                  <a:lnTo>
                    <a:pt x="553" y="492"/>
                  </a:lnTo>
                  <a:lnTo>
                    <a:pt x="559" y="505"/>
                  </a:lnTo>
                  <a:lnTo>
                    <a:pt x="567" y="517"/>
                  </a:lnTo>
                  <a:lnTo>
                    <a:pt x="575" y="529"/>
                  </a:lnTo>
                  <a:lnTo>
                    <a:pt x="584" y="540"/>
                  </a:lnTo>
                  <a:lnTo>
                    <a:pt x="593" y="551"/>
                  </a:lnTo>
                  <a:lnTo>
                    <a:pt x="602" y="562"/>
                  </a:lnTo>
                  <a:lnTo>
                    <a:pt x="612" y="571"/>
                  </a:lnTo>
                  <a:lnTo>
                    <a:pt x="623" y="580"/>
                  </a:lnTo>
                  <a:lnTo>
                    <a:pt x="634" y="588"/>
                  </a:lnTo>
                  <a:lnTo>
                    <a:pt x="645" y="597"/>
                  </a:lnTo>
                  <a:lnTo>
                    <a:pt x="658" y="604"/>
                  </a:lnTo>
                  <a:lnTo>
                    <a:pt x="670" y="611"/>
                  </a:lnTo>
                  <a:lnTo>
                    <a:pt x="682" y="617"/>
                  </a:lnTo>
                  <a:lnTo>
                    <a:pt x="696" y="622"/>
                  </a:lnTo>
                  <a:lnTo>
                    <a:pt x="710" y="628"/>
                  </a:lnTo>
                  <a:lnTo>
                    <a:pt x="724" y="632"/>
                  </a:lnTo>
                  <a:lnTo>
                    <a:pt x="739" y="635"/>
                  </a:lnTo>
                  <a:lnTo>
                    <a:pt x="753" y="638"/>
                  </a:lnTo>
                  <a:lnTo>
                    <a:pt x="769" y="640"/>
                  </a:lnTo>
                  <a:lnTo>
                    <a:pt x="785" y="641"/>
                  </a:lnTo>
                  <a:lnTo>
                    <a:pt x="801" y="641"/>
                  </a:lnTo>
                  <a:lnTo>
                    <a:pt x="802" y="641"/>
                  </a:lnTo>
                  <a:close/>
                  <a:moveTo>
                    <a:pt x="458" y="523"/>
                  </a:moveTo>
                  <a:lnTo>
                    <a:pt x="447" y="528"/>
                  </a:lnTo>
                  <a:lnTo>
                    <a:pt x="434" y="532"/>
                  </a:lnTo>
                  <a:lnTo>
                    <a:pt x="418" y="536"/>
                  </a:lnTo>
                  <a:lnTo>
                    <a:pt x="403" y="539"/>
                  </a:lnTo>
                  <a:lnTo>
                    <a:pt x="386" y="542"/>
                  </a:lnTo>
                  <a:lnTo>
                    <a:pt x="370" y="544"/>
                  </a:lnTo>
                  <a:lnTo>
                    <a:pt x="352" y="545"/>
                  </a:lnTo>
                  <a:lnTo>
                    <a:pt x="335" y="545"/>
                  </a:lnTo>
                  <a:lnTo>
                    <a:pt x="323" y="545"/>
                  </a:lnTo>
                  <a:lnTo>
                    <a:pt x="310" y="544"/>
                  </a:lnTo>
                  <a:lnTo>
                    <a:pt x="298" y="543"/>
                  </a:lnTo>
                  <a:lnTo>
                    <a:pt x="287" y="541"/>
                  </a:lnTo>
                  <a:lnTo>
                    <a:pt x="275" y="539"/>
                  </a:lnTo>
                  <a:lnTo>
                    <a:pt x="265" y="537"/>
                  </a:lnTo>
                  <a:lnTo>
                    <a:pt x="254" y="534"/>
                  </a:lnTo>
                  <a:lnTo>
                    <a:pt x="243" y="530"/>
                  </a:lnTo>
                  <a:lnTo>
                    <a:pt x="234" y="526"/>
                  </a:lnTo>
                  <a:lnTo>
                    <a:pt x="225" y="522"/>
                  </a:lnTo>
                  <a:lnTo>
                    <a:pt x="216" y="516"/>
                  </a:lnTo>
                  <a:lnTo>
                    <a:pt x="207" y="511"/>
                  </a:lnTo>
                  <a:lnTo>
                    <a:pt x="198" y="505"/>
                  </a:lnTo>
                  <a:lnTo>
                    <a:pt x="191" y="499"/>
                  </a:lnTo>
                  <a:lnTo>
                    <a:pt x="183" y="492"/>
                  </a:lnTo>
                  <a:lnTo>
                    <a:pt x="177" y="486"/>
                  </a:lnTo>
                  <a:lnTo>
                    <a:pt x="169" y="477"/>
                  </a:lnTo>
                  <a:lnTo>
                    <a:pt x="163" y="470"/>
                  </a:lnTo>
                  <a:lnTo>
                    <a:pt x="157" y="462"/>
                  </a:lnTo>
                  <a:lnTo>
                    <a:pt x="152" y="453"/>
                  </a:lnTo>
                  <a:lnTo>
                    <a:pt x="147" y="443"/>
                  </a:lnTo>
                  <a:lnTo>
                    <a:pt x="142" y="434"/>
                  </a:lnTo>
                  <a:lnTo>
                    <a:pt x="138" y="425"/>
                  </a:lnTo>
                  <a:lnTo>
                    <a:pt x="134" y="415"/>
                  </a:lnTo>
                  <a:lnTo>
                    <a:pt x="127" y="393"/>
                  </a:lnTo>
                  <a:lnTo>
                    <a:pt x="123" y="371"/>
                  </a:lnTo>
                  <a:lnTo>
                    <a:pt x="120" y="347"/>
                  </a:lnTo>
                  <a:lnTo>
                    <a:pt x="119" y="322"/>
                  </a:lnTo>
                  <a:lnTo>
                    <a:pt x="119" y="309"/>
                  </a:lnTo>
                  <a:lnTo>
                    <a:pt x="120" y="295"/>
                  </a:lnTo>
                  <a:lnTo>
                    <a:pt x="122" y="282"/>
                  </a:lnTo>
                  <a:lnTo>
                    <a:pt x="123" y="270"/>
                  </a:lnTo>
                  <a:lnTo>
                    <a:pt x="125" y="257"/>
                  </a:lnTo>
                  <a:lnTo>
                    <a:pt x="128" y="246"/>
                  </a:lnTo>
                  <a:lnTo>
                    <a:pt x="131" y="235"/>
                  </a:lnTo>
                  <a:lnTo>
                    <a:pt x="136" y="223"/>
                  </a:lnTo>
                  <a:lnTo>
                    <a:pt x="140" y="213"/>
                  </a:lnTo>
                  <a:lnTo>
                    <a:pt x="145" y="203"/>
                  </a:lnTo>
                  <a:lnTo>
                    <a:pt x="149" y="193"/>
                  </a:lnTo>
                  <a:lnTo>
                    <a:pt x="155" y="184"/>
                  </a:lnTo>
                  <a:lnTo>
                    <a:pt x="160" y="176"/>
                  </a:lnTo>
                  <a:lnTo>
                    <a:pt x="167" y="168"/>
                  </a:lnTo>
                  <a:lnTo>
                    <a:pt x="174" y="159"/>
                  </a:lnTo>
                  <a:lnTo>
                    <a:pt x="181" y="152"/>
                  </a:lnTo>
                  <a:lnTo>
                    <a:pt x="188" y="145"/>
                  </a:lnTo>
                  <a:lnTo>
                    <a:pt x="196" y="139"/>
                  </a:lnTo>
                  <a:lnTo>
                    <a:pt x="204" y="133"/>
                  </a:lnTo>
                  <a:lnTo>
                    <a:pt x="213" y="127"/>
                  </a:lnTo>
                  <a:lnTo>
                    <a:pt x="221" y="121"/>
                  </a:lnTo>
                  <a:lnTo>
                    <a:pt x="230" y="117"/>
                  </a:lnTo>
                  <a:lnTo>
                    <a:pt x="239" y="112"/>
                  </a:lnTo>
                  <a:lnTo>
                    <a:pt x="250" y="109"/>
                  </a:lnTo>
                  <a:lnTo>
                    <a:pt x="270" y="102"/>
                  </a:lnTo>
                  <a:lnTo>
                    <a:pt x="291" y="98"/>
                  </a:lnTo>
                  <a:lnTo>
                    <a:pt x="313" y="95"/>
                  </a:lnTo>
                  <a:lnTo>
                    <a:pt x="337" y="94"/>
                  </a:lnTo>
                  <a:lnTo>
                    <a:pt x="355" y="95"/>
                  </a:lnTo>
                  <a:lnTo>
                    <a:pt x="373" y="96"/>
                  </a:lnTo>
                  <a:lnTo>
                    <a:pt x="389" y="98"/>
                  </a:lnTo>
                  <a:lnTo>
                    <a:pt x="405" y="101"/>
                  </a:lnTo>
                  <a:lnTo>
                    <a:pt x="420" y="105"/>
                  </a:lnTo>
                  <a:lnTo>
                    <a:pt x="434" y="109"/>
                  </a:lnTo>
                  <a:lnTo>
                    <a:pt x="446" y="113"/>
                  </a:lnTo>
                  <a:lnTo>
                    <a:pt x="457" y="118"/>
                  </a:lnTo>
                  <a:lnTo>
                    <a:pt x="482" y="28"/>
                  </a:lnTo>
                  <a:lnTo>
                    <a:pt x="473" y="24"/>
                  </a:lnTo>
                  <a:lnTo>
                    <a:pt x="459" y="19"/>
                  </a:lnTo>
                  <a:lnTo>
                    <a:pt x="444" y="13"/>
                  </a:lnTo>
                  <a:lnTo>
                    <a:pt x="426" y="9"/>
                  </a:lnTo>
                  <a:lnTo>
                    <a:pt x="406" y="6"/>
                  </a:lnTo>
                  <a:lnTo>
                    <a:pt x="383" y="3"/>
                  </a:lnTo>
                  <a:lnTo>
                    <a:pt x="359" y="1"/>
                  </a:lnTo>
                  <a:lnTo>
                    <a:pt x="332" y="0"/>
                  </a:lnTo>
                  <a:lnTo>
                    <a:pt x="314" y="1"/>
                  </a:lnTo>
                  <a:lnTo>
                    <a:pt x="297" y="2"/>
                  </a:lnTo>
                  <a:lnTo>
                    <a:pt x="280" y="4"/>
                  </a:lnTo>
                  <a:lnTo>
                    <a:pt x="263" y="6"/>
                  </a:lnTo>
                  <a:lnTo>
                    <a:pt x="247" y="9"/>
                  </a:lnTo>
                  <a:lnTo>
                    <a:pt x="231" y="13"/>
                  </a:lnTo>
                  <a:lnTo>
                    <a:pt x="216" y="17"/>
                  </a:lnTo>
                  <a:lnTo>
                    <a:pt x="200" y="23"/>
                  </a:lnTo>
                  <a:lnTo>
                    <a:pt x="185" y="29"/>
                  </a:lnTo>
                  <a:lnTo>
                    <a:pt x="172" y="35"/>
                  </a:lnTo>
                  <a:lnTo>
                    <a:pt x="157" y="42"/>
                  </a:lnTo>
                  <a:lnTo>
                    <a:pt x="144" y="50"/>
                  </a:lnTo>
                  <a:lnTo>
                    <a:pt x="130" y="59"/>
                  </a:lnTo>
                  <a:lnTo>
                    <a:pt x="118" y="68"/>
                  </a:lnTo>
                  <a:lnTo>
                    <a:pt x="107" y="77"/>
                  </a:lnTo>
                  <a:lnTo>
                    <a:pt x="94" y="87"/>
                  </a:lnTo>
                  <a:lnTo>
                    <a:pt x="84" y="99"/>
                  </a:lnTo>
                  <a:lnTo>
                    <a:pt x="74" y="110"/>
                  </a:lnTo>
                  <a:lnTo>
                    <a:pt x="65" y="122"/>
                  </a:lnTo>
                  <a:lnTo>
                    <a:pt x="55" y="135"/>
                  </a:lnTo>
                  <a:lnTo>
                    <a:pt x="47" y="148"/>
                  </a:lnTo>
                  <a:lnTo>
                    <a:pt x="39" y="162"/>
                  </a:lnTo>
                  <a:lnTo>
                    <a:pt x="32" y="176"/>
                  </a:lnTo>
                  <a:lnTo>
                    <a:pt x="26" y="190"/>
                  </a:lnTo>
                  <a:lnTo>
                    <a:pt x="19" y="206"/>
                  </a:lnTo>
                  <a:lnTo>
                    <a:pt x="14" y="222"/>
                  </a:lnTo>
                  <a:lnTo>
                    <a:pt x="10" y="239"/>
                  </a:lnTo>
                  <a:lnTo>
                    <a:pt x="6" y="255"/>
                  </a:lnTo>
                  <a:lnTo>
                    <a:pt x="4" y="273"/>
                  </a:lnTo>
                  <a:lnTo>
                    <a:pt x="2" y="290"/>
                  </a:lnTo>
                  <a:lnTo>
                    <a:pt x="1" y="309"/>
                  </a:lnTo>
                  <a:lnTo>
                    <a:pt x="0" y="328"/>
                  </a:lnTo>
                  <a:lnTo>
                    <a:pt x="1" y="346"/>
                  </a:lnTo>
                  <a:lnTo>
                    <a:pt x="2" y="362"/>
                  </a:lnTo>
                  <a:lnTo>
                    <a:pt x="3" y="380"/>
                  </a:lnTo>
                  <a:lnTo>
                    <a:pt x="6" y="395"/>
                  </a:lnTo>
                  <a:lnTo>
                    <a:pt x="9" y="412"/>
                  </a:lnTo>
                  <a:lnTo>
                    <a:pt x="12" y="427"/>
                  </a:lnTo>
                  <a:lnTo>
                    <a:pt x="16" y="441"/>
                  </a:lnTo>
                  <a:lnTo>
                    <a:pt x="22" y="457"/>
                  </a:lnTo>
                  <a:lnTo>
                    <a:pt x="28" y="470"/>
                  </a:lnTo>
                  <a:lnTo>
                    <a:pt x="34" y="484"/>
                  </a:lnTo>
                  <a:lnTo>
                    <a:pt x="41" y="497"/>
                  </a:lnTo>
                  <a:lnTo>
                    <a:pt x="48" y="509"/>
                  </a:lnTo>
                  <a:lnTo>
                    <a:pt x="56" y="522"/>
                  </a:lnTo>
                  <a:lnTo>
                    <a:pt x="66" y="534"/>
                  </a:lnTo>
                  <a:lnTo>
                    <a:pt x="75" y="544"/>
                  </a:lnTo>
                  <a:lnTo>
                    <a:pt x="84" y="555"/>
                  </a:lnTo>
                  <a:lnTo>
                    <a:pt x="95" y="565"/>
                  </a:lnTo>
                  <a:lnTo>
                    <a:pt x="106" y="574"/>
                  </a:lnTo>
                  <a:lnTo>
                    <a:pt x="118" y="583"/>
                  </a:lnTo>
                  <a:lnTo>
                    <a:pt x="130" y="592"/>
                  </a:lnTo>
                  <a:lnTo>
                    <a:pt x="143" y="599"/>
                  </a:lnTo>
                  <a:lnTo>
                    <a:pt x="156" y="606"/>
                  </a:lnTo>
                  <a:lnTo>
                    <a:pt x="169" y="612"/>
                  </a:lnTo>
                  <a:lnTo>
                    <a:pt x="184" y="618"/>
                  </a:lnTo>
                  <a:lnTo>
                    <a:pt x="199" y="623"/>
                  </a:lnTo>
                  <a:lnTo>
                    <a:pt x="215" y="628"/>
                  </a:lnTo>
                  <a:lnTo>
                    <a:pt x="230" y="632"/>
                  </a:lnTo>
                  <a:lnTo>
                    <a:pt x="247" y="635"/>
                  </a:lnTo>
                  <a:lnTo>
                    <a:pt x="263" y="637"/>
                  </a:lnTo>
                  <a:lnTo>
                    <a:pt x="280" y="639"/>
                  </a:lnTo>
                  <a:lnTo>
                    <a:pt x="298" y="640"/>
                  </a:lnTo>
                  <a:lnTo>
                    <a:pt x="316" y="641"/>
                  </a:lnTo>
                  <a:lnTo>
                    <a:pt x="344" y="640"/>
                  </a:lnTo>
                  <a:lnTo>
                    <a:pt x="370" y="638"/>
                  </a:lnTo>
                  <a:lnTo>
                    <a:pt x="393" y="635"/>
                  </a:lnTo>
                  <a:lnTo>
                    <a:pt x="415" y="632"/>
                  </a:lnTo>
                  <a:lnTo>
                    <a:pt x="435" y="628"/>
                  </a:lnTo>
                  <a:lnTo>
                    <a:pt x="451" y="622"/>
                  </a:lnTo>
                  <a:lnTo>
                    <a:pt x="465" y="617"/>
                  </a:lnTo>
                  <a:lnTo>
                    <a:pt x="478" y="612"/>
                  </a:lnTo>
                  <a:lnTo>
                    <a:pt x="458" y="523"/>
                  </a:lnTo>
                  <a:close/>
                </a:path>
              </a:pathLst>
            </a:custGeom>
            <a:solidFill>
              <a:srgbClr val="4473B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endParaRPr lang="en-US" sz="1800"/>
            </a:p>
          </p:txBody>
        </p:sp>
        <p:sp>
          <p:nvSpPr>
            <p:cNvPr id="11" name="Freeform 11"/>
            <p:cNvSpPr>
              <a:spLocks noEditPoints="1"/>
            </p:cNvSpPr>
            <p:nvPr/>
          </p:nvSpPr>
          <p:spPr bwMode="auto">
            <a:xfrm>
              <a:off x="240" y="3745"/>
              <a:ext cx="311" cy="78"/>
            </a:xfrm>
            <a:custGeom>
              <a:avLst/>
              <a:gdLst/>
              <a:ahLst/>
              <a:cxnLst>
                <a:cxn ang="0">
                  <a:pos x="598" y="179"/>
                </a:cxn>
                <a:cxn ang="0">
                  <a:pos x="598" y="0"/>
                </a:cxn>
                <a:cxn ang="0">
                  <a:pos x="524" y="0"/>
                </a:cxn>
                <a:cxn ang="0">
                  <a:pos x="449" y="0"/>
                </a:cxn>
                <a:cxn ang="0">
                  <a:pos x="374" y="0"/>
                </a:cxn>
                <a:cxn ang="0">
                  <a:pos x="299" y="0"/>
                </a:cxn>
                <a:cxn ang="0">
                  <a:pos x="224" y="0"/>
                </a:cxn>
                <a:cxn ang="0">
                  <a:pos x="150" y="0"/>
                </a:cxn>
                <a:cxn ang="0">
                  <a:pos x="75" y="0"/>
                </a:cxn>
                <a:cxn ang="0">
                  <a:pos x="0" y="0"/>
                </a:cxn>
                <a:cxn ang="0">
                  <a:pos x="0" y="179"/>
                </a:cxn>
                <a:cxn ang="0">
                  <a:pos x="176" y="179"/>
                </a:cxn>
                <a:cxn ang="0">
                  <a:pos x="176" y="621"/>
                </a:cxn>
                <a:cxn ang="0">
                  <a:pos x="423" y="621"/>
                </a:cxn>
                <a:cxn ang="0">
                  <a:pos x="423" y="179"/>
                </a:cxn>
                <a:cxn ang="0">
                  <a:pos x="598" y="179"/>
                </a:cxn>
                <a:cxn ang="0">
                  <a:pos x="907" y="250"/>
                </a:cxn>
                <a:cxn ang="0">
                  <a:pos x="781" y="621"/>
                </a:cxn>
                <a:cxn ang="0">
                  <a:pos x="539" y="621"/>
                </a:cxn>
                <a:cxn ang="0">
                  <a:pos x="776" y="0"/>
                </a:cxn>
                <a:cxn ang="0">
                  <a:pos x="809" y="0"/>
                </a:cxn>
                <a:cxn ang="0">
                  <a:pos x="842" y="0"/>
                </a:cxn>
                <a:cxn ang="0">
                  <a:pos x="874" y="0"/>
                </a:cxn>
                <a:cxn ang="0">
                  <a:pos x="907" y="0"/>
                </a:cxn>
                <a:cxn ang="0">
                  <a:pos x="939" y="0"/>
                </a:cxn>
                <a:cxn ang="0">
                  <a:pos x="972" y="0"/>
                </a:cxn>
                <a:cxn ang="0">
                  <a:pos x="1005" y="0"/>
                </a:cxn>
                <a:cxn ang="0">
                  <a:pos x="1038" y="0"/>
                </a:cxn>
                <a:cxn ang="0">
                  <a:pos x="1275" y="621"/>
                </a:cxn>
                <a:cxn ang="0">
                  <a:pos x="1033" y="621"/>
                </a:cxn>
                <a:cxn ang="0">
                  <a:pos x="907" y="250"/>
                </a:cxn>
                <a:cxn ang="0">
                  <a:pos x="1814" y="179"/>
                </a:cxn>
                <a:cxn ang="0">
                  <a:pos x="1814" y="0"/>
                </a:cxn>
                <a:cxn ang="0">
                  <a:pos x="1740" y="0"/>
                </a:cxn>
                <a:cxn ang="0">
                  <a:pos x="1665" y="0"/>
                </a:cxn>
                <a:cxn ang="0">
                  <a:pos x="1590" y="0"/>
                </a:cxn>
                <a:cxn ang="0">
                  <a:pos x="1515" y="0"/>
                </a:cxn>
                <a:cxn ang="0">
                  <a:pos x="1440" y="0"/>
                </a:cxn>
                <a:cxn ang="0">
                  <a:pos x="1366" y="0"/>
                </a:cxn>
                <a:cxn ang="0">
                  <a:pos x="1291" y="0"/>
                </a:cxn>
                <a:cxn ang="0">
                  <a:pos x="1216" y="0"/>
                </a:cxn>
                <a:cxn ang="0">
                  <a:pos x="1216" y="179"/>
                </a:cxn>
                <a:cxn ang="0">
                  <a:pos x="1391" y="179"/>
                </a:cxn>
                <a:cxn ang="0">
                  <a:pos x="1391" y="621"/>
                </a:cxn>
                <a:cxn ang="0">
                  <a:pos x="1639" y="621"/>
                </a:cxn>
                <a:cxn ang="0">
                  <a:pos x="1639" y="179"/>
                </a:cxn>
                <a:cxn ang="0">
                  <a:pos x="1814" y="179"/>
                </a:cxn>
                <a:cxn ang="0">
                  <a:pos x="2123" y="250"/>
                </a:cxn>
                <a:cxn ang="0">
                  <a:pos x="1996" y="621"/>
                </a:cxn>
                <a:cxn ang="0">
                  <a:pos x="1754" y="621"/>
                </a:cxn>
                <a:cxn ang="0">
                  <a:pos x="1991" y="0"/>
                </a:cxn>
                <a:cxn ang="0">
                  <a:pos x="2024" y="0"/>
                </a:cxn>
                <a:cxn ang="0">
                  <a:pos x="2057" y="0"/>
                </a:cxn>
                <a:cxn ang="0">
                  <a:pos x="2090" y="0"/>
                </a:cxn>
                <a:cxn ang="0">
                  <a:pos x="2123" y="0"/>
                </a:cxn>
                <a:cxn ang="0">
                  <a:pos x="2155" y="0"/>
                </a:cxn>
                <a:cxn ang="0">
                  <a:pos x="2188" y="0"/>
                </a:cxn>
                <a:cxn ang="0">
                  <a:pos x="2220" y="0"/>
                </a:cxn>
                <a:cxn ang="0">
                  <a:pos x="2253" y="0"/>
                </a:cxn>
                <a:cxn ang="0">
                  <a:pos x="2491" y="621"/>
                </a:cxn>
                <a:cxn ang="0">
                  <a:pos x="2248" y="621"/>
                </a:cxn>
                <a:cxn ang="0">
                  <a:pos x="2123" y="250"/>
                </a:cxn>
              </a:cxnLst>
              <a:rect l="0" t="0" r="r" b="b"/>
              <a:pathLst>
                <a:path w="2491" h="621">
                  <a:moveTo>
                    <a:pt x="598" y="179"/>
                  </a:moveTo>
                  <a:lnTo>
                    <a:pt x="598" y="0"/>
                  </a:lnTo>
                  <a:lnTo>
                    <a:pt x="524" y="0"/>
                  </a:lnTo>
                  <a:lnTo>
                    <a:pt x="449" y="0"/>
                  </a:lnTo>
                  <a:lnTo>
                    <a:pt x="374" y="0"/>
                  </a:lnTo>
                  <a:lnTo>
                    <a:pt x="299" y="0"/>
                  </a:lnTo>
                  <a:lnTo>
                    <a:pt x="224" y="0"/>
                  </a:lnTo>
                  <a:lnTo>
                    <a:pt x="150" y="0"/>
                  </a:lnTo>
                  <a:lnTo>
                    <a:pt x="75" y="0"/>
                  </a:lnTo>
                  <a:lnTo>
                    <a:pt x="0" y="0"/>
                  </a:lnTo>
                  <a:lnTo>
                    <a:pt x="0" y="179"/>
                  </a:lnTo>
                  <a:lnTo>
                    <a:pt x="176" y="179"/>
                  </a:lnTo>
                  <a:lnTo>
                    <a:pt x="176" y="621"/>
                  </a:lnTo>
                  <a:lnTo>
                    <a:pt x="423" y="621"/>
                  </a:lnTo>
                  <a:lnTo>
                    <a:pt x="423" y="179"/>
                  </a:lnTo>
                  <a:lnTo>
                    <a:pt x="598" y="179"/>
                  </a:lnTo>
                  <a:close/>
                  <a:moveTo>
                    <a:pt x="907" y="250"/>
                  </a:moveTo>
                  <a:lnTo>
                    <a:pt x="781" y="621"/>
                  </a:lnTo>
                  <a:lnTo>
                    <a:pt x="539" y="621"/>
                  </a:lnTo>
                  <a:lnTo>
                    <a:pt x="776" y="0"/>
                  </a:lnTo>
                  <a:lnTo>
                    <a:pt x="809" y="0"/>
                  </a:lnTo>
                  <a:lnTo>
                    <a:pt x="842" y="0"/>
                  </a:lnTo>
                  <a:lnTo>
                    <a:pt x="874" y="0"/>
                  </a:lnTo>
                  <a:lnTo>
                    <a:pt x="907" y="0"/>
                  </a:lnTo>
                  <a:lnTo>
                    <a:pt x="939" y="0"/>
                  </a:lnTo>
                  <a:lnTo>
                    <a:pt x="972" y="0"/>
                  </a:lnTo>
                  <a:lnTo>
                    <a:pt x="1005" y="0"/>
                  </a:lnTo>
                  <a:lnTo>
                    <a:pt x="1038" y="0"/>
                  </a:lnTo>
                  <a:lnTo>
                    <a:pt x="1275" y="621"/>
                  </a:lnTo>
                  <a:lnTo>
                    <a:pt x="1033" y="621"/>
                  </a:lnTo>
                  <a:lnTo>
                    <a:pt x="907" y="250"/>
                  </a:lnTo>
                  <a:close/>
                  <a:moveTo>
                    <a:pt x="1814" y="179"/>
                  </a:moveTo>
                  <a:lnTo>
                    <a:pt x="1814" y="0"/>
                  </a:lnTo>
                  <a:lnTo>
                    <a:pt x="1740" y="0"/>
                  </a:lnTo>
                  <a:lnTo>
                    <a:pt x="1665" y="0"/>
                  </a:lnTo>
                  <a:lnTo>
                    <a:pt x="1590" y="0"/>
                  </a:lnTo>
                  <a:lnTo>
                    <a:pt x="1515" y="0"/>
                  </a:lnTo>
                  <a:lnTo>
                    <a:pt x="1440" y="0"/>
                  </a:lnTo>
                  <a:lnTo>
                    <a:pt x="1366" y="0"/>
                  </a:lnTo>
                  <a:lnTo>
                    <a:pt x="1291" y="0"/>
                  </a:lnTo>
                  <a:lnTo>
                    <a:pt x="1216" y="0"/>
                  </a:lnTo>
                  <a:lnTo>
                    <a:pt x="1216" y="179"/>
                  </a:lnTo>
                  <a:lnTo>
                    <a:pt x="1391" y="179"/>
                  </a:lnTo>
                  <a:lnTo>
                    <a:pt x="1391" y="621"/>
                  </a:lnTo>
                  <a:lnTo>
                    <a:pt x="1639" y="621"/>
                  </a:lnTo>
                  <a:lnTo>
                    <a:pt x="1639" y="179"/>
                  </a:lnTo>
                  <a:lnTo>
                    <a:pt x="1814" y="179"/>
                  </a:lnTo>
                  <a:close/>
                  <a:moveTo>
                    <a:pt x="2123" y="250"/>
                  </a:moveTo>
                  <a:lnTo>
                    <a:pt x="1996" y="621"/>
                  </a:lnTo>
                  <a:lnTo>
                    <a:pt x="1754" y="621"/>
                  </a:lnTo>
                  <a:lnTo>
                    <a:pt x="1991" y="0"/>
                  </a:lnTo>
                  <a:lnTo>
                    <a:pt x="2024" y="0"/>
                  </a:lnTo>
                  <a:lnTo>
                    <a:pt x="2057" y="0"/>
                  </a:lnTo>
                  <a:lnTo>
                    <a:pt x="2090" y="0"/>
                  </a:lnTo>
                  <a:lnTo>
                    <a:pt x="2123" y="0"/>
                  </a:lnTo>
                  <a:lnTo>
                    <a:pt x="2155" y="0"/>
                  </a:lnTo>
                  <a:lnTo>
                    <a:pt x="2188" y="0"/>
                  </a:lnTo>
                  <a:lnTo>
                    <a:pt x="2220" y="0"/>
                  </a:lnTo>
                  <a:lnTo>
                    <a:pt x="2253" y="0"/>
                  </a:lnTo>
                  <a:lnTo>
                    <a:pt x="2491" y="621"/>
                  </a:lnTo>
                  <a:lnTo>
                    <a:pt x="2248" y="621"/>
                  </a:lnTo>
                  <a:lnTo>
                    <a:pt x="2123" y="250"/>
                  </a:lnTo>
                  <a:close/>
                </a:path>
              </a:pathLst>
            </a:custGeom>
            <a:solidFill>
              <a:srgbClr val="4473B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endParaRPr lang="en-US" sz="1800"/>
            </a:p>
          </p:txBody>
        </p:sp>
        <p:sp>
          <p:nvSpPr>
            <p:cNvPr id="12" name="Freeform 12"/>
            <p:cNvSpPr>
              <a:spLocks noEditPoints="1"/>
            </p:cNvSpPr>
            <p:nvPr/>
          </p:nvSpPr>
          <p:spPr bwMode="auto">
            <a:xfrm>
              <a:off x="1301" y="3876"/>
              <a:ext cx="994" cy="105"/>
            </a:xfrm>
            <a:custGeom>
              <a:avLst/>
              <a:gdLst/>
              <a:ahLst/>
              <a:cxnLst>
                <a:cxn ang="0">
                  <a:pos x="805" y="637"/>
                </a:cxn>
                <a:cxn ang="0">
                  <a:pos x="996" y="219"/>
                </a:cxn>
                <a:cxn ang="0">
                  <a:pos x="1304" y="357"/>
                </a:cxn>
                <a:cxn ang="0">
                  <a:pos x="1069" y="644"/>
                </a:cxn>
                <a:cxn ang="0">
                  <a:pos x="1040" y="573"/>
                </a:cxn>
                <a:cxn ang="0">
                  <a:pos x="1182" y="280"/>
                </a:cxn>
                <a:cxn ang="0">
                  <a:pos x="1457" y="426"/>
                </a:cxn>
                <a:cxn ang="0">
                  <a:pos x="1680" y="639"/>
                </a:cxn>
                <a:cxn ang="0">
                  <a:pos x="1384" y="480"/>
                </a:cxn>
                <a:cxn ang="0">
                  <a:pos x="1565" y="178"/>
                </a:cxn>
                <a:cxn ang="0">
                  <a:pos x="1772" y="419"/>
                </a:cxn>
                <a:cxn ang="0">
                  <a:pos x="1479" y="300"/>
                </a:cxn>
                <a:cxn ang="0">
                  <a:pos x="2054" y="179"/>
                </a:cxn>
                <a:cxn ang="0">
                  <a:pos x="2260" y="188"/>
                </a:cxn>
                <a:cxn ang="0">
                  <a:pos x="2257" y="15"/>
                </a:cxn>
                <a:cxn ang="0">
                  <a:pos x="2523" y="568"/>
                </a:cxn>
                <a:cxn ang="0">
                  <a:pos x="2483" y="627"/>
                </a:cxn>
                <a:cxn ang="0">
                  <a:pos x="2395" y="282"/>
                </a:cxn>
                <a:cxn ang="0">
                  <a:pos x="2669" y="201"/>
                </a:cxn>
                <a:cxn ang="0">
                  <a:pos x="2657" y="282"/>
                </a:cxn>
                <a:cxn ang="0">
                  <a:pos x="2858" y="220"/>
                </a:cxn>
                <a:cxn ang="0">
                  <a:pos x="3192" y="222"/>
                </a:cxn>
                <a:cxn ang="0">
                  <a:pos x="3092" y="249"/>
                </a:cxn>
                <a:cxn ang="0">
                  <a:pos x="3666" y="632"/>
                </a:cxn>
                <a:cxn ang="0">
                  <a:pos x="3354" y="500"/>
                </a:cxn>
                <a:cxn ang="0">
                  <a:pos x="3484" y="195"/>
                </a:cxn>
                <a:cxn ang="0">
                  <a:pos x="3516" y="256"/>
                </a:cxn>
                <a:cxn ang="0">
                  <a:pos x="3592" y="581"/>
                </a:cxn>
                <a:cxn ang="0">
                  <a:pos x="4055" y="577"/>
                </a:cxn>
                <a:cxn ang="0">
                  <a:pos x="3803" y="567"/>
                </a:cxn>
                <a:cxn ang="0">
                  <a:pos x="3854" y="210"/>
                </a:cxn>
                <a:cxn ang="0">
                  <a:pos x="4132" y="281"/>
                </a:cxn>
                <a:cxn ang="0">
                  <a:pos x="3947" y="237"/>
                </a:cxn>
                <a:cxn ang="0">
                  <a:pos x="4571" y="638"/>
                </a:cxn>
                <a:cxn ang="0">
                  <a:pos x="4425" y="355"/>
                </a:cxn>
                <a:cxn ang="0">
                  <a:pos x="4692" y="179"/>
                </a:cxn>
                <a:cxn ang="0">
                  <a:pos x="4503" y="378"/>
                </a:cxn>
                <a:cxn ang="0">
                  <a:pos x="4914" y="445"/>
                </a:cxn>
                <a:cxn ang="0">
                  <a:pos x="5116" y="642"/>
                </a:cxn>
                <a:cxn ang="0">
                  <a:pos x="4837" y="469"/>
                </a:cxn>
                <a:cxn ang="0">
                  <a:pos x="5032" y="177"/>
                </a:cxn>
                <a:cxn ang="0">
                  <a:pos x="5225" y="427"/>
                </a:cxn>
                <a:cxn ang="0">
                  <a:pos x="4929" y="310"/>
                </a:cxn>
                <a:cxn ang="0">
                  <a:pos x="5520" y="177"/>
                </a:cxn>
                <a:cxn ang="0">
                  <a:pos x="5849" y="249"/>
                </a:cxn>
                <a:cxn ang="0">
                  <a:pos x="5745" y="644"/>
                </a:cxn>
                <a:cxn ang="0">
                  <a:pos x="6173" y="588"/>
                </a:cxn>
                <a:cxn ang="0">
                  <a:pos x="5907" y="543"/>
                </a:cxn>
                <a:cxn ang="0">
                  <a:pos x="6173" y="317"/>
                </a:cxn>
                <a:cxn ang="0">
                  <a:pos x="6044" y="179"/>
                </a:cxn>
                <a:cxn ang="0">
                  <a:pos x="6022" y="438"/>
                </a:cxn>
                <a:cxn ang="0">
                  <a:pos x="6118" y="573"/>
                </a:cxn>
                <a:cxn ang="0">
                  <a:pos x="6379" y="72"/>
                </a:cxn>
                <a:cxn ang="0">
                  <a:pos x="6454" y="99"/>
                </a:cxn>
                <a:cxn ang="0">
                  <a:pos x="6815" y="177"/>
                </a:cxn>
                <a:cxn ang="0">
                  <a:pos x="6901" y="333"/>
                </a:cxn>
                <a:cxn ang="0">
                  <a:pos x="6691" y="329"/>
                </a:cxn>
                <a:cxn ang="0">
                  <a:pos x="7278" y="580"/>
                </a:cxn>
                <a:cxn ang="0">
                  <a:pos x="7137" y="188"/>
                </a:cxn>
                <a:cxn ang="0">
                  <a:pos x="7541" y="759"/>
                </a:cxn>
                <a:cxn ang="0">
                  <a:pos x="7366" y="188"/>
                </a:cxn>
                <a:cxn ang="0">
                  <a:pos x="7881" y="532"/>
                </a:cxn>
                <a:cxn ang="0">
                  <a:pos x="7920" y="642"/>
                </a:cxn>
              </a:cxnLst>
              <a:rect l="0" t="0" r="r" b="b"/>
              <a:pathLst>
                <a:path w="7953" h="842">
                  <a:moveTo>
                    <a:pt x="324" y="277"/>
                  </a:moveTo>
                  <a:lnTo>
                    <a:pt x="324" y="344"/>
                  </a:lnTo>
                  <a:lnTo>
                    <a:pt x="81" y="344"/>
                  </a:lnTo>
                  <a:lnTo>
                    <a:pt x="81" y="569"/>
                  </a:lnTo>
                  <a:lnTo>
                    <a:pt x="352" y="569"/>
                  </a:lnTo>
                  <a:lnTo>
                    <a:pt x="352" y="637"/>
                  </a:lnTo>
                  <a:lnTo>
                    <a:pt x="0" y="637"/>
                  </a:lnTo>
                  <a:lnTo>
                    <a:pt x="0" y="11"/>
                  </a:lnTo>
                  <a:lnTo>
                    <a:pt x="338" y="11"/>
                  </a:lnTo>
                  <a:lnTo>
                    <a:pt x="338" y="79"/>
                  </a:lnTo>
                  <a:lnTo>
                    <a:pt x="81" y="79"/>
                  </a:lnTo>
                  <a:lnTo>
                    <a:pt x="81" y="277"/>
                  </a:lnTo>
                  <a:lnTo>
                    <a:pt x="324" y="277"/>
                  </a:lnTo>
                  <a:close/>
                  <a:moveTo>
                    <a:pt x="401" y="188"/>
                  </a:moveTo>
                  <a:lnTo>
                    <a:pt x="492" y="188"/>
                  </a:lnTo>
                  <a:lnTo>
                    <a:pt x="556" y="284"/>
                  </a:lnTo>
                  <a:lnTo>
                    <a:pt x="566" y="300"/>
                  </a:lnTo>
                  <a:lnTo>
                    <a:pt x="578" y="317"/>
                  </a:lnTo>
                  <a:lnTo>
                    <a:pt x="589" y="337"/>
                  </a:lnTo>
                  <a:lnTo>
                    <a:pt x="601" y="357"/>
                  </a:lnTo>
                  <a:lnTo>
                    <a:pt x="604" y="357"/>
                  </a:lnTo>
                  <a:lnTo>
                    <a:pt x="614" y="340"/>
                  </a:lnTo>
                  <a:lnTo>
                    <a:pt x="625" y="321"/>
                  </a:lnTo>
                  <a:lnTo>
                    <a:pt x="636" y="303"/>
                  </a:lnTo>
                  <a:lnTo>
                    <a:pt x="649" y="283"/>
                  </a:lnTo>
                  <a:lnTo>
                    <a:pt x="712" y="188"/>
                  </a:lnTo>
                  <a:lnTo>
                    <a:pt x="800" y="188"/>
                  </a:lnTo>
                  <a:lnTo>
                    <a:pt x="646" y="405"/>
                  </a:lnTo>
                  <a:lnTo>
                    <a:pt x="805" y="637"/>
                  </a:lnTo>
                  <a:lnTo>
                    <a:pt x="712" y="637"/>
                  </a:lnTo>
                  <a:lnTo>
                    <a:pt x="646" y="535"/>
                  </a:lnTo>
                  <a:lnTo>
                    <a:pt x="635" y="520"/>
                  </a:lnTo>
                  <a:lnTo>
                    <a:pt x="624" y="501"/>
                  </a:lnTo>
                  <a:lnTo>
                    <a:pt x="612" y="481"/>
                  </a:lnTo>
                  <a:lnTo>
                    <a:pt x="598" y="457"/>
                  </a:lnTo>
                  <a:lnTo>
                    <a:pt x="596" y="457"/>
                  </a:lnTo>
                  <a:lnTo>
                    <a:pt x="588" y="472"/>
                  </a:lnTo>
                  <a:lnTo>
                    <a:pt x="578" y="490"/>
                  </a:lnTo>
                  <a:lnTo>
                    <a:pt x="564" y="511"/>
                  </a:lnTo>
                  <a:lnTo>
                    <a:pt x="549" y="535"/>
                  </a:lnTo>
                  <a:lnTo>
                    <a:pt x="484" y="637"/>
                  </a:lnTo>
                  <a:lnTo>
                    <a:pt x="394" y="637"/>
                  </a:lnTo>
                  <a:lnTo>
                    <a:pt x="553" y="408"/>
                  </a:lnTo>
                  <a:lnTo>
                    <a:pt x="401" y="188"/>
                  </a:lnTo>
                  <a:close/>
                  <a:moveTo>
                    <a:pt x="883" y="820"/>
                  </a:moveTo>
                  <a:lnTo>
                    <a:pt x="883" y="334"/>
                  </a:lnTo>
                  <a:lnTo>
                    <a:pt x="883" y="298"/>
                  </a:lnTo>
                  <a:lnTo>
                    <a:pt x="882" y="261"/>
                  </a:lnTo>
                  <a:lnTo>
                    <a:pt x="881" y="224"/>
                  </a:lnTo>
                  <a:lnTo>
                    <a:pt x="880" y="188"/>
                  </a:lnTo>
                  <a:lnTo>
                    <a:pt x="953" y="188"/>
                  </a:lnTo>
                  <a:lnTo>
                    <a:pt x="957" y="265"/>
                  </a:lnTo>
                  <a:lnTo>
                    <a:pt x="958" y="265"/>
                  </a:lnTo>
                  <a:lnTo>
                    <a:pt x="965" y="255"/>
                  </a:lnTo>
                  <a:lnTo>
                    <a:pt x="972" y="244"/>
                  </a:lnTo>
                  <a:lnTo>
                    <a:pt x="979" y="235"/>
                  </a:lnTo>
                  <a:lnTo>
                    <a:pt x="988" y="227"/>
                  </a:lnTo>
                  <a:lnTo>
                    <a:pt x="996" y="219"/>
                  </a:lnTo>
                  <a:lnTo>
                    <a:pt x="1005" y="211"/>
                  </a:lnTo>
                  <a:lnTo>
                    <a:pt x="1014" y="205"/>
                  </a:lnTo>
                  <a:lnTo>
                    <a:pt x="1024" y="199"/>
                  </a:lnTo>
                  <a:lnTo>
                    <a:pt x="1034" y="194"/>
                  </a:lnTo>
                  <a:lnTo>
                    <a:pt x="1045" y="190"/>
                  </a:lnTo>
                  <a:lnTo>
                    <a:pt x="1055" y="186"/>
                  </a:lnTo>
                  <a:lnTo>
                    <a:pt x="1068" y="183"/>
                  </a:lnTo>
                  <a:lnTo>
                    <a:pt x="1079" y="181"/>
                  </a:lnTo>
                  <a:lnTo>
                    <a:pt x="1091" y="178"/>
                  </a:lnTo>
                  <a:lnTo>
                    <a:pt x="1105" y="177"/>
                  </a:lnTo>
                  <a:lnTo>
                    <a:pt x="1118" y="177"/>
                  </a:lnTo>
                  <a:lnTo>
                    <a:pt x="1138" y="178"/>
                  </a:lnTo>
                  <a:lnTo>
                    <a:pt x="1157" y="182"/>
                  </a:lnTo>
                  <a:lnTo>
                    <a:pt x="1166" y="184"/>
                  </a:lnTo>
                  <a:lnTo>
                    <a:pt x="1176" y="187"/>
                  </a:lnTo>
                  <a:lnTo>
                    <a:pt x="1185" y="190"/>
                  </a:lnTo>
                  <a:lnTo>
                    <a:pt x="1193" y="193"/>
                  </a:lnTo>
                  <a:lnTo>
                    <a:pt x="1201" y="198"/>
                  </a:lnTo>
                  <a:lnTo>
                    <a:pt x="1210" y="202"/>
                  </a:lnTo>
                  <a:lnTo>
                    <a:pt x="1218" y="207"/>
                  </a:lnTo>
                  <a:lnTo>
                    <a:pt x="1225" y="213"/>
                  </a:lnTo>
                  <a:lnTo>
                    <a:pt x="1240" y="226"/>
                  </a:lnTo>
                  <a:lnTo>
                    <a:pt x="1254" y="241"/>
                  </a:lnTo>
                  <a:lnTo>
                    <a:pt x="1266" y="258"/>
                  </a:lnTo>
                  <a:lnTo>
                    <a:pt x="1277" y="275"/>
                  </a:lnTo>
                  <a:lnTo>
                    <a:pt x="1287" y="294"/>
                  </a:lnTo>
                  <a:lnTo>
                    <a:pt x="1294" y="314"/>
                  </a:lnTo>
                  <a:lnTo>
                    <a:pt x="1300" y="335"/>
                  </a:lnTo>
                  <a:lnTo>
                    <a:pt x="1304" y="357"/>
                  </a:lnTo>
                  <a:lnTo>
                    <a:pt x="1307" y="381"/>
                  </a:lnTo>
                  <a:lnTo>
                    <a:pt x="1308" y="406"/>
                  </a:lnTo>
                  <a:lnTo>
                    <a:pt x="1307" y="434"/>
                  </a:lnTo>
                  <a:lnTo>
                    <a:pt x="1304" y="460"/>
                  </a:lnTo>
                  <a:lnTo>
                    <a:pt x="1302" y="473"/>
                  </a:lnTo>
                  <a:lnTo>
                    <a:pt x="1299" y="485"/>
                  </a:lnTo>
                  <a:lnTo>
                    <a:pt x="1296" y="497"/>
                  </a:lnTo>
                  <a:lnTo>
                    <a:pt x="1292" y="509"/>
                  </a:lnTo>
                  <a:lnTo>
                    <a:pt x="1288" y="520"/>
                  </a:lnTo>
                  <a:lnTo>
                    <a:pt x="1283" y="530"/>
                  </a:lnTo>
                  <a:lnTo>
                    <a:pt x="1278" y="541"/>
                  </a:lnTo>
                  <a:lnTo>
                    <a:pt x="1272" y="551"/>
                  </a:lnTo>
                  <a:lnTo>
                    <a:pt x="1266" y="560"/>
                  </a:lnTo>
                  <a:lnTo>
                    <a:pt x="1260" y="569"/>
                  </a:lnTo>
                  <a:lnTo>
                    <a:pt x="1253" y="579"/>
                  </a:lnTo>
                  <a:lnTo>
                    <a:pt x="1245" y="587"/>
                  </a:lnTo>
                  <a:lnTo>
                    <a:pt x="1231" y="601"/>
                  </a:lnTo>
                  <a:lnTo>
                    <a:pt x="1215" y="614"/>
                  </a:lnTo>
                  <a:lnTo>
                    <a:pt x="1207" y="619"/>
                  </a:lnTo>
                  <a:lnTo>
                    <a:pt x="1198" y="624"/>
                  </a:lnTo>
                  <a:lnTo>
                    <a:pt x="1190" y="628"/>
                  </a:lnTo>
                  <a:lnTo>
                    <a:pt x="1181" y="632"/>
                  </a:lnTo>
                  <a:lnTo>
                    <a:pt x="1163" y="638"/>
                  </a:lnTo>
                  <a:lnTo>
                    <a:pt x="1144" y="643"/>
                  </a:lnTo>
                  <a:lnTo>
                    <a:pt x="1123" y="647"/>
                  </a:lnTo>
                  <a:lnTo>
                    <a:pt x="1103" y="648"/>
                  </a:lnTo>
                  <a:lnTo>
                    <a:pt x="1091" y="647"/>
                  </a:lnTo>
                  <a:lnTo>
                    <a:pt x="1079" y="646"/>
                  </a:lnTo>
                  <a:lnTo>
                    <a:pt x="1069" y="644"/>
                  </a:lnTo>
                  <a:lnTo>
                    <a:pt x="1058" y="642"/>
                  </a:lnTo>
                  <a:lnTo>
                    <a:pt x="1048" y="640"/>
                  </a:lnTo>
                  <a:lnTo>
                    <a:pt x="1038" y="637"/>
                  </a:lnTo>
                  <a:lnTo>
                    <a:pt x="1029" y="633"/>
                  </a:lnTo>
                  <a:lnTo>
                    <a:pt x="1019" y="629"/>
                  </a:lnTo>
                  <a:lnTo>
                    <a:pt x="1011" y="625"/>
                  </a:lnTo>
                  <a:lnTo>
                    <a:pt x="1003" y="620"/>
                  </a:lnTo>
                  <a:lnTo>
                    <a:pt x="996" y="614"/>
                  </a:lnTo>
                  <a:lnTo>
                    <a:pt x="989" y="607"/>
                  </a:lnTo>
                  <a:lnTo>
                    <a:pt x="981" y="600"/>
                  </a:lnTo>
                  <a:lnTo>
                    <a:pt x="975" y="593"/>
                  </a:lnTo>
                  <a:lnTo>
                    <a:pt x="969" y="585"/>
                  </a:lnTo>
                  <a:lnTo>
                    <a:pt x="964" y="577"/>
                  </a:lnTo>
                  <a:lnTo>
                    <a:pt x="964" y="820"/>
                  </a:lnTo>
                  <a:lnTo>
                    <a:pt x="883" y="820"/>
                  </a:lnTo>
                  <a:close/>
                  <a:moveTo>
                    <a:pt x="964" y="377"/>
                  </a:moveTo>
                  <a:lnTo>
                    <a:pt x="964" y="454"/>
                  </a:lnTo>
                  <a:lnTo>
                    <a:pt x="964" y="468"/>
                  </a:lnTo>
                  <a:lnTo>
                    <a:pt x="966" y="480"/>
                  </a:lnTo>
                  <a:lnTo>
                    <a:pt x="969" y="492"/>
                  </a:lnTo>
                  <a:lnTo>
                    <a:pt x="972" y="504"/>
                  </a:lnTo>
                  <a:lnTo>
                    <a:pt x="977" y="515"/>
                  </a:lnTo>
                  <a:lnTo>
                    <a:pt x="983" y="525"/>
                  </a:lnTo>
                  <a:lnTo>
                    <a:pt x="991" y="535"/>
                  </a:lnTo>
                  <a:lnTo>
                    <a:pt x="1000" y="546"/>
                  </a:lnTo>
                  <a:lnTo>
                    <a:pt x="1009" y="554"/>
                  </a:lnTo>
                  <a:lnTo>
                    <a:pt x="1018" y="562"/>
                  </a:lnTo>
                  <a:lnTo>
                    <a:pt x="1029" y="568"/>
                  </a:lnTo>
                  <a:lnTo>
                    <a:pt x="1040" y="573"/>
                  </a:lnTo>
                  <a:lnTo>
                    <a:pt x="1051" y="578"/>
                  </a:lnTo>
                  <a:lnTo>
                    <a:pt x="1064" y="581"/>
                  </a:lnTo>
                  <a:lnTo>
                    <a:pt x="1077" y="583"/>
                  </a:lnTo>
                  <a:lnTo>
                    <a:pt x="1090" y="583"/>
                  </a:lnTo>
                  <a:lnTo>
                    <a:pt x="1106" y="583"/>
                  </a:lnTo>
                  <a:lnTo>
                    <a:pt x="1120" y="580"/>
                  </a:lnTo>
                  <a:lnTo>
                    <a:pt x="1133" y="577"/>
                  </a:lnTo>
                  <a:lnTo>
                    <a:pt x="1147" y="571"/>
                  </a:lnTo>
                  <a:lnTo>
                    <a:pt x="1159" y="564"/>
                  </a:lnTo>
                  <a:lnTo>
                    <a:pt x="1170" y="556"/>
                  </a:lnTo>
                  <a:lnTo>
                    <a:pt x="1181" y="547"/>
                  </a:lnTo>
                  <a:lnTo>
                    <a:pt x="1190" y="535"/>
                  </a:lnTo>
                  <a:lnTo>
                    <a:pt x="1198" y="523"/>
                  </a:lnTo>
                  <a:lnTo>
                    <a:pt x="1205" y="510"/>
                  </a:lnTo>
                  <a:lnTo>
                    <a:pt x="1212" y="495"/>
                  </a:lnTo>
                  <a:lnTo>
                    <a:pt x="1217" y="480"/>
                  </a:lnTo>
                  <a:lnTo>
                    <a:pt x="1221" y="463"/>
                  </a:lnTo>
                  <a:lnTo>
                    <a:pt x="1224" y="447"/>
                  </a:lnTo>
                  <a:lnTo>
                    <a:pt x="1226" y="428"/>
                  </a:lnTo>
                  <a:lnTo>
                    <a:pt x="1226" y="410"/>
                  </a:lnTo>
                  <a:lnTo>
                    <a:pt x="1226" y="392"/>
                  </a:lnTo>
                  <a:lnTo>
                    <a:pt x="1224" y="376"/>
                  </a:lnTo>
                  <a:lnTo>
                    <a:pt x="1221" y="360"/>
                  </a:lnTo>
                  <a:lnTo>
                    <a:pt x="1218" y="345"/>
                  </a:lnTo>
                  <a:lnTo>
                    <a:pt x="1213" y="331"/>
                  </a:lnTo>
                  <a:lnTo>
                    <a:pt x="1206" y="317"/>
                  </a:lnTo>
                  <a:lnTo>
                    <a:pt x="1200" y="305"/>
                  </a:lnTo>
                  <a:lnTo>
                    <a:pt x="1192" y="293"/>
                  </a:lnTo>
                  <a:lnTo>
                    <a:pt x="1182" y="280"/>
                  </a:lnTo>
                  <a:lnTo>
                    <a:pt x="1172" y="271"/>
                  </a:lnTo>
                  <a:lnTo>
                    <a:pt x="1160" y="262"/>
                  </a:lnTo>
                  <a:lnTo>
                    <a:pt x="1149" y="255"/>
                  </a:lnTo>
                  <a:lnTo>
                    <a:pt x="1136" y="249"/>
                  </a:lnTo>
                  <a:lnTo>
                    <a:pt x="1122" y="245"/>
                  </a:lnTo>
                  <a:lnTo>
                    <a:pt x="1108" y="243"/>
                  </a:lnTo>
                  <a:lnTo>
                    <a:pt x="1092" y="242"/>
                  </a:lnTo>
                  <a:lnTo>
                    <a:pt x="1082" y="243"/>
                  </a:lnTo>
                  <a:lnTo>
                    <a:pt x="1072" y="244"/>
                  </a:lnTo>
                  <a:lnTo>
                    <a:pt x="1062" y="246"/>
                  </a:lnTo>
                  <a:lnTo>
                    <a:pt x="1052" y="249"/>
                  </a:lnTo>
                  <a:lnTo>
                    <a:pt x="1042" y="254"/>
                  </a:lnTo>
                  <a:lnTo>
                    <a:pt x="1033" y="258"/>
                  </a:lnTo>
                  <a:lnTo>
                    <a:pt x="1024" y="264"/>
                  </a:lnTo>
                  <a:lnTo>
                    <a:pt x="1015" y="270"/>
                  </a:lnTo>
                  <a:lnTo>
                    <a:pt x="1007" y="277"/>
                  </a:lnTo>
                  <a:lnTo>
                    <a:pt x="999" y="285"/>
                  </a:lnTo>
                  <a:lnTo>
                    <a:pt x="993" y="294"/>
                  </a:lnTo>
                  <a:lnTo>
                    <a:pt x="987" y="303"/>
                  </a:lnTo>
                  <a:lnTo>
                    <a:pt x="981" y="312"/>
                  </a:lnTo>
                  <a:lnTo>
                    <a:pt x="976" y="321"/>
                  </a:lnTo>
                  <a:lnTo>
                    <a:pt x="972" y="333"/>
                  </a:lnTo>
                  <a:lnTo>
                    <a:pt x="969" y="344"/>
                  </a:lnTo>
                  <a:lnTo>
                    <a:pt x="967" y="353"/>
                  </a:lnTo>
                  <a:lnTo>
                    <a:pt x="965" y="363"/>
                  </a:lnTo>
                  <a:lnTo>
                    <a:pt x="964" y="370"/>
                  </a:lnTo>
                  <a:lnTo>
                    <a:pt x="964" y="377"/>
                  </a:lnTo>
                  <a:close/>
                  <a:moveTo>
                    <a:pt x="1771" y="427"/>
                  </a:moveTo>
                  <a:lnTo>
                    <a:pt x="1457" y="426"/>
                  </a:lnTo>
                  <a:lnTo>
                    <a:pt x="1458" y="445"/>
                  </a:lnTo>
                  <a:lnTo>
                    <a:pt x="1460" y="463"/>
                  </a:lnTo>
                  <a:lnTo>
                    <a:pt x="1464" y="480"/>
                  </a:lnTo>
                  <a:lnTo>
                    <a:pt x="1469" y="495"/>
                  </a:lnTo>
                  <a:lnTo>
                    <a:pt x="1477" y="510"/>
                  </a:lnTo>
                  <a:lnTo>
                    <a:pt x="1484" y="523"/>
                  </a:lnTo>
                  <a:lnTo>
                    <a:pt x="1493" y="535"/>
                  </a:lnTo>
                  <a:lnTo>
                    <a:pt x="1504" y="546"/>
                  </a:lnTo>
                  <a:lnTo>
                    <a:pt x="1515" y="554"/>
                  </a:lnTo>
                  <a:lnTo>
                    <a:pt x="1526" y="562"/>
                  </a:lnTo>
                  <a:lnTo>
                    <a:pt x="1537" y="568"/>
                  </a:lnTo>
                  <a:lnTo>
                    <a:pt x="1551" y="573"/>
                  </a:lnTo>
                  <a:lnTo>
                    <a:pt x="1564" y="577"/>
                  </a:lnTo>
                  <a:lnTo>
                    <a:pt x="1578" y="580"/>
                  </a:lnTo>
                  <a:lnTo>
                    <a:pt x="1594" y="582"/>
                  </a:lnTo>
                  <a:lnTo>
                    <a:pt x="1610" y="582"/>
                  </a:lnTo>
                  <a:lnTo>
                    <a:pt x="1628" y="582"/>
                  </a:lnTo>
                  <a:lnTo>
                    <a:pt x="1644" y="581"/>
                  </a:lnTo>
                  <a:lnTo>
                    <a:pt x="1660" y="579"/>
                  </a:lnTo>
                  <a:lnTo>
                    <a:pt x="1676" y="577"/>
                  </a:lnTo>
                  <a:lnTo>
                    <a:pt x="1690" y="573"/>
                  </a:lnTo>
                  <a:lnTo>
                    <a:pt x="1706" y="569"/>
                  </a:lnTo>
                  <a:lnTo>
                    <a:pt x="1720" y="564"/>
                  </a:lnTo>
                  <a:lnTo>
                    <a:pt x="1735" y="559"/>
                  </a:lnTo>
                  <a:lnTo>
                    <a:pt x="1748" y="618"/>
                  </a:lnTo>
                  <a:lnTo>
                    <a:pt x="1733" y="624"/>
                  </a:lnTo>
                  <a:lnTo>
                    <a:pt x="1715" y="630"/>
                  </a:lnTo>
                  <a:lnTo>
                    <a:pt x="1698" y="635"/>
                  </a:lnTo>
                  <a:lnTo>
                    <a:pt x="1680" y="639"/>
                  </a:lnTo>
                  <a:lnTo>
                    <a:pt x="1661" y="642"/>
                  </a:lnTo>
                  <a:lnTo>
                    <a:pt x="1641" y="644"/>
                  </a:lnTo>
                  <a:lnTo>
                    <a:pt x="1621" y="646"/>
                  </a:lnTo>
                  <a:lnTo>
                    <a:pt x="1599" y="647"/>
                  </a:lnTo>
                  <a:lnTo>
                    <a:pt x="1574" y="646"/>
                  </a:lnTo>
                  <a:lnTo>
                    <a:pt x="1551" y="642"/>
                  </a:lnTo>
                  <a:lnTo>
                    <a:pt x="1539" y="640"/>
                  </a:lnTo>
                  <a:lnTo>
                    <a:pt x="1528" y="637"/>
                  </a:lnTo>
                  <a:lnTo>
                    <a:pt x="1518" y="634"/>
                  </a:lnTo>
                  <a:lnTo>
                    <a:pt x="1507" y="631"/>
                  </a:lnTo>
                  <a:lnTo>
                    <a:pt x="1497" y="627"/>
                  </a:lnTo>
                  <a:lnTo>
                    <a:pt x="1488" y="622"/>
                  </a:lnTo>
                  <a:lnTo>
                    <a:pt x="1479" y="617"/>
                  </a:lnTo>
                  <a:lnTo>
                    <a:pt x="1469" y="612"/>
                  </a:lnTo>
                  <a:lnTo>
                    <a:pt x="1461" y="605"/>
                  </a:lnTo>
                  <a:lnTo>
                    <a:pt x="1453" y="598"/>
                  </a:lnTo>
                  <a:lnTo>
                    <a:pt x="1445" y="592"/>
                  </a:lnTo>
                  <a:lnTo>
                    <a:pt x="1438" y="584"/>
                  </a:lnTo>
                  <a:lnTo>
                    <a:pt x="1430" y="576"/>
                  </a:lnTo>
                  <a:lnTo>
                    <a:pt x="1423" y="567"/>
                  </a:lnTo>
                  <a:lnTo>
                    <a:pt x="1417" y="559"/>
                  </a:lnTo>
                  <a:lnTo>
                    <a:pt x="1412" y="551"/>
                  </a:lnTo>
                  <a:lnTo>
                    <a:pt x="1406" y="542"/>
                  </a:lnTo>
                  <a:lnTo>
                    <a:pt x="1402" y="531"/>
                  </a:lnTo>
                  <a:lnTo>
                    <a:pt x="1397" y="522"/>
                  </a:lnTo>
                  <a:lnTo>
                    <a:pt x="1393" y="512"/>
                  </a:lnTo>
                  <a:lnTo>
                    <a:pt x="1389" y="501"/>
                  </a:lnTo>
                  <a:lnTo>
                    <a:pt x="1386" y="490"/>
                  </a:lnTo>
                  <a:lnTo>
                    <a:pt x="1384" y="480"/>
                  </a:lnTo>
                  <a:lnTo>
                    <a:pt x="1382" y="469"/>
                  </a:lnTo>
                  <a:lnTo>
                    <a:pt x="1379" y="445"/>
                  </a:lnTo>
                  <a:lnTo>
                    <a:pt x="1378" y="419"/>
                  </a:lnTo>
                  <a:lnTo>
                    <a:pt x="1379" y="394"/>
                  </a:lnTo>
                  <a:lnTo>
                    <a:pt x="1382" y="370"/>
                  </a:lnTo>
                  <a:lnTo>
                    <a:pt x="1386" y="346"/>
                  </a:lnTo>
                  <a:lnTo>
                    <a:pt x="1392" y="324"/>
                  </a:lnTo>
                  <a:lnTo>
                    <a:pt x="1397" y="313"/>
                  </a:lnTo>
                  <a:lnTo>
                    <a:pt x="1401" y="303"/>
                  </a:lnTo>
                  <a:lnTo>
                    <a:pt x="1406" y="293"/>
                  </a:lnTo>
                  <a:lnTo>
                    <a:pt x="1411" y="282"/>
                  </a:lnTo>
                  <a:lnTo>
                    <a:pt x="1416" y="273"/>
                  </a:lnTo>
                  <a:lnTo>
                    <a:pt x="1422" y="264"/>
                  </a:lnTo>
                  <a:lnTo>
                    <a:pt x="1428" y="255"/>
                  </a:lnTo>
                  <a:lnTo>
                    <a:pt x="1436" y="246"/>
                  </a:lnTo>
                  <a:lnTo>
                    <a:pt x="1443" y="238"/>
                  </a:lnTo>
                  <a:lnTo>
                    <a:pt x="1451" y="230"/>
                  </a:lnTo>
                  <a:lnTo>
                    <a:pt x="1458" y="223"/>
                  </a:lnTo>
                  <a:lnTo>
                    <a:pt x="1466" y="217"/>
                  </a:lnTo>
                  <a:lnTo>
                    <a:pt x="1476" y="210"/>
                  </a:lnTo>
                  <a:lnTo>
                    <a:pt x="1484" y="204"/>
                  </a:lnTo>
                  <a:lnTo>
                    <a:pt x="1493" y="199"/>
                  </a:lnTo>
                  <a:lnTo>
                    <a:pt x="1502" y="195"/>
                  </a:lnTo>
                  <a:lnTo>
                    <a:pt x="1513" y="191"/>
                  </a:lnTo>
                  <a:lnTo>
                    <a:pt x="1522" y="187"/>
                  </a:lnTo>
                  <a:lnTo>
                    <a:pt x="1532" y="185"/>
                  </a:lnTo>
                  <a:lnTo>
                    <a:pt x="1543" y="182"/>
                  </a:lnTo>
                  <a:lnTo>
                    <a:pt x="1554" y="179"/>
                  </a:lnTo>
                  <a:lnTo>
                    <a:pt x="1565" y="178"/>
                  </a:lnTo>
                  <a:lnTo>
                    <a:pt x="1576" y="177"/>
                  </a:lnTo>
                  <a:lnTo>
                    <a:pt x="1589" y="177"/>
                  </a:lnTo>
                  <a:lnTo>
                    <a:pt x="1601" y="177"/>
                  </a:lnTo>
                  <a:lnTo>
                    <a:pt x="1612" y="178"/>
                  </a:lnTo>
                  <a:lnTo>
                    <a:pt x="1624" y="181"/>
                  </a:lnTo>
                  <a:lnTo>
                    <a:pt x="1635" y="183"/>
                  </a:lnTo>
                  <a:lnTo>
                    <a:pt x="1645" y="185"/>
                  </a:lnTo>
                  <a:lnTo>
                    <a:pt x="1655" y="188"/>
                  </a:lnTo>
                  <a:lnTo>
                    <a:pt x="1665" y="192"/>
                  </a:lnTo>
                  <a:lnTo>
                    <a:pt x="1675" y="196"/>
                  </a:lnTo>
                  <a:lnTo>
                    <a:pt x="1683" y="201"/>
                  </a:lnTo>
                  <a:lnTo>
                    <a:pt x="1692" y="206"/>
                  </a:lnTo>
                  <a:lnTo>
                    <a:pt x="1701" y="212"/>
                  </a:lnTo>
                  <a:lnTo>
                    <a:pt x="1708" y="220"/>
                  </a:lnTo>
                  <a:lnTo>
                    <a:pt x="1716" y="227"/>
                  </a:lnTo>
                  <a:lnTo>
                    <a:pt x="1723" y="234"/>
                  </a:lnTo>
                  <a:lnTo>
                    <a:pt x="1729" y="242"/>
                  </a:lnTo>
                  <a:lnTo>
                    <a:pt x="1736" y="251"/>
                  </a:lnTo>
                  <a:lnTo>
                    <a:pt x="1745" y="266"/>
                  </a:lnTo>
                  <a:lnTo>
                    <a:pt x="1753" y="281"/>
                  </a:lnTo>
                  <a:lnTo>
                    <a:pt x="1759" y="298"/>
                  </a:lnTo>
                  <a:lnTo>
                    <a:pt x="1764" y="314"/>
                  </a:lnTo>
                  <a:lnTo>
                    <a:pt x="1768" y="332"/>
                  </a:lnTo>
                  <a:lnTo>
                    <a:pt x="1772" y="349"/>
                  </a:lnTo>
                  <a:lnTo>
                    <a:pt x="1774" y="369"/>
                  </a:lnTo>
                  <a:lnTo>
                    <a:pt x="1774" y="388"/>
                  </a:lnTo>
                  <a:lnTo>
                    <a:pt x="1774" y="400"/>
                  </a:lnTo>
                  <a:lnTo>
                    <a:pt x="1773" y="410"/>
                  </a:lnTo>
                  <a:lnTo>
                    <a:pt x="1772" y="419"/>
                  </a:lnTo>
                  <a:lnTo>
                    <a:pt x="1771" y="427"/>
                  </a:lnTo>
                  <a:close/>
                  <a:moveTo>
                    <a:pt x="1457" y="368"/>
                  </a:moveTo>
                  <a:lnTo>
                    <a:pt x="1696" y="368"/>
                  </a:lnTo>
                  <a:lnTo>
                    <a:pt x="1696" y="355"/>
                  </a:lnTo>
                  <a:lnTo>
                    <a:pt x="1694" y="344"/>
                  </a:lnTo>
                  <a:lnTo>
                    <a:pt x="1692" y="332"/>
                  </a:lnTo>
                  <a:lnTo>
                    <a:pt x="1690" y="321"/>
                  </a:lnTo>
                  <a:lnTo>
                    <a:pt x="1687" y="311"/>
                  </a:lnTo>
                  <a:lnTo>
                    <a:pt x="1683" y="301"/>
                  </a:lnTo>
                  <a:lnTo>
                    <a:pt x="1678" y="292"/>
                  </a:lnTo>
                  <a:lnTo>
                    <a:pt x="1673" y="282"/>
                  </a:lnTo>
                  <a:lnTo>
                    <a:pt x="1666" y="271"/>
                  </a:lnTo>
                  <a:lnTo>
                    <a:pt x="1656" y="262"/>
                  </a:lnTo>
                  <a:lnTo>
                    <a:pt x="1646" y="254"/>
                  </a:lnTo>
                  <a:lnTo>
                    <a:pt x="1636" y="247"/>
                  </a:lnTo>
                  <a:lnTo>
                    <a:pt x="1624" y="242"/>
                  </a:lnTo>
                  <a:lnTo>
                    <a:pt x="1611" y="239"/>
                  </a:lnTo>
                  <a:lnTo>
                    <a:pt x="1597" y="237"/>
                  </a:lnTo>
                  <a:lnTo>
                    <a:pt x="1583" y="236"/>
                  </a:lnTo>
                  <a:lnTo>
                    <a:pt x="1568" y="237"/>
                  </a:lnTo>
                  <a:lnTo>
                    <a:pt x="1555" y="239"/>
                  </a:lnTo>
                  <a:lnTo>
                    <a:pt x="1542" y="242"/>
                  </a:lnTo>
                  <a:lnTo>
                    <a:pt x="1531" y="247"/>
                  </a:lnTo>
                  <a:lnTo>
                    <a:pt x="1520" y="254"/>
                  </a:lnTo>
                  <a:lnTo>
                    <a:pt x="1510" y="261"/>
                  </a:lnTo>
                  <a:lnTo>
                    <a:pt x="1500" y="270"/>
                  </a:lnTo>
                  <a:lnTo>
                    <a:pt x="1491" y="280"/>
                  </a:lnTo>
                  <a:lnTo>
                    <a:pt x="1485" y="290"/>
                  </a:lnTo>
                  <a:lnTo>
                    <a:pt x="1479" y="300"/>
                  </a:lnTo>
                  <a:lnTo>
                    <a:pt x="1474" y="310"/>
                  </a:lnTo>
                  <a:lnTo>
                    <a:pt x="1468" y="320"/>
                  </a:lnTo>
                  <a:lnTo>
                    <a:pt x="1464" y="332"/>
                  </a:lnTo>
                  <a:lnTo>
                    <a:pt x="1461" y="343"/>
                  </a:lnTo>
                  <a:lnTo>
                    <a:pt x="1459" y="355"/>
                  </a:lnTo>
                  <a:lnTo>
                    <a:pt x="1457" y="368"/>
                  </a:lnTo>
                  <a:close/>
                  <a:moveTo>
                    <a:pt x="1875" y="637"/>
                  </a:moveTo>
                  <a:lnTo>
                    <a:pt x="1875" y="328"/>
                  </a:lnTo>
                  <a:lnTo>
                    <a:pt x="1875" y="291"/>
                  </a:lnTo>
                  <a:lnTo>
                    <a:pt x="1874" y="256"/>
                  </a:lnTo>
                  <a:lnTo>
                    <a:pt x="1873" y="221"/>
                  </a:lnTo>
                  <a:lnTo>
                    <a:pt x="1872" y="188"/>
                  </a:lnTo>
                  <a:lnTo>
                    <a:pt x="1944" y="188"/>
                  </a:lnTo>
                  <a:lnTo>
                    <a:pt x="1946" y="276"/>
                  </a:lnTo>
                  <a:lnTo>
                    <a:pt x="1950" y="276"/>
                  </a:lnTo>
                  <a:lnTo>
                    <a:pt x="1954" y="265"/>
                  </a:lnTo>
                  <a:lnTo>
                    <a:pt x="1959" y="255"/>
                  </a:lnTo>
                  <a:lnTo>
                    <a:pt x="1964" y="245"/>
                  </a:lnTo>
                  <a:lnTo>
                    <a:pt x="1970" y="236"/>
                  </a:lnTo>
                  <a:lnTo>
                    <a:pt x="1976" y="227"/>
                  </a:lnTo>
                  <a:lnTo>
                    <a:pt x="1983" y="219"/>
                  </a:lnTo>
                  <a:lnTo>
                    <a:pt x="1991" y="211"/>
                  </a:lnTo>
                  <a:lnTo>
                    <a:pt x="2000" y="204"/>
                  </a:lnTo>
                  <a:lnTo>
                    <a:pt x="2008" y="198"/>
                  </a:lnTo>
                  <a:lnTo>
                    <a:pt x="2017" y="193"/>
                  </a:lnTo>
                  <a:lnTo>
                    <a:pt x="2026" y="188"/>
                  </a:lnTo>
                  <a:lnTo>
                    <a:pt x="2036" y="185"/>
                  </a:lnTo>
                  <a:lnTo>
                    <a:pt x="2045" y="182"/>
                  </a:lnTo>
                  <a:lnTo>
                    <a:pt x="2054" y="179"/>
                  </a:lnTo>
                  <a:lnTo>
                    <a:pt x="2064" y="177"/>
                  </a:lnTo>
                  <a:lnTo>
                    <a:pt x="2075" y="177"/>
                  </a:lnTo>
                  <a:lnTo>
                    <a:pt x="2087" y="178"/>
                  </a:lnTo>
                  <a:lnTo>
                    <a:pt x="2097" y="181"/>
                  </a:lnTo>
                  <a:lnTo>
                    <a:pt x="2097" y="258"/>
                  </a:lnTo>
                  <a:lnTo>
                    <a:pt x="2084" y="256"/>
                  </a:lnTo>
                  <a:lnTo>
                    <a:pt x="2069" y="255"/>
                  </a:lnTo>
                  <a:lnTo>
                    <a:pt x="2055" y="256"/>
                  </a:lnTo>
                  <a:lnTo>
                    <a:pt x="2043" y="258"/>
                  </a:lnTo>
                  <a:lnTo>
                    <a:pt x="2032" y="261"/>
                  </a:lnTo>
                  <a:lnTo>
                    <a:pt x="2020" y="266"/>
                  </a:lnTo>
                  <a:lnTo>
                    <a:pt x="2010" y="272"/>
                  </a:lnTo>
                  <a:lnTo>
                    <a:pt x="2000" y="280"/>
                  </a:lnTo>
                  <a:lnTo>
                    <a:pt x="1990" y="290"/>
                  </a:lnTo>
                  <a:lnTo>
                    <a:pt x="1982" y="300"/>
                  </a:lnTo>
                  <a:lnTo>
                    <a:pt x="1976" y="310"/>
                  </a:lnTo>
                  <a:lnTo>
                    <a:pt x="1971" y="321"/>
                  </a:lnTo>
                  <a:lnTo>
                    <a:pt x="1966" y="333"/>
                  </a:lnTo>
                  <a:lnTo>
                    <a:pt x="1963" y="344"/>
                  </a:lnTo>
                  <a:lnTo>
                    <a:pt x="1960" y="356"/>
                  </a:lnTo>
                  <a:lnTo>
                    <a:pt x="1958" y="370"/>
                  </a:lnTo>
                  <a:lnTo>
                    <a:pt x="1957" y="383"/>
                  </a:lnTo>
                  <a:lnTo>
                    <a:pt x="1955" y="398"/>
                  </a:lnTo>
                  <a:lnTo>
                    <a:pt x="1955" y="637"/>
                  </a:lnTo>
                  <a:lnTo>
                    <a:pt x="1875" y="637"/>
                  </a:lnTo>
                  <a:close/>
                  <a:moveTo>
                    <a:pt x="2260" y="637"/>
                  </a:moveTo>
                  <a:lnTo>
                    <a:pt x="2178" y="637"/>
                  </a:lnTo>
                  <a:lnTo>
                    <a:pt x="2178" y="188"/>
                  </a:lnTo>
                  <a:lnTo>
                    <a:pt x="2260" y="188"/>
                  </a:lnTo>
                  <a:lnTo>
                    <a:pt x="2260" y="637"/>
                  </a:lnTo>
                  <a:close/>
                  <a:moveTo>
                    <a:pt x="2219" y="105"/>
                  </a:moveTo>
                  <a:lnTo>
                    <a:pt x="2217" y="105"/>
                  </a:lnTo>
                  <a:lnTo>
                    <a:pt x="2206" y="104"/>
                  </a:lnTo>
                  <a:lnTo>
                    <a:pt x="2197" y="101"/>
                  </a:lnTo>
                  <a:lnTo>
                    <a:pt x="2193" y="99"/>
                  </a:lnTo>
                  <a:lnTo>
                    <a:pt x="2189" y="96"/>
                  </a:lnTo>
                  <a:lnTo>
                    <a:pt x="2185" y="93"/>
                  </a:lnTo>
                  <a:lnTo>
                    <a:pt x="2181" y="90"/>
                  </a:lnTo>
                  <a:lnTo>
                    <a:pt x="2174" y="82"/>
                  </a:lnTo>
                  <a:lnTo>
                    <a:pt x="2170" y="72"/>
                  </a:lnTo>
                  <a:lnTo>
                    <a:pt x="2167" y="63"/>
                  </a:lnTo>
                  <a:lnTo>
                    <a:pt x="2166" y="52"/>
                  </a:lnTo>
                  <a:lnTo>
                    <a:pt x="2167" y="42"/>
                  </a:lnTo>
                  <a:lnTo>
                    <a:pt x="2170" y="32"/>
                  </a:lnTo>
                  <a:lnTo>
                    <a:pt x="2174" y="23"/>
                  </a:lnTo>
                  <a:lnTo>
                    <a:pt x="2182" y="16"/>
                  </a:lnTo>
                  <a:lnTo>
                    <a:pt x="2185" y="12"/>
                  </a:lnTo>
                  <a:lnTo>
                    <a:pt x="2189" y="9"/>
                  </a:lnTo>
                  <a:lnTo>
                    <a:pt x="2194" y="6"/>
                  </a:lnTo>
                  <a:lnTo>
                    <a:pt x="2198" y="4"/>
                  </a:lnTo>
                  <a:lnTo>
                    <a:pt x="2208" y="2"/>
                  </a:lnTo>
                  <a:lnTo>
                    <a:pt x="2220" y="0"/>
                  </a:lnTo>
                  <a:lnTo>
                    <a:pt x="2230" y="2"/>
                  </a:lnTo>
                  <a:lnTo>
                    <a:pt x="2240" y="4"/>
                  </a:lnTo>
                  <a:lnTo>
                    <a:pt x="2244" y="6"/>
                  </a:lnTo>
                  <a:lnTo>
                    <a:pt x="2249" y="9"/>
                  </a:lnTo>
                  <a:lnTo>
                    <a:pt x="2253" y="12"/>
                  </a:lnTo>
                  <a:lnTo>
                    <a:pt x="2257" y="15"/>
                  </a:lnTo>
                  <a:lnTo>
                    <a:pt x="2263" y="23"/>
                  </a:lnTo>
                  <a:lnTo>
                    <a:pt x="2268" y="31"/>
                  </a:lnTo>
                  <a:lnTo>
                    <a:pt x="2270" y="42"/>
                  </a:lnTo>
                  <a:lnTo>
                    <a:pt x="2271" y="52"/>
                  </a:lnTo>
                  <a:lnTo>
                    <a:pt x="2270" y="63"/>
                  </a:lnTo>
                  <a:lnTo>
                    <a:pt x="2268" y="72"/>
                  </a:lnTo>
                  <a:lnTo>
                    <a:pt x="2263" y="82"/>
                  </a:lnTo>
                  <a:lnTo>
                    <a:pt x="2257" y="90"/>
                  </a:lnTo>
                  <a:lnTo>
                    <a:pt x="2253" y="93"/>
                  </a:lnTo>
                  <a:lnTo>
                    <a:pt x="2249" y="96"/>
                  </a:lnTo>
                  <a:lnTo>
                    <a:pt x="2244" y="99"/>
                  </a:lnTo>
                  <a:lnTo>
                    <a:pt x="2240" y="101"/>
                  </a:lnTo>
                  <a:lnTo>
                    <a:pt x="2235" y="103"/>
                  </a:lnTo>
                  <a:lnTo>
                    <a:pt x="2230" y="104"/>
                  </a:lnTo>
                  <a:lnTo>
                    <a:pt x="2224" y="104"/>
                  </a:lnTo>
                  <a:lnTo>
                    <a:pt x="2219" y="105"/>
                  </a:lnTo>
                  <a:close/>
                  <a:moveTo>
                    <a:pt x="2755" y="427"/>
                  </a:moveTo>
                  <a:lnTo>
                    <a:pt x="2441" y="426"/>
                  </a:lnTo>
                  <a:lnTo>
                    <a:pt x="2443" y="445"/>
                  </a:lnTo>
                  <a:lnTo>
                    <a:pt x="2446" y="463"/>
                  </a:lnTo>
                  <a:lnTo>
                    <a:pt x="2449" y="480"/>
                  </a:lnTo>
                  <a:lnTo>
                    <a:pt x="2454" y="495"/>
                  </a:lnTo>
                  <a:lnTo>
                    <a:pt x="2461" y="510"/>
                  </a:lnTo>
                  <a:lnTo>
                    <a:pt x="2469" y="523"/>
                  </a:lnTo>
                  <a:lnTo>
                    <a:pt x="2478" y="535"/>
                  </a:lnTo>
                  <a:lnTo>
                    <a:pt x="2489" y="546"/>
                  </a:lnTo>
                  <a:lnTo>
                    <a:pt x="2499" y="554"/>
                  </a:lnTo>
                  <a:lnTo>
                    <a:pt x="2510" y="562"/>
                  </a:lnTo>
                  <a:lnTo>
                    <a:pt x="2523" y="568"/>
                  </a:lnTo>
                  <a:lnTo>
                    <a:pt x="2535" y="573"/>
                  </a:lnTo>
                  <a:lnTo>
                    <a:pt x="2548" y="577"/>
                  </a:lnTo>
                  <a:lnTo>
                    <a:pt x="2564" y="580"/>
                  </a:lnTo>
                  <a:lnTo>
                    <a:pt x="2579" y="582"/>
                  </a:lnTo>
                  <a:lnTo>
                    <a:pt x="2595" y="582"/>
                  </a:lnTo>
                  <a:lnTo>
                    <a:pt x="2612" y="582"/>
                  </a:lnTo>
                  <a:lnTo>
                    <a:pt x="2628" y="581"/>
                  </a:lnTo>
                  <a:lnTo>
                    <a:pt x="2644" y="579"/>
                  </a:lnTo>
                  <a:lnTo>
                    <a:pt x="2660" y="577"/>
                  </a:lnTo>
                  <a:lnTo>
                    <a:pt x="2676" y="573"/>
                  </a:lnTo>
                  <a:lnTo>
                    <a:pt x="2690" y="569"/>
                  </a:lnTo>
                  <a:lnTo>
                    <a:pt x="2705" y="564"/>
                  </a:lnTo>
                  <a:lnTo>
                    <a:pt x="2719" y="559"/>
                  </a:lnTo>
                  <a:lnTo>
                    <a:pt x="2732" y="618"/>
                  </a:lnTo>
                  <a:lnTo>
                    <a:pt x="2717" y="624"/>
                  </a:lnTo>
                  <a:lnTo>
                    <a:pt x="2700" y="630"/>
                  </a:lnTo>
                  <a:lnTo>
                    <a:pt x="2683" y="635"/>
                  </a:lnTo>
                  <a:lnTo>
                    <a:pt x="2664" y="639"/>
                  </a:lnTo>
                  <a:lnTo>
                    <a:pt x="2645" y="642"/>
                  </a:lnTo>
                  <a:lnTo>
                    <a:pt x="2625" y="644"/>
                  </a:lnTo>
                  <a:lnTo>
                    <a:pt x="2605" y="646"/>
                  </a:lnTo>
                  <a:lnTo>
                    <a:pt x="2583" y="647"/>
                  </a:lnTo>
                  <a:lnTo>
                    <a:pt x="2559" y="646"/>
                  </a:lnTo>
                  <a:lnTo>
                    <a:pt x="2535" y="642"/>
                  </a:lnTo>
                  <a:lnTo>
                    <a:pt x="2524" y="640"/>
                  </a:lnTo>
                  <a:lnTo>
                    <a:pt x="2512" y="637"/>
                  </a:lnTo>
                  <a:lnTo>
                    <a:pt x="2502" y="634"/>
                  </a:lnTo>
                  <a:lnTo>
                    <a:pt x="2492" y="631"/>
                  </a:lnTo>
                  <a:lnTo>
                    <a:pt x="2483" y="627"/>
                  </a:lnTo>
                  <a:lnTo>
                    <a:pt x="2472" y="622"/>
                  </a:lnTo>
                  <a:lnTo>
                    <a:pt x="2463" y="617"/>
                  </a:lnTo>
                  <a:lnTo>
                    <a:pt x="2455" y="612"/>
                  </a:lnTo>
                  <a:lnTo>
                    <a:pt x="2446" y="605"/>
                  </a:lnTo>
                  <a:lnTo>
                    <a:pt x="2437" y="598"/>
                  </a:lnTo>
                  <a:lnTo>
                    <a:pt x="2429" y="592"/>
                  </a:lnTo>
                  <a:lnTo>
                    <a:pt x="2422" y="584"/>
                  </a:lnTo>
                  <a:lnTo>
                    <a:pt x="2415" y="576"/>
                  </a:lnTo>
                  <a:lnTo>
                    <a:pt x="2409" y="567"/>
                  </a:lnTo>
                  <a:lnTo>
                    <a:pt x="2401" y="559"/>
                  </a:lnTo>
                  <a:lnTo>
                    <a:pt x="2396" y="551"/>
                  </a:lnTo>
                  <a:lnTo>
                    <a:pt x="2391" y="542"/>
                  </a:lnTo>
                  <a:lnTo>
                    <a:pt x="2386" y="531"/>
                  </a:lnTo>
                  <a:lnTo>
                    <a:pt x="2382" y="522"/>
                  </a:lnTo>
                  <a:lnTo>
                    <a:pt x="2378" y="512"/>
                  </a:lnTo>
                  <a:lnTo>
                    <a:pt x="2374" y="501"/>
                  </a:lnTo>
                  <a:lnTo>
                    <a:pt x="2371" y="490"/>
                  </a:lnTo>
                  <a:lnTo>
                    <a:pt x="2369" y="480"/>
                  </a:lnTo>
                  <a:lnTo>
                    <a:pt x="2366" y="469"/>
                  </a:lnTo>
                  <a:lnTo>
                    <a:pt x="2363" y="445"/>
                  </a:lnTo>
                  <a:lnTo>
                    <a:pt x="2362" y="419"/>
                  </a:lnTo>
                  <a:lnTo>
                    <a:pt x="2363" y="394"/>
                  </a:lnTo>
                  <a:lnTo>
                    <a:pt x="2366" y="370"/>
                  </a:lnTo>
                  <a:lnTo>
                    <a:pt x="2371" y="346"/>
                  </a:lnTo>
                  <a:lnTo>
                    <a:pt x="2377" y="324"/>
                  </a:lnTo>
                  <a:lnTo>
                    <a:pt x="2381" y="313"/>
                  </a:lnTo>
                  <a:lnTo>
                    <a:pt x="2385" y="303"/>
                  </a:lnTo>
                  <a:lnTo>
                    <a:pt x="2390" y="293"/>
                  </a:lnTo>
                  <a:lnTo>
                    <a:pt x="2395" y="282"/>
                  </a:lnTo>
                  <a:lnTo>
                    <a:pt x="2400" y="273"/>
                  </a:lnTo>
                  <a:lnTo>
                    <a:pt x="2407" y="264"/>
                  </a:lnTo>
                  <a:lnTo>
                    <a:pt x="2414" y="255"/>
                  </a:lnTo>
                  <a:lnTo>
                    <a:pt x="2420" y="246"/>
                  </a:lnTo>
                  <a:lnTo>
                    <a:pt x="2427" y="238"/>
                  </a:lnTo>
                  <a:lnTo>
                    <a:pt x="2435" y="230"/>
                  </a:lnTo>
                  <a:lnTo>
                    <a:pt x="2444" y="223"/>
                  </a:lnTo>
                  <a:lnTo>
                    <a:pt x="2452" y="217"/>
                  </a:lnTo>
                  <a:lnTo>
                    <a:pt x="2460" y="210"/>
                  </a:lnTo>
                  <a:lnTo>
                    <a:pt x="2468" y="204"/>
                  </a:lnTo>
                  <a:lnTo>
                    <a:pt x="2477" y="199"/>
                  </a:lnTo>
                  <a:lnTo>
                    <a:pt x="2487" y="195"/>
                  </a:lnTo>
                  <a:lnTo>
                    <a:pt x="2497" y="191"/>
                  </a:lnTo>
                  <a:lnTo>
                    <a:pt x="2507" y="187"/>
                  </a:lnTo>
                  <a:lnTo>
                    <a:pt x="2518" y="185"/>
                  </a:lnTo>
                  <a:lnTo>
                    <a:pt x="2528" y="182"/>
                  </a:lnTo>
                  <a:lnTo>
                    <a:pt x="2539" y="179"/>
                  </a:lnTo>
                  <a:lnTo>
                    <a:pt x="2549" y="178"/>
                  </a:lnTo>
                  <a:lnTo>
                    <a:pt x="2562" y="177"/>
                  </a:lnTo>
                  <a:lnTo>
                    <a:pt x="2573" y="177"/>
                  </a:lnTo>
                  <a:lnTo>
                    <a:pt x="2585" y="177"/>
                  </a:lnTo>
                  <a:lnTo>
                    <a:pt x="2597" y="178"/>
                  </a:lnTo>
                  <a:lnTo>
                    <a:pt x="2608" y="181"/>
                  </a:lnTo>
                  <a:lnTo>
                    <a:pt x="2619" y="183"/>
                  </a:lnTo>
                  <a:lnTo>
                    <a:pt x="2630" y="185"/>
                  </a:lnTo>
                  <a:lnTo>
                    <a:pt x="2640" y="188"/>
                  </a:lnTo>
                  <a:lnTo>
                    <a:pt x="2650" y="192"/>
                  </a:lnTo>
                  <a:lnTo>
                    <a:pt x="2659" y="196"/>
                  </a:lnTo>
                  <a:lnTo>
                    <a:pt x="2669" y="201"/>
                  </a:lnTo>
                  <a:lnTo>
                    <a:pt x="2677" y="206"/>
                  </a:lnTo>
                  <a:lnTo>
                    <a:pt x="2685" y="212"/>
                  </a:lnTo>
                  <a:lnTo>
                    <a:pt x="2693" y="220"/>
                  </a:lnTo>
                  <a:lnTo>
                    <a:pt x="2700" y="227"/>
                  </a:lnTo>
                  <a:lnTo>
                    <a:pt x="2708" y="234"/>
                  </a:lnTo>
                  <a:lnTo>
                    <a:pt x="2714" y="242"/>
                  </a:lnTo>
                  <a:lnTo>
                    <a:pt x="2721" y="251"/>
                  </a:lnTo>
                  <a:lnTo>
                    <a:pt x="2729" y="266"/>
                  </a:lnTo>
                  <a:lnTo>
                    <a:pt x="2737" y="281"/>
                  </a:lnTo>
                  <a:lnTo>
                    <a:pt x="2744" y="298"/>
                  </a:lnTo>
                  <a:lnTo>
                    <a:pt x="2749" y="314"/>
                  </a:lnTo>
                  <a:lnTo>
                    <a:pt x="2753" y="332"/>
                  </a:lnTo>
                  <a:lnTo>
                    <a:pt x="2756" y="349"/>
                  </a:lnTo>
                  <a:lnTo>
                    <a:pt x="2758" y="369"/>
                  </a:lnTo>
                  <a:lnTo>
                    <a:pt x="2759" y="388"/>
                  </a:lnTo>
                  <a:lnTo>
                    <a:pt x="2758" y="400"/>
                  </a:lnTo>
                  <a:lnTo>
                    <a:pt x="2758" y="410"/>
                  </a:lnTo>
                  <a:lnTo>
                    <a:pt x="2757" y="419"/>
                  </a:lnTo>
                  <a:lnTo>
                    <a:pt x="2755" y="427"/>
                  </a:lnTo>
                  <a:close/>
                  <a:moveTo>
                    <a:pt x="2441" y="368"/>
                  </a:moveTo>
                  <a:lnTo>
                    <a:pt x="2680" y="368"/>
                  </a:lnTo>
                  <a:lnTo>
                    <a:pt x="2680" y="355"/>
                  </a:lnTo>
                  <a:lnTo>
                    <a:pt x="2679" y="344"/>
                  </a:lnTo>
                  <a:lnTo>
                    <a:pt x="2677" y="332"/>
                  </a:lnTo>
                  <a:lnTo>
                    <a:pt x="2675" y="321"/>
                  </a:lnTo>
                  <a:lnTo>
                    <a:pt x="2672" y="311"/>
                  </a:lnTo>
                  <a:lnTo>
                    <a:pt x="2668" y="301"/>
                  </a:lnTo>
                  <a:lnTo>
                    <a:pt x="2663" y="292"/>
                  </a:lnTo>
                  <a:lnTo>
                    <a:pt x="2657" y="282"/>
                  </a:lnTo>
                  <a:lnTo>
                    <a:pt x="2650" y="271"/>
                  </a:lnTo>
                  <a:lnTo>
                    <a:pt x="2641" y="262"/>
                  </a:lnTo>
                  <a:lnTo>
                    <a:pt x="2632" y="254"/>
                  </a:lnTo>
                  <a:lnTo>
                    <a:pt x="2620" y="247"/>
                  </a:lnTo>
                  <a:lnTo>
                    <a:pt x="2609" y="242"/>
                  </a:lnTo>
                  <a:lnTo>
                    <a:pt x="2596" y="239"/>
                  </a:lnTo>
                  <a:lnTo>
                    <a:pt x="2581" y="237"/>
                  </a:lnTo>
                  <a:lnTo>
                    <a:pt x="2567" y="236"/>
                  </a:lnTo>
                  <a:lnTo>
                    <a:pt x="2552" y="237"/>
                  </a:lnTo>
                  <a:lnTo>
                    <a:pt x="2540" y="239"/>
                  </a:lnTo>
                  <a:lnTo>
                    <a:pt x="2528" y="242"/>
                  </a:lnTo>
                  <a:lnTo>
                    <a:pt x="2515" y="247"/>
                  </a:lnTo>
                  <a:lnTo>
                    <a:pt x="2504" y="254"/>
                  </a:lnTo>
                  <a:lnTo>
                    <a:pt x="2494" y="261"/>
                  </a:lnTo>
                  <a:lnTo>
                    <a:pt x="2485" y="270"/>
                  </a:lnTo>
                  <a:lnTo>
                    <a:pt x="2475" y="280"/>
                  </a:lnTo>
                  <a:lnTo>
                    <a:pt x="2469" y="290"/>
                  </a:lnTo>
                  <a:lnTo>
                    <a:pt x="2463" y="300"/>
                  </a:lnTo>
                  <a:lnTo>
                    <a:pt x="2458" y="310"/>
                  </a:lnTo>
                  <a:lnTo>
                    <a:pt x="2454" y="320"/>
                  </a:lnTo>
                  <a:lnTo>
                    <a:pt x="2450" y="332"/>
                  </a:lnTo>
                  <a:lnTo>
                    <a:pt x="2446" y="343"/>
                  </a:lnTo>
                  <a:lnTo>
                    <a:pt x="2444" y="355"/>
                  </a:lnTo>
                  <a:lnTo>
                    <a:pt x="2441" y="368"/>
                  </a:lnTo>
                  <a:close/>
                  <a:moveTo>
                    <a:pt x="2860" y="637"/>
                  </a:moveTo>
                  <a:lnTo>
                    <a:pt x="2860" y="309"/>
                  </a:lnTo>
                  <a:lnTo>
                    <a:pt x="2860" y="280"/>
                  </a:lnTo>
                  <a:lnTo>
                    <a:pt x="2859" y="250"/>
                  </a:lnTo>
                  <a:lnTo>
                    <a:pt x="2858" y="220"/>
                  </a:lnTo>
                  <a:lnTo>
                    <a:pt x="2856" y="188"/>
                  </a:lnTo>
                  <a:lnTo>
                    <a:pt x="2929" y="188"/>
                  </a:lnTo>
                  <a:lnTo>
                    <a:pt x="2933" y="262"/>
                  </a:lnTo>
                  <a:lnTo>
                    <a:pt x="2935" y="262"/>
                  </a:lnTo>
                  <a:lnTo>
                    <a:pt x="2940" y="254"/>
                  </a:lnTo>
                  <a:lnTo>
                    <a:pt x="2945" y="245"/>
                  </a:lnTo>
                  <a:lnTo>
                    <a:pt x="2951" y="237"/>
                  </a:lnTo>
                  <a:lnTo>
                    <a:pt x="2958" y="230"/>
                  </a:lnTo>
                  <a:lnTo>
                    <a:pt x="2964" y="223"/>
                  </a:lnTo>
                  <a:lnTo>
                    <a:pt x="2973" y="217"/>
                  </a:lnTo>
                  <a:lnTo>
                    <a:pt x="2981" y="210"/>
                  </a:lnTo>
                  <a:lnTo>
                    <a:pt x="2989" y="204"/>
                  </a:lnTo>
                  <a:lnTo>
                    <a:pt x="3000" y="198"/>
                  </a:lnTo>
                  <a:lnTo>
                    <a:pt x="3011" y="193"/>
                  </a:lnTo>
                  <a:lnTo>
                    <a:pt x="3022" y="188"/>
                  </a:lnTo>
                  <a:lnTo>
                    <a:pt x="3033" y="185"/>
                  </a:lnTo>
                  <a:lnTo>
                    <a:pt x="3046" y="182"/>
                  </a:lnTo>
                  <a:lnTo>
                    <a:pt x="3058" y="179"/>
                  </a:lnTo>
                  <a:lnTo>
                    <a:pt x="3070" y="177"/>
                  </a:lnTo>
                  <a:lnTo>
                    <a:pt x="3084" y="177"/>
                  </a:lnTo>
                  <a:lnTo>
                    <a:pt x="3098" y="178"/>
                  </a:lnTo>
                  <a:lnTo>
                    <a:pt x="3112" y="179"/>
                  </a:lnTo>
                  <a:lnTo>
                    <a:pt x="3126" y="183"/>
                  </a:lnTo>
                  <a:lnTo>
                    <a:pt x="3139" y="187"/>
                  </a:lnTo>
                  <a:lnTo>
                    <a:pt x="3151" y="192"/>
                  </a:lnTo>
                  <a:lnTo>
                    <a:pt x="3163" y="199"/>
                  </a:lnTo>
                  <a:lnTo>
                    <a:pt x="3174" y="206"/>
                  </a:lnTo>
                  <a:lnTo>
                    <a:pt x="3185" y="215"/>
                  </a:lnTo>
                  <a:lnTo>
                    <a:pt x="3192" y="222"/>
                  </a:lnTo>
                  <a:lnTo>
                    <a:pt x="3199" y="229"/>
                  </a:lnTo>
                  <a:lnTo>
                    <a:pt x="3205" y="236"/>
                  </a:lnTo>
                  <a:lnTo>
                    <a:pt x="3210" y="244"/>
                  </a:lnTo>
                  <a:lnTo>
                    <a:pt x="3215" y="251"/>
                  </a:lnTo>
                  <a:lnTo>
                    <a:pt x="3219" y="261"/>
                  </a:lnTo>
                  <a:lnTo>
                    <a:pt x="3223" y="269"/>
                  </a:lnTo>
                  <a:lnTo>
                    <a:pt x="3228" y="279"/>
                  </a:lnTo>
                  <a:lnTo>
                    <a:pt x="3231" y="289"/>
                  </a:lnTo>
                  <a:lnTo>
                    <a:pt x="3234" y="299"/>
                  </a:lnTo>
                  <a:lnTo>
                    <a:pt x="3236" y="309"/>
                  </a:lnTo>
                  <a:lnTo>
                    <a:pt x="3238" y="320"/>
                  </a:lnTo>
                  <a:lnTo>
                    <a:pt x="3241" y="344"/>
                  </a:lnTo>
                  <a:lnTo>
                    <a:pt x="3242" y="369"/>
                  </a:lnTo>
                  <a:lnTo>
                    <a:pt x="3242" y="637"/>
                  </a:lnTo>
                  <a:lnTo>
                    <a:pt x="3160" y="637"/>
                  </a:lnTo>
                  <a:lnTo>
                    <a:pt x="3160" y="378"/>
                  </a:lnTo>
                  <a:lnTo>
                    <a:pt x="3160" y="362"/>
                  </a:lnTo>
                  <a:lnTo>
                    <a:pt x="3159" y="346"/>
                  </a:lnTo>
                  <a:lnTo>
                    <a:pt x="3157" y="333"/>
                  </a:lnTo>
                  <a:lnTo>
                    <a:pt x="3154" y="319"/>
                  </a:lnTo>
                  <a:lnTo>
                    <a:pt x="3150" y="307"/>
                  </a:lnTo>
                  <a:lnTo>
                    <a:pt x="3145" y="297"/>
                  </a:lnTo>
                  <a:lnTo>
                    <a:pt x="3140" y="286"/>
                  </a:lnTo>
                  <a:lnTo>
                    <a:pt x="3134" y="277"/>
                  </a:lnTo>
                  <a:lnTo>
                    <a:pt x="3127" y="270"/>
                  </a:lnTo>
                  <a:lnTo>
                    <a:pt x="3120" y="263"/>
                  </a:lnTo>
                  <a:lnTo>
                    <a:pt x="3111" y="258"/>
                  </a:lnTo>
                  <a:lnTo>
                    <a:pt x="3102" y="253"/>
                  </a:lnTo>
                  <a:lnTo>
                    <a:pt x="3092" y="249"/>
                  </a:lnTo>
                  <a:lnTo>
                    <a:pt x="3081" y="246"/>
                  </a:lnTo>
                  <a:lnTo>
                    <a:pt x="3069" y="244"/>
                  </a:lnTo>
                  <a:lnTo>
                    <a:pt x="3056" y="244"/>
                  </a:lnTo>
                  <a:lnTo>
                    <a:pt x="3047" y="244"/>
                  </a:lnTo>
                  <a:lnTo>
                    <a:pt x="3037" y="245"/>
                  </a:lnTo>
                  <a:lnTo>
                    <a:pt x="3028" y="247"/>
                  </a:lnTo>
                  <a:lnTo>
                    <a:pt x="3020" y="250"/>
                  </a:lnTo>
                  <a:lnTo>
                    <a:pt x="3012" y="254"/>
                  </a:lnTo>
                  <a:lnTo>
                    <a:pt x="3004" y="258"/>
                  </a:lnTo>
                  <a:lnTo>
                    <a:pt x="2995" y="263"/>
                  </a:lnTo>
                  <a:lnTo>
                    <a:pt x="2988" y="268"/>
                  </a:lnTo>
                  <a:lnTo>
                    <a:pt x="2981" y="274"/>
                  </a:lnTo>
                  <a:lnTo>
                    <a:pt x="2974" y="281"/>
                  </a:lnTo>
                  <a:lnTo>
                    <a:pt x="2968" y="289"/>
                  </a:lnTo>
                  <a:lnTo>
                    <a:pt x="2962" y="296"/>
                  </a:lnTo>
                  <a:lnTo>
                    <a:pt x="2958" y="303"/>
                  </a:lnTo>
                  <a:lnTo>
                    <a:pt x="2953" y="311"/>
                  </a:lnTo>
                  <a:lnTo>
                    <a:pt x="2950" y="319"/>
                  </a:lnTo>
                  <a:lnTo>
                    <a:pt x="2947" y="329"/>
                  </a:lnTo>
                  <a:lnTo>
                    <a:pt x="2945" y="337"/>
                  </a:lnTo>
                  <a:lnTo>
                    <a:pt x="2943" y="346"/>
                  </a:lnTo>
                  <a:lnTo>
                    <a:pt x="2942" y="356"/>
                  </a:lnTo>
                  <a:lnTo>
                    <a:pt x="2942" y="367"/>
                  </a:lnTo>
                  <a:lnTo>
                    <a:pt x="2942" y="637"/>
                  </a:lnTo>
                  <a:lnTo>
                    <a:pt x="2860" y="637"/>
                  </a:lnTo>
                  <a:close/>
                  <a:moveTo>
                    <a:pt x="3680" y="559"/>
                  </a:moveTo>
                  <a:lnTo>
                    <a:pt x="3694" y="620"/>
                  </a:lnTo>
                  <a:lnTo>
                    <a:pt x="3681" y="627"/>
                  </a:lnTo>
                  <a:lnTo>
                    <a:pt x="3666" y="632"/>
                  </a:lnTo>
                  <a:lnTo>
                    <a:pt x="3651" y="636"/>
                  </a:lnTo>
                  <a:lnTo>
                    <a:pt x="3635" y="640"/>
                  </a:lnTo>
                  <a:lnTo>
                    <a:pt x="3619" y="643"/>
                  </a:lnTo>
                  <a:lnTo>
                    <a:pt x="3602" y="646"/>
                  </a:lnTo>
                  <a:lnTo>
                    <a:pt x="3584" y="647"/>
                  </a:lnTo>
                  <a:lnTo>
                    <a:pt x="3566" y="648"/>
                  </a:lnTo>
                  <a:lnTo>
                    <a:pt x="3541" y="647"/>
                  </a:lnTo>
                  <a:lnTo>
                    <a:pt x="3517" y="643"/>
                  </a:lnTo>
                  <a:lnTo>
                    <a:pt x="3506" y="641"/>
                  </a:lnTo>
                  <a:lnTo>
                    <a:pt x="3495" y="638"/>
                  </a:lnTo>
                  <a:lnTo>
                    <a:pt x="3484" y="635"/>
                  </a:lnTo>
                  <a:lnTo>
                    <a:pt x="3474" y="631"/>
                  </a:lnTo>
                  <a:lnTo>
                    <a:pt x="3464" y="627"/>
                  </a:lnTo>
                  <a:lnTo>
                    <a:pt x="3455" y="623"/>
                  </a:lnTo>
                  <a:lnTo>
                    <a:pt x="3445" y="618"/>
                  </a:lnTo>
                  <a:lnTo>
                    <a:pt x="3436" y="612"/>
                  </a:lnTo>
                  <a:lnTo>
                    <a:pt x="3427" y="605"/>
                  </a:lnTo>
                  <a:lnTo>
                    <a:pt x="3419" y="599"/>
                  </a:lnTo>
                  <a:lnTo>
                    <a:pt x="3410" y="592"/>
                  </a:lnTo>
                  <a:lnTo>
                    <a:pt x="3403" y="584"/>
                  </a:lnTo>
                  <a:lnTo>
                    <a:pt x="3395" y="576"/>
                  </a:lnTo>
                  <a:lnTo>
                    <a:pt x="3389" y="567"/>
                  </a:lnTo>
                  <a:lnTo>
                    <a:pt x="3382" y="559"/>
                  </a:lnTo>
                  <a:lnTo>
                    <a:pt x="3377" y="550"/>
                  </a:lnTo>
                  <a:lnTo>
                    <a:pt x="3370" y="541"/>
                  </a:lnTo>
                  <a:lnTo>
                    <a:pt x="3365" y="531"/>
                  </a:lnTo>
                  <a:lnTo>
                    <a:pt x="3361" y="521"/>
                  </a:lnTo>
                  <a:lnTo>
                    <a:pt x="3357" y="511"/>
                  </a:lnTo>
                  <a:lnTo>
                    <a:pt x="3354" y="500"/>
                  </a:lnTo>
                  <a:lnTo>
                    <a:pt x="3351" y="489"/>
                  </a:lnTo>
                  <a:lnTo>
                    <a:pt x="3348" y="478"/>
                  </a:lnTo>
                  <a:lnTo>
                    <a:pt x="3346" y="467"/>
                  </a:lnTo>
                  <a:lnTo>
                    <a:pt x="3343" y="442"/>
                  </a:lnTo>
                  <a:lnTo>
                    <a:pt x="3342" y="417"/>
                  </a:lnTo>
                  <a:lnTo>
                    <a:pt x="3342" y="404"/>
                  </a:lnTo>
                  <a:lnTo>
                    <a:pt x="3343" y="391"/>
                  </a:lnTo>
                  <a:lnTo>
                    <a:pt x="3344" y="379"/>
                  </a:lnTo>
                  <a:lnTo>
                    <a:pt x="3346" y="367"/>
                  </a:lnTo>
                  <a:lnTo>
                    <a:pt x="3348" y="355"/>
                  </a:lnTo>
                  <a:lnTo>
                    <a:pt x="3351" y="344"/>
                  </a:lnTo>
                  <a:lnTo>
                    <a:pt x="3354" y="333"/>
                  </a:lnTo>
                  <a:lnTo>
                    <a:pt x="3358" y="321"/>
                  </a:lnTo>
                  <a:lnTo>
                    <a:pt x="3363" y="311"/>
                  </a:lnTo>
                  <a:lnTo>
                    <a:pt x="3367" y="301"/>
                  </a:lnTo>
                  <a:lnTo>
                    <a:pt x="3373" y="291"/>
                  </a:lnTo>
                  <a:lnTo>
                    <a:pt x="3379" y="281"/>
                  </a:lnTo>
                  <a:lnTo>
                    <a:pt x="3386" y="272"/>
                  </a:lnTo>
                  <a:lnTo>
                    <a:pt x="3393" y="263"/>
                  </a:lnTo>
                  <a:lnTo>
                    <a:pt x="3400" y="254"/>
                  </a:lnTo>
                  <a:lnTo>
                    <a:pt x="3408" y="245"/>
                  </a:lnTo>
                  <a:lnTo>
                    <a:pt x="3417" y="237"/>
                  </a:lnTo>
                  <a:lnTo>
                    <a:pt x="3425" y="230"/>
                  </a:lnTo>
                  <a:lnTo>
                    <a:pt x="3434" y="223"/>
                  </a:lnTo>
                  <a:lnTo>
                    <a:pt x="3443" y="215"/>
                  </a:lnTo>
                  <a:lnTo>
                    <a:pt x="3454" y="210"/>
                  </a:lnTo>
                  <a:lnTo>
                    <a:pt x="3464" y="204"/>
                  </a:lnTo>
                  <a:lnTo>
                    <a:pt x="3474" y="199"/>
                  </a:lnTo>
                  <a:lnTo>
                    <a:pt x="3484" y="195"/>
                  </a:lnTo>
                  <a:lnTo>
                    <a:pt x="3496" y="191"/>
                  </a:lnTo>
                  <a:lnTo>
                    <a:pt x="3507" y="188"/>
                  </a:lnTo>
                  <a:lnTo>
                    <a:pt x="3519" y="185"/>
                  </a:lnTo>
                  <a:lnTo>
                    <a:pt x="3532" y="183"/>
                  </a:lnTo>
                  <a:lnTo>
                    <a:pt x="3544" y="181"/>
                  </a:lnTo>
                  <a:lnTo>
                    <a:pt x="3556" y="179"/>
                  </a:lnTo>
                  <a:lnTo>
                    <a:pt x="3570" y="178"/>
                  </a:lnTo>
                  <a:lnTo>
                    <a:pt x="3583" y="178"/>
                  </a:lnTo>
                  <a:lnTo>
                    <a:pt x="3599" y="178"/>
                  </a:lnTo>
                  <a:lnTo>
                    <a:pt x="3616" y="179"/>
                  </a:lnTo>
                  <a:lnTo>
                    <a:pt x="3631" y="182"/>
                  </a:lnTo>
                  <a:lnTo>
                    <a:pt x="3646" y="185"/>
                  </a:lnTo>
                  <a:lnTo>
                    <a:pt x="3659" y="188"/>
                  </a:lnTo>
                  <a:lnTo>
                    <a:pt x="3672" y="192"/>
                  </a:lnTo>
                  <a:lnTo>
                    <a:pt x="3685" y="196"/>
                  </a:lnTo>
                  <a:lnTo>
                    <a:pt x="3696" y="201"/>
                  </a:lnTo>
                  <a:lnTo>
                    <a:pt x="3678" y="265"/>
                  </a:lnTo>
                  <a:lnTo>
                    <a:pt x="3667" y="260"/>
                  </a:lnTo>
                  <a:lnTo>
                    <a:pt x="3656" y="256"/>
                  </a:lnTo>
                  <a:lnTo>
                    <a:pt x="3646" y="251"/>
                  </a:lnTo>
                  <a:lnTo>
                    <a:pt x="3633" y="248"/>
                  </a:lnTo>
                  <a:lnTo>
                    <a:pt x="3622" y="246"/>
                  </a:lnTo>
                  <a:lnTo>
                    <a:pt x="3609" y="244"/>
                  </a:lnTo>
                  <a:lnTo>
                    <a:pt x="3596" y="243"/>
                  </a:lnTo>
                  <a:lnTo>
                    <a:pt x="3583" y="243"/>
                  </a:lnTo>
                  <a:lnTo>
                    <a:pt x="3565" y="244"/>
                  </a:lnTo>
                  <a:lnTo>
                    <a:pt x="3548" y="246"/>
                  </a:lnTo>
                  <a:lnTo>
                    <a:pt x="3532" y="250"/>
                  </a:lnTo>
                  <a:lnTo>
                    <a:pt x="3516" y="256"/>
                  </a:lnTo>
                  <a:lnTo>
                    <a:pt x="3502" y="263"/>
                  </a:lnTo>
                  <a:lnTo>
                    <a:pt x="3489" y="271"/>
                  </a:lnTo>
                  <a:lnTo>
                    <a:pt x="3476" y="281"/>
                  </a:lnTo>
                  <a:lnTo>
                    <a:pt x="3465" y="294"/>
                  </a:lnTo>
                  <a:lnTo>
                    <a:pt x="3456" y="305"/>
                  </a:lnTo>
                  <a:lnTo>
                    <a:pt x="3447" y="318"/>
                  </a:lnTo>
                  <a:lnTo>
                    <a:pt x="3440" y="332"/>
                  </a:lnTo>
                  <a:lnTo>
                    <a:pt x="3434" y="346"/>
                  </a:lnTo>
                  <a:lnTo>
                    <a:pt x="3430" y="362"/>
                  </a:lnTo>
                  <a:lnTo>
                    <a:pt x="3427" y="378"/>
                  </a:lnTo>
                  <a:lnTo>
                    <a:pt x="3425" y="396"/>
                  </a:lnTo>
                  <a:lnTo>
                    <a:pt x="3424" y="413"/>
                  </a:lnTo>
                  <a:lnTo>
                    <a:pt x="3425" y="432"/>
                  </a:lnTo>
                  <a:lnTo>
                    <a:pt x="3427" y="449"/>
                  </a:lnTo>
                  <a:lnTo>
                    <a:pt x="3430" y="467"/>
                  </a:lnTo>
                  <a:lnTo>
                    <a:pt x="3435" y="482"/>
                  </a:lnTo>
                  <a:lnTo>
                    <a:pt x="3441" y="496"/>
                  </a:lnTo>
                  <a:lnTo>
                    <a:pt x="3449" y="511"/>
                  </a:lnTo>
                  <a:lnTo>
                    <a:pt x="3458" y="523"/>
                  </a:lnTo>
                  <a:lnTo>
                    <a:pt x="3468" y="535"/>
                  </a:lnTo>
                  <a:lnTo>
                    <a:pt x="3479" y="546"/>
                  </a:lnTo>
                  <a:lnTo>
                    <a:pt x="3492" y="555"/>
                  </a:lnTo>
                  <a:lnTo>
                    <a:pt x="3505" y="563"/>
                  </a:lnTo>
                  <a:lnTo>
                    <a:pt x="3518" y="569"/>
                  </a:lnTo>
                  <a:lnTo>
                    <a:pt x="3533" y="575"/>
                  </a:lnTo>
                  <a:lnTo>
                    <a:pt x="3548" y="579"/>
                  </a:lnTo>
                  <a:lnTo>
                    <a:pt x="3564" y="581"/>
                  </a:lnTo>
                  <a:lnTo>
                    <a:pt x="3580" y="581"/>
                  </a:lnTo>
                  <a:lnTo>
                    <a:pt x="3592" y="581"/>
                  </a:lnTo>
                  <a:lnTo>
                    <a:pt x="3605" y="580"/>
                  </a:lnTo>
                  <a:lnTo>
                    <a:pt x="3618" y="578"/>
                  </a:lnTo>
                  <a:lnTo>
                    <a:pt x="3630" y="576"/>
                  </a:lnTo>
                  <a:lnTo>
                    <a:pt x="3643" y="572"/>
                  </a:lnTo>
                  <a:lnTo>
                    <a:pt x="3655" y="568"/>
                  </a:lnTo>
                  <a:lnTo>
                    <a:pt x="3667" y="564"/>
                  </a:lnTo>
                  <a:lnTo>
                    <a:pt x="3680" y="559"/>
                  </a:lnTo>
                  <a:close/>
                  <a:moveTo>
                    <a:pt x="4149" y="427"/>
                  </a:moveTo>
                  <a:lnTo>
                    <a:pt x="3836" y="426"/>
                  </a:lnTo>
                  <a:lnTo>
                    <a:pt x="3837" y="445"/>
                  </a:lnTo>
                  <a:lnTo>
                    <a:pt x="3840" y="463"/>
                  </a:lnTo>
                  <a:lnTo>
                    <a:pt x="3843" y="480"/>
                  </a:lnTo>
                  <a:lnTo>
                    <a:pt x="3848" y="495"/>
                  </a:lnTo>
                  <a:lnTo>
                    <a:pt x="3855" y="510"/>
                  </a:lnTo>
                  <a:lnTo>
                    <a:pt x="3864" y="523"/>
                  </a:lnTo>
                  <a:lnTo>
                    <a:pt x="3873" y="535"/>
                  </a:lnTo>
                  <a:lnTo>
                    <a:pt x="3883" y="546"/>
                  </a:lnTo>
                  <a:lnTo>
                    <a:pt x="3893" y="554"/>
                  </a:lnTo>
                  <a:lnTo>
                    <a:pt x="3905" y="562"/>
                  </a:lnTo>
                  <a:lnTo>
                    <a:pt x="3917" y="568"/>
                  </a:lnTo>
                  <a:lnTo>
                    <a:pt x="3929" y="573"/>
                  </a:lnTo>
                  <a:lnTo>
                    <a:pt x="3943" y="577"/>
                  </a:lnTo>
                  <a:lnTo>
                    <a:pt x="3958" y="580"/>
                  </a:lnTo>
                  <a:lnTo>
                    <a:pt x="3973" y="582"/>
                  </a:lnTo>
                  <a:lnTo>
                    <a:pt x="3989" y="582"/>
                  </a:lnTo>
                  <a:lnTo>
                    <a:pt x="4006" y="582"/>
                  </a:lnTo>
                  <a:lnTo>
                    <a:pt x="4023" y="581"/>
                  </a:lnTo>
                  <a:lnTo>
                    <a:pt x="4038" y="579"/>
                  </a:lnTo>
                  <a:lnTo>
                    <a:pt x="4055" y="577"/>
                  </a:lnTo>
                  <a:lnTo>
                    <a:pt x="4070" y="573"/>
                  </a:lnTo>
                  <a:lnTo>
                    <a:pt x="4084" y="569"/>
                  </a:lnTo>
                  <a:lnTo>
                    <a:pt x="4099" y="564"/>
                  </a:lnTo>
                  <a:lnTo>
                    <a:pt x="4113" y="559"/>
                  </a:lnTo>
                  <a:lnTo>
                    <a:pt x="4127" y="618"/>
                  </a:lnTo>
                  <a:lnTo>
                    <a:pt x="4111" y="624"/>
                  </a:lnTo>
                  <a:lnTo>
                    <a:pt x="4095" y="630"/>
                  </a:lnTo>
                  <a:lnTo>
                    <a:pt x="4077" y="635"/>
                  </a:lnTo>
                  <a:lnTo>
                    <a:pt x="4059" y="639"/>
                  </a:lnTo>
                  <a:lnTo>
                    <a:pt x="4039" y="642"/>
                  </a:lnTo>
                  <a:lnTo>
                    <a:pt x="4020" y="644"/>
                  </a:lnTo>
                  <a:lnTo>
                    <a:pt x="3999" y="646"/>
                  </a:lnTo>
                  <a:lnTo>
                    <a:pt x="3978" y="647"/>
                  </a:lnTo>
                  <a:lnTo>
                    <a:pt x="3953" y="646"/>
                  </a:lnTo>
                  <a:lnTo>
                    <a:pt x="3929" y="642"/>
                  </a:lnTo>
                  <a:lnTo>
                    <a:pt x="3918" y="640"/>
                  </a:lnTo>
                  <a:lnTo>
                    <a:pt x="3907" y="637"/>
                  </a:lnTo>
                  <a:lnTo>
                    <a:pt x="3896" y="634"/>
                  </a:lnTo>
                  <a:lnTo>
                    <a:pt x="3886" y="631"/>
                  </a:lnTo>
                  <a:lnTo>
                    <a:pt x="3877" y="627"/>
                  </a:lnTo>
                  <a:lnTo>
                    <a:pt x="3867" y="622"/>
                  </a:lnTo>
                  <a:lnTo>
                    <a:pt x="3857" y="617"/>
                  </a:lnTo>
                  <a:lnTo>
                    <a:pt x="3849" y="612"/>
                  </a:lnTo>
                  <a:lnTo>
                    <a:pt x="3840" y="605"/>
                  </a:lnTo>
                  <a:lnTo>
                    <a:pt x="3832" y="598"/>
                  </a:lnTo>
                  <a:lnTo>
                    <a:pt x="3823" y="592"/>
                  </a:lnTo>
                  <a:lnTo>
                    <a:pt x="3816" y="584"/>
                  </a:lnTo>
                  <a:lnTo>
                    <a:pt x="3809" y="576"/>
                  </a:lnTo>
                  <a:lnTo>
                    <a:pt x="3803" y="567"/>
                  </a:lnTo>
                  <a:lnTo>
                    <a:pt x="3796" y="559"/>
                  </a:lnTo>
                  <a:lnTo>
                    <a:pt x="3791" y="551"/>
                  </a:lnTo>
                  <a:lnTo>
                    <a:pt x="3785" y="542"/>
                  </a:lnTo>
                  <a:lnTo>
                    <a:pt x="3780" y="531"/>
                  </a:lnTo>
                  <a:lnTo>
                    <a:pt x="3776" y="522"/>
                  </a:lnTo>
                  <a:lnTo>
                    <a:pt x="3772" y="512"/>
                  </a:lnTo>
                  <a:lnTo>
                    <a:pt x="3768" y="501"/>
                  </a:lnTo>
                  <a:lnTo>
                    <a:pt x="3765" y="490"/>
                  </a:lnTo>
                  <a:lnTo>
                    <a:pt x="3763" y="480"/>
                  </a:lnTo>
                  <a:lnTo>
                    <a:pt x="3761" y="469"/>
                  </a:lnTo>
                  <a:lnTo>
                    <a:pt x="3758" y="445"/>
                  </a:lnTo>
                  <a:lnTo>
                    <a:pt x="3757" y="419"/>
                  </a:lnTo>
                  <a:lnTo>
                    <a:pt x="3758" y="394"/>
                  </a:lnTo>
                  <a:lnTo>
                    <a:pt x="3761" y="370"/>
                  </a:lnTo>
                  <a:lnTo>
                    <a:pt x="3765" y="346"/>
                  </a:lnTo>
                  <a:lnTo>
                    <a:pt x="3771" y="324"/>
                  </a:lnTo>
                  <a:lnTo>
                    <a:pt x="3775" y="313"/>
                  </a:lnTo>
                  <a:lnTo>
                    <a:pt x="3779" y="303"/>
                  </a:lnTo>
                  <a:lnTo>
                    <a:pt x="3784" y="293"/>
                  </a:lnTo>
                  <a:lnTo>
                    <a:pt x="3790" y="282"/>
                  </a:lnTo>
                  <a:lnTo>
                    <a:pt x="3795" y="273"/>
                  </a:lnTo>
                  <a:lnTo>
                    <a:pt x="3801" y="264"/>
                  </a:lnTo>
                  <a:lnTo>
                    <a:pt x="3808" y="255"/>
                  </a:lnTo>
                  <a:lnTo>
                    <a:pt x="3814" y="246"/>
                  </a:lnTo>
                  <a:lnTo>
                    <a:pt x="3821" y="238"/>
                  </a:lnTo>
                  <a:lnTo>
                    <a:pt x="3830" y="230"/>
                  </a:lnTo>
                  <a:lnTo>
                    <a:pt x="3838" y="223"/>
                  </a:lnTo>
                  <a:lnTo>
                    <a:pt x="3846" y="217"/>
                  </a:lnTo>
                  <a:lnTo>
                    <a:pt x="3854" y="210"/>
                  </a:lnTo>
                  <a:lnTo>
                    <a:pt x="3863" y="204"/>
                  </a:lnTo>
                  <a:lnTo>
                    <a:pt x="3872" y="199"/>
                  </a:lnTo>
                  <a:lnTo>
                    <a:pt x="3881" y="195"/>
                  </a:lnTo>
                  <a:lnTo>
                    <a:pt x="3891" y="191"/>
                  </a:lnTo>
                  <a:lnTo>
                    <a:pt x="3902" y="187"/>
                  </a:lnTo>
                  <a:lnTo>
                    <a:pt x="3912" y="185"/>
                  </a:lnTo>
                  <a:lnTo>
                    <a:pt x="3922" y="182"/>
                  </a:lnTo>
                  <a:lnTo>
                    <a:pt x="3933" y="179"/>
                  </a:lnTo>
                  <a:lnTo>
                    <a:pt x="3944" y="178"/>
                  </a:lnTo>
                  <a:lnTo>
                    <a:pt x="3956" y="177"/>
                  </a:lnTo>
                  <a:lnTo>
                    <a:pt x="3967" y="177"/>
                  </a:lnTo>
                  <a:lnTo>
                    <a:pt x="3980" y="177"/>
                  </a:lnTo>
                  <a:lnTo>
                    <a:pt x="3991" y="178"/>
                  </a:lnTo>
                  <a:lnTo>
                    <a:pt x="4002" y="181"/>
                  </a:lnTo>
                  <a:lnTo>
                    <a:pt x="4014" y="183"/>
                  </a:lnTo>
                  <a:lnTo>
                    <a:pt x="4024" y="185"/>
                  </a:lnTo>
                  <a:lnTo>
                    <a:pt x="4034" y="188"/>
                  </a:lnTo>
                  <a:lnTo>
                    <a:pt x="4044" y="192"/>
                  </a:lnTo>
                  <a:lnTo>
                    <a:pt x="4054" y="196"/>
                  </a:lnTo>
                  <a:lnTo>
                    <a:pt x="4063" y="201"/>
                  </a:lnTo>
                  <a:lnTo>
                    <a:pt x="4071" y="206"/>
                  </a:lnTo>
                  <a:lnTo>
                    <a:pt x="4079" y="212"/>
                  </a:lnTo>
                  <a:lnTo>
                    <a:pt x="4088" y="220"/>
                  </a:lnTo>
                  <a:lnTo>
                    <a:pt x="4095" y="227"/>
                  </a:lnTo>
                  <a:lnTo>
                    <a:pt x="4102" y="234"/>
                  </a:lnTo>
                  <a:lnTo>
                    <a:pt x="4108" y="242"/>
                  </a:lnTo>
                  <a:lnTo>
                    <a:pt x="4115" y="251"/>
                  </a:lnTo>
                  <a:lnTo>
                    <a:pt x="4124" y="266"/>
                  </a:lnTo>
                  <a:lnTo>
                    <a:pt x="4132" y="281"/>
                  </a:lnTo>
                  <a:lnTo>
                    <a:pt x="4138" y="298"/>
                  </a:lnTo>
                  <a:lnTo>
                    <a:pt x="4143" y="314"/>
                  </a:lnTo>
                  <a:lnTo>
                    <a:pt x="4147" y="332"/>
                  </a:lnTo>
                  <a:lnTo>
                    <a:pt x="4150" y="349"/>
                  </a:lnTo>
                  <a:lnTo>
                    <a:pt x="4152" y="369"/>
                  </a:lnTo>
                  <a:lnTo>
                    <a:pt x="4153" y="388"/>
                  </a:lnTo>
                  <a:lnTo>
                    <a:pt x="4152" y="400"/>
                  </a:lnTo>
                  <a:lnTo>
                    <a:pt x="4152" y="410"/>
                  </a:lnTo>
                  <a:lnTo>
                    <a:pt x="4151" y="419"/>
                  </a:lnTo>
                  <a:lnTo>
                    <a:pt x="4149" y="427"/>
                  </a:lnTo>
                  <a:close/>
                  <a:moveTo>
                    <a:pt x="3836" y="368"/>
                  </a:moveTo>
                  <a:lnTo>
                    <a:pt x="4074" y="368"/>
                  </a:lnTo>
                  <a:lnTo>
                    <a:pt x="4074" y="355"/>
                  </a:lnTo>
                  <a:lnTo>
                    <a:pt x="4073" y="344"/>
                  </a:lnTo>
                  <a:lnTo>
                    <a:pt x="4071" y="332"/>
                  </a:lnTo>
                  <a:lnTo>
                    <a:pt x="4069" y="321"/>
                  </a:lnTo>
                  <a:lnTo>
                    <a:pt x="4066" y="311"/>
                  </a:lnTo>
                  <a:lnTo>
                    <a:pt x="4062" y="301"/>
                  </a:lnTo>
                  <a:lnTo>
                    <a:pt x="4058" y="292"/>
                  </a:lnTo>
                  <a:lnTo>
                    <a:pt x="4052" y="282"/>
                  </a:lnTo>
                  <a:lnTo>
                    <a:pt x="4044" y="271"/>
                  </a:lnTo>
                  <a:lnTo>
                    <a:pt x="4035" y="262"/>
                  </a:lnTo>
                  <a:lnTo>
                    <a:pt x="4026" y="254"/>
                  </a:lnTo>
                  <a:lnTo>
                    <a:pt x="4015" y="247"/>
                  </a:lnTo>
                  <a:lnTo>
                    <a:pt x="4003" y="242"/>
                  </a:lnTo>
                  <a:lnTo>
                    <a:pt x="3990" y="239"/>
                  </a:lnTo>
                  <a:lnTo>
                    <a:pt x="3976" y="237"/>
                  </a:lnTo>
                  <a:lnTo>
                    <a:pt x="3961" y="236"/>
                  </a:lnTo>
                  <a:lnTo>
                    <a:pt x="3947" y="237"/>
                  </a:lnTo>
                  <a:lnTo>
                    <a:pt x="3934" y="239"/>
                  </a:lnTo>
                  <a:lnTo>
                    <a:pt x="3922" y="242"/>
                  </a:lnTo>
                  <a:lnTo>
                    <a:pt x="3910" y="247"/>
                  </a:lnTo>
                  <a:lnTo>
                    <a:pt x="3900" y="254"/>
                  </a:lnTo>
                  <a:lnTo>
                    <a:pt x="3888" y="261"/>
                  </a:lnTo>
                  <a:lnTo>
                    <a:pt x="3879" y="270"/>
                  </a:lnTo>
                  <a:lnTo>
                    <a:pt x="3870" y="280"/>
                  </a:lnTo>
                  <a:lnTo>
                    <a:pt x="3864" y="290"/>
                  </a:lnTo>
                  <a:lnTo>
                    <a:pt x="3857" y="300"/>
                  </a:lnTo>
                  <a:lnTo>
                    <a:pt x="3852" y="310"/>
                  </a:lnTo>
                  <a:lnTo>
                    <a:pt x="3848" y="320"/>
                  </a:lnTo>
                  <a:lnTo>
                    <a:pt x="3844" y="332"/>
                  </a:lnTo>
                  <a:lnTo>
                    <a:pt x="3840" y="343"/>
                  </a:lnTo>
                  <a:lnTo>
                    <a:pt x="3838" y="355"/>
                  </a:lnTo>
                  <a:lnTo>
                    <a:pt x="3836" y="368"/>
                  </a:lnTo>
                  <a:close/>
                  <a:moveTo>
                    <a:pt x="4756" y="559"/>
                  </a:moveTo>
                  <a:lnTo>
                    <a:pt x="4771" y="620"/>
                  </a:lnTo>
                  <a:lnTo>
                    <a:pt x="4756" y="627"/>
                  </a:lnTo>
                  <a:lnTo>
                    <a:pt x="4742" y="632"/>
                  </a:lnTo>
                  <a:lnTo>
                    <a:pt x="4728" y="636"/>
                  </a:lnTo>
                  <a:lnTo>
                    <a:pt x="4711" y="640"/>
                  </a:lnTo>
                  <a:lnTo>
                    <a:pt x="4695" y="643"/>
                  </a:lnTo>
                  <a:lnTo>
                    <a:pt x="4678" y="646"/>
                  </a:lnTo>
                  <a:lnTo>
                    <a:pt x="4660" y="647"/>
                  </a:lnTo>
                  <a:lnTo>
                    <a:pt x="4641" y="648"/>
                  </a:lnTo>
                  <a:lnTo>
                    <a:pt x="4617" y="647"/>
                  </a:lnTo>
                  <a:lnTo>
                    <a:pt x="4593" y="643"/>
                  </a:lnTo>
                  <a:lnTo>
                    <a:pt x="4582" y="641"/>
                  </a:lnTo>
                  <a:lnTo>
                    <a:pt x="4571" y="638"/>
                  </a:lnTo>
                  <a:lnTo>
                    <a:pt x="4560" y="635"/>
                  </a:lnTo>
                  <a:lnTo>
                    <a:pt x="4550" y="631"/>
                  </a:lnTo>
                  <a:lnTo>
                    <a:pt x="4541" y="627"/>
                  </a:lnTo>
                  <a:lnTo>
                    <a:pt x="4530" y="623"/>
                  </a:lnTo>
                  <a:lnTo>
                    <a:pt x="4521" y="618"/>
                  </a:lnTo>
                  <a:lnTo>
                    <a:pt x="4512" y="612"/>
                  </a:lnTo>
                  <a:lnTo>
                    <a:pt x="4504" y="605"/>
                  </a:lnTo>
                  <a:lnTo>
                    <a:pt x="4495" y="599"/>
                  </a:lnTo>
                  <a:lnTo>
                    <a:pt x="4487" y="592"/>
                  </a:lnTo>
                  <a:lnTo>
                    <a:pt x="4479" y="584"/>
                  </a:lnTo>
                  <a:lnTo>
                    <a:pt x="4472" y="576"/>
                  </a:lnTo>
                  <a:lnTo>
                    <a:pt x="4465" y="567"/>
                  </a:lnTo>
                  <a:lnTo>
                    <a:pt x="4458" y="559"/>
                  </a:lnTo>
                  <a:lnTo>
                    <a:pt x="4452" y="550"/>
                  </a:lnTo>
                  <a:lnTo>
                    <a:pt x="4447" y="541"/>
                  </a:lnTo>
                  <a:lnTo>
                    <a:pt x="4442" y="531"/>
                  </a:lnTo>
                  <a:lnTo>
                    <a:pt x="4437" y="521"/>
                  </a:lnTo>
                  <a:lnTo>
                    <a:pt x="4434" y="511"/>
                  </a:lnTo>
                  <a:lnTo>
                    <a:pt x="4430" y="500"/>
                  </a:lnTo>
                  <a:lnTo>
                    <a:pt x="4427" y="489"/>
                  </a:lnTo>
                  <a:lnTo>
                    <a:pt x="4424" y="478"/>
                  </a:lnTo>
                  <a:lnTo>
                    <a:pt x="4421" y="467"/>
                  </a:lnTo>
                  <a:lnTo>
                    <a:pt x="4419" y="442"/>
                  </a:lnTo>
                  <a:lnTo>
                    <a:pt x="4418" y="417"/>
                  </a:lnTo>
                  <a:lnTo>
                    <a:pt x="4418" y="404"/>
                  </a:lnTo>
                  <a:lnTo>
                    <a:pt x="4419" y="391"/>
                  </a:lnTo>
                  <a:lnTo>
                    <a:pt x="4420" y="379"/>
                  </a:lnTo>
                  <a:lnTo>
                    <a:pt x="4423" y="367"/>
                  </a:lnTo>
                  <a:lnTo>
                    <a:pt x="4425" y="355"/>
                  </a:lnTo>
                  <a:lnTo>
                    <a:pt x="4428" y="344"/>
                  </a:lnTo>
                  <a:lnTo>
                    <a:pt x="4431" y="333"/>
                  </a:lnTo>
                  <a:lnTo>
                    <a:pt x="4435" y="321"/>
                  </a:lnTo>
                  <a:lnTo>
                    <a:pt x="4439" y="311"/>
                  </a:lnTo>
                  <a:lnTo>
                    <a:pt x="4444" y="301"/>
                  </a:lnTo>
                  <a:lnTo>
                    <a:pt x="4449" y="291"/>
                  </a:lnTo>
                  <a:lnTo>
                    <a:pt x="4455" y="281"/>
                  </a:lnTo>
                  <a:lnTo>
                    <a:pt x="4462" y="272"/>
                  </a:lnTo>
                  <a:lnTo>
                    <a:pt x="4469" y="263"/>
                  </a:lnTo>
                  <a:lnTo>
                    <a:pt x="4476" y="254"/>
                  </a:lnTo>
                  <a:lnTo>
                    <a:pt x="4484" y="245"/>
                  </a:lnTo>
                  <a:lnTo>
                    <a:pt x="4492" y="237"/>
                  </a:lnTo>
                  <a:lnTo>
                    <a:pt x="4502" y="230"/>
                  </a:lnTo>
                  <a:lnTo>
                    <a:pt x="4511" y="223"/>
                  </a:lnTo>
                  <a:lnTo>
                    <a:pt x="4520" y="215"/>
                  </a:lnTo>
                  <a:lnTo>
                    <a:pt x="4529" y="210"/>
                  </a:lnTo>
                  <a:lnTo>
                    <a:pt x="4540" y="204"/>
                  </a:lnTo>
                  <a:lnTo>
                    <a:pt x="4550" y="199"/>
                  </a:lnTo>
                  <a:lnTo>
                    <a:pt x="4561" y="195"/>
                  </a:lnTo>
                  <a:lnTo>
                    <a:pt x="4573" y="191"/>
                  </a:lnTo>
                  <a:lnTo>
                    <a:pt x="4584" y="188"/>
                  </a:lnTo>
                  <a:lnTo>
                    <a:pt x="4595" y="185"/>
                  </a:lnTo>
                  <a:lnTo>
                    <a:pt x="4607" y="183"/>
                  </a:lnTo>
                  <a:lnTo>
                    <a:pt x="4620" y="181"/>
                  </a:lnTo>
                  <a:lnTo>
                    <a:pt x="4632" y="179"/>
                  </a:lnTo>
                  <a:lnTo>
                    <a:pt x="4645" y="178"/>
                  </a:lnTo>
                  <a:lnTo>
                    <a:pt x="4659" y="178"/>
                  </a:lnTo>
                  <a:lnTo>
                    <a:pt x="4676" y="178"/>
                  </a:lnTo>
                  <a:lnTo>
                    <a:pt x="4692" y="179"/>
                  </a:lnTo>
                  <a:lnTo>
                    <a:pt x="4707" y="182"/>
                  </a:lnTo>
                  <a:lnTo>
                    <a:pt x="4722" y="185"/>
                  </a:lnTo>
                  <a:lnTo>
                    <a:pt x="4736" y="188"/>
                  </a:lnTo>
                  <a:lnTo>
                    <a:pt x="4748" y="192"/>
                  </a:lnTo>
                  <a:lnTo>
                    <a:pt x="4761" y="196"/>
                  </a:lnTo>
                  <a:lnTo>
                    <a:pt x="4772" y="201"/>
                  </a:lnTo>
                  <a:lnTo>
                    <a:pt x="4753" y="265"/>
                  </a:lnTo>
                  <a:lnTo>
                    <a:pt x="4743" y="260"/>
                  </a:lnTo>
                  <a:lnTo>
                    <a:pt x="4733" y="256"/>
                  </a:lnTo>
                  <a:lnTo>
                    <a:pt x="4722" y="251"/>
                  </a:lnTo>
                  <a:lnTo>
                    <a:pt x="4710" y="248"/>
                  </a:lnTo>
                  <a:lnTo>
                    <a:pt x="4698" y="246"/>
                  </a:lnTo>
                  <a:lnTo>
                    <a:pt x="4686" y="244"/>
                  </a:lnTo>
                  <a:lnTo>
                    <a:pt x="4672" y="243"/>
                  </a:lnTo>
                  <a:lnTo>
                    <a:pt x="4659" y="243"/>
                  </a:lnTo>
                  <a:lnTo>
                    <a:pt x="4641" y="244"/>
                  </a:lnTo>
                  <a:lnTo>
                    <a:pt x="4624" y="246"/>
                  </a:lnTo>
                  <a:lnTo>
                    <a:pt x="4607" y="250"/>
                  </a:lnTo>
                  <a:lnTo>
                    <a:pt x="4593" y="256"/>
                  </a:lnTo>
                  <a:lnTo>
                    <a:pt x="4579" y="263"/>
                  </a:lnTo>
                  <a:lnTo>
                    <a:pt x="4565" y="271"/>
                  </a:lnTo>
                  <a:lnTo>
                    <a:pt x="4553" y="281"/>
                  </a:lnTo>
                  <a:lnTo>
                    <a:pt x="4542" y="294"/>
                  </a:lnTo>
                  <a:lnTo>
                    <a:pt x="4531" y="305"/>
                  </a:lnTo>
                  <a:lnTo>
                    <a:pt x="4523" y="318"/>
                  </a:lnTo>
                  <a:lnTo>
                    <a:pt x="4516" y="332"/>
                  </a:lnTo>
                  <a:lnTo>
                    <a:pt x="4511" y="346"/>
                  </a:lnTo>
                  <a:lnTo>
                    <a:pt x="4507" y="362"/>
                  </a:lnTo>
                  <a:lnTo>
                    <a:pt x="4503" y="378"/>
                  </a:lnTo>
                  <a:lnTo>
                    <a:pt x="4502" y="396"/>
                  </a:lnTo>
                  <a:lnTo>
                    <a:pt x="4501" y="413"/>
                  </a:lnTo>
                  <a:lnTo>
                    <a:pt x="4502" y="432"/>
                  </a:lnTo>
                  <a:lnTo>
                    <a:pt x="4504" y="449"/>
                  </a:lnTo>
                  <a:lnTo>
                    <a:pt x="4507" y="467"/>
                  </a:lnTo>
                  <a:lnTo>
                    <a:pt x="4512" y="482"/>
                  </a:lnTo>
                  <a:lnTo>
                    <a:pt x="4518" y="496"/>
                  </a:lnTo>
                  <a:lnTo>
                    <a:pt x="4525" y="511"/>
                  </a:lnTo>
                  <a:lnTo>
                    <a:pt x="4535" y="523"/>
                  </a:lnTo>
                  <a:lnTo>
                    <a:pt x="4545" y="535"/>
                  </a:lnTo>
                  <a:lnTo>
                    <a:pt x="4556" y="546"/>
                  </a:lnTo>
                  <a:lnTo>
                    <a:pt x="4568" y="555"/>
                  </a:lnTo>
                  <a:lnTo>
                    <a:pt x="4581" y="563"/>
                  </a:lnTo>
                  <a:lnTo>
                    <a:pt x="4594" y="569"/>
                  </a:lnTo>
                  <a:lnTo>
                    <a:pt x="4608" y="575"/>
                  </a:lnTo>
                  <a:lnTo>
                    <a:pt x="4624" y="579"/>
                  </a:lnTo>
                  <a:lnTo>
                    <a:pt x="4639" y="581"/>
                  </a:lnTo>
                  <a:lnTo>
                    <a:pt x="4657" y="581"/>
                  </a:lnTo>
                  <a:lnTo>
                    <a:pt x="4669" y="581"/>
                  </a:lnTo>
                  <a:lnTo>
                    <a:pt x="4681" y="580"/>
                  </a:lnTo>
                  <a:lnTo>
                    <a:pt x="4694" y="578"/>
                  </a:lnTo>
                  <a:lnTo>
                    <a:pt x="4706" y="576"/>
                  </a:lnTo>
                  <a:lnTo>
                    <a:pt x="4718" y="572"/>
                  </a:lnTo>
                  <a:lnTo>
                    <a:pt x="4732" y="568"/>
                  </a:lnTo>
                  <a:lnTo>
                    <a:pt x="4744" y="564"/>
                  </a:lnTo>
                  <a:lnTo>
                    <a:pt x="4756" y="559"/>
                  </a:lnTo>
                  <a:close/>
                  <a:moveTo>
                    <a:pt x="5225" y="427"/>
                  </a:moveTo>
                  <a:lnTo>
                    <a:pt x="4913" y="426"/>
                  </a:lnTo>
                  <a:lnTo>
                    <a:pt x="4914" y="445"/>
                  </a:lnTo>
                  <a:lnTo>
                    <a:pt x="4916" y="463"/>
                  </a:lnTo>
                  <a:lnTo>
                    <a:pt x="4920" y="480"/>
                  </a:lnTo>
                  <a:lnTo>
                    <a:pt x="4925" y="495"/>
                  </a:lnTo>
                  <a:lnTo>
                    <a:pt x="4931" y="510"/>
                  </a:lnTo>
                  <a:lnTo>
                    <a:pt x="4939" y="523"/>
                  </a:lnTo>
                  <a:lnTo>
                    <a:pt x="4949" y="535"/>
                  </a:lnTo>
                  <a:lnTo>
                    <a:pt x="4959" y="546"/>
                  </a:lnTo>
                  <a:lnTo>
                    <a:pt x="4969" y="554"/>
                  </a:lnTo>
                  <a:lnTo>
                    <a:pt x="4980" y="562"/>
                  </a:lnTo>
                  <a:lnTo>
                    <a:pt x="4993" y="568"/>
                  </a:lnTo>
                  <a:lnTo>
                    <a:pt x="5006" y="573"/>
                  </a:lnTo>
                  <a:lnTo>
                    <a:pt x="5019" y="577"/>
                  </a:lnTo>
                  <a:lnTo>
                    <a:pt x="5034" y="580"/>
                  </a:lnTo>
                  <a:lnTo>
                    <a:pt x="5049" y="582"/>
                  </a:lnTo>
                  <a:lnTo>
                    <a:pt x="5066" y="582"/>
                  </a:lnTo>
                  <a:lnTo>
                    <a:pt x="5082" y="582"/>
                  </a:lnTo>
                  <a:lnTo>
                    <a:pt x="5099" y="581"/>
                  </a:lnTo>
                  <a:lnTo>
                    <a:pt x="5115" y="579"/>
                  </a:lnTo>
                  <a:lnTo>
                    <a:pt x="5130" y="577"/>
                  </a:lnTo>
                  <a:lnTo>
                    <a:pt x="5146" y="573"/>
                  </a:lnTo>
                  <a:lnTo>
                    <a:pt x="5161" y="569"/>
                  </a:lnTo>
                  <a:lnTo>
                    <a:pt x="5176" y="564"/>
                  </a:lnTo>
                  <a:lnTo>
                    <a:pt x="5189" y="559"/>
                  </a:lnTo>
                  <a:lnTo>
                    <a:pt x="5203" y="618"/>
                  </a:lnTo>
                  <a:lnTo>
                    <a:pt x="5187" y="624"/>
                  </a:lnTo>
                  <a:lnTo>
                    <a:pt x="5171" y="630"/>
                  </a:lnTo>
                  <a:lnTo>
                    <a:pt x="5153" y="635"/>
                  </a:lnTo>
                  <a:lnTo>
                    <a:pt x="5135" y="639"/>
                  </a:lnTo>
                  <a:lnTo>
                    <a:pt x="5116" y="642"/>
                  </a:lnTo>
                  <a:lnTo>
                    <a:pt x="5096" y="644"/>
                  </a:lnTo>
                  <a:lnTo>
                    <a:pt x="5075" y="646"/>
                  </a:lnTo>
                  <a:lnTo>
                    <a:pt x="5054" y="647"/>
                  </a:lnTo>
                  <a:lnTo>
                    <a:pt x="5029" y="646"/>
                  </a:lnTo>
                  <a:lnTo>
                    <a:pt x="5006" y="642"/>
                  </a:lnTo>
                  <a:lnTo>
                    <a:pt x="4995" y="640"/>
                  </a:lnTo>
                  <a:lnTo>
                    <a:pt x="4984" y="637"/>
                  </a:lnTo>
                  <a:lnTo>
                    <a:pt x="4973" y="634"/>
                  </a:lnTo>
                  <a:lnTo>
                    <a:pt x="4963" y="631"/>
                  </a:lnTo>
                  <a:lnTo>
                    <a:pt x="4953" y="627"/>
                  </a:lnTo>
                  <a:lnTo>
                    <a:pt x="4943" y="622"/>
                  </a:lnTo>
                  <a:lnTo>
                    <a:pt x="4934" y="617"/>
                  </a:lnTo>
                  <a:lnTo>
                    <a:pt x="4925" y="612"/>
                  </a:lnTo>
                  <a:lnTo>
                    <a:pt x="4917" y="605"/>
                  </a:lnTo>
                  <a:lnTo>
                    <a:pt x="4909" y="598"/>
                  </a:lnTo>
                  <a:lnTo>
                    <a:pt x="4900" y="592"/>
                  </a:lnTo>
                  <a:lnTo>
                    <a:pt x="4893" y="584"/>
                  </a:lnTo>
                  <a:lnTo>
                    <a:pt x="4886" y="576"/>
                  </a:lnTo>
                  <a:lnTo>
                    <a:pt x="4879" y="567"/>
                  </a:lnTo>
                  <a:lnTo>
                    <a:pt x="4873" y="559"/>
                  </a:lnTo>
                  <a:lnTo>
                    <a:pt x="4866" y="551"/>
                  </a:lnTo>
                  <a:lnTo>
                    <a:pt x="4861" y="542"/>
                  </a:lnTo>
                  <a:lnTo>
                    <a:pt x="4856" y="531"/>
                  </a:lnTo>
                  <a:lnTo>
                    <a:pt x="4852" y="522"/>
                  </a:lnTo>
                  <a:lnTo>
                    <a:pt x="4848" y="512"/>
                  </a:lnTo>
                  <a:lnTo>
                    <a:pt x="4845" y="501"/>
                  </a:lnTo>
                  <a:lnTo>
                    <a:pt x="4842" y="490"/>
                  </a:lnTo>
                  <a:lnTo>
                    <a:pt x="4840" y="480"/>
                  </a:lnTo>
                  <a:lnTo>
                    <a:pt x="4837" y="469"/>
                  </a:lnTo>
                  <a:lnTo>
                    <a:pt x="4835" y="445"/>
                  </a:lnTo>
                  <a:lnTo>
                    <a:pt x="4834" y="419"/>
                  </a:lnTo>
                  <a:lnTo>
                    <a:pt x="4835" y="394"/>
                  </a:lnTo>
                  <a:lnTo>
                    <a:pt x="4837" y="370"/>
                  </a:lnTo>
                  <a:lnTo>
                    <a:pt x="4842" y="346"/>
                  </a:lnTo>
                  <a:lnTo>
                    <a:pt x="4848" y="324"/>
                  </a:lnTo>
                  <a:lnTo>
                    <a:pt x="4852" y="313"/>
                  </a:lnTo>
                  <a:lnTo>
                    <a:pt x="4856" y="303"/>
                  </a:lnTo>
                  <a:lnTo>
                    <a:pt x="4860" y="293"/>
                  </a:lnTo>
                  <a:lnTo>
                    <a:pt x="4865" y="282"/>
                  </a:lnTo>
                  <a:lnTo>
                    <a:pt x="4872" y="273"/>
                  </a:lnTo>
                  <a:lnTo>
                    <a:pt x="4878" y="264"/>
                  </a:lnTo>
                  <a:lnTo>
                    <a:pt x="4884" y="255"/>
                  </a:lnTo>
                  <a:lnTo>
                    <a:pt x="4891" y="246"/>
                  </a:lnTo>
                  <a:lnTo>
                    <a:pt x="4898" y="238"/>
                  </a:lnTo>
                  <a:lnTo>
                    <a:pt x="4905" y="230"/>
                  </a:lnTo>
                  <a:lnTo>
                    <a:pt x="4914" y="223"/>
                  </a:lnTo>
                  <a:lnTo>
                    <a:pt x="4922" y="217"/>
                  </a:lnTo>
                  <a:lnTo>
                    <a:pt x="4930" y="210"/>
                  </a:lnTo>
                  <a:lnTo>
                    <a:pt x="4939" y="204"/>
                  </a:lnTo>
                  <a:lnTo>
                    <a:pt x="4949" y="199"/>
                  </a:lnTo>
                  <a:lnTo>
                    <a:pt x="4958" y="195"/>
                  </a:lnTo>
                  <a:lnTo>
                    <a:pt x="4967" y="191"/>
                  </a:lnTo>
                  <a:lnTo>
                    <a:pt x="4977" y="187"/>
                  </a:lnTo>
                  <a:lnTo>
                    <a:pt x="4988" y="185"/>
                  </a:lnTo>
                  <a:lnTo>
                    <a:pt x="4999" y="182"/>
                  </a:lnTo>
                  <a:lnTo>
                    <a:pt x="5009" y="179"/>
                  </a:lnTo>
                  <a:lnTo>
                    <a:pt x="5021" y="178"/>
                  </a:lnTo>
                  <a:lnTo>
                    <a:pt x="5032" y="177"/>
                  </a:lnTo>
                  <a:lnTo>
                    <a:pt x="5044" y="177"/>
                  </a:lnTo>
                  <a:lnTo>
                    <a:pt x="5055" y="177"/>
                  </a:lnTo>
                  <a:lnTo>
                    <a:pt x="5068" y="178"/>
                  </a:lnTo>
                  <a:lnTo>
                    <a:pt x="5079" y="181"/>
                  </a:lnTo>
                  <a:lnTo>
                    <a:pt x="5090" y="183"/>
                  </a:lnTo>
                  <a:lnTo>
                    <a:pt x="5101" y="185"/>
                  </a:lnTo>
                  <a:lnTo>
                    <a:pt x="5111" y="188"/>
                  </a:lnTo>
                  <a:lnTo>
                    <a:pt x="5120" y="192"/>
                  </a:lnTo>
                  <a:lnTo>
                    <a:pt x="5129" y="196"/>
                  </a:lnTo>
                  <a:lnTo>
                    <a:pt x="5139" y="201"/>
                  </a:lnTo>
                  <a:lnTo>
                    <a:pt x="5148" y="206"/>
                  </a:lnTo>
                  <a:lnTo>
                    <a:pt x="5156" y="212"/>
                  </a:lnTo>
                  <a:lnTo>
                    <a:pt x="5163" y="220"/>
                  </a:lnTo>
                  <a:lnTo>
                    <a:pt x="5172" y="227"/>
                  </a:lnTo>
                  <a:lnTo>
                    <a:pt x="5178" y="234"/>
                  </a:lnTo>
                  <a:lnTo>
                    <a:pt x="5185" y="242"/>
                  </a:lnTo>
                  <a:lnTo>
                    <a:pt x="5191" y="251"/>
                  </a:lnTo>
                  <a:lnTo>
                    <a:pt x="5200" y="266"/>
                  </a:lnTo>
                  <a:lnTo>
                    <a:pt x="5208" y="281"/>
                  </a:lnTo>
                  <a:lnTo>
                    <a:pt x="5215" y="298"/>
                  </a:lnTo>
                  <a:lnTo>
                    <a:pt x="5220" y="314"/>
                  </a:lnTo>
                  <a:lnTo>
                    <a:pt x="5224" y="332"/>
                  </a:lnTo>
                  <a:lnTo>
                    <a:pt x="5227" y="349"/>
                  </a:lnTo>
                  <a:lnTo>
                    <a:pt x="5229" y="369"/>
                  </a:lnTo>
                  <a:lnTo>
                    <a:pt x="5229" y="388"/>
                  </a:lnTo>
                  <a:lnTo>
                    <a:pt x="5229" y="400"/>
                  </a:lnTo>
                  <a:lnTo>
                    <a:pt x="5228" y="410"/>
                  </a:lnTo>
                  <a:lnTo>
                    <a:pt x="5227" y="419"/>
                  </a:lnTo>
                  <a:lnTo>
                    <a:pt x="5225" y="427"/>
                  </a:lnTo>
                  <a:close/>
                  <a:moveTo>
                    <a:pt x="4913" y="368"/>
                  </a:moveTo>
                  <a:lnTo>
                    <a:pt x="5150" y="368"/>
                  </a:lnTo>
                  <a:lnTo>
                    <a:pt x="5150" y="355"/>
                  </a:lnTo>
                  <a:lnTo>
                    <a:pt x="5149" y="344"/>
                  </a:lnTo>
                  <a:lnTo>
                    <a:pt x="5148" y="332"/>
                  </a:lnTo>
                  <a:lnTo>
                    <a:pt x="5145" y="321"/>
                  </a:lnTo>
                  <a:lnTo>
                    <a:pt x="5142" y="311"/>
                  </a:lnTo>
                  <a:lnTo>
                    <a:pt x="5139" y="301"/>
                  </a:lnTo>
                  <a:lnTo>
                    <a:pt x="5134" y="292"/>
                  </a:lnTo>
                  <a:lnTo>
                    <a:pt x="5128" y="282"/>
                  </a:lnTo>
                  <a:lnTo>
                    <a:pt x="5120" y="271"/>
                  </a:lnTo>
                  <a:lnTo>
                    <a:pt x="5112" y="262"/>
                  </a:lnTo>
                  <a:lnTo>
                    <a:pt x="5102" y="254"/>
                  </a:lnTo>
                  <a:lnTo>
                    <a:pt x="5091" y="247"/>
                  </a:lnTo>
                  <a:lnTo>
                    <a:pt x="5079" y="242"/>
                  </a:lnTo>
                  <a:lnTo>
                    <a:pt x="5067" y="239"/>
                  </a:lnTo>
                  <a:lnTo>
                    <a:pt x="5052" y="237"/>
                  </a:lnTo>
                  <a:lnTo>
                    <a:pt x="5037" y="236"/>
                  </a:lnTo>
                  <a:lnTo>
                    <a:pt x="5024" y="237"/>
                  </a:lnTo>
                  <a:lnTo>
                    <a:pt x="5010" y="239"/>
                  </a:lnTo>
                  <a:lnTo>
                    <a:pt x="4998" y="242"/>
                  </a:lnTo>
                  <a:lnTo>
                    <a:pt x="4987" y="247"/>
                  </a:lnTo>
                  <a:lnTo>
                    <a:pt x="4975" y="254"/>
                  </a:lnTo>
                  <a:lnTo>
                    <a:pt x="4965" y="261"/>
                  </a:lnTo>
                  <a:lnTo>
                    <a:pt x="4956" y="270"/>
                  </a:lnTo>
                  <a:lnTo>
                    <a:pt x="4947" y="280"/>
                  </a:lnTo>
                  <a:lnTo>
                    <a:pt x="4940" y="290"/>
                  </a:lnTo>
                  <a:lnTo>
                    <a:pt x="4934" y="300"/>
                  </a:lnTo>
                  <a:lnTo>
                    <a:pt x="4929" y="310"/>
                  </a:lnTo>
                  <a:lnTo>
                    <a:pt x="4924" y="320"/>
                  </a:lnTo>
                  <a:lnTo>
                    <a:pt x="4920" y="332"/>
                  </a:lnTo>
                  <a:lnTo>
                    <a:pt x="4917" y="343"/>
                  </a:lnTo>
                  <a:lnTo>
                    <a:pt x="4914" y="355"/>
                  </a:lnTo>
                  <a:lnTo>
                    <a:pt x="4913" y="368"/>
                  </a:lnTo>
                  <a:close/>
                  <a:moveTo>
                    <a:pt x="5330" y="637"/>
                  </a:moveTo>
                  <a:lnTo>
                    <a:pt x="5330" y="328"/>
                  </a:lnTo>
                  <a:lnTo>
                    <a:pt x="5330" y="291"/>
                  </a:lnTo>
                  <a:lnTo>
                    <a:pt x="5330" y="256"/>
                  </a:lnTo>
                  <a:lnTo>
                    <a:pt x="5329" y="221"/>
                  </a:lnTo>
                  <a:lnTo>
                    <a:pt x="5328" y="188"/>
                  </a:lnTo>
                  <a:lnTo>
                    <a:pt x="5399" y="188"/>
                  </a:lnTo>
                  <a:lnTo>
                    <a:pt x="5402" y="276"/>
                  </a:lnTo>
                  <a:lnTo>
                    <a:pt x="5406" y="276"/>
                  </a:lnTo>
                  <a:lnTo>
                    <a:pt x="5409" y="265"/>
                  </a:lnTo>
                  <a:lnTo>
                    <a:pt x="5414" y="255"/>
                  </a:lnTo>
                  <a:lnTo>
                    <a:pt x="5419" y="245"/>
                  </a:lnTo>
                  <a:lnTo>
                    <a:pt x="5425" y="236"/>
                  </a:lnTo>
                  <a:lnTo>
                    <a:pt x="5432" y="227"/>
                  </a:lnTo>
                  <a:lnTo>
                    <a:pt x="5439" y="219"/>
                  </a:lnTo>
                  <a:lnTo>
                    <a:pt x="5446" y="211"/>
                  </a:lnTo>
                  <a:lnTo>
                    <a:pt x="5454" y="204"/>
                  </a:lnTo>
                  <a:lnTo>
                    <a:pt x="5463" y="198"/>
                  </a:lnTo>
                  <a:lnTo>
                    <a:pt x="5472" y="193"/>
                  </a:lnTo>
                  <a:lnTo>
                    <a:pt x="5481" y="188"/>
                  </a:lnTo>
                  <a:lnTo>
                    <a:pt x="5490" y="185"/>
                  </a:lnTo>
                  <a:lnTo>
                    <a:pt x="5500" y="182"/>
                  </a:lnTo>
                  <a:lnTo>
                    <a:pt x="5510" y="179"/>
                  </a:lnTo>
                  <a:lnTo>
                    <a:pt x="5520" y="177"/>
                  </a:lnTo>
                  <a:lnTo>
                    <a:pt x="5529" y="177"/>
                  </a:lnTo>
                  <a:lnTo>
                    <a:pt x="5541" y="178"/>
                  </a:lnTo>
                  <a:lnTo>
                    <a:pt x="5553" y="181"/>
                  </a:lnTo>
                  <a:lnTo>
                    <a:pt x="5553" y="258"/>
                  </a:lnTo>
                  <a:lnTo>
                    <a:pt x="5539" y="256"/>
                  </a:lnTo>
                  <a:lnTo>
                    <a:pt x="5524" y="255"/>
                  </a:lnTo>
                  <a:lnTo>
                    <a:pt x="5511" y="256"/>
                  </a:lnTo>
                  <a:lnTo>
                    <a:pt x="5498" y="258"/>
                  </a:lnTo>
                  <a:lnTo>
                    <a:pt x="5486" y="261"/>
                  </a:lnTo>
                  <a:lnTo>
                    <a:pt x="5475" y="266"/>
                  </a:lnTo>
                  <a:lnTo>
                    <a:pt x="5464" y="272"/>
                  </a:lnTo>
                  <a:lnTo>
                    <a:pt x="5455" y="280"/>
                  </a:lnTo>
                  <a:lnTo>
                    <a:pt x="5446" y="290"/>
                  </a:lnTo>
                  <a:lnTo>
                    <a:pt x="5438" y="300"/>
                  </a:lnTo>
                  <a:lnTo>
                    <a:pt x="5432" y="310"/>
                  </a:lnTo>
                  <a:lnTo>
                    <a:pt x="5426" y="321"/>
                  </a:lnTo>
                  <a:lnTo>
                    <a:pt x="5421" y="333"/>
                  </a:lnTo>
                  <a:lnTo>
                    <a:pt x="5418" y="344"/>
                  </a:lnTo>
                  <a:lnTo>
                    <a:pt x="5415" y="356"/>
                  </a:lnTo>
                  <a:lnTo>
                    <a:pt x="5413" y="370"/>
                  </a:lnTo>
                  <a:lnTo>
                    <a:pt x="5411" y="383"/>
                  </a:lnTo>
                  <a:lnTo>
                    <a:pt x="5411" y="398"/>
                  </a:lnTo>
                  <a:lnTo>
                    <a:pt x="5411" y="637"/>
                  </a:lnTo>
                  <a:lnTo>
                    <a:pt x="5330" y="637"/>
                  </a:lnTo>
                  <a:close/>
                  <a:moveTo>
                    <a:pt x="5652" y="105"/>
                  </a:moveTo>
                  <a:lnTo>
                    <a:pt x="5732" y="80"/>
                  </a:lnTo>
                  <a:lnTo>
                    <a:pt x="5732" y="188"/>
                  </a:lnTo>
                  <a:lnTo>
                    <a:pt x="5849" y="188"/>
                  </a:lnTo>
                  <a:lnTo>
                    <a:pt x="5849" y="249"/>
                  </a:lnTo>
                  <a:lnTo>
                    <a:pt x="5732" y="249"/>
                  </a:lnTo>
                  <a:lnTo>
                    <a:pt x="5732" y="492"/>
                  </a:lnTo>
                  <a:lnTo>
                    <a:pt x="5733" y="503"/>
                  </a:lnTo>
                  <a:lnTo>
                    <a:pt x="5733" y="513"/>
                  </a:lnTo>
                  <a:lnTo>
                    <a:pt x="5734" y="522"/>
                  </a:lnTo>
                  <a:lnTo>
                    <a:pt x="5736" y="530"/>
                  </a:lnTo>
                  <a:lnTo>
                    <a:pt x="5738" y="539"/>
                  </a:lnTo>
                  <a:lnTo>
                    <a:pt x="5741" y="546"/>
                  </a:lnTo>
                  <a:lnTo>
                    <a:pt x="5744" y="552"/>
                  </a:lnTo>
                  <a:lnTo>
                    <a:pt x="5747" y="557"/>
                  </a:lnTo>
                  <a:lnTo>
                    <a:pt x="5751" y="562"/>
                  </a:lnTo>
                  <a:lnTo>
                    <a:pt x="5756" y="567"/>
                  </a:lnTo>
                  <a:lnTo>
                    <a:pt x="5760" y="570"/>
                  </a:lnTo>
                  <a:lnTo>
                    <a:pt x="5766" y="573"/>
                  </a:lnTo>
                  <a:lnTo>
                    <a:pt x="5773" y="577"/>
                  </a:lnTo>
                  <a:lnTo>
                    <a:pt x="5779" y="578"/>
                  </a:lnTo>
                  <a:lnTo>
                    <a:pt x="5786" y="579"/>
                  </a:lnTo>
                  <a:lnTo>
                    <a:pt x="5793" y="580"/>
                  </a:lnTo>
                  <a:lnTo>
                    <a:pt x="5807" y="579"/>
                  </a:lnTo>
                  <a:lnTo>
                    <a:pt x="5819" y="578"/>
                  </a:lnTo>
                  <a:lnTo>
                    <a:pt x="5830" y="577"/>
                  </a:lnTo>
                  <a:lnTo>
                    <a:pt x="5840" y="573"/>
                  </a:lnTo>
                  <a:lnTo>
                    <a:pt x="5844" y="635"/>
                  </a:lnTo>
                  <a:lnTo>
                    <a:pt x="5829" y="640"/>
                  </a:lnTo>
                  <a:lnTo>
                    <a:pt x="5812" y="644"/>
                  </a:lnTo>
                  <a:lnTo>
                    <a:pt x="5792" y="647"/>
                  </a:lnTo>
                  <a:lnTo>
                    <a:pt x="5772" y="648"/>
                  </a:lnTo>
                  <a:lnTo>
                    <a:pt x="5758" y="647"/>
                  </a:lnTo>
                  <a:lnTo>
                    <a:pt x="5745" y="644"/>
                  </a:lnTo>
                  <a:lnTo>
                    <a:pt x="5733" y="642"/>
                  </a:lnTo>
                  <a:lnTo>
                    <a:pt x="5721" y="638"/>
                  </a:lnTo>
                  <a:lnTo>
                    <a:pt x="5710" y="633"/>
                  </a:lnTo>
                  <a:lnTo>
                    <a:pt x="5701" y="627"/>
                  </a:lnTo>
                  <a:lnTo>
                    <a:pt x="5691" y="620"/>
                  </a:lnTo>
                  <a:lnTo>
                    <a:pt x="5683" y="612"/>
                  </a:lnTo>
                  <a:lnTo>
                    <a:pt x="5676" y="602"/>
                  </a:lnTo>
                  <a:lnTo>
                    <a:pt x="5670" y="591"/>
                  </a:lnTo>
                  <a:lnTo>
                    <a:pt x="5665" y="579"/>
                  </a:lnTo>
                  <a:lnTo>
                    <a:pt x="5660" y="565"/>
                  </a:lnTo>
                  <a:lnTo>
                    <a:pt x="5657" y="550"/>
                  </a:lnTo>
                  <a:lnTo>
                    <a:pt x="5654" y="532"/>
                  </a:lnTo>
                  <a:lnTo>
                    <a:pt x="5652" y="515"/>
                  </a:lnTo>
                  <a:lnTo>
                    <a:pt x="5652" y="495"/>
                  </a:lnTo>
                  <a:lnTo>
                    <a:pt x="5652" y="249"/>
                  </a:lnTo>
                  <a:lnTo>
                    <a:pt x="5583" y="249"/>
                  </a:lnTo>
                  <a:lnTo>
                    <a:pt x="5583" y="188"/>
                  </a:lnTo>
                  <a:lnTo>
                    <a:pt x="5652" y="188"/>
                  </a:lnTo>
                  <a:lnTo>
                    <a:pt x="5652" y="105"/>
                  </a:lnTo>
                  <a:close/>
                  <a:moveTo>
                    <a:pt x="6256" y="362"/>
                  </a:moveTo>
                  <a:lnTo>
                    <a:pt x="6256" y="529"/>
                  </a:lnTo>
                  <a:lnTo>
                    <a:pt x="6257" y="561"/>
                  </a:lnTo>
                  <a:lnTo>
                    <a:pt x="6258" y="589"/>
                  </a:lnTo>
                  <a:lnTo>
                    <a:pt x="6260" y="615"/>
                  </a:lnTo>
                  <a:lnTo>
                    <a:pt x="6263" y="637"/>
                  </a:lnTo>
                  <a:lnTo>
                    <a:pt x="6189" y="637"/>
                  </a:lnTo>
                  <a:lnTo>
                    <a:pt x="6183" y="581"/>
                  </a:lnTo>
                  <a:lnTo>
                    <a:pt x="6180" y="581"/>
                  </a:lnTo>
                  <a:lnTo>
                    <a:pt x="6173" y="588"/>
                  </a:lnTo>
                  <a:lnTo>
                    <a:pt x="6167" y="596"/>
                  </a:lnTo>
                  <a:lnTo>
                    <a:pt x="6160" y="603"/>
                  </a:lnTo>
                  <a:lnTo>
                    <a:pt x="6154" y="610"/>
                  </a:lnTo>
                  <a:lnTo>
                    <a:pt x="6146" y="616"/>
                  </a:lnTo>
                  <a:lnTo>
                    <a:pt x="6138" y="621"/>
                  </a:lnTo>
                  <a:lnTo>
                    <a:pt x="6130" y="626"/>
                  </a:lnTo>
                  <a:lnTo>
                    <a:pt x="6122" y="630"/>
                  </a:lnTo>
                  <a:lnTo>
                    <a:pt x="6113" y="634"/>
                  </a:lnTo>
                  <a:lnTo>
                    <a:pt x="6104" y="637"/>
                  </a:lnTo>
                  <a:lnTo>
                    <a:pt x="6094" y="640"/>
                  </a:lnTo>
                  <a:lnTo>
                    <a:pt x="6085" y="642"/>
                  </a:lnTo>
                  <a:lnTo>
                    <a:pt x="6075" y="644"/>
                  </a:lnTo>
                  <a:lnTo>
                    <a:pt x="6064" y="647"/>
                  </a:lnTo>
                  <a:lnTo>
                    <a:pt x="6053" y="647"/>
                  </a:lnTo>
                  <a:lnTo>
                    <a:pt x="6043" y="648"/>
                  </a:lnTo>
                  <a:lnTo>
                    <a:pt x="6026" y="647"/>
                  </a:lnTo>
                  <a:lnTo>
                    <a:pt x="6012" y="644"/>
                  </a:lnTo>
                  <a:lnTo>
                    <a:pt x="5998" y="641"/>
                  </a:lnTo>
                  <a:lnTo>
                    <a:pt x="5984" y="637"/>
                  </a:lnTo>
                  <a:lnTo>
                    <a:pt x="5972" y="631"/>
                  </a:lnTo>
                  <a:lnTo>
                    <a:pt x="5961" y="625"/>
                  </a:lnTo>
                  <a:lnTo>
                    <a:pt x="5949" y="617"/>
                  </a:lnTo>
                  <a:lnTo>
                    <a:pt x="5939" y="607"/>
                  </a:lnTo>
                  <a:lnTo>
                    <a:pt x="5932" y="598"/>
                  </a:lnTo>
                  <a:lnTo>
                    <a:pt x="5925" y="588"/>
                  </a:lnTo>
                  <a:lnTo>
                    <a:pt x="5919" y="578"/>
                  </a:lnTo>
                  <a:lnTo>
                    <a:pt x="5913" y="566"/>
                  </a:lnTo>
                  <a:lnTo>
                    <a:pt x="5910" y="555"/>
                  </a:lnTo>
                  <a:lnTo>
                    <a:pt x="5907" y="543"/>
                  </a:lnTo>
                  <a:lnTo>
                    <a:pt x="5906" y="531"/>
                  </a:lnTo>
                  <a:lnTo>
                    <a:pt x="5905" y="518"/>
                  </a:lnTo>
                  <a:lnTo>
                    <a:pt x="5905" y="508"/>
                  </a:lnTo>
                  <a:lnTo>
                    <a:pt x="5906" y="498"/>
                  </a:lnTo>
                  <a:lnTo>
                    <a:pt x="5907" y="489"/>
                  </a:lnTo>
                  <a:lnTo>
                    <a:pt x="5909" y="480"/>
                  </a:lnTo>
                  <a:lnTo>
                    <a:pt x="5912" y="471"/>
                  </a:lnTo>
                  <a:lnTo>
                    <a:pt x="5915" y="462"/>
                  </a:lnTo>
                  <a:lnTo>
                    <a:pt x="5919" y="454"/>
                  </a:lnTo>
                  <a:lnTo>
                    <a:pt x="5923" y="446"/>
                  </a:lnTo>
                  <a:lnTo>
                    <a:pt x="5928" y="439"/>
                  </a:lnTo>
                  <a:lnTo>
                    <a:pt x="5933" y="432"/>
                  </a:lnTo>
                  <a:lnTo>
                    <a:pt x="5938" y="424"/>
                  </a:lnTo>
                  <a:lnTo>
                    <a:pt x="5944" y="417"/>
                  </a:lnTo>
                  <a:lnTo>
                    <a:pt x="5951" y="411"/>
                  </a:lnTo>
                  <a:lnTo>
                    <a:pt x="5959" y="405"/>
                  </a:lnTo>
                  <a:lnTo>
                    <a:pt x="5967" y="399"/>
                  </a:lnTo>
                  <a:lnTo>
                    <a:pt x="5975" y="393"/>
                  </a:lnTo>
                  <a:lnTo>
                    <a:pt x="5994" y="383"/>
                  </a:lnTo>
                  <a:lnTo>
                    <a:pt x="6014" y="374"/>
                  </a:lnTo>
                  <a:lnTo>
                    <a:pt x="6036" y="367"/>
                  </a:lnTo>
                  <a:lnTo>
                    <a:pt x="6060" y="362"/>
                  </a:lnTo>
                  <a:lnTo>
                    <a:pt x="6086" y="356"/>
                  </a:lnTo>
                  <a:lnTo>
                    <a:pt x="6114" y="353"/>
                  </a:lnTo>
                  <a:lnTo>
                    <a:pt x="6144" y="351"/>
                  </a:lnTo>
                  <a:lnTo>
                    <a:pt x="6175" y="351"/>
                  </a:lnTo>
                  <a:lnTo>
                    <a:pt x="6175" y="342"/>
                  </a:lnTo>
                  <a:lnTo>
                    <a:pt x="6174" y="329"/>
                  </a:lnTo>
                  <a:lnTo>
                    <a:pt x="6173" y="317"/>
                  </a:lnTo>
                  <a:lnTo>
                    <a:pt x="6171" y="306"/>
                  </a:lnTo>
                  <a:lnTo>
                    <a:pt x="6168" y="296"/>
                  </a:lnTo>
                  <a:lnTo>
                    <a:pt x="6165" y="286"/>
                  </a:lnTo>
                  <a:lnTo>
                    <a:pt x="6161" y="278"/>
                  </a:lnTo>
                  <a:lnTo>
                    <a:pt x="6156" y="271"/>
                  </a:lnTo>
                  <a:lnTo>
                    <a:pt x="6150" y="264"/>
                  </a:lnTo>
                  <a:lnTo>
                    <a:pt x="6143" y="258"/>
                  </a:lnTo>
                  <a:lnTo>
                    <a:pt x="6135" y="253"/>
                  </a:lnTo>
                  <a:lnTo>
                    <a:pt x="6127" y="248"/>
                  </a:lnTo>
                  <a:lnTo>
                    <a:pt x="6118" y="244"/>
                  </a:lnTo>
                  <a:lnTo>
                    <a:pt x="6108" y="241"/>
                  </a:lnTo>
                  <a:lnTo>
                    <a:pt x="6097" y="239"/>
                  </a:lnTo>
                  <a:lnTo>
                    <a:pt x="6085" y="238"/>
                  </a:lnTo>
                  <a:lnTo>
                    <a:pt x="6073" y="238"/>
                  </a:lnTo>
                  <a:lnTo>
                    <a:pt x="6056" y="238"/>
                  </a:lnTo>
                  <a:lnTo>
                    <a:pt x="6041" y="240"/>
                  </a:lnTo>
                  <a:lnTo>
                    <a:pt x="6025" y="242"/>
                  </a:lnTo>
                  <a:lnTo>
                    <a:pt x="6010" y="246"/>
                  </a:lnTo>
                  <a:lnTo>
                    <a:pt x="5996" y="250"/>
                  </a:lnTo>
                  <a:lnTo>
                    <a:pt x="5982" y="257"/>
                  </a:lnTo>
                  <a:lnTo>
                    <a:pt x="5969" y="264"/>
                  </a:lnTo>
                  <a:lnTo>
                    <a:pt x="5957" y="271"/>
                  </a:lnTo>
                  <a:lnTo>
                    <a:pt x="5938" y="218"/>
                  </a:lnTo>
                  <a:lnTo>
                    <a:pt x="5953" y="208"/>
                  </a:lnTo>
                  <a:lnTo>
                    <a:pt x="5970" y="200"/>
                  </a:lnTo>
                  <a:lnTo>
                    <a:pt x="5987" y="193"/>
                  </a:lnTo>
                  <a:lnTo>
                    <a:pt x="6005" y="188"/>
                  </a:lnTo>
                  <a:lnTo>
                    <a:pt x="6024" y="183"/>
                  </a:lnTo>
                  <a:lnTo>
                    <a:pt x="6044" y="179"/>
                  </a:lnTo>
                  <a:lnTo>
                    <a:pt x="6063" y="178"/>
                  </a:lnTo>
                  <a:lnTo>
                    <a:pt x="6085" y="177"/>
                  </a:lnTo>
                  <a:lnTo>
                    <a:pt x="6106" y="178"/>
                  </a:lnTo>
                  <a:lnTo>
                    <a:pt x="6125" y="181"/>
                  </a:lnTo>
                  <a:lnTo>
                    <a:pt x="6143" y="184"/>
                  </a:lnTo>
                  <a:lnTo>
                    <a:pt x="6160" y="189"/>
                  </a:lnTo>
                  <a:lnTo>
                    <a:pt x="6175" y="195"/>
                  </a:lnTo>
                  <a:lnTo>
                    <a:pt x="6189" y="203"/>
                  </a:lnTo>
                  <a:lnTo>
                    <a:pt x="6202" y="212"/>
                  </a:lnTo>
                  <a:lnTo>
                    <a:pt x="6213" y="224"/>
                  </a:lnTo>
                  <a:lnTo>
                    <a:pt x="6223" y="236"/>
                  </a:lnTo>
                  <a:lnTo>
                    <a:pt x="6232" y="249"/>
                  </a:lnTo>
                  <a:lnTo>
                    <a:pt x="6239" y="264"/>
                  </a:lnTo>
                  <a:lnTo>
                    <a:pt x="6245" y="280"/>
                  </a:lnTo>
                  <a:lnTo>
                    <a:pt x="6249" y="299"/>
                  </a:lnTo>
                  <a:lnTo>
                    <a:pt x="6254" y="318"/>
                  </a:lnTo>
                  <a:lnTo>
                    <a:pt x="6255" y="339"/>
                  </a:lnTo>
                  <a:lnTo>
                    <a:pt x="6256" y="362"/>
                  </a:lnTo>
                  <a:close/>
                  <a:moveTo>
                    <a:pt x="6175" y="486"/>
                  </a:moveTo>
                  <a:lnTo>
                    <a:pt x="6175" y="408"/>
                  </a:lnTo>
                  <a:lnTo>
                    <a:pt x="6152" y="408"/>
                  </a:lnTo>
                  <a:lnTo>
                    <a:pt x="6131" y="409"/>
                  </a:lnTo>
                  <a:lnTo>
                    <a:pt x="6111" y="410"/>
                  </a:lnTo>
                  <a:lnTo>
                    <a:pt x="6092" y="413"/>
                  </a:lnTo>
                  <a:lnTo>
                    <a:pt x="6076" y="416"/>
                  </a:lnTo>
                  <a:lnTo>
                    <a:pt x="6060" y="420"/>
                  </a:lnTo>
                  <a:lnTo>
                    <a:pt x="6046" y="425"/>
                  </a:lnTo>
                  <a:lnTo>
                    <a:pt x="6034" y="432"/>
                  </a:lnTo>
                  <a:lnTo>
                    <a:pt x="6022" y="438"/>
                  </a:lnTo>
                  <a:lnTo>
                    <a:pt x="6013" y="445"/>
                  </a:lnTo>
                  <a:lnTo>
                    <a:pt x="6005" y="454"/>
                  </a:lnTo>
                  <a:lnTo>
                    <a:pt x="5999" y="463"/>
                  </a:lnTo>
                  <a:lnTo>
                    <a:pt x="5994" y="474"/>
                  </a:lnTo>
                  <a:lnTo>
                    <a:pt x="5989" y="484"/>
                  </a:lnTo>
                  <a:lnTo>
                    <a:pt x="5987" y="496"/>
                  </a:lnTo>
                  <a:lnTo>
                    <a:pt x="5986" y="509"/>
                  </a:lnTo>
                  <a:lnTo>
                    <a:pt x="5987" y="518"/>
                  </a:lnTo>
                  <a:lnTo>
                    <a:pt x="5988" y="527"/>
                  </a:lnTo>
                  <a:lnTo>
                    <a:pt x="5990" y="534"/>
                  </a:lnTo>
                  <a:lnTo>
                    <a:pt x="5993" y="543"/>
                  </a:lnTo>
                  <a:lnTo>
                    <a:pt x="5996" y="550"/>
                  </a:lnTo>
                  <a:lnTo>
                    <a:pt x="6000" y="556"/>
                  </a:lnTo>
                  <a:lnTo>
                    <a:pt x="6005" y="562"/>
                  </a:lnTo>
                  <a:lnTo>
                    <a:pt x="6010" y="567"/>
                  </a:lnTo>
                  <a:lnTo>
                    <a:pt x="6015" y="571"/>
                  </a:lnTo>
                  <a:lnTo>
                    <a:pt x="6020" y="576"/>
                  </a:lnTo>
                  <a:lnTo>
                    <a:pt x="6026" y="579"/>
                  </a:lnTo>
                  <a:lnTo>
                    <a:pt x="6034" y="582"/>
                  </a:lnTo>
                  <a:lnTo>
                    <a:pt x="6040" y="584"/>
                  </a:lnTo>
                  <a:lnTo>
                    <a:pt x="6047" y="586"/>
                  </a:lnTo>
                  <a:lnTo>
                    <a:pt x="6055" y="587"/>
                  </a:lnTo>
                  <a:lnTo>
                    <a:pt x="6063" y="587"/>
                  </a:lnTo>
                  <a:lnTo>
                    <a:pt x="6073" y="587"/>
                  </a:lnTo>
                  <a:lnTo>
                    <a:pt x="6083" y="585"/>
                  </a:lnTo>
                  <a:lnTo>
                    <a:pt x="6092" y="584"/>
                  </a:lnTo>
                  <a:lnTo>
                    <a:pt x="6100" y="581"/>
                  </a:lnTo>
                  <a:lnTo>
                    <a:pt x="6110" y="578"/>
                  </a:lnTo>
                  <a:lnTo>
                    <a:pt x="6118" y="573"/>
                  </a:lnTo>
                  <a:lnTo>
                    <a:pt x="6126" y="569"/>
                  </a:lnTo>
                  <a:lnTo>
                    <a:pt x="6133" y="563"/>
                  </a:lnTo>
                  <a:lnTo>
                    <a:pt x="6140" y="558"/>
                  </a:lnTo>
                  <a:lnTo>
                    <a:pt x="6146" y="553"/>
                  </a:lnTo>
                  <a:lnTo>
                    <a:pt x="6152" y="547"/>
                  </a:lnTo>
                  <a:lnTo>
                    <a:pt x="6156" y="541"/>
                  </a:lnTo>
                  <a:lnTo>
                    <a:pt x="6161" y="533"/>
                  </a:lnTo>
                  <a:lnTo>
                    <a:pt x="6164" y="526"/>
                  </a:lnTo>
                  <a:lnTo>
                    <a:pt x="6167" y="519"/>
                  </a:lnTo>
                  <a:lnTo>
                    <a:pt x="6170" y="512"/>
                  </a:lnTo>
                  <a:lnTo>
                    <a:pt x="6172" y="506"/>
                  </a:lnTo>
                  <a:lnTo>
                    <a:pt x="6173" y="499"/>
                  </a:lnTo>
                  <a:lnTo>
                    <a:pt x="6174" y="493"/>
                  </a:lnTo>
                  <a:lnTo>
                    <a:pt x="6175" y="486"/>
                  </a:lnTo>
                  <a:close/>
                  <a:moveTo>
                    <a:pt x="6469" y="637"/>
                  </a:moveTo>
                  <a:lnTo>
                    <a:pt x="6387" y="637"/>
                  </a:lnTo>
                  <a:lnTo>
                    <a:pt x="6387" y="188"/>
                  </a:lnTo>
                  <a:lnTo>
                    <a:pt x="6469" y="188"/>
                  </a:lnTo>
                  <a:lnTo>
                    <a:pt x="6469" y="637"/>
                  </a:lnTo>
                  <a:close/>
                  <a:moveTo>
                    <a:pt x="6427" y="105"/>
                  </a:moveTo>
                  <a:lnTo>
                    <a:pt x="6426" y="105"/>
                  </a:lnTo>
                  <a:lnTo>
                    <a:pt x="6416" y="104"/>
                  </a:lnTo>
                  <a:lnTo>
                    <a:pt x="6406" y="101"/>
                  </a:lnTo>
                  <a:lnTo>
                    <a:pt x="6401" y="99"/>
                  </a:lnTo>
                  <a:lnTo>
                    <a:pt x="6397" y="96"/>
                  </a:lnTo>
                  <a:lnTo>
                    <a:pt x="6393" y="93"/>
                  </a:lnTo>
                  <a:lnTo>
                    <a:pt x="6389" y="90"/>
                  </a:lnTo>
                  <a:lnTo>
                    <a:pt x="6383" y="82"/>
                  </a:lnTo>
                  <a:lnTo>
                    <a:pt x="6379" y="72"/>
                  </a:lnTo>
                  <a:lnTo>
                    <a:pt x="6376" y="63"/>
                  </a:lnTo>
                  <a:lnTo>
                    <a:pt x="6375" y="52"/>
                  </a:lnTo>
                  <a:lnTo>
                    <a:pt x="6376" y="42"/>
                  </a:lnTo>
                  <a:lnTo>
                    <a:pt x="6379" y="32"/>
                  </a:lnTo>
                  <a:lnTo>
                    <a:pt x="6384" y="23"/>
                  </a:lnTo>
                  <a:lnTo>
                    <a:pt x="6390" y="16"/>
                  </a:lnTo>
                  <a:lnTo>
                    <a:pt x="6394" y="12"/>
                  </a:lnTo>
                  <a:lnTo>
                    <a:pt x="6398" y="9"/>
                  </a:lnTo>
                  <a:lnTo>
                    <a:pt x="6403" y="6"/>
                  </a:lnTo>
                  <a:lnTo>
                    <a:pt x="6407" y="4"/>
                  </a:lnTo>
                  <a:lnTo>
                    <a:pt x="6417" y="2"/>
                  </a:lnTo>
                  <a:lnTo>
                    <a:pt x="6428" y="0"/>
                  </a:lnTo>
                  <a:lnTo>
                    <a:pt x="6439" y="2"/>
                  </a:lnTo>
                  <a:lnTo>
                    <a:pt x="6449" y="4"/>
                  </a:lnTo>
                  <a:lnTo>
                    <a:pt x="6454" y="6"/>
                  </a:lnTo>
                  <a:lnTo>
                    <a:pt x="6458" y="9"/>
                  </a:lnTo>
                  <a:lnTo>
                    <a:pt x="6462" y="12"/>
                  </a:lnTo>
                  <a:lnTo>
                    <a:pt x="6465" y="15"/>
                  </a:lnTo>
                  <a:lnTo>
                    <a:pt x="6472" y="23"/>
                  </a:lnTo>
                  <a:lnTo>
                    <a:pt x="6476" y="31"/>
                  </a:lnTo>
                  <a:lnTo>
                    <a:pt x="6480" y="42"/>
                  </a:lnTo>
                  <a:lnTo>
                    <a:pt x="6480" y="52"/>
                  </a:lnTo>
                  <a:lnTo>
                    <a:pt x="6480" y="63"/>
                  </a:lnTo>
                  <a:lnTo>
                    <a:pt x="6476" y="72"/>
                  </a:lnTo>
                  <a:lnTo>
                    <a:pt x="6472" y="82"/>
                  </a:lnTo>
                  <a:lnTo>
                    <a:pt x="6465" y="90"/>
                  </a:lnTo>
                  <a:lnTo>
                    <a:pt x="6462" y="93"/>
                  </a:lnTo>
                  <a:lnTo>
                    <a:pt x="6458" y="96"/>
                  </a:lnTo>
                  <a:lnTo>
                    <a:pt x="6454" y="99"/>
                  </a:lnTo>
                  <a:lnTo>
                    <a:pt x="6449" y="101"/>
                  </a:lnTo>
                  <a:lnTo>
                    <a:pt x="6444" y="103"/>
                  </a:lnTo>
                  <a:lnTo>
                    <a:pt x="6438" y="104"/>
                  </a:lnTo>
                  <a:lnTo>
                    <a:pt x="6433" y="104"/>
                  </a:lnTo>
                  <a:lnTo>
                    <a:pt x="6427" y="105"/>
                  </a:lnTo>
                  <a:close/>
                  <a:moveTo>
                    <a:pt x="6604" y="637"/>
                  </a:moveTo>
                  <a:lnTo>
                    <a:pt x="6604" y="309"/>
                  </a:lnTo>
                  <a:lnTo>
                    <a:pt x="6604" y="280"/>
                  </a:lnTo>
                  <a:lnTo>
                    <a:pt x="6603" y="250"/>
                  </a:lnTo>
                  <a:lnTo>
                    <a:pt x="6602" y="220"/>
                  </a:lnTo>
                  <a:lnTo>
                    <a:pt x="6601" y="188"/>
                  </a:lnTo>
                  <a:lnTo>
                    <a:pt x="6673" y="188"/>
                  </a:lnTo>
                  <a:lnTo>
                    <a:pt x="6678" y="262"/>
                  </a:lnTo>
                  <a:lnTo>
                    <a:pt x="6679" y="262"/>
                  </a:lnTo>
                  <a:lnTo>
                    <a:pt x="6684" y="254"/>
                  </a:lnTo>
                  <a:lnTo>
                    <a:pt x="6690" y="245"/>
                  </a:lnTo>
                  <a:lnTo>
                    <a:pt x="6695" y="237"/>
                  </a:lnTo>
                  <a:lnTo>
                    <a:pt x="6703" y="230"/>
                  </a:lnTo>
                  <a:lnTo>
                    <a:pt x="6710" y="223"/>
                  </a:lnTo>
                  <a:lnTo>
                    <a:pt x="6717" y="217"/>
                  </a:lnTo>
                  <a:lnTo>
                    <a:pt x="6725" y="210"/>
                  </a:lnTo>
                  <a:lnTo>
                    <a:pt x="6734" y="204"/>
                  </a:lnTo>
                  <a:lnTo>
                    <a:pt x="6745" y="198"/>
                  </a:lnTo>
                  <a:lnTo>
                    <a:pt x="6756" y="193"/>
                  </a:lnTo>
                  <a:lnTo>
                    <a:pt x="6767" y="188"/>
                  </a:lnTo>
                  <a:lnTo>
                    <a:pt x="6779" y="185"/>
                  </a:lnTo>
                  <a:lnTo>
                    <a:pt x="6790" y="182"/>
                  </a:lnTo>
                  <a:lnTo>
                    <a:pt x="6802" y="179"/>
                  </a:lnTo>
                  <a:lnTo>
                    <a:pt x="6815" y="177"/>
                  </a:lnTo>
                  <a:lnTo>
                    <a:pt x="6828" y="177"/>
                  </a:lnTo>
                  <a:lnTo>
                    <a:pt x="6842" y="178"/>
                  </a:lnTo>
                  <a:lnTo>
                    <a:pt x="6857" y="179"/>
                  </a:lnTo>
                  <a:lnTo>
                    <a:pt x="6870" y="183"/>
                  </a:lnTo>
                  <a:lnTo>
                    <a:pt x="6883" y="187"/>
                  </a:lnTo>
                  <a:lnTo>
                    <a:pt x="6896" y="192"/>
                  </a:lnTo>
                  <a:lnTo>
                    <a:pt x="6908" y="199"/>
                  </a:lnTo>
                  <a:lnTo>
                    <a:pt x="6919" y="206"/>
                  </a:lnTo>
                  <a:lnTo>
                    <a:pt x="6930" y="215"/>
                  </a:lnTo>
                  <a:lnTo>
                    <a:pt x="6937" y="222"/>
                  </a:lnTo>
                  <a:lnTo>
                    <a:pt x="6943" y="229"/>
                  </a:lnTo>
                  <a:lnTo>
                    <a:pt x="6949" y="236"/>
                  </a:lnTo>
                  <a:lnTo>
                    <a:pt x="6954" y="244"/>
                  </a:lnTo>
                  <a:lnTo>
                    <a:pt x="6959" y="251"/>
                  </a:lnTo>
                  <a:lnTo>
                    <a:pt x="6965" y="261"/>
                  </a:lnTo>
                  <a:lnTo>
                    <a:pt x="6969" y="269"/>
                  </a:lnTo>
                  <a:lnTo>
                    <a:pt x="6972" y="279"/>
                  </a:lnTo>
                  <a:lnTo>
                    <a:pt x="6976" y="289"/>
                  </a:lnTo>
                  <a:lnTo>
                    <a:pt x="6978" y="299"/>
                  </a:lnTo>
                  <a:lnTo>
                    <a:pt x="6981" y="309"/>
                  </a:lnTo>
                  <a:lnTo>
                    <a:pt x="6983" y="320"/>
                  </a:lnTo>
                  <a:lnTo>
                    <a:pt x="6985" y="344"/>
                  </a:lnTo>
                  <a:lnTo>
                    <a:pt x="6986" y="369"/>
                  </a:lnTo>
                  <a:lnTo>
                    <a:pt x="6986" y="637"/>
                  </a:lnTo>
                  <a:lnTo>
                    <a:pt x="6905" y="637"/>
                  </a:lnTo>
                  <a:lnTo>
                    <a:pt x="6905" y="378"/>
                  </a:lnTo>
                  <a:lnTo>
                    <a:pt x="6904" y="362"/>
                  </a:lnTo>
                  <a:lnTo>
                    <a:pt x="6903" y="346"/>
                  </a:lnTo>
                  <a:lnTo>
                    <a:pt x="6901" y="333"/>
                  </a:lnTo>
                  <a:lnTo>
                    <a:pt x="6898" y="319"/>
                  </a:lnTo>
                  <a:lnTo>
                    <a:pt x="6895" y="307"/>
                  </a:lnTo>
                  <a:lnTo>
                    <a:pt x="6890" y="297"/>
                  </a:lnTo>
                  <a:lnTo>
                    <a:pt x="6884" y="286"/>
                  </a:lnTo>
                  <a:lnTo>
                    <a:pt x="6878" y="277"/>
                  </a:lnTo>
                  <a:lnTo>
                    <a:pt x="6872" y="270"/>
                  </a:lnTo>
                  <a:lnTo>
                    <a:pt x="6864" y="263"/>
                  </a:lnTo>
                  <a:lnTo>
                    <a:pt x="6856" y="258"/>
                  </a:lnTo>
                  <a:lnTo>
                    <a:pt x="6846" y="253"/>
                  </a:lnTo>
                  <a:lnTo>
                    <a:pt x="6836" y="249"/>
                  </a:lnTo>
                  <a:lnTo>
                    <a:pt x="6825" y="246"/>
                  </a:lnTo>
                  <a:lnTo>
                    <a:pt x="6814" y="244"/>
                  </a:lnTo>
                  <a:lnTo>
                    <a:pt x="6801" y="244"/>
                  </a:lnTo>
                  <a:lnTo>
                    <a:pt x="6791" y="244"/>
                  </a:lnTo>
                  <a:lnTo>
                    <a:pt x="6782" y="245"/>
                  </a:lnTo>
                  <a:lnTo>
                    <a:pt x="6772" y="247"/>
                  </a:lnTo>
                  <a:lnTo>
                    <a:pt x="6764" y="250"/>
                  </a:lnTo>
                  <a:lnTo>
                    <a:pt x="6756" y="254"/>
                  </a:lnTo>
                  <a:lnTo>
                    <a:pt x="6748" y="258"/>
                  </a:lnTo>
                  <a:lnTo>
                    <a:pt x="6740" y="263"/>
                  </a:lnTo>
                  <a:lnTo>
                    <a:pt x="6732" y="268"/>
                  </a:lnTo>
                  <a:lnTo>
                    <a:pt x="6725" y="274"/>
                  </a:lnTo>
                  <a:lnTo>
                    <a:pt x="6719" y="281"/>
                  </a:lnTo>
                  <a:lnTo>
                    <a:pt x="6713" y="289"/>
                  </a:lnTo>
                  <a:lnTo>
                    <a:pt x="6707" y="296"/>
                  </a:lnTo>
                  <a:lnTo>
                    <a:pt x="6703" y="303"/>
                  </a:lnTo>
                  <a:lnTo>
                    <a:pt x="6698" y="311"/>
                  </a:lnTo>
                  <a:lnTo>
                    <a:pt x="6694" y="319"/>
                  </a:lnTo>
                  <a:lnTo>
                    <a:pt x="6691" y="329"/>
                  </a:lnTo>
                  <a:lnTo>
                    <a:pt x="6689" y="337"/>
                  </a:lnTo>
                  <a:lnTo>
                    <a:pt x="6687" y="346"/>
                  </a:lnTo>
                  <a:lnTo>
                    <a:pt x="6686" y="356"/>
                  </a:lnTo>
                  <a:lnTo>
                    <a:pt x="6686" y="367"/>
                  </a:lnTo>
                  <a:lnTo>
                    <a:pt x="6686" y="637"/>
                  </a:lnTo>
                  <a:lnTo>
                    <a:pt x="6604" y="637"/>
                  </a:lnTo>
                  <a:close/>
                  <a:moveTo>
                    <a:pt x="7137" y="105"/>
                  </a:moveTo>
                  <a:lnTo>
                    <a:pt x="7217" y="80"/>
                  </a:lnTo>
                  <a:lnTo>
                    <a:pt x="7217" y="188"/>
                  </a:lnTo>
                  <a:lnTo>
                    <a:pt x="7333" y="188"/>
                  </a:lnTo>
                  <a:lnTo>
                    <a:pt x="7333" y="249"/>
                  </a:lnTo>
                  <a:lnTo>
                    <a:pt x="7217" y="249"/>
                  </a:lnTo>
                  <a:lnTo>
                    <a:pt x="7217" y="492"/>
                  </a:lnTo>
                  <a:lnTo>
                    <a:pt x="7217" y="503"/>
                  </a:lnTo>
                  <a:lnTo>
                    <a:pt x="7218" y="513"/>
                  </a:lnTo>
                  <a:lnTo>
                    <a:pt x="7219" y="522"/>
                  </a:lnTo>
                  <a:lnTo>
                    <a:pt x="7220" y="530"/>
                  </a:lnTo>
                  <a:lnTo>
                    <a:pt x="7223" y="539"/>
                  </a:lnTo>
                  <a:lnTo>
                    <a:pt x="7226" y="546"/>
                  </a:lnTo>
                  <a:lnTo>
                    <a:pt x="7229" y="552"/>
                  </a:lnTo>
                  <a:lnTo>
                    <a:pt x="7233" y="557"/>
                  </a:lnTo>
                  <a:lnTo>
                    <a:pt x="7237" y="562"/>
                  </a:lnTo>
                  <a:lnTo>
                    <a:pt x="7241" y="567"/>
                  </a:lnTo>
                  <a:lnTo>
                    <a:pt x="7246" y="570"/>
                  </a:lnTo>
                  <a:lnTo>
                    <a:pt x="7251" y="573"/>
                  </a:lnTo>
                  <a:lnTo>
                    <a:pt x="7257" y="577"/>
                  </a:lnTo>
                  <a:lnTo>
                    <a:pt x="7264" y="578"/>
                  </a:lnTo>
                  <a:lnTo>
                    <a:pt x="7271" y="579"/>
                  </a:lnTo>
                  <a:lnTo>
                    <a:pt x="7278" y="580"/>
                  </a:lnTo>
                  <a:lnTo>
                    <a:pt x="7291" y="579"/>
                  </a:lnTo>
                  <a:lnTo>
                    <a:pt x="7304" y="578"/>
                  </a:lnTo>
                  <a:lnTo>
                    <a:pt x="7315" y="577"/>
                  </a:lnTo>
                  <a:lnTo>
                    <a:pt x="7325" y="573"/>
                  </a:lnTo>
                  <a:lnTo>
                    <a:pt x="7329" y="635"/>
                  </a:lnTo>
                  <a:lnTo>
                    <a:pt x="7314" y="640"/>
                  </a:lnTo>
                  <a:lnTo>
                    <a:pt x="7296" y="644"/>
                  </a:lnTo>
                  <a:lnTo>
                    <a:pt x="7278" y="647"/>
                  </a:lnTo>
                  <a:lnTo>
                    <a:pt x="7257" y="648"/>
                  </a:lnTo>
                  <a:lnTo>
                    <a:pt x="7243" y="647"/>
                  </a:lnTo>
                  <a:lnTo>
                    <a:pt x="7230" y="644"/>
                  </a:lnTo>
                  <a:lnTo>
                    <a:pt x="7217" y="642"/>
                  </a:lnTo>
                  <a:lnTo>
                    <a:pt x="7206" y="638"/>
                  </a:lnTo>
                  <a:lnTo>
                    <a:pt x="7196" y="633"/>
                  </a:lnTo>
                  <a:lnTo>
                    <a:pt x="7185" y="627"/>
                  </a:lnTo>
                  <a:lnTo>
                    <a:pt x="7176" y="620"/>
                  </a:lnTo>
                  <a:lnTo>
                    <a:pt x="7168" y="612"/>
                  </a:lnTo>
                  <a:lnTo>
                    <a:pt x="7161" y="602"/>
                  </a:lnTo>
                  <a:lnTo>
                    <a:pt x="7155" y="591"/>
                  </a:lnTo>
                  <a:lnTo>
                    <a:pt x="7149" y="579"/>
                  </a:lnTo>
                  <a:lnTo>
                    <a:pt x="7145" y="565"/>
                  </a:lnTo>
                  <a:lnTo>
                    <a:pt x="7141" y="550"/>
                  </a:lnTo>
                  <a:lnTo>
                    <a:pt x="7139" y="532"/>
                  </a:lnTo>
                  <a:lnTo>
                    <a:pt x="7138" y="515"/>
                  </a:lnTo>
                  <a:lnTo>
                    <a:pt x="7137" y="495"/>
                  </a:lnTo>
                  <a:lnTo>
                    <a:pt x="7137" y="249"/>
                  </a:lnTo>
                  <a:lnTo>
                    <a:pt x="7068" y="249"/>
                  </a:lnTo>
                  <a:lnTo>
                    <a:pt x="7068" y="188"/>
                  </a:lnTo>
                  <a:lnTo>
                    <a:pt x="7137" y="188"/>
                  </a:lnTo>
                  <a:lnTo>
                    <a:pt x="7137" y="105"/>
                  </a:lnTo>
                  <a:close/>
                  <a:moveTo>
                    <a:pt x="7366" y="188"/>
                  </a:moveTo>
                  <a:lnTo>
                    <a:pt x="7455" y="188"/>
                  </a:lnTo>
                  <a:lnTo>
                    <a:pt x="7553" y="453"/>
                  </a:lnTo>
                  <a:lnTo>
                    <a:pt x="7560" y="474"/>
                  </a:lnTo>
                  <a:lnTo>
                    <a:pt x="7568" y="495"/>
                  </a:lnTo>
                  <a:lnTo>
                    <a:pt x="7575" y="519"/>
                  </a:lnTo>
                  <a:lnTo>
                    <a:pt x="7582" y="545"/>
                  </a:lnTo>
                  <a:lnTo>
                    <a:pt x="7584" y="545"/>
                  </a:lnTo>
                  <a:lnTo>
                    <a:pt x="7589" y="527"/>
                  </a:lnTo>
                  <a:lnTo>
                    <a:pt x="7595" y="507"/>
                  </a:lnTo>
                  <a:lnTo>
                    <a:pt x="7604" y="481"/>
                  </a:lnTo>
                  <a:lnTo>
                    <a:pt x="7613" y="451"/>
                  </a:lnTo>
                  <a:lnTo>
                    <a:pt x="7701" y="188"/>
                  </a:lnTo>
                  <a:lnTo>
                    <a:pt x="7788" y="188"/>
                  </a:lnTo>
                  <a:lnTo>
                    <a:pt x="7665" y="508"/>
                  </a:lnTo>
                  <a:lnTo>
                    <a:pt x="7654" y="537"/>
                  </a:lnTo>
                  <a:lnTo>
                    <a:pt x="7644" y="564"/>
                  </a:lnTo>
                  <a:lnTo>
                    <a:pt x="7632" y="590"/>
                  </a:lnTo>
                  <a:lnTo>
                    <a:pt x="7623" y="614"/>
                  </a:lnTo>
                  <a:lnTo>
                    <a:pt x="7613" y="635"/>
                  </a:lnTo>
                  <a:lnTo>
                    <a:pt x="7604" y="655"/>
                  </a:lnTo>
                  <a:lnTo>
                    <a:pt x="7595" y="672"/>
                  </a:lnTo>
                  <a:lnTo>
                    <a:pt x="7587" y="688"/>
                  </a:lnTo>
                  <a:lnTo>
                    <a:pt x="7578" y="704"/>
                  </a:lnTo>
                  <a:lnTo>
                    <a:pt x="7569" y="719"/>
                  </a:lnTo>
                  <a:lnTo>
                    <a:pt x="7559" y="733"/>
                  </a:lnTo>
                  <a:lnTo>
                    <a:pt x="7550" y="746"/>
                  </a:lnTo>
                  <a:lnTo>
                    <a:pt x="7541" y="759"/>
                  </a:lnTo>
                  <a:lnTo>
                    <a:pt x="7532" y="770"/>
                  </a:lnTo>
                  <a:lnTo>
                    <a:pt x="7521" y="780"/>
                  </a:lnTo>
                  <a:lnTo>
                    <a:pt x="7512" y="790"/>
                  </a:lnTo>
                  <a:lnTo>
                    <a:pt x="7500" y="800"/>
                  </a:lnTo>
                  <a:lnTo>
                    <a:pt x="7487" y="809"/>
                  </a:lnTo>
                  <a:lnTo>
                    <a:pt x="7474" y="817"/>
                  </a:lnTo>
                  <a:lnTo>
                    <a:pt x="7462" y="825"/>
                  </a:lnTo>
                  <a:lnTo>
                    <a:pt x="7450" y="831"/>
                  </a:lnTo>
                  <a:lnTo>
                    <a:pt x="7437" y="835"/>
                  </a:lnTo>
                  <a:lnTo>
                    <a:pt x="7424" y="839"/>
                  </a:lnTo>
                  <a:lnTo>
                    <a:pt x="7412" y="842"/>
                  </a:lnTo>
                  <a:lnTo>
                    <a:pt x="7391" y="773"/>
                  </a:lnTo>
                  <a:lnTo>
                    <a:pt x="7409" y="766"/>
                  </a:lnTo>
                  <a:lnTo>
                    <a:pt x="7428" y="758"/>
                  </a:lnTo>
                  <a:lnTo>
                    <a:pt x="7445" y="746"/>
                  </a:lnTo>
                  <a:lnTo>
                    <a:pt x="7463" y="733"/>
                  </a:lnTo>
                  <a:lnTo>
                    <a:pt x="7473" y="725"/>
                  </a:lnTo>
                  <a:lnTo>
                    <a:pt x="7482" y="714"/>
                  </a:lnTo>
                  <a:lnTo>
                    <a:pt x="7493" y="704"/>
                  </a:lnTo>
                  <a:lnTo>
                    <a:pt x="7501" y="693"/>
                  </a:lnTo>
                  <a:lnTo>
                    <a:pt x="7509" y="682"/>
                  </a:lnTo>
                  <a:lnTo>
                    <a:pt x="7517" y="669"/>
                  </a:lnTo>
                  <a:lnTo>
                    <a:pt x="7525" y="656"/>
                  </a:lnTo>
                  <a:lnTo>
                    <a:pt x="7531" y="642"/>
                  </a:lnTo>
                  <a:lnTo>
                    <a:pt x="7536" y="631"/>
                  </a:lnTo>
                  <a:lnTo>
                    <a:pt x="7538" y="623"/>
                  </a:lnTo>
                  <a:lnTo>
                    <a:pt x="7536" y="615"/>
                  </a:lnTo>
                  <a:lnTo>
                    <a:pt x="7532" y="601"/>
                  </a:lnTo>
                  <a:lnTo>
                    <a:pt x="7366" y="188"/>
                  </a:lnTo>
                  <a:close/>
                  <a:moveTo>
                    <a:pt x="7898" y="648"/>
                  </a:moveTo>
                  <a:lnTo>
                    <a:pt x="7896" y="648"/>
                  </a:lnTo>
                  <a:lnTo>
                    <a:pt x="7890" y="647"/>
                  </a:lnTo>
                  <a:lnTo>
                    <a:pt x="7885" y="647"/>
                  </a:lnTo>
                  <a:lnTo>
                    <a:pt x="7880" y="644"/>
                  </a:lnTo>
                  <a:lnTo>
                    <a:pt x="7875" y="642"/>
                  </a:lnTo>
                  <a:lnTo>
                    <a:pt x="7871" y="640"/>
                  </a:lnTo>
                  <a:lnTo>
                    <a:pt x="7866" y="637"/>
                  </a:lnTo>
                  <a:lnTo>
                    <a:pt x="7862" y="634"/>
                  </a:lnTo>
                  <a:lnTo>
                    <a:pt x="7857" y="630"/>
                  </a:lnTo>
                  <a:lnTo>
                    <a:pt x="7854" y="626"/>
                  </a:lnTo>
                  <a:lnTo>
                    <a:pt x="7851" y="622"/>
                  </a:lnTo>
                  <a:lnTo>
                    <a:pt x="7848" y="617"/>
                  </a:lnTo>
                  <a:lnTo>
                    <a:pt x="7846" y="612"/>
                  </a:lnTo>
                  <a:lnTo>
                    <a:pt x="7844" y="600"/>
                  </a:lnTo>
                  <a:lnTo>
                    <a:pt x="7843" y="589"/>
                  </a:lnTo>
                  <a:lnTo>
                    <a:pt x="7843" y="583"/>
                  </a:lnTo>
                  <a:lnTo>
                    <a:pt x="7844" y="577"/>
                  </a:lnTo>
                  <a:lnTo>
                    <a:pt x="7845" y="571"/>
                  </a:lnTo>
                  <a:lnTo>
                    <a:pt x="7846" y="565"/>
                  </a:lnTo>
                  <a:lnTo>
                    <a:pt x="7849" y="560"/>
                  </a:lnTo>
                  <a:lnTo>
                    <a:pt x="7851" y="556"/>
                  </a:lnTo>
                  <a:lnTo>
                    <a:pt x="7854" y="551"/>
                  </a:lnTo>
                  <a:lnTo>
                    <a:pt x="7858" y="547"/>
                  </a:lnTo>
                  <a:lnTo>
                    <a:pt x="7863" y="543"/>
                  </a:lnTo>
                  <a:lnTo>
                    <a:pt x="7867" y="540"/>
                  </a:lnTo>
                  <a:lnTo>
                    <a:pt x="7872" y="536"/>
                  </a:lnTo>
                  <a:lnTo>
                    <a:pt x="7876" y="534"/>
                  </a:lnTo>
                  <a:lnTo>
                    <a:pt x="7881" y="532"/>
                  </a:lnTo>
                  <a:lnTo>
                    <a:pt x="7887" y="531"/>
                  </a:lnTo>
                  <a:lnTo>
                    <a:pt x="7892" y="530"/>
                  </a:lnTo>
                  <a:lnTo>
                    <a:pt x="7899" y="530"/>
                  </a:lnTo>
                  <a:lnTo>
                    <a:pt x="7905" y="530"/>
                  </a:lnTo>
                  <a:lnTo>
                    <a:pt x="7910" y="531"/>
                  </a:lnTo>
                  <a:lnTo>
                    <a:pt x="7915" y="532"/>
                  </a:lnTo>
                  <a:lnTo>
                    <a:pt x="7920" y="534"/>
                  </a:lnTo>
                  <a:lnTo>
                    <a:pt x="7925" y="536"/>
                  </a:lnTo>
                  <a:lnTo>
                    <a:pt x="7929" y="540"/>
                  </a:lnTo>
                  <a:lnTo>
                    <a:pt x="7933" y="543"/>
                  </a:lnTo>
                  <a:lnTo>
                    <a:pt x="7938" y="547"/>
                  </a:lnTo>
                  <a:lnTo>
                    <a:pt x="7942" y="551"/>
                  </a:lnTo>
                  <a:lnTo>
                    <a:pt x="7945" y="555"/>
                  </a:lnTo>
                  <a:lnTo>
                    <a:pt x="7947" y="560"/>
                  </a:lnTo>
                  <a:lnTo>
                    <a:pt x="7949" y="565"/>
                  </a:lnTo>
                  <a:lnTo>
                    <a:pt x="7951" y="570"/>
                  </a:lnTo>
                  <a:lnTo>
                    <a:pt x="7952" y="577"/>
                  </a:lnTo>
                  <a:lnTo>
                    <a:pt x="7953" y="583"/>
                  </a:lnTo>
                  <a:lnTo>
                    <a:pt x="7953" y="589"/>
                  </a:lnTo>
                  <a:lnTo>
                    <a:pt x="7952" y="600"/>
                  </a:lnTo>
                  <a:lnTo>
                    <a:pt x="7949" y="612"/>
                  </a:lnTo>
                  <a:lnTo>
                    <a:pt x="7947" y="617"/>
                  </a:lnTo>
                  <a:lnTo>
                    <a:pt x="7945" y="622"/>
                  </a:lnTo>
                  <a:lnTo>
                    <a:pt x="7942" y="626"/>
                  </a:lnTo>
                  <a:lnTo>
                    <a:pt x="7938" y="630"/>
                  </a:lnTo>
                  <a:lnTo>
                    <a:pt x="7933" y="634"/>
                  </a:lnTo>
                  <a:lnTo>
                    <a:pt x="7929" y="637"/>
                  </a:lnTo>
                  <a:lnTo>
                    <a:pt x="7925" y="640"/>
                  </a:lnTo>
                  <a:lnTo>
                    <a:pt x="7920" y="642"/>
                  </a:lnTo>
                  <a:lnTo>
                    <a:pt x="7915" y="644"/>
                  </a:lnTo>
                  <a:lnTo>
                    <a:pt x="7909" y="647"/>
                  </a:lnTo>
                  <a:lnTo>
                    <a:pt x="7904" y="647"/>
                  </a:lnTo>
                  <a:lnTo>
                    <a:pt x="7898" y="648"/>
                  </a:lnTo>
                  <a:close/>
                </a:path>
              </a:pathLst>
            </a:custGeom>
            <a:solidFill>
              <a:srgbClr val="7D99C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ctr"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endParaRPr lang="en-US" sz="1800"/>
            </a:p>
          </p:txBody>
        </p:sp>
      </p:grpSp>
      <p:sp>
        <p:nvSpPr>
          <p:cNvPr id="13" name="AutoShape 3"/>
          <p:cNvSpPr>
            <a:spLocks noChangeAspect="1" noChangeArrowheads="1" noTextEdit="1"/>
          </p:cNvSpPr>
          <p:nvPr/>
        </p:nvSpPr>
        <p:spPr bwMode="auto">
          <a:xfrm>
            <a:off x="0" y="3810001"/>
            <a:ext cx="12192000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sz="1800"/>
          </a:p>
        </p:txBody>
      </p:sp>
      <p:pic>
        <p:nvPicPr>
          <p:cNvPr id="14" name="Picture 2" descr="Q:\Repro 2\New guidelines 2011_12\Final 260411\PPT\OLD\050511\WMF\text slide pattern_2 boxes_060511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659467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Rectangle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">
                <a:srgbClr val="0067AC"/>
              </a:gs>
              <a:gs pos="100000">
                <a:srgbClr val="56BBED"/>
              </a:gs>
            </a:gsLst>
            <a:lin ang="9120000" scaled="0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sz="1800"/>
          </a:p>
        </p:txBody>
      </p:sp>
      <p:sp>
        <p:nvSpPr>
          <p:cNvPr id="16" name="Rectangle 56"/>
          <p:cNvSpPr>
            <a:spLocks noChangeArrowheads="1"/>
          </p:cNvSpPr>
          <p:nvPr/>
        </p:nvSpPr>
        <p:spPr bwMode="auto">
          <a:xfrm>
            <a:off x="0" y="1976439"/>
            <a:ext cx="12192000" cy="847725"/>
          </a:xfrm>
          <a:prstGeom prst="rect">
            <a:avLst/>
          </a:prstGeom>
          <a:solidFill>
            <a:srgbClr val="0067A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2683" y="3200401"/>
            <a:ext cx="10363200" cy="609600"/>
          </a:xfrm>
        </p:spPr>
        <p:txBody>
          <a:bodyPr>
            <a:noAutofit/>
          </a:bodyPr>
          <a:lstStyle>
            <a:lvl1pPr algn="l"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683" y="3858638"/>
            <a:ext cx="10380133" cy="609600"/>
          </a:xfrm>
        </p:spPr>
        <p:txBody>
          <a:bodyPr>
            <a:noAutofit/>
          </a:bodyPr>
          <a:lstStyle>
            <a:lvl1pPr marL="0" indent="0" algn="l">
              <a:buNone/>
              <a:defRPr sz="3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47099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3pPr>
              <a:defRPr/>
            </a:lvl3pPr>
            <a:lvl4pPr>
              <a:defRPr sz="1600"/>
            </a:lvl4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2800637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3886200"/>
            <a:ext cx="10363200" cy="622300"/>
          </a:xfrm>
        </p:spPr>
        <p:txBody>
          <a:bodyPr anchor="t">
            <a:noAutofit/>
          </a:bodyPr>
          <a:lstStyle>
            <a:lvl1pPr algn="ctr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750887"/>
          </a:xfrm>
        </p:spPr>
        <p:txBody>
          <a:bodyPr anchor="b">
            <a:noAutofit/>
          </a:bodyPr>
          <a:lstStyle>
            <a:lvl1pPr marL="0" indent="0" algn="ctr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72763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0896" y="1189037"/>
            <a:ext cx="5384800" cy="4525963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3"/>
          </p:nvPr>
        </p:nvSpPr>
        <p:spPr>
          <a:xfrm>
            <a:off x="6371768" y="1189037"/>
            <a:ext cx="5384800" cy="4525963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86833651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0896" y="1187450"/>
            <a:ext cx="5386917" cy="712787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0896" y="1916112"/>
            <a:ext cx="5386917" cy="3951288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48184" y="1187450"/>
            <a:ext cx="5389033" cy="712787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48184" y="1916112"/>
            <a:ext cx="5389033" cy="3951288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11871832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36779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265546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897" y="1125538"/>
            <a:ext cx="4011084" cy="787399"/>
          </a:xfrm>
        </p:spPr>
        <p:txBody>
          <a:bodyPr anchor="b">
            <a:noAutofit/>
          </a:bodyPr>
          <a:lstStyle>
            <a:lvl1pPr algn="l">
              <a:defRPr sz="2200" b="1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5437" y="1125538"/>
            <a:ext cx="6815667" cy="5199063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0897" y="1951037"/>
            <a:ext cx="4011084" cy="4373563"/>
          </a:xfrm>
        </p:spPr>
        <p:txBody>
          <a:bodyPr>
            <a:no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3393366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76801"/>
            <a:ext cx="7315200" cy="566738"/>
          </a:xfrm>
        </p:spPr>
        <p:txBody>
          <a:bodyPr anchor="b">
            <a:noAutofit/>
          </a:bodyPr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43001"/>
            <a:ext cx="7315200" cy="3660775"/>
          </a:xfrm>
        </p:spPr>
        <p:txBody>
          <a:bodyPr rtlCol="0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443539"/>
            <a:ext cx="7315200" cy="804862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8265731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4405" y="1190625"/>
            <a:ext cx="11161184" cy="1323975"/>
          </a:xfrm>
          <a:ln>
            <a:solidFill>
              <a:schemeClr val="bg1"/>
            </a:solidFill>
          </a:ln>
        </p:spPr>
        <p:txBody>
          <a:bodyPr rtlCol="0">
            <a:normAutofit/>
          </a:bodyPr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smtClean="0"/>
              <a:t>Click icon to add table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624350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8192" y="1168400"/>
            <a:ext cx="11237408" cy="5156200"/>
          </a:xfrm>
        </p:spPr>
        <p:txBody>
          <a:bodyPr vert="eaVert">
            <a:noAutofit/>
          </a:bodyPr>
          <a:lstStyle>
            <a:lvl3pPr>
              <a:defRPr/>
            </a:lvl3pPr>
            <a:lvl4pPr>
              <a:defRPr sz="1600"/>
            </a:lvl4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3425965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71424" y="1189038"/>
            <a:ext cx="2743200" cy="5135563"/>
          </a:xfrm>
        </p:spPr>
        <p:txBody>
          <a:bodyPr vert="eaVer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1544" y="1189038"/>
            <a:ext cx="8253789" cy="5135563"/>
          </a:xfrm>
        </p:spPr>
        <p:txBody>
          <a:bodyPr vert="eaVert">
            <a:noAutofit/>
          </a:bodyPr>
          <a:lstStyle>
            <a:lvl3pPr>
              <a:defRPr/>
            </a:lvl3pPr>
            <a:lvl4pPr>
              <a:defRPr sz="1600"/>
            </a:lvl4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20534551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63740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50526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19715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769734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218" y="914401"/>
            <a:ext cx="551603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451" y="914401"/>
            <a:ext cx="551814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4351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53360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67759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894673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2938450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4457808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7377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3595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6720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66664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6/6/2022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1708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32248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3022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09640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6/6/2022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20493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50036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87434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4514751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86552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3509498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80122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6/6/2022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74886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77931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66967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image" Target="../media/image1.wmf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70.xml"/><Relationship Id="rId18" Type="http://schemas.openxmlformats.org/officeDocument/2006/relationships/theme" Target="../theme/theme6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74.xml"/><Relationship Id="rId2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73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1" y="446088"/>
            <a:ext cx="11256433" cy="59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9" tIns="45714" rIns="91429" bIns="457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1" y="1112838"/>
            <a:ext cx="11256433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0316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4E84C4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4E84C4"/>
          </a:solidFill>
          <a:latin typeface="Myriad Pro" pitchFamily="32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4E84C4"/>
          </a:solidFill>
          <a:latin typeface="Myriad Pro" pitchFamily="32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4E84C4"/>
          </a:solidFill>
          <a:latin typeface="Myriad Pro" pitchFamily="32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4E84C4"/>
          </a:solidFill>
          <a:latin typeface="Myriad Pro" pitchFamily="32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4E84C4"/>
          </a:solidFill>
          <a:latin typeface="Myriad Pro" pitchFamily="32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4E84C4"/>
          </a:solidFill>
          <a:latin typeface="Myriad Pro" pitchFamily="32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4E84C4"/>
          </a:solidFill>
          <a:latin typeface="Myriad Pro" pitchFamily="32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4E84C4"/>
          </a:solidFill>
          <a:latin typeface="Myriad Pro" pitchFamily="32" charset="0"/>
          <a:cs typeface="Arial" charset="0"/>
        </a:defRPr>
      </a:lvl9pPr>
    </p:titleStyle>
    <p:bodyStyle>
      <a:lvl1pPr marL="122238" indent="-122238" algn="l" rtl="0" eaLnBrk="1" fontAlgn="base" hangingPunct="1">
        <a:spcBef>
          <a:spcPct val="20000"/>
        </a:spcBef>
        <a:spcAft>
          <a:spcPct val="0"/>
        </a:spcAft>
        <a:buClr>
          <a:srgbClr val="4E84C4"/>
        </a:buClr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28600" algn="l" rtl="0" eaLnBrk="1" fontAlgn="base" hangingPunct="1">
        <a:spcBef>
          <a:spcPct val="20000"/>
        </a:spcBef>
        <a:spcAft>
          <a:spcPct val="0"/>
        </a:spcAft>
        <a:buClr>
          <a:srgbClr val="4E84C4"/>
        </a:buClr>
        <a:buChar char="–"/>
        <a:defRPr sz="1600">
          <a:solidFill>
            <a:schemeClr val="tx1"/>
          </a:solidFill>
          <a:latin typeface="+mn-lt"/>
          <a:cs typeface="+mn-cs"/>
        </a:defRPr>
      </a:lvl2pPr>
      <a:lvl3pPr marL="808038" indent="-122238" algn="l" rtl="0" eaLnBrk="1" fontAlgn="base" hangingPunct="1">
        <a:spcBef>
          <a:spcPct val="20000"/>
        </a:spcBef>
        <a:spcAft>
          <a:spcPct val="0"/>
        </a:spcAft>
        <a:buClr>
          <a:srgbClr val="4E84C4"/>
        </a:buClr>
        <a:buChar char="•"/>
        <a:defRPr sz="1600">
          <a:solidFill>
            <a:schemeClr val="tx1"/>
          </a:solidFill>
          <a:latin typeface="+mn-lt"/>
          <a:cs typeface="+mn-cs"/>
        </a:defRPr>
      </a:lvl3pPr>
      <a:lvl4pPr marL="1257300" indent="-228600" algn="l" rtl="0" eaLnBrk="1" fontAlgn="base" hangingPunct="1">
        <a:spcBef>
          <a:spcPct val="20000"/>
        </a:spcBef>
        <a:spcAft>
          <a:spcPct val="0"/>
        </a:spcAft>
        <a:buClr>
          <a:srgbClr val="4E84C4"/>
        </a:buClr>
        <a:buChar char="–"/>
        <a:defRPr sz="1600">
          <a:solidFill>
            <a:schemeClr val="tx1"/>
          </a:solidFill>
          <a:latin typeface="+mn-lt"/>
          <a:cs typeface="+mn-cs"/>
        </a:defRPr>
      </a:lvl4pPr>
      <a:lvl5pPr marL="1492250" indent="-120650" algn="l" rtl="0" eaLnBrk="1" fontAlgn="base" hangingPunct="1">
        <a:spcBef>
          <a:spcPct val="20000"/>
        </a:spcBef>
        <a:spcAft>
          <a:spcPct val="0"/>
        </a:spcAft>
        <a:buClr>
          <a:srgbClr val="4E84C4"/>
        </a:buClr>
        <a:buChar char="»"/>
        <a:defRPr sz="1600">
          <a:solidFill>
            <a:schemeClr val="tx1"/>
          </a:solidFill>
          <a:latin typeface="+mn-lt"/>
          <a:cs typeface="+mn-cs"/>
        </a:defRPr>
      </a:lvl5pPr>
      <a:lvl6pPr marL="1949450" indent="-120650" algn="l" rtl="0" eaLnBrk="1" fontAlgn="base" hangingPunct="1">
        <a:spcBef>
          <a:spcPct val="20000"/>
        </a:spcBef>
        <a:spcAft>
          <a:spcPct val="0"/>
        </a:spcAft>
        <a:buClr>
          <a:srgbClr val="4E84C4"/>
        </a:buClr>
        <a:buChar char="»"/>
        <a:defRPr sz="1600">
          <a:solidFill>
            <a:schemeClr val="tx1"/>
          </a:solidFill>
          <a:latin typeface="+mn-lt"/>
          <a:cs typeface="+mn-cs"/>
        </a:defRPr>
      </a:lvl6pPr>
      <a:lvl7pPr marL="2406650" indent="-120650" algn="l" rtl="0" eaLnBrk="1" fontAlgn="base" hangingPunct="1">
        <a:spcBef>
          <a:spcPct val="20000"/>
        </a:spcBef>
        <a:spcAft>
          <a:spcPct val="0"/>
        </a:spcAft>
        <a:buClr>
          <a:srgbClr val="4E84C4"/>
        </a:buClr>
        <a:buChar char="»"/>
        <a:defRPr sz="1600">
          <a:solidFill>
            <a:schemeClr val="tx1"/>
          </a:solidFill>
          <a:latin typeface="+mn-lt"/>
          <a:cs typeface="+mn-cs"/>
        </a:defRPr>
      </a:lvl7pPr>
      <a:lvl8pPr marL="2863850" indent="-120650" algn="l" rtl="0" eaLnBrk="1" fontAlgn="base" hangingPunct="1">
        <a:spcBef>
          <a:spcPct val="20000"/>
        </a:spcBef>
        <a:spcAft>
          <a:spcPct val="0"/>
        </a:spcAft>
        <a:buClr>
          <a:srgbClr val="4E84C4"/>
        </a:buClr>
        <a:buChar char="»"/>
        <a:defRPr sz="1600">
          <a:solidFill>
            <a:schemeClr val="tx1"/>
          </a:solidFill>
          <a:latin typeface="+mn-lt"/>
          <a:cs typeface="+mn-cs"/>
        </a:defRPr>
      </a:lvl8pPr>
      <a:lvl9pPr marL="3321050" indent="-120650" algn="l" rtl="0" eaLnBrk="1" fontAlgn="base" hangingPunct="1">
        <a:spcBef>
          <a:spcPct val="20000"/>
        </a:spcBef>
        <a:spcAft>
          <a:spcPct val="0"/>
        </a:spcAft>
        <a:buClr>
          <a:srgbClr val="4E84C4"/>
        </a:buClr>
        <a:buChar char="»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E84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1" y="1370013"/>
            <a:ext cx="11256433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72533" y="6342063"/>
            <a:ext cx="2844800" cy="265112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buClrTx/>
              <a:buSzTx/>
              <a:buFontTx/>
              <a:buNone/>
              <a:defRPr sz="900">
                <a:latin typeface="+mj-lt"/>
                <a:cs typeface="Arial" charset="0"/>
              </a:defRPr>
            </a:lvl1pPr>
          </a:lstStyle>
          <a:p>
            <a:pPr>
              <a:defRPr/>
            </a:pPr>
            <a:fld id="{170FF85B-876A-47D9-ABC4-1896852DECF9}" type="datetime3">
              <a:rPr lang="en-US"/>
              <a:pPr>
                <a:defRPr/>
              </a:pPr>
              <a:t>6 June 2022</a:t>
            </a:fld>
            <a:endParaRPr lang="en-US"/>
          </a:p>
        </p:txBody>
      </p:sp>
      <p:sp>
        <p:nvSpPr>
          <p:cNvPr id="11" name="Footer Placeholder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839384" y="6342063"/>
            <a:ext cx="3048000" cy="265112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buClrTx/>
              <a:buSzTx/>
              <a:buFontTx/>
              <a:buNone/>
              <a:defRPr sz="900">
                <a:latin typeface="+mj-lt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2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</p:sldLayoutIdLst>
  <p:transition advClick="0"/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4E84C4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4E84C4"/>
          </a:solidFill>
          <a:latin typeface="Myriad Pro" pitchFamily="32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4E84C4"/>
          </a:solidFill>
          <a:latin typeface="Myriad Pro" pitchFamily="32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4E84C4"/>
          </a:solidFill>
          <a:latin typeface="Myriad Pro" pitchFamily="32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4E84C4"/>
          </a:solidFill>
          <a:latin typeface="Myriad Pro" pitchFamily="32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4E84C4"/>
          </a:solidFill>
          <a:latin typeface="Myriad Pro" pitchFamily="3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4E84C4"/>
          </a:solidFill>
          <a:latin typeface="Myriad Pro" pitchFamily="3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4E84C4"/>
          </a:solidFill>
          <a:latin typeface="Myriad Pro" pitchFamily="3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4E84C4"/>
          </a:solidFill>
          <a:latin typeface="Myriad Pro" pitchFamily="32" charset="0"/>
        </a:defRPr>
      </a:lvl9pPr>
    </p:titleStyle>
    <p:bodyStyle>
      <a:lvl1pPr marL="350838" indent="-350838" algn="l" rtl="0" eaLnBrk="1" fontAlgn="base" hangingPunct="1">
        <a:spcBef>
          <a:spcPct val="20000"/>
        </a:spcBef>
        <a:spcAft>
          <a:spcPct val="0"/>
        </a:spcAft>
        <a:buClr>
          <a:srgbClr val="4E84C4"/>
        </a:buClr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49263" algn="l" rtl="0" eaLnBrk="1" fontAlgn="base" hangingPunct="1">
        <a:spcBef>
          <a:spcPct val="20000"/>
        </a:spcBef>
        <a:spcAft>
          <a:spcPct val="0"/>
        </a:spcAft>
        <a:buClr>
          <a:srgbClr val="4E84C4"/>
        </a:buClr>
        <a:buChar char="–"/>
        <a:defRPr sz="2000">
          <a:solidFill>
            <a:schemeClr val="tx1"/>
          </a:solidFill>
          <a:latin typeface="+mn-lt"/>
        </a:defRPr>
      </a:lvl2pPr>
      <a:lvl3pPr marL="1500188" indent="-463550" algn="l" rtl="0" eaLnBrk="1" fontAlgn="base" hangingPunct="1">
        <a:spcBef>
          <a:spcPct val="20000"/>
        </a:spcBef>
        <a:spcAft>
          <a:spcPct val="0"/>
        </a:spcAft>
        <a:buClr>
          <a:srgbClr val="4E84C4"/>
        </a:buClr>
        <a:buChar char="•"/>
        <a:defRPr sz="2400">
          <a:solidFill>
            <a:schemeClr val="tx1"/>
          </a:solidFill>
          <a:latin typeface="+mn-lt"/>
        </a:defRPr>
      </a:lvl3pPr>
      <a:lvl4pPr marL="2057400" indent="-442913" algn="l" rtl="0" eaLnBrk="1" fontAlgn="base" hangingPunct="1">
        <a:spcBef>
          <a:spcPct val="20000"/>
        </a:spcBef>
        <a:spcAft>
          <a:spcPct val="0"/>
        </a:spcAft>
        <a:buClr>
          <a:srgbClr val="4E84C4"/>
        </a:buClr>
        <a:buChar char="–"/>
        <a:defRPr sz="1600">
          <a:solidFill>
            <a:schemeClr val="tx1"/>
          </a:solidFill>
          <a:latin typeface="+mn-lt"/>
        </a:defRPr>
      </a:lvl4pPr>
      <a:lvl5pPr marL="2643188" indent="-463550" algn="l" rtl="0" eaLnBrk="1" fontAlgn="base" hangingPunct="1">
        <a:spcBef>
          <a:spcPct val="20000"/>
        </a:spcBef>
        <a:spcAft>
          <a:spcPct val="0"/>
        </a:spcAft>
        <a:buClr>
          <a:srgbClr val="4E84C4"/>
        </a:buClr>
        <a:buChar char="»"/>
        <a:defRPr sz="1400">
          <a:solidFill>
            <a:schemeClr val="tx1"/>
          </a:solidFill>
          <a:latin typeface="+mn-lt"/>
        </a:defRPr>
      </a:lvl5pPr>
      <a:lvl6pPr marL="3100388" indent="-463550" algn="l" rtl="0" eaLnBrk="1" fontAlgn="base" hangingPunct="1">
        <a:spcBef>
          <a:spcPct val="20000"/>
        </a:spcBef>
        <a:spcAft>
          <a:spcPct val="0"/>
        </a:spcAft>
        <a:buClr>
          <a:srgbClr val="4E84C4"/>
        </a:buClr>
        <a:buChar char="»"/>
        <a:defRPr sz="1400">
          <a:solidFill>
            <a:schemeClr val="tx1"/>
          </a:solidFill>
          <a:latin typeface="+mn-lt"/>
        </a:defRPr>
      </a:lvl6pPr>
      <a:lvl7pPr marL="3557588" indent="-463550" algn="l" rtl="0" eaLnBrk="1" fontAlgn="base" hangingPunct="1">
        <a:spcBef>
          <a:spcPct val="20000"/>
        </a:spcBef>
        <a:spcAft>
          <a:spcPct val="0"/>
        </a:spcAft>
        <a:buClr>
          <a:srgbClr val="4E84C4"/>
        </a:buClr>
        <a:buChar char="»"/>
        <a:defRPr sz="1400">
          <a:solidFill>
            <a:schemeClr val="tx1"/>
          </a:solidFill>
          <a:latin typeface="+mn-lt"/>
        </a:defRPr>
      </a:lvl7pPr>
      <a:lvl8pPr marL="4014788" indent="-463550" algn="l" rtl="0" eaLnBrk="1" fontAlgn="base" hangingPunct="1">
        <a:spcBef>
          <a:spcPct val="20000"/>
        </a:spcBef>
        <a:spcAft>
          <a:spcPct val="0"/>
        </a:spcAft>
        <a:buClr>
          <a:srgbClr val="4E84C4"/>
        </a:buClr>
        <a:buChar char="»"/>
        <a:defRPr sz="1400">
          <a:solidFill>
            <a:schemeClr val="tx1"/>
          </a:solidFill>
          <a:latin typeface="+mn-lt"/>
        </a:defRPr>
      </a:lvl8pPr>
      <a:lvl9pPr marL="4471988" indent="-463550" algn="l" rtl="0" eaLnBrk="1" fontAlgn="base" hangingPunct="1">
        <a:spcBef>
          <a:spcPct val="20000"/>
        </a:spcBef>
        <a:spcAft>
          <a:spcPct val="0"/>
        </a:spcAft>
        <a:buClr>
          <a:srgbClr val="4E84C4"/>
        </a:buClr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215901" y="53975"/>
            <a:ext cx="1167130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560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97518" y="1536701"/>
            <a:ext cx="9630833" cy="13239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8139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104034" y="5811838"/>
            <a:ext cx="884767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buClrTx/>
              <a:buSzTx/>
              <a:buFontTx/>
              <a:buNone/>
              <a:defRPr>
                <a:solidFill>
                  <a:srgbClr val="4E84C4"/>
                </a:solidFill>
              </a:defRPr>
            </a:lvl1pPr>
          </a:lstStyle>
          <a:p>
            <a:pPr>
              <a:defRPr/>
            </a:pPr>
            <a:r>
              <a:rPr lang="en-US" dirty="0"/>
              <a:t>- </a:t>
            </a:r>
            <a:fld id="{9882DF71-8C4A-497C-8E61-E9D1638741F2}" type="slidenum">
              <a:rPr lang="en-US"/>
              <a:pPr>
                <a:defRPr/>
              </a:pPr>
              <a:t>‹#›</a:t>
            </a:fld>
            <a:r>
              <a:rPr lang="en-US" dirty="0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385493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</p:sldLayoutIdLst>
  <p:transition advClick="0"/>
  <p:txStyles>
    <p:titleStyle>
      <a:lvl1pPr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200" b="1">
          <a:solidFill>
            <a:srgbClr val="4E84C4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200" b="1">
          <a:solidFill>
            <a:srgbClr val="4E84C4"/>
          </a:solidFill>
          <a:latin typeface="Arial" charset="0"/>
        </a:defRPr>
      </a:lvl2pPr>
      <a:lvl3pPr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200" b="1">
          <a:solidFill>
            <a:srgbClr val="4E84C4"/>
          </a:solidFill>
          <a:latin typeface="Arial" charset="0"/>
        </a:defRPr>
      </a:lvl3pPr>
      <a:lvl4pPr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200" b="1">
          <a:solidFill>
            <a:srgbClr val="4E84C4"/>
          </a:solidFill>
          <a:latin typeface="Arial" charset="0"/>
        </a:defRPr>
      </a:lvl4pPr>
      <a:lvl5pPr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200" b="1">
          <a:solidFill>
            <a:srgbClr val="4E84C4"/>
          </a:solidFill>
          <a:latin typeface="Arial" charset="0"/>
        </a:defRPr>
      </a:lvl5pPr>
      <a:lvl6pPr marL="457200"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200" b="1">
          <a:solidFill>
            <a:srgbClr val="4E84C4"/>
          </a:solidFill>
          <a:latin typeface="Arial" charset="0"/>
        </a:defRPr>
      </a:lvl6pPr>
      <a:lvl7pPr marL="914400"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200" b="1">
          <a:solidFill>
            <a:srgbClr val="4E84C4"/>
          </a:solidFill>
          <a:latin typeface="Arial" charset="0"/>
        </a:defRPr>
      </a:lvl7pPr>
      <a:lvl8pPr marL="1371600"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200" b="1">
          <a:solidFill>
            <a:srgbClr val="4E84C4"/>
          </a:solidFill>
          <a:latin typeface="Arial" charset="0"/>
        </a:defRPr>
      </a:lvl8pPr>
      <a:lvl9pPr marL="1828800"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200" b="1">
          <a:solidFill>
            <a:srgbClr val="4E84C4"/>
          </a:solidFill>
          <a:latin typeface="Arial" charset="0"/>
        </a:defRPr>
      </a:lvl9pPr>
    </p:titleStyle>
    <p:bodyStyle>
      <a:lvl1pPr marL="169863" indent="-169863" algn="l" rtl="0" eaLnBrk="1" fontAlgn="base" hangingPunct="1">
        <a:spcBef>
          <a:spcPct val="20000"/>
        </a:spcBef>
        <a:spcAft>
          <a:spcPct val="0"/>
        </a:spcAft>
        <a:buClr>
          <a:srgbClr val="4E84C4"/>
        </a:buClr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73038" algn="l" rtl="0" eaLnBrk="1" fontAlgn="base" hangingPunct="1">
        <a:spcBef>
          <a:spcPct val="20000"/>
        </a:spcBef>
        <a:spcAft>
          <a:spcPct val="0"/>
        </a:spcAft>
        <a:buClr>
          <a:srgbClr val="4E84C4"/>
        </a:buClr>
        <a:buChar char="–"/>
        <a:defRPr sz="1600">
          <a:solidFill>
            <a:schemeClr val="tx1"/>
          </a:solidFill>
          <a:latin typeface="+mn-lt"/>
        </a:defRPr>
      </a:lvl2pPr>
      <a:lvl3pPr marL="741363" indent="-169863" algn="l" rtl="0" eaLnBrk="1" fontAlgn="base" hangingPunct="1">
        <a:spcBef>
          <a:spcPct val="20000"/>
        </a:spcBef>
        <a:spcAft>
          <a:spcPct val="0"/>
        </a:spcAft>
        <a:buClr>
          <a:srgbClr val="4E84C4"/>
        </a:buClr>
        <a:buChar char="•"/>
        <a:defRPr sz="1400">
          <a:solidFill>
            <a:schemeClr val="tx1"/>
          </a:solidFill>
          <a:latin typeface="+mn-lt"/>
        </a:defRPr>
      </a:lvl3pPr>
      <a:lvl4pPr marL="1027113" indent="-171450" algn="l" rtl="0" eaLnBrk="1" fontAlgn="base" hangingPunct="1">
        <a:spcBef>
          <a:spcPct val="20000"/>
        </a:spcBef>
        <a:spcAft>
          <a:spcPct val="0"/>
        </a:spcAft>
        <a:buClr>
          <a:srgbClr val="4E84C4"/>
        </a:buClr>
        <a:buChar char="–"/>
        <a:defRPr sz="1200">
          <a:solidFill>
            <a:schemeClr val="tx1"/>
          </a:solidFill>
          <a:latin typeface="+mn-lt"/>
        </a:defRPr>
      </a:lvl4pPr>
      <a:lvl5pPr marL="1314450" indent="-171450" algn="l" rtl="0" eaLnBrk="1" fontAlgn="base" hangingPunct="1">
        <a:spcBef>
          <a:spcPct val="20000"/>
        </a:spcBef>
        <a:spcAft>
          <a:spcPct val="0"/>
        </a:spcAft>
        <a:buClr>
          <a:srgbClr val="4E84C4"/>
        </a:buClr>
        <a:buChar char="»"/>
        <a:defRPr sz="1200">
          <a:solidFill>
            <a:schemeClr val="tx1"/>
          </a:solidFill>
          <a:latin typeface="+mn-lt"/>
        </a:defRPr>
      </a:lvl5pPr>
      <a:lvl6pPr marL="1771650" indent="-171450" algn="l" rtl="0" eaLnBrk="1" fontAlgn="base" hangingPunct="1">
        <a:spcBef>
          <a:spcPct val="20000"/>
        </a:spcBef>
        <a:spcAft>
          <a:spcPct val="0"/>
        </a:spcAft>
        <a:buClr>
          <a:srgbClr val="4E84C4"/>
        </a:buClr>
        <a:buChar char="»"/>
        <a:defRPr sz="120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rgbClr val="4E84C4"/>
        </a:buClr>
        <a:buChar char="»"/>
        <a:defRPr sz="1200">
          <a:solidFill>
            <a:schemeClr val="tx1"/>
          </a:solidFill>
          <a:latin typeface="+mn-lt"/>
        </a:defRPr>
      </a:lvl7pPr>
      <a:lvl8pPr marL="2686050" indent="-171450" algn="l" rtl="0" eaLnBrk="1" fontAlgn="base" hangingPunct="1">
        <a:spcBef>
          <a:spcPct val="20000"/>
        </a:spcBef>
        <a:spcAft>
          <a:spcPct val="0"/>
        </a:spcAft>
        <a:buClr>
          <a:srgbClr val="4E84C4"/>
        </a:buClr>
        <a:buChar char="»"/>
        <a:defRPr sz="1200">
          <a:solidFill>
            <a:schemeClr val="tx1"/>
          </a:solidFill>
          <a:latin typeface="+mn-lt"/>
        </a:defRPr>
      </a:lvl8pPr>
      <a:lvl9pPr marL="3143250" indent="-171450" algn="l" rtl="0" eaLnBrk="1" fontAlgn="base" hangingPunct="1">
        <a:spcBef>
          <a:spcPct val="20000"/>
        </a:spcBef>
        <a:spcAft>
          <a:spcPct val="0"/>
        </a:spcAft>
        <a:buClr>
          <a:srgbClr val="4E84C4"/>
        </a:buClr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04800" y="304800"/>
            <a:ext cx="406400" cy="152400"/>
          </a:xfrm>
          <a:prstGeom prst="rect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sz="1800"/>
          </a:p>
        </p:txBody>
      </p:sp>
      <p:sp>
        <p:nvSpPr>
          <p:cNvPr id="81" name="Rectangle 80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 flip="none" rotWithShape="1">
            <a:gsLst>
              <a:gs pos="10000">
                <a:srgbClr val="0067AC"/>
              </a:gs>
              <a:gs pos="100000">
                <a:srgbClr val="56BBED"/>
              </a:gs>
            </a:gsLst>
            <a:lin ang="9120000" scaled="0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sz="1800"/>
          </a:p>
        </p:txBody>
      </p:sp>
      <p:sp>
        <p:nvSpPr>
          <p:cNvPr id="37892" name="Title Placeholder 1"/>
          <p:cNvSpPr>
            <a:spLocks noGrp="1"/>
          </p:cNvSpPr>
          <p:nvPr>
            <p:ph type="title"/>
          </p:nvPr>
        </p:nvSpPr>
        <p:spPr bwMode="auto">
          <a:xfrm>
            <a:off x="1727200" y="152401"/>
            <a:ext cx="1005840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789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48218" y="1189038"/>
            <a:ext cx="11237383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endParaRPr lang="en-US" smtClean="0"/>
          </a:p>
        </p:txBody>
      </p:sp>
      <p:sp>
        <p:nvSpPr>
          <p:cNvPr id="9" name="Rectangle 71"/>
          <p:cNvSpPr txBox="1">
            <a:spLocks noChangeArrowheads="1"/>
          </p:cNvSpPr>
          <p:nvPr/>
        </p:nvSpPr>
        <p:spPr bwMode="auto">
          <a:xfrm>
            <a:off x="10972801" y="6311901"/>
            <a:ext cx="884767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>
            <a:lvl1pPr>
              <a:defRPr sz="1000">
                <a:solidFill>
                  <a:srgbClr val="4E84C4"/>
                </a:solidFill>
              </a:defRPr>
            </a:lvl1pPr>
          </a:lstStyle>
          <a:p>
            <a:pPr algn="r" defTabSz="914400" fontAlgn="auto">
              <a:spcBef>
                <a:spcPts val="0"/>
              </a:spcBef>
              <a:spcAft>
                <a:spcPts val="0"/>
              </a:spcAft>
              <a:defRPr/>
            </a:pPr>
            <a:fld id="{C778D734-6181-4F62-9A3A-2691C7B6BAB4}" type="slidenum">
              <a:rPr lang="en-US" sz="1200" smtClean="0">
                <a:solidFill>
                  <a:schemeClr val="tx1"/>
                </a:solidFill>
                <a:latin typeface="Myriad Pro" pitchFamily="34" charset="0"/>
                <a:cs typeface="+mn-cs"/>
              </a:rPr>
              <a:pPr algn="r" defTabSz="9144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lang="en-US" sz="1200" dirty="0" smtClean="0">
                <a:solidFill>
                  <a:schemeClr val="tx1"/>
                </a:solidFill>
                <a:latin typeface="Myriad Pro" pitchFamily="34" charset="0"/>
                <a:cs typeface="+mn-cs"/>
              </a:rPr>
              <a:t> </a:t>
            </a:r>
            <a:endParaRPr lang="en-US" sz="1200" dirty="0">
              <a:solidFill>
                <a:schemeClr val="tx1"/>
              </a:solidFill>
              <a:latin typeface="Myriad Pro" pitchFamily="34" charset="0"/>
              <a:cs typeface="+mn-cs"/>
            </a:endParaRPr>
          </a:p>
        </p:txBody>
      </p:sp>
      <p:sp>
        <p:nvSpPr>
          <p:cNvPr id="1027" name="AutoShape 3"/>
          <p:cNvSpPr>
            <a:spLocks noChangeAspect="1" noChangeArrowheads="1" noTextEdit="1"/>
          </p:cNvSpPr>
          <p:nvPr/>
        </p:nvSpPr>
        <p:spPr bwMode="auto">
          <a:xfrm>
            <a:off x="0" y="3810001"/>
            <a:ext cx="12192000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sz="1800"/>
          </a:p>
        </p:txBody>
      </p:sp>
      <p:pic>
        <p:nvPicPr>
          <p:cNvPr id="37897" name="Picture 2" descr="Q:\Repro 2\New guidelines 2011_12\Final 260411\PPT\OLD\050511\WMF\text slide pattern_2 boxes_060511.wmf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1659467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70985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2"/>
    <p:sldLayoutId id="2147483812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kern="1200">
          <a:solidFill>
            <a:schemeClr val="bg1"/>
          </a:solidFill>
          <a:latin typeface="Myriad Pro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Myriad Pro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Myriad Pro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Myriad Pro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Myriad Pro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Myriad Pro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Myriad Pro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Myriad Pro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Myriad Pro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4E84C4"/>
        </a:buClr>
        <a:buFont typeface="Wingdings" pitchFamily="2" charset="2"/>
        <a:buChar char="§"/>
        <a:defRPr sz="2200" kern="1200">
          <a:solidFill>
            <a:schemeClr val="tx1"/>
          </a:solidFill>
          <a:latin typeface="Myriad Pro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4E84C4"/>
        </a:buClr>
        <a:buFont typeface="Myriad Pro"/>
        <a:buChar char="–"/>
        <a:defRPr sz="2000" kern="1200">
          <a:solidFill>
            <a:schemeClr val="tx1"/>
          </a:solidFill>
          <a:latin typeface="Myriad Pro" pitchFamily="34" charset="0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4E84C4"/>
        </a:buClr>
        <a:buFont typeface="Courier New" pitchFamily="49" charset="0"/>
        <a:buChar char="o"/>
        <a:defRPr kern="1200">
          <a:solidFill>
            <a:schemeClr val="tx1"/>
          </a:solidFill>
          <a:latin typeface="Myriad Pro" pitchFamily="34" charset="0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4E84C4"/>
        </a:buClr>
        <a:buFont typeface="Arial" charset="0"/>
        <a:buChar char="•"/>
        <a:defRPr sz="2000" kern="1200">
          <a:solidFill>
            <a:schemeClr val="tx1"/>
          </a:solidFill>
          <a:latin typeface="Myriad Pro" pitchFamily="34" charset="0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Myriad Pro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04800" y="304800"/>
            <a:ext cx="406400" cy="152400"/>
          </a:xfrm>
          <a:prstGeom prst="rect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53252" name="Title Placeholder 1"/>
          <p:cNvSpPr>
            <a:spLocks noGrp="1"/>
          </p:cNvSpPr>
          <p:nvPr>
            <p:ph type="title"/>
          </p:nvPr>
        </p:nvSpPr>
        <p:spPr bwMode="auto">
          <a:xfrm>
            <a:off x="1727200" y="103188"/>
            <a:ext cx="1005840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5325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48218" y="914401"/>
            <a:ext cx="11237383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endParaRPr lang="en-US" smtClean="0"/>
          </a:p>
        </p:txBody>
      </p:sp>
      <p:sp>
        <p:nvSpPr>
          <p:cNvPr id="9" name="Rectangle 71"/>
          <p:cNvSpPr txBox="1">
            <a:spLocks noChangeArrowheads="1"/>
          </p:cNvSpPr>
          <p:nvPr/>
        </p:nvSpPr>
        <p:spPr bwMode="auto">
          <a:xfrm>
            <a:off x="10972801" y="6311901"/>
            <a:ext cx="884767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>
            <a:lvl1pPr>
              <a:defRPr sz="1000">
                <a:solidFill>
                  <a:srgbClr val="4E84C4"/>
                </a:solidFill>
              </a:defRPr>
            </a:lvl1pPr>
          </a:lstStyle>
          <a:p>
            <a:pPr algn="r" defTabSz="914400" fontAlgn="auto">
              <a:spcBef>
                <a:spcPts val="0"/>
              </a:spcBef>
              <a:spcAft>
                <a:spcPts val="0"/>
              </a:spcAft>
              <a:defRPr/>
            </a:pPr>
            <a:fld id="{F3015DC4-C581-4350-BE3D-755A188008CD}" type="slidenum">
              <a:rPr lang="en-US" sz="1200" smtClean="0">
                <a:solidFill>
                  <a:schemeClr val="tx1"/>
                </a:solidFill>
                <a:latin typeface="Myriad Pro" pitchFamily="34" charset="0"/>
                <a:cs typeface="+mn-cs"/>
              </a:rPr>
              <a:pPr algn="r" defTabSz="91440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lang="en-US" sz="1200" dirty="0" smtClean="0">
                <a:solidFill>
                  <a:schemeClr val="tx1"/>
                </a:solidFill>
                <a:latin typeface="Myriad Pro" pitchFamily="34" charset="0"/>
                <a:cs typeface="+mn-cs"/>
              </a:rPr>
              <a:t> </a:t>
            </a:r>
            <a:endParaRPr lang="en-US" sz="1200" dirty="0">
              <a:solidFill>
                <a:schemeClr val="tx1"/>
              </a:solidFill>
              <a:latin typeface="Myriad Pro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1394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</p:sldLayoutIdLst>
  <p:transition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Myriad Pro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Myriad Pro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Myriad Pro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Myriad Pro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Myriad Pro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Myriad Pro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Myriad Pro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Myriad Pro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4E84C4"/>
        </a:buClr>
        <a:buFont typeface="Wingdings" pitchFamily="2" charset="2"/>
        <a:buChar char="§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4E84C4"/>
        </a:buClr>
        <a:buFont typeface="Myriad Pro"/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4E84C4"/>
        </a:buClr>
        <a:buFont typeface="Courier New" pitchFamily="49" charset="0"/>
        <a:buChar char="o"/>
        <a:defRPr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4E84C4"/>
        </a:buClr>
        <a:buFont typeface="Arial" charset="0"/>
        <a:buChar char="•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901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  <p:sldLayoutId id="2147483865" r:id="rId5"/>
    <p:sldLayoutId id="2147483866" r:id="rId6"/>
    <p:sldLayoutId id="2147483867" r:id="rId7"/>
    <p:sldLayoutId id="2147483868" r:id="rId8"/>
    <p:sldLayoutId id="2147483869" r:id="rId9"/>
    <p:sldLayoutId id="2147483870" r:id="rId10"/>
    <p:sldLayoutId id="2147483871" r:id="rId11"/>
    <p:sldLayoutId id="2147483872" r:id="rId12"/>
    <p:sldLayoutId id="2147483873" r:id="rId13"/>
    <p:sldLayoutId id="2147483874" r:id="rId14"/>
    <p:sldLayoutId id="2147483875" r:id="rId15"/>
    <p:sldLayoutId id="2147483876" r:id="rId16"/>
    <p:sldLayoutId id="2147483877" r:id="rId17"/>
  </p:sldLayoutIdLst>
  <p:timing>
    <p:tnLst>
      <p:par>
        <p:cTn id="1" dur="indefinite" restart="never" nodeType="tmRoot"/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4.xml"/><Relationship Id="rId4" Type="http://schemas.openxmlformats.org/officeDocument/2006/relationships/image" Target="../media/image10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109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b="1">
                <a:latin typeface="Montserrat"/>
                <a:ea typeface="Montserrat"/>
                <a:cs typeface="Montserrat"/>
                <a:sym typeface="Montserrat"/>
              </a:rPr>
              <a:t>Introduction to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spcBef>
                <a:spcPts val="0"/>
              </a:spcBef>
            </a:pPr>
            <a:r>
              <a:rPr lang="en" b="1">
                <a:latin typeface="Montserrat"/>
                <a:ea typeface="Montserrat"/>
                <a:cs typeface="Montserrat"/>
                <a:sym typeface="Montserrat"/>
              </a:rPr>
              <a:t> Deep Learning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8" name="Google Shape;1038;p109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IN" dirty="0" err="1" smtClean="0"/>
              <a:t>Veena</a:t>
            </a:r>
            <a:r>
              <a:rPr lang="en-IN" dirty="0" smtClean="0"/>
              <a:t> </a:t>
            </a:r>
            <a:r>
              <a:rPr lang="en-IN" dirty="0" err="1" smtClean="0"/>
              <a:t>Sarda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81919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7620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0" y="1295400"/>
            <a:ext cx="7772400" cy="4724400"/>
          </a:xfrm>
        </p:spPr>
        <p:txBody>
          <a:bodyPr>
            <a:normAutofit/>
          </a:bodyPr>
          <a:lstStyle/>
          <a:p>
            <a:r>
              <a:rPr lang="en-US" sz="3200" dirty="0"/>
              <a:t>What is Deep Learning / AI</a:t>
            </a:r>
          </a:p>
          <a:p>
            <a:r>
              <a:rPr lang="en-US" sz="3200" dirty="0"/>
              <a:t>Applications of AI</a:t>
            </a:r>
          </a:p>
          <a:p>
            <a:r>
              <a:rPr lang="en-US" sz="3200" dirty="0"/>
              <a:t>Details on Neural Networks – How the learning actually happens</a:t>
            </a:r>
          </a:p>
          <a:p>
            <a:pPr marL="1371566" lvl="1" indent="-419090">
              <a:lnSpc>
                <a:spcPct val="115000"/>
              </a:lnSpc>
              <a:spcBef>
                <a:spcPts val="0"/>
              </a:spcBef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-IN" sz="30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Biological Neuron</a:t>
            </a:r>
          </a:p>
          <a:p>
            <a:pPr marL="1371566" lvl="1" indent="-419090">
              <a:lnSpc>
                <a:spcPct val="115000"/>
              </a:lnSpc>
              <a:spcBef>
                <a:spcPts val="0"/>
              </a:spcBef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-IN" sz="30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Perceptron Model</a:t>
            </a:r>
          </a:p>
          <a:p>
            <a:pPr marL="1371566" lvl="1" indent="-419090">
              <a:lnSpc>
                <a:spcPct val="115000"/>
              </a:lnSpc>
              <a:spcBef>
                <a:spcPts val="0"/>
              </a:spcBef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-IN" sz="30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Mathematical Representation</a:t>
            </a:r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43792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What is Artificial Intelligence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1" y="1371600"/>
            <a:ext cx="6146015" cy="3529806"/>
          </a:xfrm>
        </p:spPr>
      </p:pic>
    </p:spTree>
    <p:extLst>
      <p:ext uri="{BB962C8B-B14F-4D97-AF65-F5344CB8AC3E}">
        <p14:creationId xmlns:p14="http://schemas.microsoft.com/office/powerpoint/2010/main" val="374309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What is Artificial Intelligence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1371600"/>
            <a:ext cx="5039194" cy="3353354"/>
          </a:xfrm>
        </p:spPr>
      </p:pic>
    </p:spTree>
    <p:extLst>
      <p:ext uri="{BB962C8B-B14F-4D97-AF65-F5344CB8AC3E}">
        <p14:creationId xmlns:p14="http://schemas.microsoft.com/office/powerpoint/2010/main" val="1720111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What is Artificial Intelligence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990954"/>
            <a:ext cx="7162800" cy="5302908"/>
          </a:xfrm>
        </p:spPr>
      </p:pic>
    </p:spTree>
    <p:extLst>
      <p:ext uri="{BB962C8B-B14F-4D97-AF65-F5344CB8AC3E}">
        <p14:creationId xmlns:p14="http://schemas.microsoft.com/office/powerpoint/2010/main" val="3975587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What is Artificial Intelligence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914401"/>
            <a:ext cx="6324600" cy="5057569"/>
          </a:xfrm>
        </p:spPr>
      </p:pic>
    </p:spTree>
    <p:extLst>
      <p:ext uri="{BB962C8B-B14F-4D97-AF65-F5344CB8AC3E}">
        <p14:creationId xmlns:p14="http://schemas.microsoft.com/office/powerpoint/2010/main" val="137263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116"/>
          <p:cNvSpPr txBox="1">
            <a:spLocks noGrp="1"/>
          </p:cNvSpPr>
          <p:nvPr>
            <p:ph type="title"/>
          </p:nvPr>
        </p:nvSpPr>
        <p:spPr>
          <a:xfrm>
            <a:off x="2347503" y="109199"/>
            <a:ext cx="7789800" cy="572700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4" name="Google Shape;1094;p116"/>
          <p:cNvSpPr txBox="1">
            <a:spLocks noGrp="1"/>
          </p:cNvSpPr>
          <p:nvPr>
            <p:ph type="body" idx="1"/>
          </p:nvPr>
        </p:nvSpPr>
        <p:spPr>
          <a:xfrm>
            <a:off x="1835700" y="1219201"/>
            <a:ext cx="8520600" cy="4872633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 indent="-419090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 dirty="0">
                <a:latin typeface="Montserrat"/>
                <a:ea typeface="Montserrat"/>
                <a:cs typeface="Montserrat"/>
                <a:sym typeface="Montserrat"/>
              </a:rPr>
              <a:t>The biological neuron:</a:t>
            </a:r>
            <a:endParaRPr sz="30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7" name="Google Shape;1097;p116"/>
          <p:cNvSpPr/>
          <p:nvPr/>
        </p:nvSpPr>
        <p:spPr>
          <a:xfrm>
            <a:off x="3041501" y="2923052"/>
            <a:ext cx="2018350" cy="896475"/>
          </a:xfrm>
          <a:custGeom>
            <a:avLst/>
            <a:gdLst/>
            <a:ahLst/>
            <a:cxnLst/>
            <a:rect l="l" t="t" r="r" b="b"/>
            <a:pathLst>
              <a:path w="80734" h="35859" extrusionOk="0">
                <a:moveTo>
                  <a:pt x="80734" y="35859"/>
                </a:moveTo>
                <a:cubicBezTo>
                  <a:pt x="74413" y="31282"/>
                  <a:pt x="66145" y="30190"/>
                  <a:pt x="59298" y="26444"/>
                </a:cubicBezTo>
                <a:cubicBezTo>
                  <a:pt x="49499" y="21083"/>
                  <a:pt x="43073" y="10548"/>
                  <a:pt x="33055" y="5609"/>
                </a:cubicBezTo>
                <a:cubicBezTo>
                  <a:pt x="23031" y="667"/>
                  <a:pt x="11157" y="655"/>
                  <a:pt x="0" y="0"/>
                </a:cubicBezTo>
              </a:path>
            </a:pathLst>
          </a:custGeom>
          <a:noFill/>
          <a:ln w="114300" cap="flat" cmpd="sng">
            <a:solidFill>
              <a:srgbClr val="C27BA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98" name="Google Shape;1098;p116"/>
          <p:cNvSpPr/>
          <p:nvPr/>
        </p:nvSpPr>
        <p:spPr>
          <a:xfrm>
            <a:off x="3036502" y="3168450"/>
            <a:ext cx="956575" cy="305500"/>
          </a:xfrm>
          <a:custGeom>
            <a:avLst/>
            <a:gdLst/>
            <a:ahLst/>
            <a:cxnLst/>
            <a:rect l="l" t="t" r="r" b="b"/>
            <a:pathLst>
              <a:path w="38263" h="12220" extrusionOk="0">
                <a:moveTo>
                  <a:pt x="38263" y="0"/>
                </a:moveTo>
                <a:cubicBezTo>
                  <a:pt x="31793" y="1177"/>
                  <a:pt x="28416" y="9625"/>
                  <a:pt x="22036" y="11219"/>
                </a:cubicBezTo>
                <a:cubicBezTo>
                  <a:pt x="14902" y="13001"/>
                  <a:pt x="7211" y="10780"/>
                  <a:pt x="0" y="12220"/>
                </a:cubicBezTo>
              </a:path>
            </a:pathLst>
          </a:custGeom>
          <a:noFill/>
          <a:ln w="114300" cap="flat" cmpd="sng">
            <a:solidFill>
              <a:srgbClr val="C27BA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99" name="Google Shape;1099;p116"/>
          <p:cNvSpPr/>
          <p:nvPr/>
        </p:nvSpPr>
        <p:spPr>
          <a:xfrm rot="10800000" flipH="1">
            <a:off x="3008564" y="3819518"/>
            <a:ext cx="2013304" cy="648958"/>
          </a:xfrm>
          <a:custGeom>
            <a:avLst/>
            <a:gdLst/>
            <a:ahLst/>
            <a:cxnLst/>
            <a:rect l="l" t="t" r="r" b="b"/>
            <a:pathLst>
              <a:path w="80734" h="35859" extrusionOk="0">
                <a:moveTo>
                  <a:pt x="80734" y="35859"/>
                </a:moveTo>
                <a:cubicBezTo>
                  <a:pt x="74413" y="31282"/>
                  <a:pt x="66145" y="30190"/>
                  <a:pt x="59298" y="26444"/>
                </a:cubicBezTo>
                <a:cubicBezTo>
                  <a:pt x="49499" y="21083"/>
                  <a:pt x="43073" y="10548"/>
                  <a:pt x="33055" y="5609"/>
                </a:cubicBezTo>
                <a:cubicBezTo>
                  <a:pt x="23031" y="667"/>
                  <a:pt x="11157" y="655"/>
                  <a:pt x="0" y="0"/>
                </a:cubicBezTo>
              </a:path>
            </a:pathLst>
          </a:custGeom>
          <a:noFill/>
          <a:ln w="114300" cap="flat" cmpd="sng">
            <a:solidFill>
              <a:srgbClr val="C27BA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00" name="Google Shape;1100;p116"/>
          <p:cNvSpPr/>
          <p:nvPr/>
        </p:nvSpPr>
        <p:spPr>
          <a:xfrm rot="10800000" flipH="1">
            <a:off x="3003576" y="4069689"/>
            <a:ext cx="954184" cy="221151"/>
          </a:xfrm>
          <a:custGeom>
            <a:avLst/>
            <a:gdLst/>
            <a:ahLst/>
            <a:cxnLst/>
            <a:rect l="l" t="t" r="r" b="b"/>
            <a:pathLst>
              <a:path w="38263" h="12220" extrusionOk="0">
                <a:moveTo>
                  <a:pt x="38263" y="0"/>
                </a:moveTo>
                <a:cubicBezTo>
                  <a:pt x="31793" y="1177"/>
                  <a:pt x="28416" y="9625"/>
                  <a:pt x="22036" y="11219"/>
                </a:cubicBezTo>
                <a:cubicBezTo>
                  <a:pt x="14902" y="13001"/>
                  <a:pt x="7211" y="10780"/>
                  <a:pt x="0" y="12220"/>
                </a:cubicBezTo>
              </a:path>
            </a:pathLst>
          </a:custGeom>
          <a:noFill/>
          <a:ln w="114300" cap="flat" cmpd="sng">
            <a:solidFill>
              <a:srgbClr val="C27BA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01" name="Google Shape;1101;p116"/>
          <p:cNvSpPr/>
          <p:nvPr/>
        </p:nvSpPr>
        <p:spPr>
          <a:xfrm rot="10800000" flipH="1">
            <a:off x="2976561" y="3819564"/>
            <a:ext cx="2083341" cy="1557536"/>
          </a:xfrm>
          <a:custGeom>
            <a:avLst/>
            <a:gdLst/>
            <a:ahLst/>
            <a:cxnLst/>
            <a:rect l="l" t="t" r="r" b="b"/>
            <a:pathLst>
              <a:path w="80734" h="35859" extrusionOk="0">
                <a:moveTo>
                  <a:pt x="80734" y="35859"/>
                </a:moveTo>
                <a:cubicBezTo>
                  <a:pt x="74413" y="31282"/>
                  <a:pt x="66145" y="30190"/>
                  <a:pt x="59298" y="26444"/>
                </a:cubicBezTo>
                <a:cubicBezTo>
                  <a:pt x="49499" y="21083"/>
                  <a:pt x="43073" y="10548"/>
                  <a:pt x="33055" y="5609"/>
                </a:cubicBezTo>
                <a:cubicBezTo>
                  <a:pt x="23031" y="667"/>
                  <a:pt x="11157" y="655"/>
                  <a:pt x="0" y="0"/>
                </a:cubicBezTo>
              </a:path>
            </a:pathLst>
          </a:custGeom>
          <a:noFill/>
          <a:ln w="114300" cap="flat" cmpd="sng">
            <a:solidFill>
              <a:srgbClr val="C27BA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02" name="Google Shape;1102;p116"/>
          <p:cNvSpPr/>
          <p:nvPr/>
        </p:nvSpPr>
        <p:spPr>
          <a:xfrm rot="10800000" flipH="1">
            <a:off x="2771050" y="4856259"/>
            <a:ext cx="1187684" cy="94491"/>
          </a:xfrm>
          <a:custGeom>
            <a:avLst/>
            <a:gdLst/>
            <a:ahLst/>
            <a:cxnLst/>
            <a:rect l="l" t="t" r="r" b="b"/>
            <a:pathLst>
              <a:path w="38263" h="12220" extrusionOk="0">
                <a:moveTo>
                  <a:pt x="38263" y="0"/>
                </a:moveTo>
                <a:cubicBezTo>
                  <a:pt x="31793" y="1177"/>
                  <a:pt x="28416" y="9625"/>
                  <a:pt x="22036" y="11219"/>
                </a:cubicBezTo>
                <a:cubicBezTo>
                  <a:pt x="14902" y="13001"/>
                  <a:pt x="7211" y="10780"/>
                  <a:pt x="0" y="12220"/>
                </a:cubicBezTo>
              </a:path>
            </a:pathLst>
          </a:custGeom>
          <a:noFill/>
          <a:ln w="114300" cap="flat" cmpd="sng">
            <a:solidFill>
              <a:srgbClr val="C27BA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03" name="Google Shape;1103;p116"/>
          <p:cNvSpPr/>
          <p:nvPr/>
        </p:nvSpPr>
        <p:spPr>
          <a:xfrm rot="10800000">
            <a:off x="6543678" y="3709863"/>
            <a:ext cx="2107965" cy="809158"/>
          </a:xfrm>
          <a:custGeom>
            <a:avLst/>
            <a:gdLst/>
            <a:ahLst/>
            <a:cxnLst/>
            <a:rect l="l" t="t" r="r" b="b"/>
            <a:pathLst>
              <a:path w="80734" h="35859" extrusionOk="0">
                <a:moveTo>
                  <a:pt x="80734" y="35859"/>
                </a:moveTo>
                <a:cubicBezTo>
                  <a:pt x="74413" y="31282"/>
                  <a:pt x="66145" y="30190"/>
                  <a:pt x="59298" y="26444"/>
                </a:cubicBezTo>
                <a:cubicBezTo>
                  <a:pt x="49499" y="21083"/>
                  <a:pt x="43073" y="10548"/>
                  <a:pt x="33055" y="5609"/>
                </a:cubicBezTo>
                <a:cubicBezTo>
                  <a:pt x="23031" y="667"/>
                  <a:pt x="11157" y="655"/>
                  <a:pt x="0" y="0"/>
                </a:cubicBezTo>
              </a:path>
            </a:pathLst>
          </a:custGeom>
          <a:noFill/>
          <a:ln w="114300" cap="flat" cmpd="sng">
            <a:solidFill>
              <a:srgbClr val="C27BA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04" name="Google Shape;1104;p116"/>
          <p:cNvSpPr/>
          <p:nvPr/>
        </p:nvSpPr>
        <p:spPr>
          <a:xfrm rot="10800000">
            <a:off x="7353597" y="4049314"/>
            <a:ext cx="1360728" cy="49063"/>
          </a:xfrm>
          <a:custGeom>
            <a:avLst/>
            <a:gdLst/>
            <a:ahLst/>
            <a:cxnLst/>
            <a:rect l="l" t="t" r="r" b="b"/>
            <a:pathLst>
              <a:path w="38263" h="12220" extrusionOk="0">
                <a:moveTo>
                  <a:pt x="38263" y="0"/>
                </a:moveTo>
                <a:cubicBezTo>
                  <a:pt x="31793" y="1177"/>
                  <a:pt x="28416" y="9625"/>
                  <a:pt x="22036" y="11219"/>
                </a:cubicBezTo>
                <a:cubicBezTo>
                  <a:pt x="14902" y="13001"/>
                  <a:pt x="7211" y="10780"/>
                  <a:pt x="0" y="12220"/>
                </a:cubicBezTo>
              </a:path>
            </a:pathLst>
          </a:custGeom>
          <a:noFill/>
          <a:ln w="114300" cap="flat" cmpd="sng">
            <a:solidFill>
              <a:srgbClr val="C27BA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05" name="Google Shape;1105;p116"/>
          <p:cNvSpPr/>
          <p:nvPr/>
        </p:nvSpPr>
        <p:spPr>
          <a:xfrm>
            <a:off x="4949675" y="3221538"/>
            <a:ext cx="1637700" cy="1187100"/>
          </a:xfrm>
          <a:prstGeom prst="ellipse">
            <a:avLst/>
          </a:prstGeom>
          <a:solidFill>
            <a:srgbClr val="EAD1DC"/>
          </a:solidFill>
          <a:ln w="76200" cap="flat" cmpd="sng">
            <a:solidFill>
              <a:srgbClr val="A64D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06" name="Google Shape;1106;p116"/>
          <p:cNvSpPr txBox="1"/>
          <p:nvPr/>
        </p:nvSpPr>
        <p:spPr>
          <a:xfrm>
            <a:off x="7178350" y="3412375"/>
            <a:ext cx="15876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Axon 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7" name="Google Shape;1107;p116"/>
          <p:cNvSpPr txBox="1"/>
          <p:nvPr/>
        </p:nvSpPr>
        <p:spPr>
          <a:xfrm>
            <a:off x="5247325" y="3473950"/>
            <a:ext cx="15876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3000" dirty="0">
                <a:latin typeface="Montserrat"/>
                <a:ea typeface="Montserrat"/>
                <a:cs typeface="Montserrat"/>
                <a:sym typeface="Montserrat"/>
              </a:rPr>
              <a:t>Body</a:t>
            </a:r>
            <a:endParaRPr sz="30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8" name="Google Shape;1108;p116"/>
          <p:cNvSpPr txBox="1"/>
          <p:nvPr/>
        </p:nvSpPr>
        <p:spPr>
          <a:xfrm>
            <a:off x="2347503" y="3471715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3000" dirty="0">
                <a:latin typeface="Montserrat"/>
                <a:ea typeface="Montserrat"/>
                <a:cs typeface="Montserrat"/>
                <a:sym typeface="Montserrat"/>
              </a:rPr>
              <a:t>Dendrites</a:t>
            </a:r>
            <a:endParaRPr sz="3000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27819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117"/>
          <p:cNvSpPr txBox="1">
            <a:spLocks noGrp="1"/>
          </p:cNvSpPr>
          <p:nvPr>
            <p:ph type="title"/>
          </p:nvPr>
        </p:nvSpPr>
        <p:spPr>
          <a:xfrm>
            <a:off x="2362200" y="112400"/>
            <a:ext cx="7789800" cy="572700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4" name="Google Shape;1114;p117"/>
          <p:cNvSpPr txBox="1">
            <a:spLocks noGrp="1"/>
          </p:cNvSpPr>
          <p:nvPr>
            <p:ph type="body" idx="1"/>
          </p:nvPr>
        </p:nvSpPr>
        <p:spPr>
          <a:xfrm>
            <a:off x="1835625" y="1143000"/>
            <a:ext cx="8520600" cy="4257388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 indent="-419090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 dirty="0">
                <a:latin typeface="Montserrat"/>
                <a:ea typeface="Montserrat"/>
                <a:cs typeface="Montserrat"/>
                <a:sym typeface="Montserrat"/>
              </a:rPr>
              <a:t>The artificial neuron also has inputs and outputs!</a:t>
            </a:r>
            <a:endParaRPr sz="30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7" name="Google Shape;1117;p117"/>
          <p:cNvSpPr/>
          <p:nvPr/>
        </p:nvSpPr>
        <p:spPr>
          <a:xfrm>
            <a:off x="5079850" y="3298650"/>
            <a:ext cx="1382400" cy="1382400"/>
          </a:xfrm>
          <a:prstGeom prst="ellipse">
            <a:avLst/>
          </a:prstGeom>
          <a:solidFill>
            <a:srgbClr val="D9D2E9"/>
          </a:solidFill>
          <a:ln w="28575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cxnSp>
        <p:nvCxnSpPr>
          <p:cNvPr id="1118" name="Google Shape;1118;p117"/>
          <p:cNvCxnSpPr/>
          <p:nvPr/>
        </p:nvCxnSpPr>
        <p:spPr>
          <a:xfrm rot="10800000">
            <a:off x="3687500" y="3469025"/>
            <a:ext cx="1412400" cy="2904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9" name="Google Shape;1119;p117"/>
          <p:cNvCxnSpPr/>
          <p:nvPr/>
        </p:nvCxnSpPr>
        <p:spPr>
          <a:xfrm flipH="1">
            <a:off x="3837923" y="4324977"/>
            <a:ext cx="1337100" cy="6414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0" name="Google Shape;1120;p117"/>
          <p:cNvCxnSpPr>
            <a:endCxn id="1117" idx="6"/>
          </p:cNvCxnSpPr>
          <p:nvPr/>
        </p:nvCxnSpPr>
        <p:spPr>
          <a:xfrm rot="10800000">
            <a:off x="6462250" y="3989850"/>
            <a:ext cx="1212000" cy="201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21" name="Google Shape;1121;p117"/>
          <p:cNvSpPr txBox="1"/>
          <p:nvPr/>
        </p:nvSpPr>
        <p:spPr>
          <a:xfrm>
            <a:off x="2566413" y="3204050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Input 0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2" name="Google Shape;1122;p117"/>
          <p:cNvSpPr txBox="1"/>
          <p:nvPr/>
        </p:nvSpPr>
        <p:spPr>
          <a:xfrm>
            <a:off x="2646538" y="4628575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Input 1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3" name="Google Shape;1123;p117"/>
          <p:cNvSpPr txBox="1"/>
          <p:nvPr/>
        </p:nvSpPr>
        <p:spPr>
          <a:xfrm>
            <a:off x="7702038" y="3759425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Output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631987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118"/>
          <p:cNvSpPr txBox="1">
            <a:spLocks noGrp="1"/>
          </p:cNvSpPr>
          <p:nvPr>
            <p:ph type="title"/>
          </p:nvPr>
        </p:nvSpPr>
        <p:spPr>
          <a:xfrm>
            <a:off x="2362200" y="106767"/>
            <a:ext cx="7789800" cy="572700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9" name="Google Shape;1129;p118"/>
          <p:cNvSpPr txBox="1">
            <a:spLocks noGrp="1"/>
          </p:cNvSpPr>
          <p:nvPr>
            <p:ph type="body" idx="1"/>
          </p:nvPr>
        </p:nvSpPr>
        <p:spPr>
          <a:xfrm>
            <a:off x="1835625" y="990600"/>
            <a:ext cx="8520600" cy="4409788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 indent="-419090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 dirty="0">
                <a:latin typeface="Montserrat"/>
                <a:ea typeface="Montserrat"/>
                <a:cs typeface="Montserrat"/>
                <a:sym typeface="Montserrat"/>
              </a:rPr>
              <a:t>This simple model is known as a perceptron.</a:t>
            </a:r>
            <a:endParaRPr sz="30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2" name="Google Shape;1132;p118"/>
          <p:cNvSpPr/>
          <p:nvPr/>
        </p:nvSpPr>
        <p:spPr>
          <a:xfrm>
            <a:off x="5079850" y="3298650"/>
            <a:ext cx="1382400" cy="1382400"/>
          </a:xfrm>
          <a:prstGeom prst="ellipse">
            <a:avLst/>
          </a:prstGeom>
          <a:solidFill>
            <a:srgbClr val="D9D2E9"/>
          </a:solidFill>
          <a:ln w="28575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cxnSp>
        <p:nvCxnSpPr>
          <p:cNvPr id="1133" name="Google Shape;1133;p118"/>
          <p:cNvCxnSpPr/>
          <p:nvPr/>
        </p:nvCxnSpPr>
        <p:spPr>
          <a:xfrm rot="10800000">
            <a:off x="3687500" y="3469025"/>
            <a:ext cx="1412400" cy="2904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4" name="Google Shape;1134;p118"/>
          <p:cNvCxnSpPr/>
          <p:nvPr/>
        </p:nvCxnSpPr>
        <p:spPr>
          <a:xfrm flipH="1">
            <a:off x="3837923" y="4324977"/>
            <a:ext cx="1337100" cy="6414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5" name="Google Shape;1135;p118"/>
          <p:cNvCxnSpPr>
            <a:endCxn id="1132" idx="6"/>
          </p:cNvCxnSpPr>
          <p:nvPr/>
        </p:nvCxnSpPr>
        <p:spPr>
          <a:xfrm rot="10800000">
            <a:off x="6462250" y="3989850"/>
            <a:ext cx="1212000" cy="201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36" name="Google Shape;1136;p118"/>
          <p:cNvSpPr txBox="1"/>
          <p:nvPr/>
        </p:nvSpPr>
        <p:spPr>
          <a:xfrm>
            <a:off x="2566413" y="3204050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Input 0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7" name="Google Shape;1137;p118"/>
          <p:cNvSpPr txBox="1"/>
          <p:nvPr/>
        </p:nvSpPr>
        <p:spPr>
          <a:xfrm>
            <a:off x="2646538" y="4628575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Input 1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8" name="Google Shape;1138;p118"/>
          <p:cNvSpPr txBox="1"/>
          <p:nvPr/>
        </p:nvSpPr>
        <p:spPr>
          <a:xfrm>
            <a:off x="7702038" y="3759425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Output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081968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119"/>
          <p:cNvSpPr txBox="1">
            <a:spLocks noGrp="1"/>
          </p:cNvSpPr>
          <p:nvPr>
            <p:ph type="title"/>
          </p:nvPr>
        </p:nvSpPr>
        <p:spPr>
          <a:xfrm>
            <a:off x="2551173" y="112400"/>
            <a:ext cx="7789800" cy="572700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4" name="Google Shape;1144;p119"/>
          <p:cNvSpPr txBox="1">
            <a:spLocks noGrp="1"/>
          </p:cNvSpPr>
          <p:nvPr>
            <p:ph type="body" idx="1"/>
          </p:nvPr>
        </p:nvSpPr>
        <p:spPr>
          <a:xfrm>
            <a:off x="1835625" y="990600"/>
            <a:ext cx="8520600" cy="4409788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 indent="-419090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 dirty="0">
                <a:latin typeface="Montserrat"/>
                <a:ea typeface="Montserrat"/>
                <a:cs typeface="Montserrat"/>
                <a:sym typeface="Montserrat"/>
              </a:rPr>
              <a:t>Simple example of how it can work.</a:t>
            </a:r>
            <a:endParaRPr sz="30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7" name="Google Shape;1147;p119"/>
          <p:cNvSpPr/>
          <p:nvPr/>
        </p:nvSpPr>
        <p:spPr>
          <a:xfrm>
            <a:off x="5079850" y="3298650"/>
            <a:ext cx="1382400" cy="1382400"/>
          </a:xfrm>
          <a:prstGeom prst="ellipse">
            <a:avLst/>
          </a:prstGeom>
          <a:solidFill>
            <a:srgbClr val="D9D2E9"/>
          </a:solidFill>
          <a:ln w="28575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cxnSp>
        <p:nvCxnSpPr>
          <p:cNvPr id="1148" name="Google Shape;1148;p119"/>
          <p:cNvCxnSpPr/>
          <p:nvPr/>
        </p:nvCxnSpPr>
        <p:spPr>
          <a:xfrm rot="10800000">
            <a:off x="3687500" y="3469025"/>
            <a:ext cx="1412400" cy="2904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9" name="Google Shape;1149;p119"/>
          <p:cNvCxnSpPr/>
          <p:nvPr/>
        </p:nvCxnSpPr>
        <p:spPr>
          <a:xfrm flipH="1">
            <a:off x="3837923" y="4324977"/>
            <a:ext cx="1337100" cy="6414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0" name="Google Shape;1150;p119"/>
          <p:cNvCxnSpPr>
            <a:endCxn id="1147" idx="6"/>
          </p:cNvCxnSpPr>
          <p:nvPr/>
        </p:nvCxnSpPr>
        <p:spPr>
          <a:xfrm rot="10800000">
            <a:off x="6462250" y="3989850"/>
            <a:ext cx="1212000" cy="201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51" name="Google Shape;1151;p119"/>
          <p:cNvSpPr txBox="1"/>
          <p:nvPr/>
        </p:nvSpPr>
        <p:spPr>
          <a:xfrm>
            <a:off x="2566413" y="3204050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Input 0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2" name="Google Shape;1152;p119"/>
          <p:cNvSpPr txBox="1"/>
          <p:nvPr/>
        </p:nvSpPr>
        <p:spPr>
          <a:xfrm>
            <a:off x="2646538" y="4628575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Input 1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3" name="Google Shape;1153;p119"/>
          <p:cNvSpPr txBox="1"/>
          <p:nvPr/>
        </p:nvSpPr>
        <p:spPr>
          <a:xfrm>
            <a:off x="7702038" y="3759425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Output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227903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120"/>
          <p:cNvSpPr txBox="1">
            <a:spLocks noGrp="1"/>
          </p:cNvSpPr>
          <p:nvPr>
            <p:ph type="title"/>
          </p:nvPr>
        </p:nvSpPr>
        <p:spPr>
          <a:xfrm>
            <a:off x="2362200" y="76200"/>
            <a:ext cx="7789800" cy="572700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9" name="Google Shape;1159;p120"/>
          <p:cNvSpPr txBox="1">
            <a:spLocks noGrp="1"/>
          </p:cNvSpPr>
          <p:nvPr>
            <p:ph type="body" idx="1"/>
          </p:nvPr>
        </p:nvSpPr>
        <p:spPr>
          <a:xfrm>
            <a:off x="1835625" y="1219200"/>
            <a:ext cx="8520600" cy="4181188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 indent="-419090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 dirty="0">
                <a:latin typeface="Montserrat"/>
                <a:ea typeface="Montserrat"/>
                <a:cs typeface="Montserrat"/>
                <a:sym typeface="Montserrat"/>
              </a:rPr>
              <a:t>We have two inputs and an output</a:t>
            </a:r>
            <a:endParaRPr sz="30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2" name="Google Shape;1162;p120"/>
          <p:cNvSpPr/>
          <p:nvPr/>
        </p:nvSpPr>
        <p:spPr>
          <a:xfrm>
            <a:off x="5079850" y="3298650"/>
            <a:ext cx="1382400" cy="1382400"/>
          </a:xfrm>
          <a:prstGeom prst="ellipse">
            <a:avLst/>
          </a:prstGeom>
          <a:solidFill>
            <a:srgbClr val="D9D2E9"/>
          </a:solidFill>
          <a:ln w="28575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cxnSp>
        <p:nvCxnSpPr>
          <p:cNvPr id="1163" name="Google Shape;1163;p120"/>
          <p:cNvCxnSpPr/>
          <p:nvPr/>
        </p:nvCxnSpPr>
        <p:spPr>
          <a:xfrm rot="10800000">
            <a:off x="3687500" y="3469025"/>
            <a:ext cx="1412400" cy="2904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4" name="Google Shape;1164;p120"/>
          <p:cNvCxnSpPr/>
          <p:nvPr/>
        </p:nvCxnSpPr>
        <p:spPr>
          <a:xfrm flipH="1">
            <a:off x="3837923" y="4324977"/>
            <a:ext cx="1337100" cy="6414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5" name="Google Shape;1165;p120"/>
          <p:cNvCxnSpPr>
            <a:endCxn id="1162" idx="6"/>
          </p:cNvCxnSpPr>
          <p:nvPr/>
        </p:nvCxnSpPr>
        <p:spPr>
          <a:xfrm rot="10800000">
            <a:off x="6462250" y="3989850"/>
            <a:ext cx="1212000" cy="201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66" name="Google Shape;1166;p120"/>
          <p:cNvSpPr txBox="1"/>
          <p:nvPr/>
        </p:nvSpPr>
        <p:spPr>
          <a:xfrm>
            <a:off x="2566413" y="3204050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Input 0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7" name="Google Shape;1167;p120"/>
          <p:cNvSpPr txBox="1"/>
          <p:nvPr/>
        </p:nvSpPr>
        <p:spPr>
          <a:xfrm>
            <a:off x="2646538" y="4628575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Input 1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8" name="Google Shape;1168;p120"/>
          <p:cNvSpPr txBox="1"/>
          <p:nvPr/>
        </p:nvSpPr>
        <p:spPr>
          <a:xfrm>
            <a:off x="7702038" y="3759425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Output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130414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121"/>
          <p:cNvSpPr txBox="1">
            <a:spLocks noGrp="1"/>
          </p:cNvSpPr>
          <p:nvPr>
            <p:ph type="title"/>
          </p:nvPr>
        </p:nvSpPr>
        <p:spPr>
          <a:xfrm>
            <a:off x="2362200" y="112400"/>
            <a:ext cx="7789800" cy="572700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4" name="Google Shape;1174;p121"/>
          <p:cNvSpPr txBox="1">
            <a:spLocks noGrp="1"/>
          </p:cNvSpPr>
          <p:nvPr>
            <p:ph type="body" idx="1"/>
          </p:nvPr>
        </p:nvSpPr>
        <p:spPr>
          <a:xfrm>
            <a:off x="1835625" y="1447800"/>
            <a:ext cx="8520600" cy="3952588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 indent="-419090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 dirty="0">
                <a:latin typeface="Montserrat"/>
                <a:ea typeface="Montserrat"/>
                <a:cs typeface="Montserrat"/>
                <a:sym typeface="Montserrat"/>
              </a:rPr>
              <a:t>Inputs will be values of features</a:t>
            </a:r>
            <a:endParaRPr sz="30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7" name="Google Shape;1177;p121"/>
          <p:cNvSpPr/>
          <p:nvPr/>
        </p:nvSpPr>
        <p:spPr>
          <a:xfrm>
            <a:off x="5079850" y="3298650"/>
            <a:ext cx="1382400" cy="1382400"/>
          </a:xfrm>
          <a:prstGeom prst="ellipse">
            <a:avLst/>
          </a:prstGeom>
          <a:solidFill>
            <a:srgbClr val="D9D2E9"/>
          </a:solidFill>
          <a:ln w="28575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cxnSp>
        <p:nvCxnSpPr>
          <p:cNvPr id="1178" name="Google Shape;1178;p121"/>
          <p:cNvCxnSpPr/>
          <p:nvPr/>
        </p:nvCxnSpPr>
        <p:spPr>
          <a:xfrm rot="10800000">
            <a:off x="3687500" y="3469025"/>
            <a:ext cx="1412400" cy="2904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9" name="Google Shape;1179;p121"/>
          <p:cNvCxnSpPr/>
          <p:nvPr/>
        </p:nvCxnSpPr>
        <p:spPr>
          <a:xfrm flipH="1">
            <a:off x="3837923" y="4324977"/>
            <a:ext cx="1337100" cy="6414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0" name="Google Shape;1180;p121"/>
          <p:cNvCxnSpPr>
            <a:endCxn id="1177" idx="6"/>
          </p:cNvCxnSpPr>
          <p:nvPr/>
        </p:nvCxnSpPr>
        <p:spPr>
          <a:xfrm rot="10800000">
            <a:off x="6462250" y="3989850"/>
            <a:ext cx="1212000" cy="201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81" name="Google Shape;1181;p121"/>
          <p:cNvSpPr txBox="1"/>
          <p:nvPr/>
        </p:nvSpPr>
        <p:spPr>
          <a:xfrm>
            <a:off x="2566413" y="3204050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Input 0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2" name="Google Shape;1182;p121"/>
          <p:cNvSpPr txBox="1"/>
          <p:nvPr/>
        </p:nvSpPr>
        <p:spPr>
          <a:xfrm>
            <a:off x="2646538" y="4628575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Input 1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3" name="Google Shape;1183;p121"/>
          <p:cNvSpPr txBox="1"/>
          <p:nvPr/>
        </p:nvSpPr>
        <p:spPr>
          <a:xfrm>
            <a:off x="7702038" y="3759425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Output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4" name="Google Shape;1184;p121"/>
          <p:cNvSpPr txBox="1"/>
          <p:nvPr/>
        </p:nvSpPr>
        <p:spPr>
          <a:xfrm>
            <a:off x="2743342" y="2915600"/>
            <a:ext cx="476264" cy="42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 dirty="0">
                <a:latin typeface="Montserrat"/>
                <a:ea typeface="Montserrat"/>
                <a:cs typeface="Montserrat"/>
                <a:sym typeface="Montserrat"/>
              </a:rPr>
              <a:t>12</a:t>
            </a:r>
            <a:endParaRPr sz="20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5" name="Google Shape;1185;p121"/>
          <p:cNvSpPr txBox="1"/>
          <p:nvPr/>
        </p:nvSpPr>
        <p:spPr>
          <a:xfrm>
            <a:off x="2929140" y="4340125"/>
            <a:ext cx="4401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4268471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122"/>
          <p:cNvSpPr txBox="1">
            <a:spLocks noGrp="1"/>
          </p:cNvSpPr>
          <p:nvPr>
            <p:ph type="title"/>
          </p:nvPr>
        </p:nvSpPr>
        <p:spPr>
          <a:xfrm>
            <a:off x="2362200" y="106767"/>
            <a:ext cx="7789800" cy="572700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1" name="Google Shape;1191;p122"/>
          <p:cNvSpPr txBox="1">
            <a:spLocks noGrp="1"/>
          </p:cNvSpPr>
          <p:nvPr>
            <p:ph type="body" idx="1"/>
          </p:nvPr>
        </p:nvSpPr>
        <p:spPr>
          <a:xfrm>
            <a:off x="1835625" y="1371600"/>
            <a:ext cx="8520600" cy="4028788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 indent="-419090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Inputs are multiplied by a weight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4" name="Google Shape;1194;p122"/>
          <p:cNvSpPr/>
          <p:nvPr/>
        </p:nvSpPr>
        <p:spPr>
          <a:xfrm>
            <a:off x="5079850" y="3050856"/>
            <a:ext cx="1382400" cy="1630195"/>
          </a:xfrm>
          <a:prstGeom prst="ellipse">
            <a:avLst/>
          </a:prstGeom>
          <a:solidFill>
            <a:srgbClr val="D9D2E9"/>
          </a:solidFill>
          <a:ln w="28575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cxnSp>
        <p:nvCxnSpPr>
          <p:cNvPr id="1195" name="Google Shape;1195;p122"/>
          <p:cNvCxnSpPr/>
          <p:nvPr/>
        </p:nvCxnSpPr>
        <p:spPr>
          <a:xfrm flipH="1" flipV="1">
            <a:off x="3687500" y="3469025"/>
            <a:ext cx="1412400" cy="2904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6" name="Google Shape;1196;p122"/>
          <p:cNvCxnSpPr/>
          <p:nvPr/>
        </p:nvCxnSpPr>
        <p:spPr>
          <a:xfrm flipH="1">
            <a:off x="3837923" y="4324977"/>
            <a:ext cx="1337100" cy="6414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7" name="Google Shape;1197;p122"/>
          <p:cNvCxnSpPr>
            <a:endCxn id="1194" idx="6"/>
          </p:cNvCxnSpPr>
          <p:nvPr/>
        </p:nvCxnSpPr>
        <p:spPr>
          <a:xfrm flipH="1" flipV="1">
            <a:off x="6462250" y="3865954"/>
            <a:ext cx="1212000" cy="143997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98" name="Google Shape;1198;p122"/>
          <p:cNvSpPr txBox="1"/>
          <p:nvPr/>
        </p:nvSpPr>
        <p:spPr>
          <a:xfrm>
            <a:off x="2566413" y="3094512"/>
            <a:ext cx="2083500" cy="720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Input 0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9" name="Google Shape;1199;p122"/>
          <p:cNvSpPr txBox="1"/>
          <p:nvPr/>
        </p:nvSpPr>
        <p:spPr>
          <a:xfrm>
            <a:off x="2646538" y="4519037"/>
            <a:ext cx="2083500" cy="720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Input 1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0" name="Google Shape;1200;p122"/>
          <p:cNvSpPr txBox="1"/>
          <p:nvPr/>
        </p:nvSpPr>
        <p:spPr>
          <a:xfrm>
            <a:off x="7702038" y="3649887"/>
            <a:ext cx="2083500" cy="720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Output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1" name="Google Shape;1201;p122"/>
          <p:cNvSpPr txBox="1"/>
          <p:nvPr/>
        </p:nvSpPr>
        <p:spPr>
          <a:xfrm rot="706249">
            <a:off x="3851900" y="3075225"/>
            <a:ext cx="1382369" cy="720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Weight 0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2" name="Google Shape;1202;p122"/>
          <p:cNvSpPr txBox="1"/>
          <p:nvPr/>
        </p:nvSpPr>
        <p:spPr>
          <a:xfrm rot="-1377908">
            <a:off x="3730612" y="4097222"/>
            <a:ext cx="1382471" cy="720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Weight 1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3" name="Google Shape;1203;p122"/>
          <p:cNvSpPr txBox="1"/>
          <p:nvPr/>
        </p:nvSpPr>
        <p:spPr>
          <a:xfrm>
            <a:off x="2826840" y="2826212"/>
            <a:ext cx="536162" cy="720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12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4" name="Google Shape;1204;p122"/>
          <p:cNvSpPr txBox="1"/>
          <p:nvPr/>
        </p:nvSpPr>
        <p:spPr>
          <a:xfrm>
            <a:off x="2929140" y="4230587"/>
            <a:ext cx="440100" cy="720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198183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123"/>
          <p:cNvSpPr txBox="1">
            <a:spLocks noGrp="1"/>
          </p:cNvSpPr>
          <p:nvPr>
            <p:ph type="title"/>
          </p:nvPr>
        </p:nvSpPr>
        <p:spPr>
          <a:xfrm>
            <a:off x="2362200" y="112400"/>
            <a:ext cx="7789800" cy="572700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0" name="Google Shape;1210;p123"/>
          <p:cNvSpPr txBox="1">
            <a:spLocks noGrp="1"/>
          </p:cNvSpPr>
          <p:nvPr>
            <p:ph type="body" idx="1"/>
          </p:nvPr>
        </p:nvSpPr>
        <p:spPr>
          <a:xfrm>
            <a:off x="1835625" y="1219200"/>
            <a:ext cx="8520600" cy="4181188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 indent="-419090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 dirty="0">
                <a:latin typeface="Montserrat"/>
                <a:ea typeface="Montserrat"/>
                <a:cs typeface="Montserrat"/>
                <a:sym typeface="Montserrat"/>
              </a:rPr>
              <a:t>Weights initially start off as random</a:t>
            </a:r>
            <a:endParaRPr sz="30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3" name="Google Shape;1213;p123"/>
          <p:cNvSpPr/>
          <p:nvPr/>
        </p:nvSpPr>
        <p:spPr>
          <a:xfrm>
            <a:off x="5079850" y="3298650"/>
            <a:ext cx="1382400" cy="1382400"/>
          </a:xfrm>
          <a:prstGeom prst="ellipse">
            <a:avLst/>
          </a:prstGeom>
          <a:solidFill>
            <a:srgbClr val="D9D2E9"/>
          </a:solidFill>
          <a:ln w="28575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cxnSp>
        <p:nvCxnSpPr>
          <p:cNvPr id="1214" name="Google Shape;1214;p123"/>
          <p:cNvCxnSpPr/>
          <p:nvPr/>
        </p:nvCxnSpPr>
        <p:spPr>
          <a:xfrm rot="10800000">
            <a:off x="3687500" y="3469025"/>
            <a:ext cx="1412400" cy="2904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5" name="Google Shape;1215;p123"/>
          <p:cNvCxnSpPr/>
          <p:nvPr/>
        </p:nvCxnSpPr>
        <p:spPr>
          <a:xfrm flipH="1">
            <a:off x="3837923" y="4324977"/>
            <a:ext cx="1337100" cy="6414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6" name="Google Shape;1216;p123"/>
          <p:cNvCxnSpPr>
            <a:endCxn id="1213" idx="6"/>
          </p:cNvCxnSpPr>
          <p:nvPr/>
        </p:nvCxnSpPr>
        <p:spPr>
          <a:xfrm rot="10800000">
            <a:off x="6462250" y="3989850"/>
            <a:ext cx="1212000" cy="201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17" name="Google Shape;1217;p123"/>
          <p:cNvSpPr txBox="1"/>
          <p:nvPr/>
        </p:nvSpPr>
        <p:spPr>
          <a:xfrm>
            <a:off x="2566413" y="3204050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Input 0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8" name="Google Shape;1218;p123"/>
          <p:cNvSpPr txBox="1"/>
          <p:nvPr/>
        </p:nvSpPr>
        <p:spPr>
          <a:xfrm>
            <a:off x="2646538" y="4628575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Input 1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9" name="Google Shape;1219;p123"/>
          <p:cNvSpPr txBox="1"/>
          <p:nvPr/>
        </p:nvSpPr>
        <p:spPr>
          <a:xfrm>
            <a:off x="7702038" y="3759425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Output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0" name="Google Shape;1220;p123"/>
          <p:cNvSpPr txBox="1"/>
          <p:nvPr/>
        </p:nvSpPr>
        <p:spPr>
          <a:xfrm rot="706249">
            <a:off x="3840729" y="3183598"/>
            <a:ext cx="1382369" cy="611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Weight 0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1" name="Google Shape;1221;p123"/>
          <p:cNvSpPr txBox="1"/>
          <p:nvPr/>
        </p:nvSpPr>
        <p:spPr>
          <a:xfrm rot="-1377908">
            <a:off x="3751977" y="4202399"/>
            <a:ext cx="1382471" cy="610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Weight 1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2" name="Google Shape;1222;p123"/>
          <p:cNvSpPr txBox="1"/>
          <p:nvPr/>
        </p:nvSpPr>
        <p:spPr>
          <a:xfrm>
            <a:off x="2826840" y="2935750"/>
            <a:ext cx="5424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 dirty="0">
                <a:latin typeface="Montserrat"/>
                <a:ea typeface="Montserrat"/>
                <a:cs typeface="Montserrat"/>
                <a:sym typeface="Montserrat"/>
              </a:rPr>
              <a:t>12</a:t>
            </a:r>
            <a:endParaRPr sz="20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3" name="Google Shape;1223;p123"/>
          <p:cNvSpPr txBox="1"/>
          <p:nvPr/>
        </p:nvSpPr>
        <p:spPr>
          <a:xfrm>
            <a:off x="2929140" y="4340125"/>
            <a:ext cx="4401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392537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124"/>
          <p:cNvSpPr txBox="1">
            <a:spLocks noGrp="1"/>
          </p:cNvSpPr>
          <p:nvPr>
            <p:ph type="title"/>
          </p:nvPr>
        </p:nvSpPr>
        <p:spPr>
          <a:xfrm>
            <a:off x="2201025" y="51331"/>
            <a:ext cx="7789800" cy="572700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9" name="Google Shape;1229;p124"/>
          <p:cNvSpPr txBox="1">
            <a:spLocks noGrp="1"/>
          </p:cNvSpPr>
          <p:nvPr>
            <p:ph type="body" idx="1"/>
          </p:nvPr>
        </p:nvSpPr>
        <p:spPr>
          <a:xfrm>
            <a:off x="1835625" y="990600"/>
            <a:ext cx="8520600" cy="4409788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 indent="-419090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 dirty="0">
                <a:latin typeface="Montserrat"/>
                <a:ea typeface="Montserrat"/>
                <a:cs typeface="Montserrat"/>
                <a:sym typeface="Montserrat"/>
              </a:rPr>
              <a:t>Weights initially start off as random</a:t>
            </a:r>
            <a:endParaRPr sz="30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2" name="Google Shape;1232;p124"/>
          <p:cNvSpPr/>
          <p:nvPr/>
        </p:nvSpPr>
        <p:spPr>
          <a:xfrm>
            <a:off x="5079850" y="3298650"/>
            <a:ext cx="1382400" cy="1382400"/>
          </a:xfrm>
          <a:prstGeom prst="ellipse">
            <a:avLst/>
          </a:prstGeom>
          <a:solidFill>
            <a:srgbClr val="D9D2E9"/>
          </a:solidFill>
          <a:ln w="28575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cxnSp>
        <p:nvCxnSpPr>
          <p:cNvPr id="1233" name="Google Shape;1233;p124"/>
          <p:cNvCxnSpPr/>
          <p:nvPr/>
        </p:nvCxnSpPr>
        <p:spPr>
          <a:xfrm rot="10800000">
            <a:off x="3687500" y="3469025"/>
            <a:ext cx="1412400" cy="2904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4" name="Google Shape;1234;p124"/>
          <p:cNvCxnSpPr/>
          <p:nvPr/>
        </p:nvCxnSpPr>
        <p:spPr>
          <a:xfrm flipH="1">
            <a:off x="3837923" y="4324977"/>
            <a:ext cx="1337100" cy="6414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5" name="Google Shape;1235;p124"/>
          <p:cNvCxnSpPr>
            <a:endCxn id="1232" idx="6"/>
          </p:cNvCxnSpPr>
          <p:nvPr/>
        </p:nvCxnSpPr>
        <p:spPr>
          <a:xfrm rot="10800000">
            <a:off x="6462250" y="3989850"/>
            <a:ext cx="1212000" cy="201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36" name="Google Shape;1236;p124"/>
          <p:cNvSpPr txBox="1"/>
          <p:nvPr/>
        </p:nvSpPr>
        <p:spPr>
          <a:xfrm>
            <a:off x="2566413" y="3204050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Input 0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7" name="Google Shape;1237;p124"/>
          <p:cNvSpPr txBox="1"/>
          <p:nvPr/>
        </p:nvSpPr>
        <p:spPr>
          <a:xfrm>
            <a:off x="2646538" y="4628575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Input 1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8" name="Google Shape;1238;p124"/>
          <p:cNvSpPr txBox="1"/>
          <p:nvPr/>
        </p:nvSpPr>
        <p:spPr>
          <a:xfrm>
            <a:off x="7702038" y="3759425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Output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9" name="Google Shape;1239;p124"/>
          <p:cNvSpPr txBox="1"/>
          <p:nvPr/>
        </p:nvSpPr>
        <p:spPr>
          <a:xfrm rot="706249">
            <a:off x="4046079" y="3244249"/>
            <a:ext cx="1382369" cy="611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0.5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0" name="Google Shape;1240;p124"/>
          <p:cNvSpPr txBox="1"/>
          <p:nvPr/>
        </p:nvSpPr>
        <p:spPr>
          <a:xfrm rot="-1377908">
            <a:off x="4122577" y="4060624"/>
            <a:ext cx="1382471" cy="610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-1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1" name="Google Shape;1241;p124"/>
          <p:cNvSpPr txBox="1"/>
          <p:nvPr/>
        </p:nvSpPr>
        <p:spPr>
          <a:xfrm>
            <a:off x="2826840" y="2935750"/>
            <a:ext cx="5424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 dirty="0">
                <a:latin typeface="Montserrat"/>
                <a:ea typeface="Montserrat"/>
                <a:cs typeface="Montserrat"/>
                <a:sym typeface="Montserrat"/>
              </a:rPr>
              <a:t>12</a:t>
            </a:r>
            <a:endParaRPr sz="20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2" name="Google Shape;1242;p124"/>
          <p:cNvSpPr txBox="1"/>
          <p:nvPr/>
        </p:nvSpPr>
        <p:spPr>
          <a:xfrm>
            <a:off x="2929140" y="4340125"/>
            <a:ext cx="4401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021569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125"/>
          <p:cNvSpPr txBox="1">
            <a:spLocks noGrp="1"/>
          </p:cNvSpPr>
          <p:nvPr>
            <p:ph type="title"/>
          </p:nvPr>
        </p:nvSpPr>
        <p:spPr>
          <a:xfrm>
            <a:off x="2362200" y="122007"/>
            <a:ext cx="7789800" cy="572700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8" name="Google Shape;1248;p125"/>
          <p:cNvSpPr txBox="1">
            <a:spLocks noGrp="1"/>
          </p:cNvSpPr>
          <p:nvPr>
            <p:ph type="body" idx="1"/>
          </p:nvPr>
        </p:nvSpPr>
        <p:spPr>
          <a:xfrm>
            <a:off x="1835625" y="1371600"/>
            <a:ext cx="8520600" cy="4028788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 indent="-419090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 dirty="0">
                <a:latin typeface="Montserrat"/>
                <a:ea typeface="Montserrat"/>
                <a:cs typeface="Montserrat"/>
                <a:sym typeface="Montserrat"/>
              </a:rPr>
              <a:t>Inputs are now multiplied by weights</a:t>
            </a:r>
            <a:endParaRPr sz="30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1" name="Google Shape;1251;p125"/>
          <p:cNvSpPr/>
          <p:nvPr/>
        </p:nvSpPr>
        <p:spPr>
          <a:xfrm>
            <a:off x="5079850" y="3298650"/>
            <a:ext cx="1382400" cy="1382400"/>
          </a:xfrm>
          <a:prstGeom prst="ellipse">
            <a:avLst/>
          </a:prstGeom>
          <a:solidFill>
            <a:srgbClr val="D9D2E9"/>
          </a:solidFill>
          <a:ln w="28575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cxnSp>
        <p:nvCxnSpPr>
          <p:cNvPr id="1252" name="Google Shape;1252;p125"/>
          <p:cNvCxnSpPr/>
          <p:nvPr/>
        </p:nvCxnSpPr>
        <p:spPr>
          <a:xfrm rot="10800000">
            <a:off x="3687500" y="3469025"/>
            <a:ext cx="1412400" cy="2904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3" name="Google Shape;1253;p125"/>
          <p:cNvCxnSpPr/>
          <p:nvPr/>
        </p:nvCxnSpPr>
        <p:spPr>
          <a:xfrm flipH="1">
            <a:off x="3837923" y="4324977"/>
            <a:ext cx="1337100" cy="6414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4" name="Google Shape;1254;p125"/>
          <p:cNvCxnSpPr>
            <a:endCxn id="1251" idx="6"/>
          </p:cNvCxnSpPr>
          <p:nvPr/>
        </p:nvCxnSpPr>
        <p:spPr>
          <a:xfrm rot="10800000">
            <a:off x="6462250" y="3989850"/>
            <a:ext cx="1212000" cy="201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55" name="Google Shape;1255;p125"/>
          <p:cNvSpPr txBox="1"/>
          <p:nvPr/>
        </p:nvSpPr>
        <p:spPr>
          <a:xfrm>
            <a:off x="2566413" y="3204050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Input 0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6" name="Google Shape;1256;p125"/>
          <p:cNvSpPr txBox="1"/>
          <p:nvPr/>
        </p:nvSpPr>
        <p:spPr>
          <a:xfrm>
            <a:off x="2646538" y="4628575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Input 1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7" name="Google Shape;1257;p125"/>
          <p:cNvSpPr txBox="1"/>
          <p:nvPr/>
        </p:nvSpPr>
        <p:spPr>
          <a:xfrm>
            <a:off x="7702038" y="3759425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Output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8" name="Google Shape;1258;p125"/>
          <p:cNvSpPr txBox="1"/>
          <p:nvPr/>
        </p:nvSpPr>
        <p:spPr>
          <a:xfrm rot="706249">
            <a:off x="4046079" y="3244249"/>
            <a:ext cx="1382369" cy="611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0.5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9" name="Google Shape;1259;p125"/>
          <p:cNvSpPr txBox="1"/>
          <p:nvPr/>
        </p:nvSpPr>
        <p:spPr>
          <a:xfrm rot="-1377908">
            <a:off x="4122577" y="4060624"/>
            <a:ext cx="1382471" cy="610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-1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0" name="Google Shape;1260;p125"/>
          <p:cNvSpPr txBox="1"/>
          <p:nvPr/>
        </p:nvSpPr>
        <p:spPr>
          <a:xfrm>
            <a:off x="2826840" y="2935750"/>
            <a:ext cx="5424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 dirty="0">
                <a:latin typeface="Montserrat"/>
                <a:ea typeface="Montserrat"/>
                <a:cs typeface="Montserrat"/>
                <a:sym typeface="Montserrat"/>
              </a:rPr>
              <a:t>12</a:t>
            </a:r>
            <a:endParaRPr sz="20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1" name="Google Shape;1261;p125"/>
          <p:cNvSpPr txBox="1"/>
          <p:nvPr/>
        </p:nvSpPr>
        <p:spPr>
          <a:xfrm>
            <a:off x="2929140" y="4340125"/>
            <a:ext cx="4401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250076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126"/>
          <p:cNvSpPr txBox="1">
            <a:spLocks noGrp="1"/>
          </p:cNvSpPr>
          <p:nvPr>
            <p:ph type="title"/>
          </p:nvPr>
        </p:nvSpPr>
        <p:spPr>
          <a:xfrm>
            <a:off x="2566413" y="112400"/>
            <a:ext cx="7789800" cy="572700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7" name="Google Shape;1267;p126"/>
          <p:cNvSpPr txBox="1">
            <a:spLocks noGrp="1"/>
          </p:cNvSpPr>
          <p:nvPr>
            <p:ph type="body" idx="1"/>
          </p:nvPr>
        </p:nvSpPr>
        <p:spPr>
          <a:xfrm>
            <a:off x="1835625" y="1143000"/>
            <a:ext cx="8520600" cy="4257388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 indent="-419090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 dirty="0">
                <a:latin typeface="Montserrat"/>
                <a:ea typeface="Montserrat"/>
                <a:cs typeface="Montserrat"/>
                <a:sym typeface="Montserrat"/>
              </a:rPr>
              <a:t>Inputs are now multiplied by weights</a:t>
            </a:r>
            <a:endParaRPr sz="30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0" name="Google Shape;1270;p126"/>
          <p:cNvSpPr/>
          <p:nvPr/>
        </p:nvSpPr>
        <p:spPr>
          <a:xfrm>
            <a:off x="5079850" y="3298650"/>
            <a:ext cx="1382400" cy="1382400"/>
          </a:xfrm>
          <a:prstGeom prst="ellipse">
            <a:avLst/>
          </a:prstGeom>
          <a:solidFill>
            <a:srgbClr val="D9D2E9"/>
          </a:solidFill>
          <a:ln w="28575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cxnSp>
        <p:nvCxnSpPr>
          <p:cNvPr id="1271" name="Google Shape;1271;p126"/>
          <p:cNvCxnSpPr/>
          <p:nvPr/>
        </p:nvCxnSpPr>
        <p:spPr>
          <a:xfrm rot="10800000">
            <a:off x="3687500" y="3469025"/>
            <a:ext cx="1412400" cy="2904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2" name="Google Shape;1272;p126"/>
          <p:cNvCxnSpPr/>
          <p:nvPr/>
        </p:nvCxnSpPr>
        <p:spPr>
          <a:xfrm flipH="1">
            <a:off x="3837923" y="4324977"/>
            <a:ext cx="1337100" cy="6414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3" name="Google Shape;1273;p126"/>
          <p:cNvCxnSpPr>
            <a:endCxn id="1270" idx="6"/>
          </p:cNvCxnSpPr>
          <p:nvPr/>
        </p:nvCxnSpPr>
        <p:spPr>
          <a:xfrm rot="10800000">
            <a:off x="6462250" y="3989850"/>
            <a:ext cx="1212000" cy="201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74" name="Google Shape;1274;p126"/>
          <p:cNvSpPr txBox="1"/>
          <p:nvPr/>
        </p:nvSpPr>
        <p:spPr>
          <a:xfrm>
            <a:off x="2566413" y="3204050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Input 0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5" name="Google Shape;1275;p126"/>
          <p:cNvSpPr txBox="1"/>
          <p:nvPr/>
        </p:nvSpPr>
        <p:spPr>
          <a:xfrm>
            <a:off x="2646538" y="4628575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Input 1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6" name="Google Shape;1276;p126"/>
          <p:cNvSpPr txBox="1"/>
          <p:nvPr/>
        </p:nvSpPr>
        <p:spPr>
          <a:xfrm>
            <a:off x="7702038" y="3759425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Output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7" name="Google Shape;1277;p126"/>
          <p:cNvSpPr txBox="1"/>
          <p:nvPr/>
        </p:nvSpPr>
        <p:spPr>
          <a:xfrm rot="706173">
            <a:off x="3677697" y="3204091"/>
            <a:ext cx="1657548" cy="611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12 * 0.5 = 6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8" name="Google Shape;1278;p126"/>
          <p:cNvSpPr txBox="1"/>
          <p:nvPr/>
        </p:nvSpPr>
        <p:spPr>
          <a:xfrm rot="-1377751">
            <a:off x="3816076" y="4122891"/>
            <a:ext cx="1701746" cy="610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4 * -1 = -4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432804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127"/>
          <p:cNvSpPr txBox="1">
            <a:spLocks noGrp="1"/>
          </p:cNvSpPr>
          <p:nvPr>
            <p:ph type="title"/>
          </p:nvPr>
        </p:nvSpPr>
        <p:spPr>
          <a:xfrm>
            <a:off x="2312996" y="72131"/>
            <a:ext cx="7789800" cy="572700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4" name="Google Shape;1284;p127"/>
          <p:cNvSpPr txBox="1">
            <a:spLocks noGrp="1"/>
          </p:cNvSpPr>
          <p:nvPr>
            <p:ph type="body" idx="1"/>
          </p:nvPr>
        </p:nvSpPr>
        <p:spPr>
          <a:xfrm>
            <a:off x="1835625" y="1219200"/>
            <a:ext cx="8520600" cy="4181188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 indent="-419090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 dirty="0">
                <a:latin typeface="Montserrat"/>
                <a:ea typeface="Montserrat"/>
                <a:cs typeface="Montserrat"/>
                <a:sym typeface="Montserrat"/>
              </a:rPr>
              <a:t>Then these results are passed to an activation function.</a:t>
            </a:r>
            <a:endParaRPr sz="30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4" name="Google Shape;1294;p127"/>
          <p:cNvSpPr txBox="1"/>
          <p:nvPr/>
        </p:nvSpPr>
        <p:spPr>
          <a:xfrm rot="706173">
            <a:off x="3984116" y="3289372"/>
            <a:ext cx="1657548" cy="611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 dirty="0">
                <a:latin typeface="Montserrat"/>
                <a:ea typeface="Montserrat"/>
                <a:cs typeface="Montserrat"/>
                <a:sym typeface="Montserrat"/>
              </a:rPr>
              <a:t>12 * 0.5 = 6</a:t>
            </a:r>
            <a:endParaRPr sz="20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818139" y="3364764"/>
            <a:ext cx="7286375" cy="2035625"/>
            <a:chOff x="1389884" y="3129067"/>
            <a:chExt cx="9715167" cy="2714166"/>
          </a:xfrm>
        </p:grpSpPr>
        <p:sp>
          <p:nvSpPr>
            <p:cNvPr id="1287" name="Google Shape;1287;p127"/>
            <p:cNvSpPr/>
            <p:nvPr/>
          </p:nvSpPr>
          <p:spPr>
            <a:xfrm>
              <a:off x="4741133" y="3255200"/>
              <a:ext cx="1843200" cy="1843200"/>
            </a:xfrm>
            <a:prstGeom prst="ellipse">
              <a:avLst/>
            </a:prstGeom>
            <a:solidFill>
              <a:srgbClr val="D9D2E9"/>
            </a:solidFill>
            <a:ln w="28575" cap="flat" cmpd="sng">
              <a:solidFill>
                <a:srgbClr val="351C7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cxnSp>
          <p:nvCxnSpPr>
            <p:cNvPr id="1288" name="Google Shape;1288;p127"/>
            <p:cNvCxnSpPr/>
            <p:nvPr/>
          </p:nvCxnSpPr>
          <p:spPr>
            <a:xfrm rot="10800000">
              <a:off x="2884667" y="3482367"/>
              <a:ext cx="1883200" cy="387200"/>
            </a:xfrm>
            <a:prstGeom prst="straightConnector1">
              <a:avLst/>
            </a:prstGeom>
            <a:noFill/>
            <a:ln w="762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89" name="Google Shape;1289;p127"/>
            <p:cNvCxnSpPr/>
            <p:nvPr/>
          </p:nvCxnSpPr>
          <p:spPr>
            <a:xfrm flipH="1">
              <a:off x="3085231" y="4623636"/>
              <a:ext cx="1782800" cy="855200"/>
            </a:xfrm>
            <a:prstGeom prst="straightConnector1">
              <a:avLst/>
            </a:prstGeom>
            <a:noFill/>
            <a:ln w="762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90" name="Google Shape;1290;p127"/>
            <p:cNvCxnSpPr>
              <a:endCxn id="1287" idx="6"/>
            </p:cNvCxnSpPr>
            <p:nvPr/>
          </p:nvCxnSpPr>
          <p:spPr>
            <a:xfrm rot="10800000">
              <a:off x="6584333" y="4176800"/>
              <a:ext cx="1616000" cy="26800"/>
            </a:xfrm>
            <a:prstGeom prst="straightConnector1">
              <a:avLst/>
            </a:prstGeom>
            <a:noFill/>
            <a:ln w="762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91" name="Google Shape;1291;p127"/>
            <p:cNvSpPr txBox="1"/>
            <p:nvPr/>
          </p:nvSpPr>
          <p:spPr>
            <a:xfrm>
              <a:off x="1389884" y="3129067"/>
              <a:ext cx="2778000" cy="81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" sz="2000">
                  <a:latin typeface="Montserrat"/>
                  <a:ea typeface="Montserrat"/>
                  <a:cs typeface="Montserrat"/>
                  <a:sym typeface="Montserrat"/>
                </a:rPr>
                <a:t>Input 0</a:t>
              </a:r>
              <a:endParaRPr sz="20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92" name="Google Shape;1292;p127"/>
            <p:cNvSpPr txBox="1"/>
            <p:nvPr/>
          </p:nvSpPr>
          <p:spPr>
            <a:xfrm>
              <a:off x="1496717" y="5028433"/>
              <a:ext cx="2778000" cy="81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" sz="2000">
                  <a:latin typeface="Montserrat"/>
                  <a:ea typeface="Montserrat"/>
                  <a:cs typeface="Montserrat"/>
                  <a:sym typeface="Montserrat"/>
                </a:rPr>
                <a:t>Input 1</a:t>
              </a:r>
              <a:endParaRPr sz="20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93" name="Google Shape;1293;p127"/>
            <p:cNvSpPr txBox="1"/>
            <p:nvPr/>
          </p:nvSpPr>
          <p:spPr>
            <a:xfrm>
              <a:off x="4620933" y="3702633"/>
              <a:ext cx="2083600" cy="81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/>
              <a:r>
                <a:rPr lang="en" sz="2000" b="1">
                  <a:latin typeface="Montserrat"/>
                  <a:ea typeface="Montserrat"/>
                  <a:cs typeface="Montserrat"/>
                  <a:sym typeface="Montserrat"/>
                </a:rPr>
                <a:t>Activation</a:t>
              </a:r>
              <a:endParaRPr sz="2000" b="1">
                <a:latin typeface="Montserrat"/>
                <a:ea typeface="Montserrat"/>
                <a:cs typeface="Montserrat"/>
                <a:sym typeface="Montserrat"/>
              </a:endParaRPr>
            </a:p>
            <a:p>
              <a:pPr algn="ctr"/>
              <a:r>
                <a:rPr lang="en" sz="2000" b="1">
                  <a:latin typeface="Montserrat"/>
                  <a:ea typeface="Montserrat"/>
                  <a:cs typeface="Montserrat"/>
                  <a:sym typeface="Montserrat"/>
                </a:rPr>
                <a:t>Function</a:t>
              </a:r>
              <a:endParaRPr sz="2000" b="1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95" name="Google Shape;1295;p127"/>
            <p:cNvSpPr txBox="1"/>
            <p:nvPr/>
          </p:nvSpPr>
          <p:spPr>
            <a:xfrm rot="-1377751">
              <a:off x="3056101" y="4354186"/>
              <a:ext cx="2268995" cy="8146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" sz="2000" b="1">
                  <a:latin typeface="Montserrat"/>
                  <a:ea typeface="Montserrat"/>
                  <a:cs typeface="Montserrat"/>
                  <a:sym typeface="Montserrat"/>
                </a:rPr>
                <a:t>4 * -1 = -4</a:t>
              </a:r>
              <a:endParaRPr sz="2000" b="1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96" name="Google Shape;1296;p127"/>
            <p:cNvSpPr txBox="1"/>
            <p:nvPr/>
          </p:nvSpPr>
          <p:spPr>
            <a:xfrm>
              <a:off x="8327051" y="3905800"/>
              <a:ext cx="2778000" cy="81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" sz="2000">
                  <a:latin typeface="Montserrat"/>
                  <a:ea typeface="Montserrat"/>
                  <a:cs typeface="Montserrat"/>
                  <a:sym typeface="Montserrat"/>
                </a:rPr>
                <a:t>Output</a:t>
              </a:r>
              <a:endParaRPr sz="20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7057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128"/>
          <p:cNvSpPr txBox="1">
            <a:spLocks noGrp="1"/>
          </p:cNvSpPr>
          <p:nvPr>
            <p:ph type="title"/>
          </p:nvPr>
        </p:nvSpPr>
        <p:spPr>
          <a:xfrm>
            <a:off x="2565856" y="150689"/>
            <a:ext cx="7789800" cy="572700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2" name="Google Shape;1302;p128"/>
          <p:cNvSpPr txBox="1">
            <a:spLocks noGrp="1"/>
          </p:cNvSpPr>
          <p:nvPr>
            <p:ph type="body" idx="1"/>
          </p:nvPr>
        </p:nvSpPr>
        <p:spPr>
          <a:xfrm>
            <a:off x="1835625" y="1066800"/>
            <a:ext cx="8520600" cy="4333588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 indent="-419090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 dirty="0">
                <a:latin typeface="Montserrat"/>
                <a:ea typeface="Montserrat"/>
                <a:cs typeface="Montserrat"/>
                <a:sym typeface="Montserrat"/>
              </a:rPr>
              <a:t>Many activation functions to choose from, we’ll cover this in more detail later!</a:t>
            </a:r>
            <a:endParaRPr sz="30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5" name="Google Shape;1305;p128"/>
          <p:cNvSpPr/>
          <p:nvPr/>
        </p:nvSpPr>
        <p:spPr>
          <a:xfrm>
            <a:off x="5079862" y="3459363"/>
            <a:ext cx="1382400" cy="1382400"/>
          </a:xfrm>
          <a:prstGeom prst="ellipse">
            <a:avLst/>
          </a:prstGeom>
          <a:solidFill>
            <a:srgbClr val="D9D2E9"/>
          </a:solidFill>
          <a:ln w="28575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cxnSp>
        <p:nvCxnSpPr>
          <p:cNvPr id="1306" name="Google Shape;1306;p128"/>
          <p:cNvCxnSpPr/>
          <p:nvPr/>
        </p:nvCxnSpPr>
        <p:spPr>
          <a:xfrm rot="10800000">
            <a:off x="3687512" y="3629738"/>
            <a:ext cx="1412400" cy="2904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7" name="Google Shape;1307;p128"/>
          <p:cNvCxnSpPr/>
          <p:nvPr/>
        </p:nvCxnSpPr>
        <p:spPr>
          <a:xfrm flipH="1">
            <a:off x="3837935" y="4485690"/>
            <a:ext cx="1337100" cy="6414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8" name="Google Shape;1308;p128"/>
          <p:cNvCxnSpPr>
            <a:endCxn id="1305" idx="6"/>
          </p:cNvCxnSpPr>
          <p:nvPr/>
        </p:nvCxnSpPr>
        <p:spPr>
          <a:xfrm rot="10800000">
            <a:off x="6462262" y="4150563"/>
            <a:ext cx="1212000" cy="201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09" name="Google Shape;1309;p128"/>
          <p:cNvSpPr txBox="1"/>
          <p:nvPr/>
        </p:nvSpPr>
        <p:spPr>
          <a:xfrm>
            <a:off x="2566425" y="3364763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Input 0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0" name="Google Shape;1310;p128"/>
          <p:cNvSpPr txBox="1"/>
          <p:nvPr/>
        </p:nvSpPr>
        <p:spPr>
          <a:xfrm>
            <a:off x="2646550" y="4789288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Input 1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1" name="Google Shape;1311;p128"/>
          <p:cNvSpPr txBox="1"/>
          <p:nvPr/>
        </p:nvSpPr>
        <p:spPr>
          <a:xfrm>
            <a:off x="4989712" y="3794938"/>
            <a:ext cx="15627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Activation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  <a:p>
            <a:pPr algn="ctr"/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Function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2" name="Google Shape;1312;p128"/>
          <p:cNvSpPr txBox="1"/>
          <p:nvPr/>
        </p:nvSpPr>
        <p:spPr>
          <a:xfrm rot="706173">
            <a:off x="3677709" y="3364804"/>
            <a:ext cx="1657548" cy="611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12 * 0.5 = 6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3" name="Google Shape;1313;p128"/>
          <p:cNvSpPr txBox="1"/>
          <p:nvPr/>
        </p:nvSpPr>
        <p:spPr>
          <a:xfrm rot="-1377751">
            <a:off x="3816088" y="4283604"/>
            <a:ext cx="1701746" cy="610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4 * -1 = -4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4" name="Google Shape;1314;p128"/>
          <p:cNvSpPr txBox="1"/>
          <p:nvPr/>
        </p:nvSpPr>
        <p:spPr>
          <a:xfrm>
            <a:off x="7739275" y="3920138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Output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959188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129"/>
          <p:cNvSpPr txBox="1">
            <a:spLocks noGrp="1"/>
          </p:cNvSpPr>
          <p:nvPr>
            <p:ph type="title"/>
          </p:nvPr>
        </p:nvSpPr>
        <p:spPr>
          <a:xfrm>
            <a:off x="2438400" y="41651"/>
            <a:ext cx="7789800" cy="572700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0" name="Google Shape;1320;p129"/>
          <p:cNvSpPr txBox="1">
            <a:spLocks noGrp="1"/>
          </p:cNvSpPr>
          <p:nvPr>
            <p:ph type="body" idx="1"/>
          </p:nvPr>
        </p:nvSpPr>
        <p:spPr>
          <a:xfrm>
            <a:off x="1835625" y="1983988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 indent="-419090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For now our activation function will be very simple...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3" name="Google Shape;1323;p129"/>
          <p:cNvSpPr/>
          <p:nvPr/>
        </p:nvSpPr>
        <p:spPr>
          <a:xfrm>
            <a:off x="5079862" y="3459363"/>
            <a:ext cx="1382400" cy="1382400"/>
          </a:xfrm>
          <a:prstGeom prst="ellipse">
            <a:avLst/>
          </a:prstGeom>
          <a:solidFill>
            <a:srgbClr val="D9D2E9"/>
          </a:solidFill>
          <a:ln w="28575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cxnSp>
        <p:nvCxnSpPr>
          <p:cNvPr id="1324" name="Google Shape;1324;p129"/>
          <p:cNvCxnSpPr/>
          <p:nvPr/>
        </p:nvCxnSpPr>
        <p:spPr>
          <a:xfrm rot="10800000">
            <a:off x="3687512" y="3629738"/>
            <a:ext cx="1412400" cy="2904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5" name="Google Shape;1325;p129"/>
          <p:cNvCxnSpPr/>
          <p:nvPr/>
        </p:nvCxnSpPr>
        <p:spPr>
          <a:xfrm flipH="1">
            <a:off x="3837935" y="4485690"/>
            <a:ext cx="1337100" cy="6414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6" name="Google Shape;1326;p129"/>
          <p:cNvCxnSpPr>
            <a:endCxn id="1323" idx="6"/>
          </p:cNvCxnSpPr>
          <p:nvPr/>
        </p:nvCxnSpPr>
        <p:spPr>
          <a:xfrm rot="10800000">
            <a:off x="6462262" y="4150563"/>
            <a:ext cx="1212000" cy="201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27" name="Google Shape;1327;p129"/>
          <p:cNvSpPr txBox="1"/>
          <p:nvPr/>
        </p:nvSpPr>
        <p:spPr>
          <a:xfrm>
            <a:off x="2566425" y="3364763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Input 0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8" name="Google Shape;1328;p129"/>
          <p:cNvSpPr txBox="1"/>
          <p:nvPr/>
        </p:nvSpPr>
        <p:spPr>
          <a:xfrm>
            <a:off x="2646550" y="4789288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Input 1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9" name="Google Shape;1329;p129"/>
          <p:cNvSpPr txBox="1"/>
          <p:nvPr/>
        </p:nvSpPr>
        <p:spPr>
          <a:xfrm>
            <a:off x="4989712" y="3794938"/>
            <a:ext cx="15627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Activation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  <a:p>
            <a:pPr algn="ctr"/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Function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0" name="Google Shape;1330;p129"/>
          <p:cNvSpPr txBox="1"/>
          <p:nvPr/>
        </p:nvSpPr>
        <p:spPr>
          <a:xfrm rot="706173">
            <a:off x="3732404" y="3305333"/>
            <a:ext cx="1657548" cy="611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 dirty="0">
                <a:latin typeface="Montserrat"/>
                <a:ea typeface="Montserrat"/>
                <a:cs typeface="Montserrat"/>
                <a:sym typeface="Montserrat"/>
              </a:rPr>
              <a:t>12 * 0.5 = 6</a:t>
            </a:r>
            <a:endParaRPr sz="20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1" name="Google Shape;1331;p129"/>
          <p:cNvSpPr txBox="1"/>
          <p:nvPr/>
        </p:nvSpPr>
        <p:spPr>
          <a:xfrm rot="-1377751">
            <a:off x="3816088" y="4283604"/>
            <a:ext cx="1701746" cy="610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4 * -1 = -4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2" name="Google Shape;1332;p129"/>
          <p:cNvSpPr txBox="1"/>
          <p:nvPr/>
        </p:nvSpPr>
        <p:spPr>
          <a:xfrm>
            <a:off x="7779325" y="3897263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Output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4027802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130"/>
          <p:cNvSpPr txBox="1">
            <a:spLocks noGrp="1"/>
          </p:cNvSpPr>
          <p:nvPr>
            <p:ph type="title"/>
          </p:nvPr>
        </p:nvSpPr>
        <p:spPr>
          <a:xfrm>
            <a:off x="2514116" y="66538"/>
            <a:ext cx="7789800" cy="572700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8" name="Google Shape;1338;p130"/>
          <p:cNvSpPr txBox="1">
            <a:spLocks noGrp="1"/>
          </p:cNvSpPr>
          <p:nvPr>
            <p:ph type="body" idx="1"/>
          </p:nvPr>
        </p:nvSpPr>
        <p:spPr>
          <a:xfrm>
            <a:off x="1835625" y="1983988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 indent="-419090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 dirty="0">
                <a:latin typeface="Montserrat"/>
                <a:ea typeface="Montserrat"/>
                <a:cs typeface="Montserrat"/>
                <a:sym typeface="Montserrat"/>
              </a:rPr>
              <a:t>If sum of inputs is positive return 1, if sum is negative output 0.</a:t>
            </a:r>
            <a:endParaRPr sz="30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1" name="Google Shape;1341;p130"/>
          <p:cNvSpPr/>
          <p:nvPr/>
        </p:nvSpPr>
        <p:spPr>
          <a:xfrm>
            <a:off x="5079850" y="3409588"/>
            <a:ext cx="1382400" cy="1382400"/>
          </a:xfrm>
          <a:prstGeom prst="ellipse">
            <a:avLst/>
          </a:prstGeom>
          <a:solidFill>
            <a:srgbClr val="D9D2E9"/>
          </a:solidFill>
          <a:ln w="28575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cxnSp>
        <p:nvCxnSpPr>
          <p:cNvPr id="1342" name="Google Shape;1342;p130"/>
          <p:cNvCxnSpPr/>
          <p:nvPr/>
        </p:nvCxnSpPr>
        <p:spPr>
          <a:xfrm rot="10800000">
            <a:off x="3687500" y="3579963"/>
            <a:ext cx="1412400" cy="2904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3" name="Google Shape;1343;p130"/>
          <p:cNvCxnSpPr/>
          <p:nvPr/>
        </p:nvCxnSpPr>
        <p:spPr>
          <a:xfrm flipH="1">
            <a:off x="3837923" y="4435915"/>
            <a:ext cx="1337100" cy="6414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4" name="Google Shape;1344;p130"/>
          <p:cNvCxnSpPr>
            <a:endCxn id="1341" idx="6"/>
          </p:cNvCxnSpPr>
          <p:nvPr/>
        </p:nvCxnSpPr>
        <p:spPr>
          <a:xfrm rot="10800000">
            <a:off x="6462250" y="4100788"/>
            <a:ext cx="1212000" cy="201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45" name="Google Shape;1345;p130"/>
          <p:cNvSpPr txBox="1"/>
          <p:nvPr/>
        </p:nvSpPr>
        <p:spPr>
          <a:xfrm>
            <a:off x="2566413" y="3314988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Input 0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6" name="Google Shape;1346;p130"/>
          <p:cNvSpPr txBox="1"/>
          <p:nvPr/>
        </p:nvSpPr>
        <p:spPr>
          <a:xfrm>
            <a:off x="2646538" y="4739513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Input 1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7" name="Google Shape;1347;p130"/>
          <p:cNvSpPr txBox="1"/>
          <p:nvPr/>
        </p:nvSpPr>
        <p:spPr>
          <a:xfrm>
            <a:off x="4989700" y="3745163"/>
            <a:ext cx="15627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2000" b="1" dirty="0">
                <a:latin typeface="Montserrat"/>
                <a:ea typeface="Montserrat"/>
                <a:cs typeface="Montserrat"/>
                <a:sym typeface="Montserrat"/>
              </a:rPr>
              <a:t>Activation</a:t>
            </a:r>
            <a:endParaRPr sz="2000" b="1" dirty="0">
              <a:latin typeface="Montserrat"/>
              <a:ea typeface="Montserrat"/>
              <a:cs typeface="Montserrat"/>
              <a:sym typeface="Montserrat"/>
            </a:endParaRPr>
          </a:p>
          <a:p>
            <a:pPr algn="ctr"/>
            <a:r>
              <a:rPr lang="en" sz="2000" b="1" dirty="0">
                <a:latin typeface="Montserrat"/>
                <a:ea typeface="Montserrat"/>
                <a:cs typeface="Montserrat"/>
                <a:sym typeface="Montserrat"/>
              </a:rPr>
              <a:t>Function</a:t>
            </a:r>
            <a:endParaRPr sz="20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8" name="Google Shape;1348;p130"/>
          <p:cNvSpPr txBox="1"/>
          <p:nvPr/>
        </p:nvSpPr>
        <p:spPr>
          <a:xfrm rot="706173">
            <a:off x="3677697" y="3315029"/>
            <a:ext cx="1657548" cy="611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12 * 0.5 = 6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9" name="Google Shape;1349;p130"/>
          <p:cNvSpPr txBox="1"/>
          <p:nvPr/>
        </p:nvSpPr>
        <p:spPr>
          <a:xfrm rot="-1377751">
            <a:off x="3816076" y="4233829"/>
            <a:ext cx="1701746" cy="610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4 * -1 = -4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0" name="Google Shape;1350;p130"/>
          <p:cNvSpPr txBox="1"/>
          <p:nvPr/>
        </p:nvSpPr>
        <p:spPr>
          <a:xfrm>
            <a:off x="7769288" y="3870363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Output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787346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131"/>
          <p:cNvSpPr txBox="1">
            <a:spLocks noGrp="1"/>
          </p:cNvSpPr>
          <p:nvPr>
            <p:ph type="title"/>
          </p:nvPr>
        </p:nvSpPr>
        <p:spPr>
          <a:xfrm>
            <a:off x="2566425" y="76200"/>
            <a:ext cx="7789800" cy="572700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6" name="Google Shape;1356;p131"/>
          <p:cNvSpPr txBox="1">
            <a:spLocks noGrp="1"/>
          </p:cNvSpPr>
          <p:nvPr>
            <p:ph type="body" idx="1"/>
          </p:nvPr>
        </p:nvSpPr>
        <p:spPr>
          <a:xfrm>
            <a:off x="1835625" y="1076462"/>
            <a:ext cx="8520600" cy="2071865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 indent="-419090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 dirty="0">
                <a:latin typeface="Montserrat"/>
                <a:ea typeface="Montserrat"/>
                <a:cs typeface="Montserrat"/>
                <a:sym typeface="Montserrat"/>
              </a:rPr>
              <a:t>In this case 6-4=2 so the activation function returns 1.</a:t>
            </a:r>
            <a:endParaRPr sz="30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9" name="Google Shape;1359;p131"/>
          <p:cNvSpPr/>
          <p:nvPr/>
        </p:nvSpPr>
        <p:spPr>
          <a:xfrm>
            <a:off x="5110106" y="3369247"/>
            <a:ext cx="1382400" cy="1382400"/>
          </a:xfrm>
          <a:prstGeom prst="ellipse">
            <a:avLst/>
          </a:prstGeom>
          <a:solidFill>
            <a:srgbClr val="D9D2E9"/>
          </a:solidFill>
          <a:ln w="28575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cxnSp>
        <p:nvCxnSpPr>
          <p:cNvPr id="1360" name="Google Shape;1360;p131"/>
          <p:cNvCxnSpPr/>
          <p:nvPr/>
        </p:nvCxnSpPr>
        <p:spPr>
          <a:xfrm rot="10800000">
            <a:off x="3717756" y="3539622"/>
            <a:ext cx="1412400" cy="2904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1" name="Google Shape;1361;p131"/>
          <p:cNvCxnSpPr/>
          <p:nvPr/>
        </p:nvCxnSpPr>
        <p:spPr>
          <a:xfrm flipH="1">
            <a:off x="3868179" y="4395574"/>
            <a:ext cx="1337100" cy="6414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2" name="Google Shape;1362;p131"/>
          <p:cNvCxnSpPr>
            <a:endCxn id="1359" idx="6"/>
          </p:cNvCxnSpPr>
          <p:nvPr/>
        </p:nvCxnSpPr>
        <p:spPr>
          <a:xfrm rot="10800000">
            <a:off x="6492506" y="4060447"/>
            <a:ext cx="1212000" cy="201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63" name="Google Shape;1363;p131"/>
          <p:cNvSpPr txBox="1"/>
          <p:nvPr/>
        </p:nvSpPr>
        <p:spPr>
          <a:xfrm>
            <a:off x="2596669" y="3274647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dirty="0">
                <a:latin typeface="Montserrat"/>
                <a:ea typeface="Montserrat"/>
                <a:cs typeface="Montserrat"/>
                <a:sym typeface="Montserrat"/>
              </a:rPr>
              <a:t>Input 0</a:t>
            </a:r>
            <a:endParaRPr sz="20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4" name="Google Shape;1364;p131"/>
          <p:cNvSpPr txBox="1"/>
          <p:nvPr/>
        </p:nvSpPr>
        <p:spPr>
          <a:xfrm>
            <a:off x="2676794" y="4699172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Input 1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5" name="Google Shape;1365;p131"/>
          <p:cNvSpPr txBox="1"/>
          <p:nvPr/>
        </p:nvSpPr>
        <p:spPr>
          <a:xfrm>
            <a:off x="5019956" y="3704822"/>
            <a:ext cx="15627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Activation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  <a:p>
            <a:pPr algn="ctr"/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Function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6" name="Google Shape;1366;p131"/>
          <p:cNvSpPr txBox="1"/>
          <p:nvPr/>
        </p:nvSpPr>
        <p:spPr>
          <a:xfrm rot="706173">
            <a:off x="3707953" y="3274688"/>
            <a:ext cx="1657548" cy="611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12 * 0.5 = 6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7" name="Google Shape;1367;p131"/>
          <p:cNvSpPr txBox="1"/>
          <p:nvPr/>
        </p:nvSpPr>
        <p:spPr>
          <a:xfrm rot="-1377751">
            <a:off x="3846332" y="4193488"/>
            <a:ext cx="1701746" cy="610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4 * -1 = -4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8" name="Google Shape;1368;p131"/>
          <p:cNvSpPr txBox="1"/>
          <p:nvPr/>
        </p:nvSpPr>
        <p:spPr>
          <a:xfrm>
            <a:off x="7854438" y="3982422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Output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9" name="Google Shape;1369;p131"/>
          <p:cNvSpPr txBox="1"/>
          <p:nvPr/>
        </p:nvSpPr>
        <p:spPr>
          <a:xfrm rot="862">
            <a:off x="8210255" y="3674597"/>
            <a:ext cx="11967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528139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132"/>
          <p:cNvSpPr txBox="1">
            <a:spLocks noGrp="1"/>
          </p:cNvSpPr>
          <p:nvPr>
            <p:ph type="title"/>
          </p:nvPr>
        </p:nvSpPr>
        <p:spPr>
          <a:xfrm>
            <a:off x="2481952" y="76624"/>
            <a:ext cx="7789800" cy="572700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5" name="Google Shape;1375;p132"/>
          <p:cNvSpPr txBox="1">
            <a:spLocks noGrp="1"/>
          </p:cNvSpPr>
          <p:nvPr>
            <p:ph type="body" idx="1"/>
          </p:nvPr>
        </p:nvSpPr>
        <p:spPr>
          <a:xfrm>
            <a:off x="1835625" y="1143000"/>
            <a:ext cx="8520600" cy="4257388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 indent="-419090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 dirty="0">
                <a:latin typeface="Montserrat"/>
                <a:ea typeface="Montserrat"/>
                <a:cs typeface="Montserrat"/>
                <a:sym typeface="Montserrat"/>
              </a:rPr>
              <a:t>There is a possible issue. What if the original inputs started off as zero?</a:t>
            </a:r>
            <a:endParaRPr sz="30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8" name="Google Shape;1378;p132"/>
          <p:cNvSpPr/>
          <p:nvPr/>
        </p:nvSpPr>
        <p:spPr>
          <a:xfrm>
            <a:off x="5079850" y="3389417"/>
            <a:ext cx="1382400" cy="1382400"/>
          </a:xfrm>
          <a:prstGeom prst="ellipse">
            <a:avLst/>
          </a:prstGeom>
          <a:solidFill>
            <a:srgbClr val="D9D2E9"/>
          </a:solidFill>
          <a:ln w="28575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cxnSp>
        <p:nvCxnSpPr>
          <p:cNvPr id="1379" name="Google Shape;1379;p132"/>
          <p:cNvCxnSpPr/>
          <p:nvPr/>
        </p:nvCxnSpPr>
        <p:spPr>
          <a:xfrm rot="10800000">
            <a:off x="3687500" y="3559793"/>
            <a:ext cx="1412400" cy="2904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80" name="Google Shape;1380;p132"/>
          <p:cNvCxnSpPr/>
          <p:nvPr/>
        </p:nvCxnSpPr>
        <p:spPr>
          <a:xfrm flipH="1">
            <a:off x="3837923" y="4415744"/>
            <a:ext cx="1337100" cy="6414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81" name="Google Shape;1381;p132"/>
          <p:cNvCxnSpPr>
            <a:endCxn id="1378" idx="6"/>
          </p:cNvCxnSpPr>
          <p:nvPr/>
        </p:nvCxnSpPr>
        <p:spPr>
          <a:xfrm rot="10800000">
            <a:off x="6462250" y="4080617"/>
            <a:ext cx="1212000" cy="201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2" name="Google Shape;1382;p132"/>
          <p:cNvSpPr txBox="1"/>
          <p:nvPr/>
        </p:nvSpPr>
        <p:spPr>
          <a:xfrm>
            <a:off x="2566413" y="3294818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Input 0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3" name="Google Shape;1383;p132"/>
          <p:cNvSpPr txBox="1"/>
          <p:nvPr/>
        </p:nvSpPr>
        <p:spPr>
          <a:xfrm>
            <a:off x="2646538" y="4719342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Input 1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4" name="Google Shape;1384;p132"/>
          <p:cNvSpPr txBox="1"/>
          <p:nvPr/>
        </p:nvSpPr>
        <p:spPr>
          <a:xfrm>
            <a:off x="4989700" y="3724992"/>
            <a:ext cx="15627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Activation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  <a:p>
            <a:pPr algn="ctr"/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Function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5" name="Google Shape;1385;p132"/>
          <p:cNvSpPr txBox="1"/>
          <p:nvPr/>
        </p:nvSpPr>
        <p:spPr>
          <a:xfrm rot="706173">
            <a:off x="3689913" y="3254284"/>
            <a:ext cx="1657548" cy="611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 dirty="0">
                <a:latin typeface="Montserrat"/>
                <a:ea typeface="Montserrat"/>
                <a:cs typeface="Montserrat"/>
                <a:sym typeface="Montserrat"/>
              </a:rPr>
              <a:t>12 * 0.5 = 6</a:t>
            </a:r>
            <a:endParaRPr sz="20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6" name="Google Shape;1386;p132"/>
          <p:cNvSpPr txBox="1"/>
          <p:nvPr/>
        </p:nvSpPr>
        <p:spPr>
          <a:xfrm rot="-1377751">
            <a:off x="3816076" y="4213658"/>
            <a:ext cx="1701746" cy="610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4 * -1 = -4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7" name="Google Shape;1387;p132"/>
          <p:cNvSpPr txBox="1"/>
          <p:nvPr/>
        </p:nvSpPr>
        <p:spPr>
          <a:xfrm>
            <a:off x="7854438" y="4002593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Output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8" name="Google Shape;1388;p132"/>
          <p:cNvSpPr txBox="1"/>
          <p:nvPr/>
        </p:nvSpPr>
        <p:spPr>
          <a:xfrm rot="862">
            <a:off x="8179999" y="3694767"/>
            <a:ext cx="11967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28184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133"/>
          <p:cNvSpPr txBox="1">
            <a:spLocks noGrp="1"/>
          </p:cNvSpPr>
          <p:nvPr>
            <p:ph type="title"/>
          </p:nvPr>
        </p:nvSpPr>
        <p:spPr>
          <a:xfrm>
            <a:off x="2566425" y="76200"/>
            <a:ext cx="7789800" cy="572700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4" name="Google Shape;1394;p133"/>
          <p:cNvSpPr txBox="1">
            <a:spLocks noGrp="1"/>
          </p:cNvSpPr>
          <p:nvPr>
            <p:ph type="body" idx="1"/>
          </p:nvPr>
        </p:nvSpPr>
        <p:spPr>
          <a:xfrm>
            <a:off x="1835625" y="1219201"/>
            <a:ext cx="8520600" cy="4020475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 indent="-419090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 dirty="0">
                <a:latin typeface="Montserrat"/>
                <a:ea typeface="Montserrat"/>
                <a:cs typeface="Montserrat"/>
                <a:sym typeface="Montserrat"/>
              </a:rPr>
              <a:t>Then any weight multiplied by the input would still result in zero!</a:t>
            </a:r>
            <a:endParaRPr sz="30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7" name="Google Shape;1397;p133"/>
          <p:cNvSpPr/>
          <p:nvPr/>
        </p:nvSpPr>
        <p:spPr>
          <a:xfrm>
            <a:off x="5079850" y="3298650"/>
            <a:ext cx="1382400" cy="1382400"/>
          </a:xfrm>
          <a:prstGeom prst="ellipse">
            <a:avLst/>
          </a:prstGeom>
          <a:solidFill>
            <a:srgbClr val="D9D2E9"/>
          </a:solidFill>
          <a:ln w="28575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cxnSp>
        <p:nvCxnSpPr>
          <p:cNvPr id="1398" name="Google Shape;1398;p133"/>
          <p:cNvCxnSpPr/>
          <p:nvPr/>
        </p:nvCxnSpPr>
        <p:spPr>
          <a:xfrm rot="10800000">
            <a:off x="3687500" y="3469025"/>
            <a:ext cx="1412400" cy="2904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9" name="Google Shape;1399;p133"/>
          <p:cNvCxnSpPr/>
          <p:nvPr/>
        </p:nvCxnSpPr>
        <p:spPr>
          <a:xfrm flipH="1">
            <a:off x="3837923" y="4324977"/>
            <a:ext cx="1337100" cy="6414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0" name="Google Shape;1400;p133"/>
          <p:cNvCxnSpPr>
            <a:endCxn id="1397" idx="6"/>
          </p:cNvCxnSpPr>
          <p:nvPr/>
        </p:nvCxnSpPr>
        <p:spPr>
          <a:xfrm rot="10800000">
            <a:off x="6462250" y="3989850"/>
            <a:ext cx="1212000" cy="201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01" name="Google Shape;1401;p133"/>
          <p:cNvSpPr txBox="1"/>
          <p:nvPr/>
        </p:nvSpPr>
        <p:spPr>
          <a:xfrm>
            <a:off x="2566413" y="3204050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Input 0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2" name="Google Shape;1402;p133"/>
          <p:cNvSpPr txBox="1"/>
          <p:nvPr/>
        </p:nvSpPr>
        <p:spPr>
          <a:xfrm>
            <a:off x="2646538" y="4628575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Input 1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3" name="Google Shape;1403;p133"/>
          <p:cNvSpPr txBox="1"/>
          <p:nvPr/>
        </p:nvSpPr>
        <p:spPr>
          <a:xfrm>
            <a:off x="4989700" y="3634225"/>
            <a:ext cx="15627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Activation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  <a:p>
            <a:pPr algn="ctr"/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Function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4" name="Google Shape;1404;p133"/>
          <p:cNvSpPr txBox="1"/>
          <p:nvPr/>
        </p:nvSpPr>
        <p:spPr>
          <a:xfrm rot="706173">
            <a:off x="3677697" y="3204091"/>
            <a:ext cx="1657548" cy="611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12 * 0.5 = 6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5" name="Google Shape;1405;p133"/>
          <p:cNvSpPr txBox="1"/>
          <p:nvPr/>
        </p:nvSpPr>
        <p:spPr>
          <a:xfrm rot="-1377751">
            <a:off x="3816076" y="4122891"/>
            <a:ext cx="1701746" cy="610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4 * -1 = -4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6" name="Google Shape;1406;p133"/>
          <p:cNvSpPr txBox="1"/>
          <p:nvPr/>
        </p:nvSpPr>
        <p:spPr>
          <a:xfrm>
            <a:off x="7854438" y="3911825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Output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7" name="Google Shape;1407;p133"/>
          <p:cNvSpPr txBox="1"/>
          <p:nvPr/>
        </p:nvSpPr>
        <p:spPr>
          <a:xfrm rot="862">
            <a:off x="8179999" y="3604000"/>
            <a:ext cx="11967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892052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134"/>
          <p:cNvSpPr txBox="1">
            <a:spLocks noGrp="1"/>
          </p:cNvSpPr>
          <p:nvPr>
            <p:ph type="title"/>
          </p:nvPr>
        </p:nvSpPr>
        <p:spPr>
          <a:xfrm>
            <a:off x="2566425" y="76200"/>
            <a:ext cx="7789800" cy="572700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3" name="Google Shape;1413;p134"/>
          <p:cNvSpPr txBox="1">
            <a:spLocks noGrp="1"/>
          </p:cNvSpPr>
          <p:nvPr>
            <p:ph type="body" idx="1"/>
          </p:nvPr>
        </p:nvSpPr>
        <p:spPr>
          <a:xfrm>
            <a:off x="1835625" y="1149251"/>
            <a:ext cx="8520600" cy="4162799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 indent="-419090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 dirty="0">
                <a:latin typeface="Montserrat"/>
                <a:ea typeface="Montserrat"/>
                <a:cs typeface="Montserrat"/>
                <a:sym typeface="Montserrat"/>
              </a:rPr>
              <a:t>We fix this by adding in a bias term, in this case we choose 1.</a:t>
            </a:r>
            <a:endParaRPr sz="30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6" name="Google Shape;1416;p134"/>
          <p:cNvSpPr/>
          <p:nvPr/>
        </p:nvSpPr>
        <p:spPr>
          <a:xfrm>
            <a:off x="5079850" y="3298650"/>
            <a:ext cx="1382400" cy="1382400"/>
          </a:xfrm>
          <a:prstGeom prst="ellipse">
            <a:avLst/>
          </a:prstGeom>
          <a:solidFill>
            <a:srgbClr val="D9D2E9"/>
          </a:solidFill>
          <a:ln w="28575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cxnSp>
        <p:nvCxnSpPr>
          <p:cNvPr id="1417" name="Google Shape;1417;p134"/>
          <p:cNvCxnSpPr/>
          <p:nvPr/>
        </p:nvCxnSpPr>
        <p:spPr>
          <a:xfrm rot="10800000">
            <a:off x="3687500" y="3469025"/>
            <a:ext cx="1412400" cy="2904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8" name="Google Shape;1418;p134"/>
          <p:cNvCxnSpPr/>
          <p:nvPr/>
        </p:nvCxnSpPr>
        <p:spPr>
          <a:xfrm flipH="1">
            <a:off x="3722700" y="4205175"/>
            <a:ext cx="1372200" cy="3006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9" name="Google Shape;1419;p134"/>
          <p:cNvCxnSpPr>
            <a:endCxn id="1416" idx="6"/>
          </p:cNvCxnSpPr>
          <p:nvPr/>
        </p:nvCxnSpPr>
        <p:spPr>
          <a:xfrm rot="10800000">
            <a:off x="6462250" y="3989850"/>
            <a:ext cx="1212000" cy="201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20" name="Google Shape;1420;p134"/>
          <p:cNvSpPr txBox="1"/>
          <p:nvPr/>
        </p:nvSpPr>
        <p:spPr>
          <a:xfrm>
            <a:off x="2566413" y="3204050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Input 0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1" name="Google Shape;1421;p134"/>
          <p:cNvSpPr txBox="1"/>
          <p:nvPr/>
        </p:nvSpPr>
        <p:spPr>
          <a:xfrm>
            <a:off x="2596463" y="4040375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Input 1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2" name="Google Shape;1422;p134"/>
          <p:cNvSpPr txBox="1"/>
          <p:nvPr/>
        </p:nvSpPr>
        <p:spPr>
          <a:xfrm>
            <a:off x="4989700" y="3634225"/>
            <a:ext cx="15627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Activation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  <a:p>
            <a:pPr algn="ctr"/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Function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3" name="Google Shape;1423;p134"/>
          <p:cNvSpPr txBox="1"/>
          <p:nvPr/>
        </p:nvSpPr>
        <p:spPr>
          <a:xfrm rot="706173">
            <a:off x="3699372" y="3204091"/>
            <a:ext cx="1657548" cy="611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12 * 0.5 = 6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4" name="Google Shape;1424;p134"/>
          <p:cNvSpPr txBox="1"/>
          <p:nvPr/>
        </p:nvSpPr>
        <p:spPr>
          <a:xfrm rot="-536751">
            <a:off x="3655686" y="3911847"/>
            <a:ext cx="1701599" cy="611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4 * -1 = -4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5" name="Google Shape;1425;p134"/>
          <p:cNvSpPr txBox="1"/>
          <p:nvPr/>
        </p:nvSpPr>
        <p:spPr>
          <a:xfrm>
            <a:off x="7854438" y="3911825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Output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6" name="Google Shape;1426;p134"/>
          <p:cNvSpPr txBox="1"/>
          <p:nvPr/>
        </p:nvSpPr>
        <p:spPr>
          <a:xfrm rot="862">
            <a:off x="8179999" y="3604000"/>
            <a:ext cx="11967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7" name="Google Shape;1427;p134"/>
          <p:cNvSpPr txBox="1"/>
          <p:nvPr/>
        </p:nvSpPr>
        <p:spPr>
          <a:xfrm>
            <a:off x="2996338" y="5047525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Bias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8" name="Google Shape;1428;p134"/>
          <p:cNvSpPr txBox="1"/>
          <p:nvPr/>
        </p:nvSpPr>
        <p:spPr>
          <a:xfrm rot="-1587940">
            <a:off x="3995467" y="4357101"/>
            <a:ext cx="1701740" cy="610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 + 1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29" name="Google Shape;1429;p134"/>
          <p:cNvCxnSpPr/>
          <p:nvPr/>
        </p:nvCxnSpPr>
        <p:spPr>
          <a:xfrm flipH="1">
            <a:off x="3721000" y="4540725"/>
            <a:ext cx="1614300" cy="8280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27887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135"/>
          <p:cNvSpPr txBox="1">
            <a:spLocks noGrp="1"/>
          </p:cNvSpPr>
          <p:nvPr>
            <p:ph type="title"/>
          </p:nvPr>
        </p:nvSpPr>
        <p:spPr>
          <a:xfrm>
            <a:off x="2566425" y="76200"/>
            <a:ext cx="7789800" cy="572700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5" name="Google Shape;1435;p135"/>
          <p:cNvSpPr txBox="1">
            <a:spLocks noGrp="1"/>
          </p:cNvSpPr>
          <p:nvPr>
            <p:ph type="body" idx="1"/>
          </p:nvPr>
        </p:nvSpPr>
        <p:spPr>
          <a:xfrm>
            <a:off x="1835625" y="1295400"/>
            <a:ext cx="8520600" cy="4104988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 indent="-419090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 dirty="0">
                <a:latin typeface="Montserrat"/>
                <a:ea typeface="Montserrat"/>
                <a:cs typeface="Montserrat"/>
                <a:sym typeface="Montserrat"/>
              </a:rPr>
              <a:t>So what does this look like mathematically? </a:t>
            </a:r>
            <a:endParaRPr sz="30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8" name="Google Shape;1438;p135"/>
          <p:cNvSpPr/>
          <p:nvPr/>
        </p:nvSpPr>
        <p:spPr>
          <a:xfrm>
            <a:off x="5079850" y="3298650"/>
            <a:ext cx="1382400" cy="1382400"/>
          </a:xfrm>
          <a:prstGeom prst="ellipse">
            <a:avLst/>
          </a:prstGeom>
          <a:solidFill>
            <a:srgbClr val="D9D2E9"/>
          </a:solidFill>
          <a:ln w="28575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cxnSp>
        <p:nvCxnSpPr>
          <p:cNvPr id="1439" name="Google Shape;1439;p135"/>
          <p:cNvCxnSpPr/>
          <p:nvPr/>
        </p:nvCxnSpPr>
        <p:spPr>
          <a:xfrm rot="10800000">
            <a:off x="3687500" y="3469025"/>
            <a:ext cx="1412400" cy="2904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0" name="Google Shape;1440;p135"/>
          <p:cNvCxnSpPr/>
          <p:nvPr/>
        </p:nvCxnSpPr>
        <p:spPr>
          <a:xfrm flipH="1">
            <a:off x="3722700" y="4205175"/>
            <a:ext cx="1372200" cy="3006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1" name="Google Shape;1441;p135"/>
          <p:cNvCxnSpPr>
            <a:endCxn id="1438" idx="6"/>
          </p:cNvCxnSpPr>
          <p:nvPr/>
        </p:nvCxnSpPr>
        <p:spPr>
          <a:xfrm rot="10800000">
            <a:off x="6462250" y="3989850"/>
            <a:ext cx="1212000" cy="201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42" name="Google Shape;1442;p135"/>
          <p:cNvSpPr txBox="1"/>
          <p:nvPr/>
        </p:nvSpPr>
        <p:spPr>
          <a:xfrm>
            <a:off x="2566413" y="3204050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Input 0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3" name="Google Shape;1443;p135"/>
          <p:cNvSpPr txBox="1"/>
          <p:nvPr/>
        </p:nvSpPr>
        <p:spPr>
          <a:xfrm>
            <a:off x="2596463" y="4040375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Input 1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4" name="Google Shape;1444;p135"/>
          <p:cNvSpPr txBox="1"/>
          <p:nvPr/>
        </p:nvSpPr>
        <p:spPr>
          <a:xfrm>
            <a:off x="4989700" y="3634225"/>
            <a:ext cx="15627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Activation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  <a:p>
            <a:pPr algn="ctr"/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Function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5" name="Google Shape;1445;p135"/>
          <p:cNvSpPr txBox="1"/>
          <p:nvPr/>
        </p:nvSpPr>
        <p:spPr>
          <a:xfrm rot="706173">
            <a:off x="3677697" y="3204091"/>
            <a:ext cx="1657548" cy="611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12 * 0.5 = 6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6" name="Google Shape;1446;p135"/>
          <p:cNvSpPr txBox="1"/>
          <p:nvPr/>
        </p:nvSpPr>
        <p:spPr>
          <a:xfrm rot="-536751">
            <a:off x="3655686" y="3911847"/>
            <a:ext cx="1701599" cy="611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4 * -1 = -4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7" name="Google Shape;1447;p135"/>
          <p:cNvSpPr txBox="1"/>
          <p:nvPr/>
        </p:nvSpPr>
        <p:spPr>
          <a:xfrm>
            <a:off x="7854438" y="3911825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Output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8" name="Google Shape;1448;p135"/>
          <p:cNvSpPr txBox="1"/>
          <p:nvPr/>
        </p:nvSpPr>
        <p:spPr>
          <a:xfrm rot="862">
            <a:off x="8179999" y="3604000"/>
            <a:ext cx="11967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9" name="Google Shape;1449;p135"/>
          <p:cNvSpPr txBox="1"/>
          <p:nvPr/>
        </p:nvSpPr>
        <p:spPr>
          <a:xfrm>
            <a:off x="2996338" y="5047525"/>
            <a:ext cx="2083500" cy="6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Bias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0" name="Google Shape;1450;p135"/>
          <p:cNvSpPr txBox="1"/>
          <p:nvPr/>
        </p:nvSpPr>
        <p:spPr>
          <a:xfrm rot="-1587940">
            <a:off x="3995467" y="4357101"/>
            <a:ext cx="1701740" cy="610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>
                <a:latin typeface="Montserrat"/>
                <a:ea typeface="Montserrat"/>
                <a:cs typeface="Montserrat"/>
                <a:sym typeface="Montserrat"/>
              </a:rPr>
              <a:t> + 1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51" name="Google Shape;1451;p135"/>
          <p:cNvCxnSpPr/>
          <p:nvPr/>
        </p:nvCxnSpPr>
        <p:spPr>
          <a:xfrm flipH="1">
            <a:off x="3721000" y="4540725"/>
            <a:ext cx="1614300" cy="82800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6494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p136"/>
          <p:cNvSpPr txBox="1">
            <a:spLocks noGrp="1"/>
          </p:cNvSpPr>
          <p:nvPr>
            <p:ph type="title"/>
          </p:nvPr>
        </p:nvSpPr>
        <p:spPr>
          <a:xfrm>
            <a:off x="2566425" y="76200"/>
            <a:ext cx="7789800" cy="572700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7" name="Google Shape;1457;p13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 indent="-419090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quickly think about how we can represent this perceptron model mathematically: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60" name="Google Shape;1460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2847" y="3612252"/>
            <a:ext cx="3093199" cy="1813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1385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137"/>
          <p:cNvSpPr txBox="1">
            <a:spLocks noGrp="1"/>
          </p:cNvSpPr>
          <p:nvPr>
            <p:ph type="title"/>
          </p:nvPr>
        </p:nvSpPr>
        <p:spPr>
          <a:xfrm>
            <a:off x="2566425" y="76200"/>
            <a:ext cx="7789800" cy="572700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6" name="Google Shape;1466;p137"/>
          <p:cNvSpPr txBox="1">
            <a:spLocks noGrp="1"/>
          </p:cNvSpPr>
          <p:nvPr>
            <p:ph type="body" idx="1"/>
          </p:nvPr>
        </p:nvSpPr>
        <p:spPr>
          <a:xfrm>
            <a:off x="1835700" y="1845609"/>
            <a:ext cx="8520600" cy="3580516"/>
          </a:xfrm>
          <a:prstGeom prst="rect">
            <a:avLst/>
          </a:prstGeom>
        </p:spPr>
        <p:txBody>
          <a:bodyPr spcFirstLastPara="1" vert="horz" wrap="square" lIns="91425" tIns="91425" rIns="91425" bIns="91425" numCol="1" rtlCol="0" anchor="t" anchorCtr="0" compatLnSpc="1">
            <a:prstTxWarp prst="textNoShape">
              <a:avLst/>
            </a:prstTxWarp>
            <a:noAutofit/>
          </a:bodyPr>
          <a:lstStyle/>
          <a:p>
            <a:pPr indent="-419090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Once we have many perceptrons in a network we’ll see how we can easily extend this to a matrix form!</a:t>
            </a:r>
            <a:endParaRPr sz="30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69" name="Google Shape;1469;p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2847" y="3612252"/>
            <a:ext cx="3093199" cy="1813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1073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Perceptron /Neuron</a:t>
            </a:r>
            <a:endParaRPr lang="en-IN" dirty="0"/>
          </a:p>
        </p:txBody>
      </p:sp>
      <p:pic>
        <p:nvPicPr>
          <p:cNvPr id="1026" name="Picture 2" descr="perceptron learning proces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2634" y="1728073"/>
            <a:ext cx="6486525" cy="4543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3527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137"/>
          <p:cNvSpPr txBox="1">
            <a:spLocks noGrp="1"/>
          </p:cNvSpPr>
          <p:nvPr>
            <p:ph type="title"/>
          </p:nvPr>
        </p:nvSpPr>
        <p:spPr>
          <a:xfrm>
            <a:off x="1389900" y="394384"/>
            <a:ext cx="103864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6" name="Google Shape;1466;p137"/>
          <p:cNvSpPr txBox="1">
            <a:spLocks noGrp="1"/>
          </p:cNvSpPr>
          <p:nvPr>
            <p:ph type="body" idx="1"/>
          </p:nvPr>
        </p:nvSpPr>
        <p:spPr>
          <a:xfrm>
            <a:off x="415600" y="1317812"/>
            <a:ext cx="11360800" cy="477402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152396" indent="0">
              <a:buNone/>
            </a:pPr>
            <a:r>
              <a:rPr lang="en-US" sz="4000" b="1" dirty="0"/>
              <a:t>The perceptron learns as follows</a:t>
            </a:r>
            <a:r>
              <a:rPr lang="en-US" sz="4000" b="1" dirty="0" smtClean="0"/>
              <a:t>:</a:t>
            </a:r>
          </a:p>
          <a:p>
            <a:r>
              <a:rPr lang="en-US" sz="240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Takes </a:t>
            </a:r>
            <a:r>
              <a:rPr lang="en-US" sz="2400" dirty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the inputs which are fed into the input layer, multiplies them by their weights, and computes the sum.</a:t>
            </a:r>
          </a:p>
          <a:p>
            <a:r>
              <a:rPr lang="en-US" sz="2400" dirty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Adds the “bias weight”. This is a technical step that makes it possible to move the output function of each perceptron (the activation function) up, down, left and right on the number graph.</a:t>
            </a:r>
          </a:p>
          <a:p>
            <a:r>
              <a:rPr lang="en-US" sz="2400" dirty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Feeds the sum through the activation function</a:t>
            </a:r>
          </a:p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endParaRPr sz="40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69" name="Google Shape;1469;p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98540" y="4034118"/>
            <a:ext cx="3033911" cy="15467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80644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6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139"/>
          <p:cNvSpPr txBox="1">
            <a:spLocks noGrp="1"/>
          </p:cNvSpPr>
          <p:nvPr>
            <p:ph type="ctrTitle"/>
          </p:nvPr>
        </p:nvSpPr>
        <p:spPr>
          <a:xfrm>
            <a:off x="415600" y="2060600"/>
            <a:ext cx="11360800" cy="1795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b="1">
                <a:latin typeface="Montserrat"/>
                <a:ea typeface="Montserrat"/>
                <a:cs typeface="Montserrat"/>
                <a:sym typeface="Montserrat"/>
              </a:rPr>
              <a:t>Introduction to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spcBef>
                <a:spcPts val="0"/>
              </a:spcBef>
            </a:pPr>
            <a:r>
              <a:rPr lang="en" b="1">
                <a:latin typeface="Montserrat"/>
                <a:ea typeface="Montserrat"/>
                <a:cs typeface="Montserrat"/>
                <a:sym typeface="Montserrat"/>
              </a:rPr>
              <a:t>Neural Networks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521008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p140"/>
          <p:cNvSpPr txBox="1">
            <a:spLocks noGrp="1"/>
          </p:cNvSpPr>
          <p:nvPr>
            <p:ph type="title"/>
          </p:nvPr>
        </p:nvSpPr>
        <p:spPr>
          <a:xfrm>
            <a:off x="1389900" y="394384"/>
            <a:ext cx="103864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0" name="Google Shape;1490;p14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We’ve seen how a single perceptron behaves, now let’s expand this concept to the idea of a neural network!</a:t>
            </a:r>
            <a:endParaRPr sz="40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see how to connect many perceptrons together and then how to represent this mathematically!</a:t>
            </a:r>
            <a:endParaRPr sz="40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640701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0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141"/>
          <p:cNvSpPr txBox="1">
            <a:spLocks noGrp="1"/>
          </p:cNvSpPr>
          <p:nvPr>
            <p:ph type="title"/>
          </p:nvPr>
        </p:nvSpPr>
        <p:spPr>
          <a:xfrm>
            <a:off x="1389900" y="394384"/>
            <a:ext cx="103864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8" name="Google Shape;1498;p141"/>
          <p:cNvSpPr txBox="1">
            <a:spLocks noGrp="1"/>
          </p:cNvSpPr>
          <p:nvPr>
            <p:ph type="body" idx="1"/>
          </p:nvPr>
        </p:nvSpPr>
        <p:spPr>
          <a:xfrm>
            <a:off x="603859" y="1213201"/>
            <a:ext cx="11360800" cy="904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Multiple Perceptrons Network</a:t>
            </a:r>
            <a:endParaRPr sz="4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1" name="Google Shape;1501;p141"/>
          <p:cNvSpPr/>
          <p:nvPr/>
        </p:nvSpPr>
        <p:spPr>
          <a:xfrm>
            <a:off x="2911467" y="2821167"/>
            <a:ext cx="794800" cy="794800"/>
          </a:xfrm>
          <a:prstGeom prst="ellipse">
            <a:avLst/>
          </a:prstGeom>
          <a:solidFill>
            <a:srgbClr val="D9D2E9"/>
          </a:solidFill>
          <a:ln w="28575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502" name="Google Shape;1502;p141"/>
          <p:cNvSpPr/>
          <p:nvPr/>
        </p:nvSpPr>
        <p:spPr>
          <a:xfrm>
            <a:off x="2911467" y="3845733"/>
            <a:ext cx="794800" cy="794800"/>
          </a:xfrm>
          <a:prstGeom prst="ellipse">
            <a:avLst/>
          </a:prstGeom>
          <a:solidFill>
            <a:srgbClr val="D9D2E9"/>
          </a:solidFill>
          <a:ln w="28575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503" name="Google Shape;1503;p141"/>
          <p:cNvSpPr/>
          <p:nvPr/>
        </p:nvSpPr>
        <p:spPr>
          <a:xfrm>
            <a:off x="2911467" y="4937067"/>
            <a:ext cx="794800" cy="794800"/>
          </a:xfrm>
          <a:prstGeom prst="ellipse">
            <a:avLst/>
          </a:prstGeom>
          <a:solidFill>
            <a:srgbClr val="D9D2E9"/>
          </a:solidFill>
          <a:ln w="28575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504" name="Google Shape;1504;p141"/>
          <p:cNvSpPr/>
          <p:nvPr/>
        </p:nvSpPr>
        <p:spPr>
          <a:xfrm>
            <a:off x="4577100" y="3353533"/>
            <a:ext cx="794800" cy="794800"/>
          </a:xfrm>
          <a:prstGeom prst="ellipse">
            <a:avLst/>
          </a:prstGeom>
          <a:solidFill>
            <a:srgbClr val="CFE2F3"/>
          </a:solidFill>
          <a:ln w="2857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505" name="Google Shape;1505;p141"/>
          <p:cNvSpPr/>
          <p:nvPr/>
        </p:nvSpPr>
        <p:spPr>
          <a:xfrm>
            <a:off x="4577100" y="4334800"/>
            <a:ext cx="794800" cy="794800"/>
          </a:xfrm>
          <a:prstGeom prst="ellipse">
            <a:avLst/>
          </a:prstGeom>
          <a:solidFill>
            <a:srgbClr val="CFE2F3"/>
          </a:solidFill>
          <a:ln w="2857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506" name="Google Shape;1506;p141"/>
          <p:cNvSpPr/>
          <p:nvPr/>
        </p:nvSpPr>
        <p:spPr>
          <a:xfrm>
            <a:off x="6062400" y="2629200"/>
            <a:ext cx="794800" cy="794800"/>
          </a:xfrm>
          <a:prstGeom prst="ellipse">
            <a:avLst/>
          </a:prstGeom>
          <a:solidFill>
            <a:srgbClr val="D9EAD3"/>
          </a:solidFill>
          <a:ln w="2857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507" name="Google Shape;1507;p141"/>
          <p:cNvSpPr/>
          <p:nvPr/>
        </p:nvSpPr>
        <p:spPr>
          <a:xfrm>
            <a:off x="6062400" y="3914100"/>
            <a:ext cx="794800" cy="794800"/>
          </a:xfrm>
          <a:prstGeom prst="ellipse">
            <a:avLst/>
          </a:prstGeom>
          <a:solidFill>
            <a:srgbClr val="D9EAD3"/>
          </a:solidFill>
          <a:ln w="2857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508" name="Google Shape;1508;p141"/>
          <p:cNvSpPr/>
          <p:nvPr/>
        </p:nvSpPr>
        <p:spPr>
          <a:xfrm>
            <a:off x="6062400" y="5279133"/>
            <a:ext cx="794800" cy="794800"/>
          </a:xfrm>
          <a:prstGeom prst="ellipse">
            <a:avLst/>
          </a:prstGeom>
          <a:solidFill>
            <a:srgbClr val="D9EAD3"/>
          </a:solidFill>
          <a:ln w="2857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509" name="Google Shape;1509;p141"/>
          <p:cNvSpPr/>
          <p:nvPr/>
        </p:nvSpPr>
        <p:spPr>
          <a:xfrm>
            <a:off x="7822467" y="3914100"/>
            <a:ext cx="794800" cy="794800"/>
          </a:xfrm>
          <a:prstGeom prst="ellipse">
            <a:avLst/>
          </a:prstGeom>
          <a:solidFill>
            <a:srgbClr val="F4CCCC"/>
          </a:solidFill>
          <a:ln w="28575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cxnSp>
        <p:nvCxnSpPr>
          <p:cNvPr id="1510" name="Google Shape;1510;p141"/>
          <p:cNvCxnSpPr>
            <a:stCxn id="1501" idx="6"/>
            <a:endCxn id="1504" idx="2"/>
          </p:cNvCxnSpPr>
          <p:nvPr/>
        </p:nvCxnSpPr>
        <p:spPr>
          <a:xfrm>
            <a:off x="3706267" y="3218567"/>
            <a:ext cx="870800" cy="532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11" name="Google Shape;1511;p141"/>
          <p:cNvCxnSpPr>
            <a:endCxn id="1505" idx="2"/>
          </p:cNvCxnSpPr>
          <p:nvPr/>
        </p:nvCxnSpPr>
        <p:spPr>
          <a:xfrm>
            <a:off x="3706300" y="3248200"/>
            <a:ext cx="870800" cy="1484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12" name="Google Shape;1512;p141"/>
          <p:cNvCxnSpPr>
            <a:stCxn id="1504" idx="6"/>
            <a:endCxn id="1507" idx="2"/>
          </p:cNvCxnSpPr>
          <p:nvPr/>
        </p:nvCxnSpPr>
        <p:spPr>
          <a:xfrm>
            <a:off x="5371900" y="3750933"/>
            <a:ext cx="690400" cy="560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13" name="Google Shape;1513;p141"/>
          <p:cNvCxnSpPr>
            <a:stCxn id="1504" idx="6"/>
            <a:endCxn id="1506" idx="2"/>
          </p:cNvCxnSpPr>
          <p:nvPr/>
        </p:nvCxnSpPr>
        <p:spPr>
          <a:xfrm rot="10800000" flipH="1">
            <a:off x="5371900" y="3026533"/>
            <a:ext cx="690400" cy="724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14" name="Google Shape;1514;p141"/>
          <p:cNvCxnSpPr>
            <a:stCxn id="1504" idx="6"/>
            <a:endCxn id="1508" idx="1"/>
          </p:cNvCxnSpPr>
          <p:nvPr/>
        </p:nvCxnSpPr>
        <p:spPr>
          <a:xfrm>
            <a:off x="5371900" y="3750933"/>
            <a:ext cx="806800" cy="1644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15" name="Google Shape;1515;p141"/>
          <p:cNvCxnSpPr>
            <a:endCxn id="1509" idx="2"/>
          </p:cNvCxnSpPr>
          <p:nvPr/>
        </p:nvCxnSpPr>
        <p:spPr>
          <a:xfrm>
            <a:off x="6857267" y="3026700"/>
            <a:ext cx="965200" cy="1284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16" name="Google Shape;1516;p141"/>
          <p:cNvCxnSpPr>
            <a:endCxn id="1509" idx="2"/>
          </p:cNvCxnSpPr>
          <p:nvPr/>
        </p:nvCxnSpPr>
        <p:spPr>
          <a:xfrm>
            <a:off x="6857267" y="4307100"/>
            <a:ext cx="965200" cy="4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17" name="Google Shape;1517;p141"/>
          <p:cNvCxnSpPr>
            <a:endCxn id="1509" idx="2"/>
          </p:cNvCxnSpPr>
          <p:nvPr/>
        </p:nvCxnSpPr>
        <p:spPr>
          <a:xfrm rot="10800000" flipH="1">
            <a:off x="6904467" y="4311500"/>
            <a:ext cx="918000" cy="1365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18" name="Google Shape;1518;p141"/>
          <p:cNvCxnSpPr>
            <a:stCxn id="1505" idx="6"/>
            <a:endCxn id="1506" idx="2"/>
          </p:cNvCxnSpPr>
          <p:nvPr/>
        </p:nvCxnSpPr>
        <p:spPr>
          <a:xfrm rot="10800000" flipH="1">
            <a:off x="5371900" y="3026600"/>
            <a:ext cx="690400" cy="1705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19" name="Google Shape;1519;p141"/>
          <p:cNvCxnSpPr>
            <a:stCxn id="1505" idx="6"/>
            <a:endCxn id="1508" idx="2"/>
          </p:cNvCxnSpPr>
          <p:nvPr/>
        </p:nvCxnSpPr>
        <p:spPr>
          <a:xfrm>
            <a:off x="5371900" y="4732200"/>
            <a:ext cx="690400" cy="944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20" name="Google Shape;1520;p141"/>
          <p:cNvCxnSpPr>
            <a:endCxn id="1507" idx="2"/>
          </p:cNvCxnSpPr>
          <p:nvPr/>
        </p:nvCxnSpPr>
        <p:spPr>
          <a:xfrm rot="10800000" flipH="1">
            <a:off x="5372000" y="4311500"/>
            <a:ext cx="690400" cy="446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21" name="Google Shape;1521;p141"/>
          <p:cNvCxnSpPr>
            <a:endCxn id="1504" idx="2"/>
          </p:cNvCxnSpPr>
          <p:nvPr/>
        </p:nvCxnSpPr>
        <p:spPr>
          <a:xfrm rot="10800000" flipH="1">
            <a:off x="3706300" y="3750933"/>
            <a:ext cx="870800" cy="516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22" name="Google Shape;1522;p141"/>
          <p:cNvCxnSpPr>
            <a:endCxn id="1505" idx="2"/>
          </p:cNvCxnSpPr>
          <p:nvPr/>
        </p:nvCxnSpPr>
        <p:spPr>
          <a:xfrm>
            <a:off x="3706300" y="4267400"/>
            <a:ext cx="870800" cy="464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23" name="Google Shape;1523;p141"/>
          <p:cNvCxnSpPr>
            <a:endCxn id="1504" idx="2"/>
          </p:cNvCxnSpPr>
          <p:nvPr/>
        </p:nvCxnSpPr>
        <p:spPr>
          <a:xfrm rot="10800000" flipH="1">
            <a:off x="3740700" y="3750933"/>
            <a:ext cx="836400" cy="1565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24" name="Google Shape;1524;p141"/>
          <p:cNvCxnSpPr>
            <a:endCxn id="1505" idx="2"/>
          </p:cNvCxnSpPr>
          <p:nvPr/>
        </p:nvCxnSpPr>
        <p:spPr>
          <a:xfrm rot="10800000" flipH="1">
            <a:off x="3740700" y="4732200"/>
            <a:ext cx="836400" cy="584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349982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142"/>
          <p:cNvSpPr txBox="1">
            <a:spLocks noGrp="1"/>
          </p:cNvSpPr>
          <p:nvPr>
            <p:ph type="title"/>
          </p:nvPr>
        </p:nvSpPr>
        <p:spPr>
          <a:xfrm>
            <a:off x="1389900" y="394384"/>
            <a:ext cx="103864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0" name="Google Shape;1530;p14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Input Layer. 2 hidden layers. Output Layer</a:t>
            </a:r>
            <a:endParaRPr sz="4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3" name="Google Shape;1533;p142"/>
          <p:cNvSpPr/>
          <p:nvPr/>
        </p:nvSpPr>
        <p:spPr>
          <a:xfrm>
            <a:off x="2911467" y="2821167"/>
            <a:ext cx="794800" cy="794800"/>
          </a:xfrm>
          <a:prstGeom prst="ellipse">
            <a:avLst/>
          </a:prstGeom>
          <a:solidFill>
            <a:srgbClr val="D9D2E9"/>
          </a:solidFill>
          <a:ln w="28575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534" name="Google Shape;1534;p142"/>
          <p:cNvSpPr/>
          <p:nvPr/>
        </p:nvSpPr>
        <p:spPr>
          <a:xfrm>
            <a:off x="2911467" y="3845733"/>
            <a:ext cx="794800" cy="794800"/>
          </a:xfrm>
          <a:prstGeom prst="ellipse">
            <a:avLst/>
          </a:prstGeom>
          <a:solidFill>
            <a:srgbClr val="D9D2E9"/>
          </a:solidFill>
          <a:ln w="28575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535" name="Google Shape;1535;p142"/>
          <p:cNvSpPr/>
          <p:nvPr/>
        </p:nvSpPr>
        <p:spPr>
          <a:xfrm>
            <a:off x="2911467" y="4937067"/>
            <a:ext cx="794800" cy="794800"/>
          </a:xfrm>
          <a:prstGeom prst="ellipse">
            <a:avLst/>
          </a:prstGeom>
          <a:solidFill>
            <a:srgbClr val="D9D2E9"/>
          </a:solidFill>
          <a:ln w="28575" cap="flat" cmpd="sng">
            <a:solidFill>
              <a:srgbClr val="351C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536" name="Google Shape;1536;p142"/>
          <p:cNvSpPr/>
          <p:nvPr/>
        </p:nvSpPr>
        <p:spPr>
          <a:xfrm>
            <a:off x="4577100" y="3353533"/>
            <a:ext cx="794800" cy="794800"/>
          </a:xfrm>
          <a:prstGeom prst="ellipse">
            <a:avLst/>
          </a:prstGeom>
          <a:solidFill>
            <a:srgbClr val="CFE2F3"/>
          </a:solidFill>
          <a:ln w="2857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537" name="Google Shape;1537;p142"/>
          <p:cNvSpPr/>
          <p:nvPr/>
        </p:nvSpPr>
        <p:spPr>
          <a:xfrm>
            <a:off x="4577100" y="4334800"/>
            <a:ext cx="794800" cy="794800"/>
          </a:xfrm>
          <a:prstGeom prst="ellipse">
            <a:avLst/>
          </a:prstGeom>
          <a:solidFill>
            <a:srgbClr val="CFE2F3"/>
          </a:solidFill>
          <a:ln w="2857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538" name="Google Shape;1538;p142"/>
          <p:cNvSpPr/>
          <p:nvPr/>
        </p:nvSpPr>
        <p:spPr>
          <a:xfrm>
            <a:off x="6062400" y="2629200"/>
            <a:ext cx="794800" cy="794800"/>
          </a:xfrm>
          <a:prstGeom prst="ellipse">
            <a:avLst/>
          </a:prstGeom>
          <a:solidFill>
            <a:srgbClr val="D9EAD3"/>
          </a:solidFill>
          <a:ln w="2857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539" name="Google Shape;1539;p142"/>
          <p:cNvSpPr/>
          <p:nvPr/>
        </p:nvSpPr>
        <p:spPr>
          <a:xfrm>
            <a:off x="6062400" y="3914100"/>
            <a:ext cx="794800" cy="794800"/>
          </a:xfrm>
          <a:prstGeom prst="ellipse">
            <a:avLst/>
          </a:prstGeom>
          <a:solidFill>
            <a:srgbClr val="D9EAD3"/>
          </a:solidFill>
          <a:ln w="2857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540" name="Google Shape;1540;p142"/>
          <p:cNvSpPr/>
          <p:nvPr/>
        </p:nvSpPr>
        <p:spPr>
          <a:xfrm>
            <a:off x="6062400" y="5279133"/>
            <a:ext cx="794800" cy="794800"/>
          </a:xfrm>
          <a:prstGeom prst="ellipse">
            <a:avLst/>
          </a:prstGeom>
          <a:solidFill>
            <a:srgbClr val="D9EAD3"/>
          </a:solidFill>
          <a:ln w="2857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541" name="Google Shape;1541;p142"/>
          <p:cNvSpPr/>
          <p:nvPr/>
        </p:nvSpPr>
        <p:spPr>
          <a:xfrm>
            <a:off x="7822467" y="3914100"/>
            <a:ext cx="794800" cy="794800"/>
          </a:xfrm>
          <a:prstGeom prst="ellipse">
            <a:avLst/>
          </a:prstGeom>
          <a:solidFill>
            <a:srgbClr val="F4CCCC"/>
          </a:solidFill>
          <a:ln w="28575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cxnSp>
        <p:nvCxnSpPr>
          <p:cNvPr id="1542" name="Google Shape;1542;p142"/>
          <p:cNvCxnSpPr>
            <a:stCxn id="1533" idx="6"/>
            <a:endCxn id="1536" idx="2"/>
          </p:cNvCxnSpPr>
          <p:nvPr/>
        </p:nvCxnSpPr>
        <p:spPr>
          <a:xfrm>
            <a:off x="3706267" y="3218567"/>
            <a:ext cx="870800" cy="532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43" name="Google Shape;1543;p142"/>
          <p:cNvCxnSpPr>
            <a:endCxn id="1537" idx="2"/>
          </p:cNvCxnSpPr>
          <p:nvPr/>
        </p:nvCxnSpPr>
        <p:spPr>
          <a:xfrm>
            <a:off x="3706300" y="3248200"/>
            <a:ext cx="870800" cy="1484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44" name="Google Shape;1544;p142"/>
          <p:cNvCxnSpPr>
            <a:stCxn id="1536" idx="6"/>
            <a:endCxn id="1539" idx="2"/>
          </p:cNvCxnSpPr>
          <p:nvPr/>
        </p:nvCxnSpPr>
        <p:spPr>
          <a:xfrm>
            <a:off x="5371900" y="3750933"/>
            <a:ext cx="690400" cy="560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45" name="Google Shape;1545;p142"/>
          <p:cNvCxnSpPr>
            <a:stCxn id="1536" idx="6"/>
            <a:endCxn id="1538" idx="2"/>
          </p:cNvCxnSpPr>
          <p:nvPr/>
        </p:nvCxnSpPr>
        <p:spPr>
          <a:xfrm rot="10800000" flipH="1">
            <a:off x="5371900" y="3026533"/>
            <a:ext cx="690400" cy="724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46" name="Google Shape;1546;p142"/>
          <p:cNvCxnSpPr>
            <a:stCxn id="1536" idx="6"/>
            <a:endCxn id="1540" idx="1"/>
          </p:cNvCxnSpPr>
          <p:nvPr/>
        </p:nvCxnSpPr>
        <p:spPr>
          <a:xfrm>
            <a:off x="5371900" y="3750933"/>
            <a:ext cx="806800" cy="1644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47" name="Google Shape;1547;p142"/>
          <p:cNvCxnSpPr>
            <a:endCxn id="1541" idx="2"/>
          </p:cNvCxnSpPr>
          <p:nvPr/>
        </p:nvCxnSpPr>
        <p:spPr>
          <a:xfrm>
            <a:off x="6857267" y="3026700"/>
            <a:ext cx="965200" cy="1284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48" name="Google Shape;1548;p142"/>
          <p:cNvCxnSpPr>
            <a:endCxn id="1541" idx="2"/>
          </p:cNvCxnSpPr>
          <p:nvPr/>
        </p:nvCxnSpPr>
        <p:spPr>
          <a:xfrm>
            <a:off x="6857267" y="4307100"/>
            <a:ext cx="965200" cy="4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49" name="Google Shape;1549;p142"/>
          <p:cNvCxnSpPr>
            <a:endCxn id="1541" idx="2"/>
          </p:cNvCxnSpPr>
          <p:nvPr/>
        </p:nvCxnSpPr>
        <p:spPr>
          <a:xfrm rot="10800000" flipH="1">
            <a:off x="6904467" y="4311500"/>
            <a:ext cx="918000" cy="1365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50" name="Google Shape;1550;p142"/>
          <p:cNvCxnSpPr>
            <a:stCxn id="1537" idx="6"/>
            <a:endCxn id="1538" idx="2"/>
          </p:cNvCxnSpPr>
          <p:nvPr/>
        </p:nvCxnSpPr>
        <p:spPr>
          <a:xfrm rot="10800000" flipH="1">
            <a:off x="5371900" y="3026600"/>
            <a:ext cx="690400" cy="1705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51" name="Google Shape;1551;p142"/>
          <p:cNvCxnSpPr>
            <a:stCxn id="1537" idx="6"/>
            <a:endCxn id="1540" idx="2"/>
          </p:cNvCxnSpPr>
          <p:nvPr/>
        </p:nvCxnSpPr>
        <p:spPr>
          <a:xfrm>
            <a:off x="5371900" y="4732200"/>
            <a:ext cx="690400" cy="944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52" name="Google Shape;1552;p142"/>
          <p:cNvCxnSpPr>
            <a:endCxn id="1539" idx="2"/>
          </p:cNvCxnSpPr>
          <p:nvPr/>
        </p:nvCxnSpPr>
        <p:spPr>
          <a:xfrm rot="10800000" flipH="1">
            <a:off x="5372000" y="4311500"/>
            <a:ext cx="690400" cy="446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53" name="Google Shape;1553;p142"/>
          <p:cNvCxnSpPr>
            <a:endCxn id="1536" idx="2"/>
          </p:cNvCxnSpPr>
          <p:nvPr/>
        </p:nvCxnSpPr>
        <p:spPr>
          <a:xfrm rot="10800000" flipH="1">
            <a:off x="3706300" y="3750933"/>
            <a:ext cx="870800" cy="516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54" name="Google Shape;1554;p142"/>
          <p:cNvCxnSpPr>
            <a:endCxn id="1537" idx="2"/>
          </p:cNvCxnSpPr>
          <p:nvPr/>
        </p:nvCxnSpPr>
        <p:spPr>
          <a:xfrm>
            <a:off x="3706300" y="4267400"/>
            <a:ext cx="870800" cy="464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55" name="Google Shape;1555;p142"/>
          <p:cNvCxnSpPr>
            <a:endCxn id="1536" idx="2"/>
          </p:cNvCxnSpPr>
          <p:nvPr/>
        </p:nvCxnSpPr>
        <p:spPr>
          <a:xfrm rot="10800000" flipH="1">
            <a:off x="3740700" y="3750933"/>
            <a:ext cx="836400" cy="1565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56" name="Google Shape;1556;p142"/>
          <p:cNvCxnSpPr>
            <a:endCxn id="1537" idx="2"/>
          </p:cNvCxnSpPr>
          <p:nvPr/>
        </p:nvCxnSpPr>
        <p:spPr>
          <a:xfrm rot="10800000" flipH="1">
            <a:off x="3740700" y="4732200"/>
            <a:ext cx="836400" cy="584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437321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p143"/>
          <p:cNvSpPr txBox="1">
            <a:spLocks noGrp="1"/>
          </p:cNvSpPr>
          <p:nvPr>
            <p:ph type="title"/>
          </p:nvPr>
        </p:nvSpPr>
        <p:spPr>
          <a:xfrm>
            <a:off x="1389900" y="394384"/>
            <a:ext cx="103864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2" name="Google Shape;1562;p14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2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Input Layers</a:t>
            </a:r>
            <a:endParaRPr sz="32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828754" lvl="1" indent="-558786">
              <a:lnSpc>
                <a:spcPct val="115000"/>
              </a:lnSpc>
              <a:spcBef>
                <a:spcPts val="0"/>
              </a:spcBef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32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Real values from the data</a:t>
            </a:r>
            <a:endParaRPr sz="32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2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Hidden Layers</a:t>
            </a:r>
            <a:endParaRPr sz="32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828754" lvl="1" indent="-558786">
              <a:lnSpc>
                <a:spcPct val="115000"/>
              </a:lnSpc>
              <a:spcBef>
                <a:spcPts val="0"/>
              </a:spcBef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32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Layers in between input and </a:t>
            </a:r>
            <a:r>
              <a:rPr lang="en" sz="320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output</a:t>
            </a:r>
          </a:p>
          <a:p>
            <a:pPr marL="1828754" lvl="1" indent="-558786">
              <a:lnSpc>
                <a:spcPct val="115000"/>
              </a:lnSpc>
              <a:spcBef>
                <a:spcPts val="0"/>
              </a:spcBef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320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Upto 3 layers is “shallow network”</a:t>
            </a:r>
            <a:endParaRPr sz="32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828754" lvl="1" indent="-558786">
              <a:lnSpc>
                <a:spcPct val="115000"/>
              </a:lnSpc>
              <a:spcBef>
                <a:spcPts val="0"/>
              </a:spcBef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32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3 or more layers is “deep network”</a:t>
            </a:r>
            <a:endParaRPr sz="32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2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Output Layer</a:t>
            </a:r>
            <a:endParaRPr sz="32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828754" lvl="1" indent="-558786">
              <a:lnSpc>
                <a:spcPct val="115000"/>
              </a:lnSpc>
              <a:spcBef>
                <a:spcPts val="0"/>
              </a:spcBef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32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Final estimate of the output</a:t>
            </a:r>
            <a:endParaRPr sz="32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>
              <a:lnSpc>
                <a:spcPct val="115000"/>
              </a:lnSpc>
              <a:spcBef>
                <a:spcPts val="2133"/>
              </a:spcBef>
              <a:buNone/>
            </a:pPr>
            <a:endParaRPr sz="32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indent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None/>
            </a:pPr>
            <a:endParaRPr sz="32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871875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2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Tid</a:t>
            </a:r>
            <a:r>
              <a:rPr lang="en-IN" dirty="0" smtClean="0"/>
              <a:t>-Bit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Shallow neural networks are able to tackle complex problems</a:t>
            </a:r>
          </a:p>
          <a:p>
            <a:r>
              <a:rPr lang="en-US" sz="3200" dirty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But deep learning networks are more accurate, and improve in accuracy as more neuron layers are added. </a:t>
            </a:r>
          </a:p>
          <a:p>
            <a:r>
              <a:rPr lang="en-US" sz="3200" dirty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Additional layers are useful up to a limit of 9-10, after which their predictive power starts to decline. </a:t>
            </a:r>
          </a:p>
          <a:p>
            <a:r>
              <a:rPr lang="en-US" sz="3200" dirty="0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Today most neural network models and implementations use a deep network of between 3-10 neuron layers.</a:t>
            </a:r>
            <a:endParaRPr lang="en-IN" sz="3200" dirty="0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888478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p144"/>
          <p:cNvSpPr txBox="1">
            <a:spLocks noGrp="1"/>
          </p:cNvSpPr>
          <p:nvPr>
            <p:ph type="title"/>
          </p:nvPr>
        </p:nvSpPr>
        <p:spPr>
          <a:xfrm>
            <a:off x="1389900" y="394384"/>
            <a:ext cx="103864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0" name="Google Shape;1570;p14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As you go forwards through more layers, the level of abstraction increases.</a:t>
            </a:r>
            <a:endParaRPr sz="40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now discuss the activation function in a little more detail!</a:t>
            </a:r>
            <a:endParaRPr sz="40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>
              <a:lnSpc>
                <a:spcPct val="115000"/>
              </a:lnSpc>
              <a:spcBef>
                <a:spcPts val="2133"/>
              </a:spcBef>
              <a:buNone/>
            </a:pPr>
            <a:endParaRPr sz="40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indent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None/>
            </a:pPr>
            <a:endParaRPr sz="40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586919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0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111"/>
          <p:cNvSpPr txBox="1">
            <a:spLocks noGrp="1"/>
          </p:cNvSpPr>
          <p:nvPr>
            <p:ph type="title"/>
          </p:nvPr>
        </p:nvSpPr>
        <p:spPr>
          <a:xfrm>
            <a:off x="1389900" y="394384"/>
            <a:ext cx="103864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4" name="Google Shape;1054;p11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next series of lectures will cover:</a:t>
            </a:r>
            <a:endParaRPr sz="40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828754" lvl="1" indent="-558786">
              <a:lnSpc>
                <a:spcPct val="115000"/>
              </a:lnSpc>
              <a:spcBef>
                <a:spcPts val="0"/>
              </a:spcBef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400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Neural </a:t>
            </a:r>
            <a:r>
              <a:rPr lang="en" sz="40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Networks</a:t>
            </a:r>
            <a:endParaRPr sz="40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828754" lvl="1" indent="-558786">
              <a:lnSpc>
                <a:spcPct val="115000"/>
              </a:lnSpc>
              <a:spcBef>
                <a:spcPts val="0"/>
              </a:spcBef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40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Cost Functions</a:t>
            </a:r>
            <a:endParaRPr sz="40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828754" lvl="1" indent="-558786">
              <a:lnSpc>
                <a:spcPct val="115000"/>
              </a:lnSpc>
              <a:spcBef>
                <a:spcPts val="0"/>
              </a:spcBef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40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Gradient Descent and BackPropagation</a:t>
            </a:r>
            <a:endParaRPr sz="40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869134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112"/>
          <p:cNvSpPr txBox="1">
            <a:spLocks noGrp="1"/>
          </p:cNvSpPr>
          <p:nvPr>
            <p:ph type="title"/>
          </p:nvPr>
        </p:nvSpPr>
        <p:spPr>
          <a:xfrm>
            <a:off x="1389900" y="394384"/>
            <a:ext cx="103864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2" name="Google Shape;1062;p1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Keep in mind, </a:t>
            </a:r>
            <a:r>
              <a:rPr lang="en" sz="400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Tensorflow will </a:t>
            </a:r>
            <a:r>
              <a:rPr lang="en" sz="40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 all of this work for us on the back end with just a few simple line calls, but it's important to have an intuition for what is happening behind the scenes! </a:t>
            </a:r>
            <a:endParaRPr sz="40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446283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p145"/>
          <p:cNvSpPr txBox="1">
            <a:spLocks noGrp="1"/>
          </p:cNvSpPr>
          <p:nvPr>
            <p:ph type="title"/>
          </p:nvPr>
        </p:nvSpPr>
        <p:spPr>
          <a:xfrm>
            <a:off x="1389900" y="394384"/>
            <a:ext cx="103864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8" name="Google Shape;1578;p14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151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Previously our activation function was just  a simple function that output 0 or 1.</a:t>
            </a:r>
            <a:endParaRPr sz="40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3" name="Google Shape;1583;p145"/>
          <p:cNvSpPr txBox="1"/>
          <p:nvPr/>
        </p:nvSpPr>
        <p:spPr>
          <a:xfrm>
            <a:off x="5455700" y="5959700"/>
            <a:ext cx="2684400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>
                <a:latin typeface="Montserrat"/>
                <a:ea typeface="Montserrat"/>
                <a:cs typeface="Montserrat"/>
                <a:sym typeface="Montserrat"/>
              </a:rPr>
              <a:t>z = wx + b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580500" y="3075067"/>
            <a:ext cx="5866900" cy="2745766"/>
            <a:chOff x="2580500" y="3075067"/>
            <a:chExt cx="5866900" cy="2745766"/>
          </a:xfrm>
        </p:grpSpPr>
        <p:cxnSp>
          <p:nvCxnSpPr>
            <p:cNvPr id="1581" name="Google Shape;1581;p145"/>
            <p:cNvCxnSpPr/>
            <p:nvPr/>
          </p:nvCxnSpPr>
          <p:spPr>
            <a:xfrm rot="10800000">
              <a:off x="4888100" y="3075067"/>
              <a:ext cx="0" cy="23304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82" name="Google Shape;1582;p145"/>
            <p:cNvCxnSpPr/>
            <p:nvPr/>
          </p:nvCxnSpPr>
          <p:spPr>
            <a:xfrm>
              <a:off x="4881400" y="5405467"/>
              <a:ext cx="35660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584" name="Google Shape;1584;p145"/>
            <p:cNvSpPr txBox="1"/>
            <p:nvPr/>
          </p:nvSpPr>
          <p:spPr>
            <a:xfrm>
              <a:off x="2580500" y="3892467"/>
              <a:ext cx="1800000" cy="55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" sz="3200">
                  <a:latin typeface="Montserrat"/>
                  <a:ea typeface="Montserrat"/>
                  <a:cs typeface="Montserrat"/>
                  <a:sym typeface="Montserrat"/>
                </a:rPr>
                <a:t>Output</a:t>
              </a:r>
              <a:endParaRPr sz="32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85" name="Google Shape;1585;p145"/>
            <p:cNvSpPr txBox="1"/>
            <p:nvPr/>
          </p:nvSpPr>
          <p:spPr>
            <a:xfrm>
              <a:off x="4299533" y="4883633"/>
              <a:ext cx="1800000" cy="55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" sz="3200">
                  <a:latin typeface="Montserrat"/>
                  <a:ea typeface="Montserrat"/>
                  <a:cs typeface="Montserrat"/>
                  <a:sym typeface="Montserrat"/>
                </a:rPr>
                <a:t>0</a:t>
              </a:r>
              <a:endParaRPr sz="32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86" name="Google Shape;1586;p145"/>
            <p:cNvSpPr txBox="1"/>
            <p:nvPr/>
          </p:nvSpPr>
          <p:spPr>
            <a:xfrm>
              <a:off x="4349133" y="3268417"/>
              <a:ext cx="1800000" cy="55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" sz="3200">
                  <a:latin typeface="Montserrat"/>
                  <a:ea typeface="Montserrat"/>
                  <a:cs typeface="Montserrat"/>
                  <a:sym typeface="Montserrat"/>
                </a:rPr>
                <a:t>1</a:t>
              </a:r>
              <a:endParaRPr sz="32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1587" name="Google Shape;1587;p145"/>
            <p:cNvCxnSpPr/>
            <p:nvPr/>
          </p:nvCxnSpPr>
          <p:spPr>
            <a:xfrm rot="10800000" flipH="1">
              <a:off x="4888100" y="3508833"/>
              <a:ext cx="3512400" cy="1756400"/>
            </a:xfrm>
            <a:prstGeom prst="bentConnector3">
              <a:avLst>
                <a:gd name="adj1" fmla="val 50000"/>
              </a:avLst>
            </a:prstGeom>
            <a:noFill/>
            <a:ln w="38100" cap="flat" cmpd="sng">
              <a:solidFill>
                <a:srgbClr val="1155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88" name="Google Shape;1588;p145"/>
            <p:cNvSpPr txBox="1"/>
            <p:nvPr/>
          </p:nvSpPr>
          <p:spPr>
            <a:xfrm>
              <a:off x="6399200" y="5265233"/>
              <a:ext cx="599200" cy="55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" sz="3200">
                  <a:latin typeface="Montserrat"/>
                  <a:ea typeface="Montserrat"/>
                  <a:cs typeface="Montserrat"/>
                  <a:sym typeface="Montserrat"/>
                </a:rPr>
                <a:t>0</a:t>
              </a:r>
              <a:endParaRPr sz="32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69733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8" grpId="0" build="p"/>
      <p:bldP spid="158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p146"/>
          <p:cNvSpPr txBox="1">
            <a:spLocks noGrp="1"/>
          </p:cNvSpPr>
          <p:nvPr>
            <p:ph type="title"/>
          </p:nvPr>
        </p:nvSpPr>
        <p:spPr>
          <a:xfrm>
            <a:off x="1389900" y="394384"/>
            <a:ext cx="103864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4" name="Google Shape;1594;p14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151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a pretty dramatic function, since small changes aren’t reflected.</a:t>
            </a:r>
            <a:endParaRPr sz="40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9" name="Google Shape;1599;p146"/>
          <p:cNvSpPr txBox="1"/>
          <p:nvPr/>
        </p:nvSpPr>
        <p:spPr>
          <a:xfrm>
            <a:off x="5455700" y="5959700"/>
            <a:ext cx="2684400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>
                <a:latin typeface="Montserrat"/>
                <a:ea typeface="Montserrat"/>
                <a:cs typeface="Montserrat"/>
                <a:sym typeface="Montserrat"/>
              </a:rPr>
              <a:t>z = wx + b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580500" y="3075067"/>
            <a:ext cx="5866900" cy="2364166"/>
            <a:chOff x="2580500" y="3075067"/>
            <a:chExt cx="5866900" cy="2364166"/>
          </a:xfrm>
        </p:grpSpPr>
        <p:cxnSp>
          <p:nvCxnSpPr>
            <p:cNvPr id="1597" name="Google Shape;1597;p146"/>
            <p:cNvCxnSpPr/>
            <p:nvPr/>
          </p:nvCxnSpPr>
          <p:spPr>
            <a:xfrm rot="10800000">
              <a:off x="4888100" y="3075067"/>
              <a:ext cx="0" cy="23304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98" name="Google Shape;1598;p146"/>
            <p:cNvCxnSpPr/>
            <p:nvPr/>
          </p:nvCxnSpPr>
          <p:spPr>
            <a:xfrm>
              <a:off x="4881400" y="5405467"/>
              <a:ext cx="35660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600" name="Google Shape;1600;p146"/>
            <p:cNvSpPr txBox="1"/>
            <p:nvPr/>
          </p:nvSpPr>
          <p:spPr>
            <a:xfrm>
              <a:off x="2580500" y="3892467"/>
              <a:ext cx="1800000" cy="55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" sz="3200">
                  <a:latin typeface="Montserrat"/>
                  <a:ea typeface="Montserrat"/>
                  <a:cs typeface="Montserrat"/>
                  <a:sym typeface="Montserrat"/>
                </a:rPr>
                <a:t>Output</a:t>
              </a:r>
              <a:endParaRPr sz="32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01" name="Google Shape;1601;p146"/>
            <p:cNvSpPr txBox="1"/>
            <p:nvPr/>
          </p:nvSpPr>
          <p:spPr>
            <a:xfrm>
              <a:off x="4299533" y="4883633"/>
              <a:ext cx="1800000" cy="55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" sz="3200">
                  <a:latin typeface="Montserrat"/>
                  <a:ea typeface="Montserrat"/>
                  <a:cs typeface="Montserrat"/>
                  <a:sym typeface="Montserrat"/>
                </a:rPr>
                <a:t>0</a:t>
              </a:r>
              <a:endParaRPr sz="32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02" name="Google Shape;1602;p146"/>
            <p:cNvSpPr txBox="1"/>
            <p:nvPr/>
          </p:nvSpPr>
          <p:spPr>
            <a:xfrm>
              <a:off x="4349133" y="3268417"/>
              <a:ext cx="1800000" cy="55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" sz="3200">
                  <a:latin typeface="Montserrat"/>
                  <a:ea typeface="Montserrat"/>
                  <a:cs typeface="Montserrat"/>
                  <a:sym typeface="Montserrat"/>
                </a:rPr>
                <a:t>1</a:t>
              </a:r>
              <a:endParaRPr sz="32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1603" name="Google Shape;1603;p146"/>
            <p:cNvCxnSpPr/>
            <p:nvPr/>
          </p:nvCxnSpPr>
          <p:spPr>
            <a:xfrm rot="10800000" flipH="1">
              <a:off x="4888100" y="3508833"/>
              <a:ext cx="3512400" cy="1756400"/>
            </a:xfrm>
            <a:prstGeom prst="bentConnector3">
              <a:avLst>
                <a:gd name="adj1" fmla="val 50000"/>
              </a:avLst>
            </a:prstGeom>
            <a:noFill/>
            <a:ln w="38100" cap="flat" cmpd="sng">
              <a:solidFill>
                <a:srgbClr val="1155CC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604" name="Google Shape;1604;p146"/>
          <p:cNvSpPr txBox="1"/>
          <p:nvPr/>
        </p:nvSpPr>
        <p:spPr>
          <a:xfrm>
            <a:off x="6399200" y="5265233"/>
            <a:ext cx="599200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32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908218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4" grpId="0" build="p"/>
      <p:bldP spid="159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p147"/>
          <p:cNvSpPr txBox="1">
            <a:spLocks noGrp="1"/>
          </p:cNvSpPr>
          <p:nvPr>
            <p:ph type="title"/>
          </p:nvPr>
        </p:nvSpPr>
        <p:spPr>
          <a:xfrm>
            <a:off x="1389900" y="394384"/>
            <a:ext cx="103864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0" name="Google Shape;1610;p14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776400" cy="151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would be nice if we could have a more dynamic function, for example the red line!</a:t>
            </a:r>
            <a:endParaRPr sz="40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5" name="Google Shape;1615;p147"/>
          <p:cNvSpPr txBox="1"/>
          <p:nvPr/>
        </p:nvSpPr>
        <p:spPr>
          <a:xfrm>
            <a:off x="5455700" y="5959700"/>
            <a:ext cx="2684400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>
                <a:latin typeface="Montserrat"/>
                <a:ea typeface="Montserrat"/>
                <a:cs typeface="Montserrat"/>
                <a:sym typeface="Montserrat"/>
              </a:rPr>
              <a:t>z = wx + b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580500" y="3075067"/>
            <a:ext cx="5866900" cy="2745766"/>
            <a:chOff x="2580500" y="3075067"/>
            <a:chExt cx="5866900" cy="2745766"/>
          </a:xfrm>
        </p:grpSpPr>
        <p:cxnSp>
          <p:nvCxnSpPr>
            <p:cNvPr id="1613" name="Google Shape;1613;p147"/>
            <p:cNvCxnSpPr/>
            <p:nvPr/>
          </p:nvCxnSpPr>
          <p:spPr>
            <a:xfrm rot="10800000">
              <a:off x="4888100" y="3075067"/>
              <a:ext cx="0" cy="23304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14" name="Google Shape;1614;p147"/>
            <p:cNvCxnSpPr/>
            <p:nvPr/>
          </p:nvCxnSpPr>
          <p:spPr>
            <a:xfrm>
              <a:off x="4881400" y="5405467"/>
              <a:ext cx="35660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616" name="Google Shape;1616;p147"/>
            <p:cNvSpPr txBox="1"/>
            <p:nvPr/>
          </p:nvSpPr>
          <p:spPr>
            <a:xfrm>
              <a:off x="2580500" y="3892467"/>
              <a:ext cx="1800000" cy="55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" sz="3200">
                  <a:latin typeface="Montserrat"/>
                  <a:ea typeface="Montserrat"/>
                  <a:cs typeface="Montserrat"/>
                  <a:sym typeface="Montserrat"/>
                </a:rPr>
                <a:t>Output</a:t>
              </a:r>
              <a:endParaRPr sz="32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17" name="Google Shape;1617;p147"/>
            <p:cNvSpPr txBox="1"/>
            <p:nvPr/>
          </p:nvSpPr>
          <p:spPr>
            <a:xfrm>
              <a:off x="4299533" y="4883633"/>
              <a:ext cx="1800000" cy="55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" sz="3200">
                  <a:latin typeface="Montserrat"/>
                  <a:ea typeface="Montserrat"/>
                  <a:cs typeface="Montserrat"/>
                  <a:sym typeface="Montserrat"/>
                </a:rPr>
                <a:t>0</a:t>
              </a:r>
              <a:endParaRPr sz="32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18" name="Google Shape;1618;p147"/>
            <p:cNvSpPr txBox="1"/>
            <p:nvPr/>
          </p:nvSpPr>
          <p:spPr>
            <a:xfrm>
              <a:off x="4349133" y="3268417"/>
              <a:ext cx="1800000" cy="55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" sz="3200">
                  <a:latin typeface="Montserrat"/>
                  <a:ea typeface="Montserrat"/>
                  <a:cs typeface="Montserrat"/>
                  <a:sym typeface="Montserrat"/>
                </a:rPr>
                <a:t>1</a:t>
              </a:r>
              <a:endParaRPr sz="32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1619" name="Google Shape;1619;p147"/>
            <p:cNvCxnSpPr/>
            <p:nvPr/>
          </p:nvCxnSpPr>
          <p:spPr>
            <a:xfrm rot="10800000" flipH="1">
              <a:off x="4888100" y="3508833"/>
              <a:ext cx="3512400" cy="1756400"/>
            </a:xfrm>
            <a:prstGeom prst="bentConnector3">
              <a:avLst>
                <a:gd name="adj1" fmla="val 50000"/>
              </a:avLst>
            </a:prstGeom>
            <a:noFill/>
            <a:ln w="38100" cap="flat" cmpd="sng">
              <a:solidFill>
                <a:srgbClr val="1155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20" name="Google Shape;1620;p147"/>
            <p:cNvSpPr txBox="1"/>
            <p:nvPr/>
          </p:nvSpPr>
          <p:spPr>
            <a:xfrm>
              <a:off x="6399200" y="5265233"/>
              <a:ext cx="599200" cy="55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" sz="3200">
                  <a:latin typeface="Montserrat"/>
                  <a:ea typeface="Montserrat"/>
                  <a:cs typeface="Montserrat"/>
                  <a:sym typeface="Montserrat"/>
                </a:rPr>
                <a:t>0</a:t>
              </a:r>
              <a:endParaRPr sz="32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1621" name="Google Shape;1621;p147"/>
            <p:cNvCxnSpPr/>
            <p:nvPr/>
          </p:nvCxnSpPr>
          <p:spPr>
            <a:xfrm rot="10800000" flipH="1">
              <a:off x="4908100" y="3528967"/>
              <a:ext cx="3485600" cy="1749600"/>
            </a:xfrm>
            <a:prstGeom prst="curvedConnector3">
              <a:avLst>
                <a:gd name="adj1" fmla="val 50000"/>
              </a:avLst>
            </a:prstGeom>
            <a:noFill/>
            <a:ln w="3810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929766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0" grpId="0" build="p"/>
      <p:bldP spid="161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p148"/>
          <p:cNvSpPr txBox="1">
            <a:spLocks noGrp="1"/>
          </p:cNvSpPr>
          <p:nvPr>
            <p:ph type="title"/>
          </p:nvPr>
        </p:nvSpPr>
        <p:spPr>
          <a:xfrm>
            <a:off x="1389900" y="394384"/>
            <a:ext cx="103864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7" name="Google Shape;1627;p14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776400" cy="151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Lucky for us, this is the sigmoid function!</a:t>
            </a:r>
            <a:endParaRPr sz="4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30" name="Google Shape;1630;p148"/>
          <p:cNvCxnSpPr/>
          <p:nvPr/>
        </p:nvCxnSpPr>
        <p:spPr>
          <a:xfrm rot="10800000">
            <a:off x="4888100" y="3075067"/>
            <a:ext cx="0" cy="2330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31" name="Google Shape;1631;p148"/>
          <p:cNvCxnSpPr/>
          <p:nvPr/>
        </p:nvCxnSpPr>
        <p:spPr>
          <a:xfrm>
            <a:off x="4881400" y="5405467"/>
            <a:ext cx="35660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32" name="Google Shape;1632;p148"/>
          <p:cNvSpPr txBox="1"/>
          <p:nvPr/>
        </p:nvSpPr>
        <p:spPr>
          <a:xfrm>
            <a:off x="5455700" y="5959700"/>
            <a:ext cx="2684400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>
                <a:latin typeface="Montserrat"/>
                <a:ea typeface="Montserrat"/>
                <a:cs typeface="Montserrat"/>
                <a:sym typeface="Montserrat"/>
              </a:rPr>
              <a:t>z = wx + b</a:t>
            </a:r>
            <a:endParaRPr sz="3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3" name="Google Shape;1633;p148"/>
          <p:cNvSpPr txBox="1"/>
          <p:nvPr/>
        </p:nvSpPr>
        <p:spPr>
          <a:xfrm>
            <a:off x="2580500" y="3892467"/>
            <a:ext cx="1800000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>
                <a:latin typeface="Montserrat"/>
                <a:ea typeface="Montserrat"/>
                <a:cs typeface="Montserrat"/>
                <a:sym typeface="Montserrat"/>
              </a:rPr>
              <a:t>Output</a:t>
            </a:r>
            <a:endParaRPr sz="3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4" name="Google Shape;1634;p148"/>
          <p:cNvSpPr txBox="1"/>
          <p:nvPr/>
        </p:nvSpPr>
        <p:spPr>
          <a:xfrm>
            <a:off x="4299533" y="4883633"/>
            <a:ext cx="1800000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3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5" name="Google Shape;1635;p148"/>
          <p:cNvSpPr txBox="1"/>
          <p:nvPr/>
        </p:nvSpPr>
        <p:spPr>
          <a:xfrm>
            <a:off x="4349133" y="3268417"/>
            <a:ext cx="1800000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3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36" name="Google Shape;1636;p148"/>
          <p:cNvCxnSpPr/>
          <p:nvPr/>
        </p:nvCxnSpPr>
        <p:spPr>
          <a:xfrm rot="10800000" flipH="1">
            <a:off x="4888100" y="3508833"/>
            <a:ext cx="3512400" cy="1756400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rgbClr val="1155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37" name="Google Shape;1637;p148"/>
          <p:cNvSpPr txBox="1"/>
          <p:nvPr/>
        </p:nvSpPr>
        <p:spPr>
          <a:xfrm>
            <a:off x="6399200" y="5265233"/>
            <a:ext cx="599200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32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38" name="Google Shape;1638;p148"/>
          <p:cNvCxnSpPr/>
          <p:nvPr/>
        </p:nvCxnSpPr>
        <p:spPr>
          <a:xfrm rot="10800000" flipH="1">
            <a:off x="4908100" y="3528967"/>
            <a:ext cx="3485600" cy="1749600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39" name="Google Shape;1639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96612" y="3607167"/>
            <a:ext cx="2992189" cy="1336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2752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149"/>
          <p:cNvSpPr txBox="1">
            <a:spLocks noGrp="1"/>
          </p:cNvSpPr>
          <p:nvPr>
            <p:ph type="title"/>
          </p:nvPr>
        </p:nvSpPr>
        <p:spPr>
          <a:xfrm>
            <a:off x="1389900" y="394384"/>
            <a:ext cx="103864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5" name="Google Shape;1645;p14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776400" cy="151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Changing the activation function used can be beneficial depending on the task!</a:t>
            </a:r>
            <a:endParaRPr sz="40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580500" y="3075067"/>
            <a:ext cx="5866900" cy="3440233"/>
            <a:chOff x="2580500" y="3075067"/>
            <a:chExt cx="5866900" cy="3440233"/>
          </a:xfrm>
        </p:grpSpPr>
        <p:cxnSp>
          <p:nvCxnSpPr>
            <p:cNvPr id="1648" name="Google Shape;1648;p149"/>
            <p:cNvCxnSpPr/>
            <p:nvPr/>
          </p:nvCxnSpPr>
          <p:spPr>
            <a:xfrm rot="10800000">
              <a:off x="4888100" y="3075067"/>
              <a:ext cx="0" cy="23304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49" name="Google Shape;1649;p149"/>
            <p:cNvCxnSpPr/>
            <p:nvPr/>
          </p:nvCxnSpPr>
          <p:spPr>
            <a:xfrm>
              <a:off x="4881400" y="5405467"/>
              <a:ext cx="35660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650" name="Google Shape;1650;p149"/>
            <p:cNvSpPr txBox="1"/>
            <p:nvPr/>
          </p:nvSpPr>
          <p:spPr>
            <a:xfrm>
              <a:off x="5455700" y="5959700"/>
              <a:ext cx="2684400" cy="55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" sz="3200">
                  <a:latin typeface="Montserrat"/>
                  <a:ea typeface="Montserrat"/>
                  <a:cs typeface="Montserrat"/>
                  <a:sym typeface="Montserrat"/>
                </a:rPr>
                <a:t>z = wx + b</a:t>
              </a:r>
              <a:endParaRPr sz="32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51" name="Google Shape;1651;p149"/>
            <p:cNvSpPr txBox="1"/>
            <p:nvPr/>
          </p:nvSpPr>
          <p:spPr>
            <a:xfrm>
              <a:off x="2580500" y="3892467"/>
              <a:ext cx="1800000" cy="55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" sz="3200">
                  <a:latin typeface="Montserrat"/>
                  <a:ea typeface="Montserrat"/>
                  <a:cs typeface="Montserrat"/>
                  <a:sym typeface="Montserrat"/>
                </a:rPr>
                <a:t>Output</a:t>
              </a:r>
              <a:endParaRPr sz="32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52" name="Google Shape;1652;p149"/>
            <p:cNvSpPr txBox="1"/>
            <p:nvPr/>
          </p:nvSpPr>
          <p:spPr>
            <a:xfrm>
              <a:off x="4299533" y="4883633"/>
              <a:ext cx="1800000" cy="55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" sz="3200">
                  <a:latin typeface="Montserrat"/>
                  <a:ea typeface="Montserrat"/>
                  <a:cs typeface="Montserrat"/>
                  <a:sym typeface="Montserrat"/>
                </a:rPr>
                <a:t>0</a:t>
              </a:r>
              <a:endParaRPr sz="32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53" name="Google Shape;1653;p149"/>
            <p:cNvSpPr txBox="1"/>
            <p:nvPr/>
          </p:nvSpPr>
          <p:spPr>
            <a:xfrm>
              <a:off x="4349133" y="3268417"/>
              <a:ext cx="1800000" cy="55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" sz="3200">
                  <a:latin typeface="Montserrat"/>
                  <a:ea typeface="Montserrat"/>
                  <a:cs typeface="Montserrat"/>
                  <a:sym typeface="Montserrat"/>
                </a:rPr>
                <a:t>1</a:t>
              </a:r>
              <a:endParaRPr sz="32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1654" name="Google Shape;1654;p149"/>
            <p:cNvCxnSpPr/>
            <p:nvPr/>
          </p:nvCxnSpPr>
          <p:spPr>
            <a:xfrm rot="10800000" flipH="1">
              <a:off x="4888100" y="3508833"/>
              <a:ext cx="3512400" cy="1756400"/>
            </a:xfrm>
            <a:prstGeom prst="bentConnector3">
              <a:avLst>
                <a:gd name="adj1" fmla="val 50000"/>
              </a:avLst>
            </a:prstGeom>
            <a:noFill/>
            <a:ln w="38100" cap="flat" cmpd="sng">
              <a:solidFill>
                <a:srgbClr val="1155CC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55" name="Google Shape;1655;p149"/>
            <p:cNvSpPr txBox="1"/>
            <p:nvPr/>
          </p:nvSpPr>
          <p:spPr>
            <a:xfrm>
              <a:off x="6399200" y="5265233"/>
              <a:ext cx="599200" cy="55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" sz="3200">
                  <a:latin typeface="Montserrat"/>
                  <a:ea typeface="Montserrat"/>
                  <a:cs typeface="Montserrat"/>
                  <a:sym typeface="Montserrat"/>
                </a:rPr>
                <a:t>0</a:t>
              </a:r>
              <a:endParaRPr sz="32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1656" name="Google Shape;1656;p149"/>
            <p:cNvCxnSpPr/>
            <p:nvPr/>
          </p:nvCxnSpPr>
          <p:spPr>
            <a:xfrm rot="10800000" flipH="1">
              <a:off x="4908100" y="3528967"/>
              <a:ext cx="3485600" cy="1749600"/>
            </a:xfrm>
            <a:prstGeom prst="curvedConnector3">
              <a:avLst>
                <a:gd name="adj1" fmla="val 50000"/>
              </a:avLst>
            </a:prstGeom>
            <a:noFill/>
            <a:ln w="3810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657" name="Google Shape;1657;p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96612" y="3607167"/>
            <a:ext cx="2992189" cy="1336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2240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5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p150"/>
          <p:cNvSpPr txBox="1">
            <a:spLocks noGrp="1"/>
          </p:cNvSpPr>
          <p:nvPr>
            <p:ph type="title"/>
          </p:nvPr>
        </p:nvSpPr>
        <p:spPr>
          <a:xfrm>
            <a:off x="1389900" y="394384"/>
            <a:ext cx="103864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3" name="Google Shape;1663;p15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776400" cy="151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discuss a few more activation functions that we’ll encounter!</a:t>
            </a:r>
            <a:endParaRPr sz="40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4256706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p151"/>
          <p:cNvSpPr txBox="1">
            <a:spLocks noGrp="1"/>
          </p:cNvSpPr>
          <p:nvPr>
            <p:ph type="title"/>
          </p:nvPr>
        </p:nvSpPr>
        <p:spPr>
          <a:xfrm>
            <a:off x="1389900" y="394384"/>
            <a:ext cx="103864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8" name="Google Shape;1678;p151"/>
          <p:cNvSpPr txBox="1">
            <a:spLocks noGrp="1"/>
          </p:cNvSpPr>
          <p:nvPr>
            <p:ph type="body" idx="1"/>
          </p:nvPr>
        </p:nvSpPr>
        <p:spPr>
          <a:xfrm>
            <a:off x="1389900" y="1604154"/>
            <a:ext cx="7633548" cy="73859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2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Hyperbolic Tangent: tanh(z)</a:t>
            </a:r>
            <a:endParaRPr sz="32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88" name="Google Shape;1688;p151"/>
          <p:cNvPicPr preferRelativeResize="0"/>
          <p:nvPr/>
        </p:nvPicPr>
        <p:blipFill rotWithShape="1">
          <a:blip r:embed="rId3">
            <a:alphaModFix/>
          </a:blip>
          <a:srcRect r="64970" b="30709"/>
          <a:stretch/>
        </p:blipFill>
        <p:spPr>
          <a:xfrm>
            <a:off x="8635930" y="4147498"/>
            <a:ext cx="2633932" cy="180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9" name="Google Shape;1689;p151"/>
          <p:cNvPicPr preferRelativeResize="0"/>
          <p:nvPr/>
        </p:nvPicPr>
        <p:blipFill rotWithShape="1">
          <a:blip r:embed="rId3">
            <a:alphaModFix/>
          </a:blip>
          <a:srcRect l="55417" r="8882" b="68414"/>
          <a:stretch/>
        </p:blipFill>
        <p:spPr>
          <a:xfrm>
            <a:off x="8585463" y="3129331"/>
            <a:ext cx="2684400" cy="82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9452" y="2788915"/>
            <a:ext cx="5754387" cy="3170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377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8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p152"/>
          <p:cNvSpPr txBox="1">
            <a:spLocks noGrp="1"/>
          </p:cNvSpPr>
          <p:nvPr>
            <p:ph type="title"/>
          </p:nvPr>
        </p:nvSpPr>
        <p:spPr>
          <a:xfrm>
            <a:off x="1389900" y="394384"/>
            <a:ext cx="103864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6" name="Google Shape;1696;p152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776400" cy="151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Rectified Linear Unit (ReLU): This is actually a relatively simple function: max(0,z)</a:t>
            </a:r>
            <a:endParaRPr sz="40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986167" y="3115133"/>
            <a:ext cx="5461233" cy="3400167"/>
            <a:chOff x="2986167" y="3115133"/>
            <a:chExt cx="5461233" cy="3400167"/>
          </a:xfrm>
        </p:grpSpPr>
        <p:cxnSp>
          <p:nvCxnSpPr>
            <p:cNvPr id="1699" name="Google Shape;1699;p152"/>
            <p:cNvCxnSpPr/>
            <p:nvPr/>
          </p:nvCxnSpPr>
          <p:spPr>
            <a:xfrm rot="10800000">
              <a:off x="6650900" y="3115133"/>
              <a:ext cx="0" cy="23304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700" name="Google Shape;1700;p152"/>
            <p:cNvCxnSpPr/>
            <p:nvPr/>
          </p:nvCxnSpPr>
          <p:spPr>
            <a:xfrm>
              <a:off x="4881400" y="5405467"/>
              <a:ext cx="35660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701" name="Google Shape;1701;p152"/>
            <p:cNvSpPr txBox="1"/>
            <p:nvPr/>
          </p:nvSpPr>
          <p:spPr>
            <a:xfrm>
              <a:off x="5455700" y="5959700"/>
              <a:ext cx="2684400" cy="55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" sz="3200">
                  <a:latin typeface="Montserrat"/>
                  <a:ea typeface="Montserrat"/>
                  <a:cs typeface="Montserrat"/>
                  <a:sym typeface="Montserrat"/>
                </a:rPr>
                <a:t>z = wx + b</a:t>
              </a:r>
              <a:endParaRPr sz="32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02" name="Google Shape;1702;p152"/>
            <p:cNvSpPr txBox="1"/>
            <p:nvPr/>
          </p:nvSpPr>
          <p:spPr>
            <a:xfrm>
              <a:off x="2986167" y="3896300"/>
              <a:ext cx="1800000" cy="55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" sz="3200">
                  <a:latin typeface="Montserrat"/>
                  <a:ea typeface="Montserrat"/>
                  <a:cs typeface="Montserrat"/>
                  <a:sym typeface="Montserrat"/>
                </a:rPr>
                <a:t>Output</a:t>
              </a:r>
              <a:endParaRPr sz="32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03" name="Google Shape;1703;p152"/>
            <p:cNvSpPr txBox="1"/>
            <p:nvPr/>
          </p:nvSpPr>
          <p:spPr>
            <a:xfrm>
              <a:off x="6399200" y="5265233"/>
              <a:ext cx="599200" cy="55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" sz="3200">
                  <a:latin typeface="Montserrat"/>
                  <a:ea typeface="Montserrat"/>
                  <a:cs typeface="Montserrat"/>
                  <a:sym typeface="Montserrat"/>
                </a:rPr>
                <a:t>0</a:t>
              </a:r>
              <a:endParaRPr sz="32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04" name="Google Shape;1704;p152"/>
            <p:cNvSpPr/>
            <p:nvPr/>
          </p:nvSpPr>
          <p:spPr>
            <a:xfrm>
              <a:off x="4921467" y="3896301"/>
              <a:ext cx="3412300" cy="1449033"/>
            </a:xfrm>
            <a:custGeom>
              <a:avLst/>
              <a:gdLst/>
              <a:ahLst/>
              <a:cxnLst/>
              <a:rect l="l" t="t" r="r" b="b"/>
              <a:pathLst>
                <a:path w="102369" h="43471" extrusionOk="0">
                  <a:moveTo>
                    <a:pt x="0" y="43471"/>
                  </a:moveTo>
                  <a:lnTo>
                    <a:pt x="52286" y="43071"/>
                  </a:lnTo>
                  <a:lnTo>
                    <a:pt x="102369" y="0"/>
                  </a:lnTo>
                </a:path>
              </a:pathLst>
            </a:custGeom>
            <a:noFill/>
            <a:ln w="38100" cap="flat" cmpd="sng">
              <a:solidFill>
                <a:srgbClr val="99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</p:spTree>
    <p:extLst>
      <p:ext uri="{BB962C8B-B14F-4D97-AF65-F5344CB8AC3E}">
        <p14:creationId xmlns:p14="http://schemas.microsoft.com/office/powerpoint/2010/main" val="43440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6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p152"/>
          <p:cNvSpPr txBox="1">
            <a:spLocks noGrp="1"/>
          </p:cNvSpPr>
          <p:nvPr>
            <p:ph type="title"/>
          </p:nvPr>
        </p:nvSpPr>
        <p:spPr>
          <a:xfrm>
            <a:off x="1389900" y="394384"/>
            <a:ext cx="103864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6" name="Google Shape;1696;p152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776400" cy="151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Rectified Linear Unit (ReLU): This is actually a relatively simple function: max(0,z)</a:t>
            </a:r>
            <a:endParaRPr sz="4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99" name="Google Shape;1699;p152"/>
          <p:cNvCxnSpPr/>
          <p:nvPr/>
        </p:nvCxnSpPr>
        <p:spPr>
          <a:xfrm rot="10800000">
            <a:off x="6650900" y="3115133"/>
            <a:ext cx="0" cy="2330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00" name="Google Shape;1700;p152"/>
          <p:cNvCxnSpPr/>
          <p:nvPr/>
        </p:nvCxnSpPr>
        <p:spPr>
          <a:xfrm>
            <a:off x="4881400" y="5405467"/>
            <a:ext cx="35660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01" name="Google Shape;1701;p152"/>
          <p:cNvSpPr txBox="1"/>
          <p:nvPr/>
        </p:nvSpPr>
        <p:spPr>
          <a:xfrm>
            <a:off x="5455700" y="5959700"/>
            <a:ext cx="2684400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>
                <a:latin typeface="Montserrat"/>
                <a:ea typeface="Montserrat"/>
                <a:cs typeface="Montserrat"/>
                <a:sym typeface="Montserrat"/>
              </a:rPr>
              <a:t>z = wx + b</a:t>
            </a:r>
            <a:endParaRPr sz="3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2" name="Google Shape;1702;p152"/>
          <p:cNvSpPr txBox="1"/>
          <p:nvPr/>
        </p:nvSpPr>
        <p:spPr>
          <a:xfrm>
            <a:off x="2986167" y="3896300"/>
            <a:ext cx="1800000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>
                <a:latin typeface="Montserrat"/>
                <a:ea typeface="Montserrat"/>
                <a:cs typeface="Montserrat"/>
                <a:sym typeface="Montserrat"/>
              </a:rPr>
              <a:t>Output</a:t>
            </a:r>
            <a:endParaRPr sz="3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3" name="Google Shape;1703;p152"/>
          <p:cNvSpPr txBox="1"/>
          <p:nvPr/>
        </p:nvSpPr>
        <p:spPr>
          <a:xfrm>
            <a:off x="6399200" y="5265233"/>
            <a:ext cx="599200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3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4" name="Google Shape;1704;p152"/>
          <p:cNvSpPr/>
          <p:nvPr/>
        </p:nvSpPr>
        <p:spPr>
          <a:xfrm>
            <a:off x="4921467" y="3896301"/>
            <a:ext cx="3412300" cy="1449033"/>
          </a:xfrm>
          <a:custGeom>
            <a:avLst/>
            <a:gdLst/>
            <a:ahLst/>
            <a:cxnLst/>
            <a:rect l="l" t="t" r="r" b="b"/>
            <a:pathLst>
              <a:path w="102369" h="43471" extrusionOk="0">
                <a:moveTo>
                  <a:pt x="0" y="43471"/>
                </a:moveTo>
                <a:lnTo>
                  <a:pt x="52286" y="43071"/>
                </a:lnTo>
                <a:lnTo>
                  <a:pt x="102369" y="0"/>
                </a:lnTo>
              </a:path>
            </a:pathLst>
          </a:custGeom>
          <a:noFill/>
          <a:ln w="38100" cap="flat" cmpd="sng">
            <a:solidFill>
              <a:srgbClr val="990000"/>
            </a:solidFill>
            <a:prstDash val="solid"/>
            <a:round/>
            <a:headEnd type="none" w="med" len="med"/>
            <a:tailEnd type="triangle" w="med" len="med"/>
          </a:ln>
        </p:spPr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4343" y="5836022"/>
            <a:ext cx="2687560" cy="84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671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153"/>
          <p:cNvSpPr txBox="1">
            <a:spLocks noGrp="1"/>
          </p:cNvSpPr>
          <p:nvPr>
            <p:ph type="title"/>
          </p:nvPr>
        </p:nvSpPr>
        <p:spPr>
          <a:xfrm>
            <a:off x="1389900" y="394384"/>
            <a:ext cx="103864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0" name="Google Shape;1710;p15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776400" cy="151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ReLu and tanh tend to have the best performance, so we will focus on these two.</a:t>
            </a:r>
            <a:endParaRPr sz="40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Deep Learning libraries have these built in for us, so we don’t need to worry about having to implement them manually!</a:t>
            </a:r>
            <a:endParaRPr sz="40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492403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p155"/>
          <p:cNvSpPr txBox="1">
            <a:spLocks noGrp="1"/>
          </p:cNvSpPr>
          <p:nvPr>
            <p:ph type="ctrTitle"/>
          </p:nvPr>
        </p:nvSpPr>
        <p:spPr>
          <a:xfrm>
            <a:off x="415600" y="2060600"/>
            <a:ext cx="11360800" cy="1795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b="1">
                <a:latin typeface="Montserrat"/>
                <a:ea typeface="Montserrat"/>
                <a:cs typeface="Montserrat"/>
                <a:sym typeface="Montserrat"/>
              </a:rPr>
              <a:t>Cost Functions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573757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p156"/>
          <p:cNvSpPr txBox="1">
            <a:spLocks noGrp="1"/>
          </p:cNvSpPr>
          <p:nvPr>
            <p:ph type="title"/>
          </p:nvPr>
        </p:nvSpPr>
        <p:spPr>
          <a:xfrm>
            <a:off x="1389900" y="394384"/>
            <a:ext cx="103864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3" name="Google Shape;1733;p15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now explore how we can evaluate performance of a neuron!</a:t>
            </a:r>
            <a:endParaRPr sz="40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use a cost function to measure how far off we are from the expected value</a:t>
            </a:r>
            <a:r>
              <a:rPr lang="en" sz="4000" dirty="0" smtClean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-US" sz="4000" b="1" dirty="0"/>
              <a:t>We will want to minimize this cost.</a:t>
            </a:r>
          </a:p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endParaRPr sz="40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008141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p157"/>
          <p:cNvSpPr txBox="1">
            <a:spLocks noGrp="1"/>
          </p:cNvSpPr>
          <p:nvPr>
            <p:ph type="title"/>
          </p:nvPr>
        </p:nvSpPr>
        <p:spPr>
          <a:xfrm>
            <a:off x="1389900" y="394384"/>
            <a:ext cx="103864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1" name="Google Shape;1741;p15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6664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We’ll use the following variables:</a:t>
            </a:r>
            <a:endParaRPr sz="40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828754" lvl="1" indent="-558786">
              <a:lnSpc>
                <a:spcPct val="115000"/>
              </a:lnSpc>
              <a:spcBef>
                <a:spcPts val="0"/>
              </a:spcBef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40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 to represent the true value</a:t>
            </a:r>
            <a:endParaRPr sz="40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828754" lvl="1" indent="-558786">
              <a:lnSpc>
                <a:spcPct val="115000"/>
              </a:lnSpc>
              <a:spcBef>
                <a:spcPts val="0"/>
              </a:spcBef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40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to represent neuron’s prediction</a:t>
            </a:r>
            <a:endParaRPr sz="40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219170"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terms of weights and bias:</a:t>
            </a:r>
            <a:endParaRPr sz="40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828754" lvl="1" indent="-558786">
              <a:lnSpc>
                <a:spcPct val="115000"/>
              </a:lnSpc>
              <a:spcBef>
                <a:spcPts val="0"/>
              </a:spcBef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40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w*x + b = z</a:t>
            </a:r>
            <a:endParaRPr sz="40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828754" lvl="1" indent="-558786">
              <a:lnSpc>
                <a:spcPct val="115000"/>
              </a:lnSpc>
              <a:spcBef>
                <a:spcPts val="0"/>
              </a:spcBef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40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Pass z into activation function σ(z) = a </a:t>
            </a:r>
            <a:endParaRPr sz="40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953545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p158"/>
          <p:cNvSpPr txBox="1">
            <a:spLocks noGrp="1"/>
          </p:cNvSpPr>
          <p:nvPr>
            <p:ph type="title"/>
          </p:nvPr>
        </p:nvSpPr>
        <p:spPr>
          <a:xfrm>
            <a:off x="1389900" y="394384"/>
            <a:ext cx="103864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9" name="Google Shape;1749;p15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Quadratic Cost</a:t>
            </a:r>
            <a:endParaRPr sz="40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828754" lvl="1" indent="-601118">
              <a:lnSpc>
                <a:spcPct val="115000"/>
              </a:lnSpc>
              <a:spcBef>
                <a:spcPts val="0"/>
              </a:spcBef>
              <a:buClr>
                <a:srgbClr val="434343"/>
              </a:buClr>
              <a:buSzPts val="3500"/>
              <a:buFont typeface="Roboto"/>
              <a:buChar char="○"/>
            </a:pPr>
            <a:r>
              <a:rPr lang="en" sz="4667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C = Σ(y-a)</a:t>
            </a:r>
            <a:r>
              <a:rPr lang="en" sz="4667" baseline="30000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2 </a:t>
            </a:r>
            <a:r>
              <a:rPr lang="en" sz="4667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/ n</a:t>
            </a:r>
            <a:endParaRPr sz="4667" dirty="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see that larger errors are more prominent due to the squaring. </a:t>
            </a:r>
            <a:endParaRPr sz="40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Unfortunately this calculation can cause a slowdown in our learning speed.</a:t>
            </a:r>
            <a:endParaRPr sz="40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654331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" name="Google Shape;1756;p159"/>
          <p:cNvSpPr txBox="1">
            <a:spLocks noGrp="1"/>
          </p:cNvSpPr>
          <p:nvPr>
            <p:ph type="title"/>
          </p:nvPr>
        </p:nvSpPr>
        <p:spPr>
          <a:xfrm>
            <a:off x="1389900" y="394384"/>
            <a:ext cx="103864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7" name="Google Shape;1757;p15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Cross Entropy</a:t>
            </a:r>
            <a:endParaRPr sz="40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828754" lvl="1" indent="-558786">
              <a:lnSpc>
                <a:spcPct val="115000"/>
              </a:lnSpc>
              <a:spcBef>
                <a:spcPts val="0"/>
              </a:spcBef>
              <a:buClr>
                <a:srgbClr val="434343"/>
              </a:buClr>
              <a:buSzPts val="3000"/>
              <a:buFont typeface="Roboto"/>
              <a:buChar char="○"/>
            </a:pPr>
            <a:r>
              <a:rPr lang="en" sz="4000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C = (-1/n) Σ (y⋅ln(a) + (1-y)⋅ln(1-a)</a:t>
            </a:r>
            <a:endParaRPr sz="4000" dirty="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cost function allows for faster learning.</a:t>
            </a:r>
            <a:endParaRPr sz="40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larger the difference, the faster the neuron can learn.</a:t>
            </a:r>
            <a:endParaRPr sz="40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846156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p160"/>
          <p:cNvSpPr txBox="1">
            <a:spLocks noGrp="1"/>
          </p:cNvSpPr>
          <p:nvPr>
            <p:ph type="title"/>
          </p:nvPr>
        </p:nvSpPr>
        <p:spPr>
          <a:xfrm>
            <a:off x="1389900" y="394384"/>
            <a:ext cx="103864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5" name="Google Shape;1765;p16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now have 2 key aspects of learning with neural networks, the neurons with their activation function and the cost function.</a:t>
            </a:r>
            <a:endParaRPr sz="40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We’re still missing a key step, actually “learning”!</a:t>
            </a:r>
            <a:endParaRPr sz="40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630913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p161"/>
          <p:cNvSpPr txBox="1">
            <a:spLocks noGrp="1"/>
          </p:cNvSpPr>
          <p:nvPr>
            <p:ph type="title"/>
          </p:nvPr>
        </p:nvSpPr>
        <p:spPr>
          <a:xfrm>
            <a:off x="1389900" y="394384"/>
            <a:ext cx="103864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3" name="Google Shape;1773;p16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need to figure out how we can use our neurons and the measurement of error (our cost function) and then attempt to correct our prediction, in other words, “learn”!</a:t>
            </a:r>
            <a:endParaRPr sz="4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212186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p163"/>
          <p:cNvSpPr txBox="1">
            <a:spLocks noGrp="1"/>
          </p:cNvSpPr>
          <p:nvPr>
            <p:ph type="ctrTitle"/>
          </p:nvPr>
        </p:nvSpPr>
        <p:spPr>
          <a:xfrm>
            <a:off x="415600" y="2531200"/>
            <a:ext cx="11360800" cy="1795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b="1">
                <a:latin typeface="Montserrat"/>
                <a:ea typeface="Montserrat"/>
                <a:cs typeface="Montserrat"/>
                <a:sym typeface="Montserrat"/>
              </a:rPr>
              <a:t>Gradient Descent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spcBef>
                <a:spcPts val="0"/>
              </a:spcBef>
            </a:pPr>
            <a:r>
              <a:rPr lang="en" b="1">
                <a:latin typeface="Montserrat"/>
                <a:ea typeface="Montserrat"/>
                <a:cs typeface="Montserrat"/>
                <a:sym typeface="Montserrat"/>
              </a:rPr>
              <a:t>and Backpropagation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094479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165"/>
          <p:cNvSpPr txBox="1">
            <a:spLocks noGrp="1"/>
          </p:cNvSpPr>
          <p:nvPr>
            <p:ph type="title"/>
          </p:nvPr>
        </p:nvSpPr>
        <p:spPr>
          <a:xfrm>
            <a:off x="1389900" y="394384"/>
            <a:ext cx="103864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4" name="Google Shape;1804;p16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Gradient descent is an optimization algorithm for finding the minimum of a function.</a:t>
            </a:r>
            <a:endParaRPr sz="40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find a local minimum, we take steps proportional to the negative of the gradient.</a:t>
            </a:r>
            <a:endParaRPr sz="4000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4315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p166"/>
          <p:cNvSpPr txBox="1">
            <a:spLocks noGrp="1"/>
          </p:cNvSpPr>
          <p:nvPr>
            <p:ph type="title"/>
          </p:nvPr>
        </p:nvSpPr>
        <p:spPr>
          <a:xfrm>
            <a:off x="1389900" y="394384"/>
            <a:ext cx="103864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2" name="Google Shape;1812;p16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Gradient Descent (in 1 dimension)</a:t>
            </a:r>
            <a:endParaRPr sz="4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15" name="Google Shape;1815;p166"/>
          <p:cNvCxnSpPr/>
          <p:nvPr/>
        </p:nvCxnSpPr>
        <p:spPr>
          <a:xfrm rot="10800000">
            <a:off x="3707867" y="3005500"/>
            <a:ext cx="11600" cy="3074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16" name="Google Shape;1816;p166"/>
          <p:cNvCxnSpPr/>
          <p:nvPr/>
        </p:nvCxnSpPr>
        <p:spPr>
          <a:xfrm>
            <a:off x="3470967" y="5872900"/>
            <a:ext cx="45140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17" name="Google Shape;1817;p166"/>
          <p:cNvSpPr txBox="1"/>
          <p:nvPr/>
        </p:nvSpPr>
        <p:spPr>
          <a:xfrm>
            <a:off x="5455700" y="5959700"/>
            <a:ext cx="808000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>
                <a:latin typeface="Montserrat"/>
                <a:ea typeface="Montserrat"/>
                <a:cs typeface="Montserrat"/>
                <a:sym typeface="Montserrat"/>
              </a:rPr>
              <a:t>w</a:t>
            </a:r>
            <a:endParaRPr sz="3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8" name="Google Shape;1818;p166"/>
          <p:cNvSpPr txBox="1"/>
          <p:nvPr/>
        </p:nvSpPr>
        <p:spPr>
          <a:xfrm>
            <a:off x="3086333" y="3923000"/>
            <a:ext cx="512800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>
                <a:latin typeface="Montserrat"/>
                <a:ea typeface="Montserrat"/>
                <a:cs typeface="Montserrat"/>
                <a:sym typeface="Montserrat"/>
              </a:rPr>
              <a:t>C</a:t>
            </a:r>
            <a:endParaRPr sz="3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9" name="Google Shape;1819;p166"/>
          <p:cNvSpPr/>
          <p:nvPr/>
        </p:nvSpPr>
        <p:spPr>
          <a:xfrm>
            <a:off x="4206965" y="3061567"/>
            <a:ext cx="3519160" cy="2230328"/>
          </a:xfrm>
          <a:custGeom>
            <a:avLst/>
            <a:gdLst/>
            <a:ahLst/>
            <a:cxnLst/>
            <a:rect l="l" t="t" r="r" b="b"/>
            <a:pathLst>
              <a:path w="98964" h="58698" extrusionOk="0">
                <a:moveTo>
                  <a:pt x="0" y="1803"/>
                </a:moveTo>
                <a:cubicBezTo>
                  <a:pt x="7713" y="11285"/>
                  <a:pt x="29783" y="58998"/>
                  <a:pt x="46277" y="58697"/>
                </a:cubicBezTo>
                <a:cubicBezTo>
                  <a:pt x="62771" y="58397"/>
                  <a:pt x="90183" y="9783"/>
                  <a:pt x="98964" y="0"/>
                </a:cubicBezTo>
              </a:path>
            </a:pathLst>
          </a:custGeom>
          <a:noFill/>
          <a:ln w="28575" cap="flat" cmpd="sng">
            <a:solidFill>
              <a:srgbClr val="990000"/>
            </a:solidFill>
            <a:prstDash val="solid"/>
            <a:round/>
            <a:headEnd type="triangle" w="med" len="med"/>
            <a:tailEnd type="triangle" w="med" len="med"/>
          </a:ln>
        </p:spPr>
      </p:sp>
    </p:spTree>
    <p:extLst>
      <p:ext uri="{BB962C8B-B14F-4D97-AF65-F5344CB8AC3E}">
        <p14:creationId xmlns:p14="http://schemas.microsoft.com/office/powerpoint/2010/main" val="3900284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p167"/>
          <p:cNvSpPr txBox="1">
            <a:spLocks noGrp="1"/>
          </p:cNvSpPr>
          <p:nvPr>
            <p:ph type="title"/>
          </p:nvPr>
        </p:nvSpPr>
        <p:spPr>
          <a:xfrm>
            <a:off x="1389900" y="394384"/>
            <a:ext cx="103864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5" name="Google Shape;1825;p16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Gradient Descent (in 1 dimension)</a:t>
            </a:r>
            <a:endParaRPr sz="4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28" name="Google Shape;1828;p167"/>
          <p:cNvCxnSpPr/>
          <p:nvPr/>
        </p:nvCxnSpPr>
        <p:spPr>
          <a:xfrm rot="10800000">
            <a:off x="3707867" y="3005500"/>
            <a:ext cx="11600" cy="3074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29" name="Google Shape;1829;p167"/>
          <p:cNvCxnSpPr/>
          <p:nvPr/>
        </p:nvCxnSpPr>
        <p:spPr>
          <a:xfrm>
            <a:off x="3470967" y="5872900"/>
            <a:ext cx="45140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30" name="Google Shape;1830;p167"/>
          <p:cNvSpPr txBox="1"/>
          <p:nvPr/>
        </p:nvSpPr>
        <p:spPr>
          <a:xfrm>
            <a:off x="5455700" y="5959700"/>
            <a:ext cx="808000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>
                <a:latin typeface="Montserrat"/>
                <a:ea typeface="Montserrat"/>
                <a:cs typeface="Montserrat"/>
                <a:sym typeface="Montserrat"/>
              </a:rPr>
              <a:t>w</a:t>
            </a:r>
            <a:endParaRPr sz="3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1" name="Google Shape;1831;p167"/>
          <p:cNvSpPr txBox="1"/>
          <p:nvPr/>
        </p:nvSpPr>
        <p:spPr>
          <a:xfrm>
            <a:off x="3086333" y="3923000"/>
            <a:ext cx="512800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>
                <a:latin typeface="Montserrat"/>
                <a:ea typeface="Montserrat"/>
                <a:cs typeface="Montserrat"/>
                <a:sym typeface="Montserrat"/>
              </a:rPr>
              <a:t>C</a:t>
            </a:r>
            <a:endParaRPr sz="3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2" name="Google Shape;1832;p167"/>
          <p:cNvSpPr/>
          <p:nvPr/>
        </p:nvSpPr>
        <p:spPr>
          <a:xfrm>
            <a:off x="4206965" y="3061567"/>
            <a:ext cx="3519160" cy="2230328"/>
          </a:xfrm>
          <a:custGeom>
            <a:avLst/>
            <a:gdLst/>
            <a:ahLst/>
            <a:cxnLst/>
            <a:rect l="l" t="t" r="r" b="b"/>
            <a:pathLst>
              <a:path w="98964" h="58698" extrusionOk="0">
                <a:moveTo>
                  <a:pt x="0" y="1803"/>
                </a:moveTo>
                <a:cubicBezTo>
                  <a:pt x="7713" y="11285"/>
                  <a:pt x="29783" y="58998"/>
                  <a:pt x="46277" y="58697"/>
                </a:cubicBezTo>
                <a:cubicBezTo>
                  <a:pt x="62771" y="58397"/>
                  <a:pt x="90183" y="9783"/>
                  <a:pt x="98964" y="0"/>
                </a:cubicBezTo>
              </a:path>
            </a:pathLst>
          </a:custGeom>
          <a:noFill/>
          <a:ln w="28575" cap="flat" cmpd="sng">
            <a:solidFill>
              <a:srgbClr val="990000"/>
            </a:solidFill>
            <a:prstDash val="solid"/>
            <a:round/>
            <a:headEnd type="triangle" w="med" len="med"/>
            <a:tailEnd type="triangle" w="med" len="med"/>
          </a:ln>
        </p:spPr>
      </p:sp>
      <p:sp>
        <p:nvSpPr>
          <p:cNvPr id="1833" name="Google Shape;1833;p167"/>
          <p:cNvSpPr/>
          <p:nvPr/>
        </p:nvSpPr>
        <p:spPr>
          <a:xfrm>
            <a:off x="5061700" y="4670900"/>
            <a:ext cx="247200" cy="247200"/>
          </a:xfrm>
          <a:prstGeom prst="ellipse">
            <a:avLst/>
          </a:prstGeom>
          <a:solidFill>
            <a:srgbClr val="00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561733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Google Shape;1838;p168"/>
          <p:cNvSpPr txBox="1">
            <a:spLocks noGrp="1"/>
          </p:cNvSpPr>
          <p:nvPr>
            <p:ph type="title"/>
          </p:nvPr>
        </p:nvSpPr>
        <p:spPr>
          <a:xfrm>
            <a:off x="1389900" y="394384"/>
            <a:ext cx="103864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9" name="Google Shape;1839;p16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Gradient Descent (in 1 dimension)</a:t>
            </a:r>
            <a:endParaRPr sz="4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42" name="Google Shape;1842;p168"/>
          <p:cNvCxnSpPr/>
          <p:nvPr/>
        </p:nvCxnSpPr>
        <p:spPr>
          <a:xfrm rot="10800000">
            <a:off x="3707867" y="3005500"/>
            <a:ext cx="11600" cy="3074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43" name="Google Shape;1843;p168"/>
          <p:cNvCxnSpPr/>
          <p:nvPr/>
        </p:nvCxnSpPr>
        <p:spPr>
          <a:xfrm>
            <a:off x="3470967" y="5872900"/>
            <a:ext cx="45140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44" name="Google Shape;1844;p168"/>
          <p:cNvSpPr txBox="1"/>
          <p:nvPr/>
        </p:nvSpPr>
        <p:spPr>
          <a:xfrm>
            <a:off x="5455700" y="5959700"/>
            <a:ext cx="808000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>
                <a:latin typeface="Montserrat"/>
                <a:ea typeface="Montserrat"/>
                <a:cs typeface="Montserrat"/>
                <a:sym typeface="Montserrat"/>
              </a:rPr>
              <a:t>w</a:t>
            </a:r>
            <a:endParaRPr sz="3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5" name="Google Shape;1845;p168"/>
          <p:cNvSpPr txBox="1"/>
          <p:nvPr/>
        </p:nvSpPr>
        <p:spPr>
          <a:xfrm>
            <a:off x="3086333" y="3923000"/>
            <a:ext cx="512800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>
                <a:latin typeface="Montserrat"/>
                <a:ea typeface="Montserrat"/>
                <a:cs typeface="Montserrat"/>
                <a:sym typeface="Montserrat"/>
              </a:rPr>
              <a:t>C</a:t>
            </a:r>
            <a:endParaRPr sz="3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6" name="Google Shape;1846;p168"/>
          <p:cNvSpPr/>
          <p:nvPr/>
        </p:nvSpPr>
        <p:spPr>
          <a:xfrm>
            <a:off x="4206965" y="3061567"/>
            <a:ext cx="3519160" cy="2230328"/>
          </a:xfrm>
          <a:custGeom>
            <a:avLst/>
            <a:gdLst/>
            <a:ahLst/>
            <a:cxnLst/>
            <a:rect l="l" t="t" r="r" b="b"/>
            <a:pathLst>
              <a:path w="98964" h="58698" extrusionOk="0">
                <a:moveTo>
                  <a:pt x="0" y="1803"/>
                </a:moveTo>
                <a:cubicBezTo>
                  <a:pt x="7713" y="11285"/>
                  <a:pt x="29783" y="58998"/>
                  <a:pt x="46277" y="58697"/>
                </a:cubicBezTo>
                <a:cubicBezTo>
                  <a:pt x="62771" y="58397"/>
                  <a:pt x="90183" y="9783"/>
                  <a:pt x="98964" y="0"/>
                </a:cubicBezTo>
              </a:path>
            </a:pathLst>
          </a:custGeom>
          <a:noFill/>
          <a:ln w="28575" cap="flat" cmpd="sng">
            <a:solidFill>
              <a:srgbClr val="990000"/>
            </a:solidFill>
            <a:prstDash val="solid"/>
            <a:round/>
            <a:headEnd type="triangle" w="med" len="med"/>
            <a:tailEnd type="triangle" w="med" len="med"/>
          </a:ln>
        </p:spPr>
      </p:sp>
      <p:sp>
        <p:nvSpPr>
          <p:cNvPr id="1847" name="Google Shape;1847;p168"/>
          <p:cNvSpPr/>
          <p:nvPr/>
        </p:nvSpPr>
        <p:spPr>
          <a:xfrm>
            <a:off x="5061700" y="4670900"/>
            <a:ext cx="247200" cy="247200"/>
          </a:xfrm>
          <a:prstGeom prst="ellipse">
            <a:avLst/>
          </a:prstGeom>
          <a:solidFill>
            <a:srgbClr val="00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cxnSp>
        <p:nvCxnSpPr>
          <p:cNvPr id="1848" name="Google Shape;1848;p168"/>
          <p:cNvCxnSpPr/>
          <p:nvPr/>
        </p:nvCxnSpPr>
        <p:spPr>
          <a:xfrm>
            <a:off x="4534167" y="3923000"/>
            <a:ext cx="1155200" cy="1589200"/>
          </a:xfrm>
          <a:prstGeom prst="straightConnector1">
            <a:avLst/>
          </a:prstGeom>
          <a:noFill/>
          <a:ln w="28575" cap="flat" cmpd="sng">
            <a:solidFill>
              <a:srgbClr val="FF9900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70624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Google Shape;1853;p169"/>
          <p:cNvSpPr txBox="1">
            <a:spLocks noGrp="1"/>
          </p:cNvSpPr>
          <p:nvPr>
            <p:ph type="title"/>
          </p:nvPr>
        </p:nvSpPr>
        <p:spPr>
          <a:xfrm>
            <a:off x="1389900" y="394384"/>
            <a:ext cx="103864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4" name="Google Shape;1854;p16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Gradient Descent (in 1 dimension)</a:t>
            </a:r>
            <a:endParaRPr sz="4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57" name="Google Shape;1857;p169"/>
          <p:cNvCxnSpPr/>
          <p:nvPr/>
        </p:nvCxnSpPr>
        <p:spPr>
          <a:xfrm rot="10800000">
            <a:off x="3707867" y="3005500"/>
            <a:ext cx="11600" cy="3074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58" name="Google Shape;1858;p169"/>
          <p:cNvCxnSpPr/>
          <p:nvPr/>
        </p:nvCxnSpPr>
        <p:spPr>
          <a:xfrm>
            <a:off x="3470967" y="5872900"/>
            <a:ext cx="45140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59" name="Google Shape;1859;p169"/>
          <p:cNvSpPr txBox="1"/>
          <p:nvPr/>
        </p:nvSpPr>
        <p:spPr>
          <a:xfrm>
            <a:off x="5455700" y="5959700"/>
            <a:ext cx="808000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>
                <a:latin typeface="Montserrat"/>
                <a:ea typeface="Montserrat"/>
                <a:cs typeface="Montserrat"/>
                <a:sym typeface="Montserrat"/>
              </a:rPr>
              <a:t>w</a:t>
            </a:r>
            <a:endParaRPr sz="3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0" name="Google Shape;1860;p169"/>
          <p:cNvSpPr txBox="1"/>
          <p:nvPr/>
        </p:nvSpPr>
        <p:spPr>
          <a:xfrm>
            <a:off x="3086333" y="3923000"/>
            <a:ext cx="512800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>
                <a:latin typeface="Montserrat"/>
                <a:ea typeface="Montserrat"/>
                <a:cs typeface="Montserrat"/>
                <a:sym typeface="Montserrat"/>
              </a:rPr>
              <a:t>C</a:t>
            </a:r>
            <a:endParaRPr sz="3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1" name="Google Shape;1861;p169"/>
          <p:cNvSpPr/>
          <p:nvPr/>
        </p:nvSpPr>
        <p:spPr>
          <a:xfrm>
            <a:off x="4206965" y="3061567"/>
            <a:ext cx="3519160" cy="2230328"/>
          </a:xfrm>
          <a:custGeom>
            <a:avLst/>
            <a:gdLst/>
            <a:ahLst/>
            <a:cxnLst/>
            <a:rect l="l" t="t" r="r" b="b"/>
            <a:pathLst>
              <a:path w="98964" h="58698" extrusionOk="0">
                <a:moveTo>
                  <a:pt x="0" y="1803"/>
                </a:moveTo>
                <a:cubicBezTo>
                  <a:pt x="7713" y="11285"/>
                  <a:pt x="29783" y="58998"/>
                  <a:pt x="46277" y="58697"/>
                </a:cubicBezTo>
                <a:cubicBezTo>
                  <a:pt x="62771" y="58397"/>
                  <a:pt x="90183" y="9783"/>
                  <a:pt x="98964" y="0"/>
                </a:cubicBezTo>
              </a:path>
            </a:pathLst>
          </a:custGeom>
          <a:noFill/>
          <a:ln w="28575" cap="flat" cmpd="sng">
            <a:solidFill>
              <a:srgbClr val="990000"/>
            </a:solidFill>
            <a:prstDash val="solid"/>
            <a:round/>
            <a:headEnd type="triangle" w="med" len="med"/>
            <a:tailEnd type="triangle" w="med" len="med"/>
          </a:ln>
        </p:spPr>
      </p:sp>
      <p:sp>
        <p:nvSpPr>
          <p:cNvPr id="1862" name="Google Shape;1862;p169"/>
          <p:cNvSpPr/>
          <p:nvPr/>
        </p:nvSpPr>
        <p:spPr>
          <a:xfrm>
            <a:off x="5335467" y="4991433"/>
            <a:ext cx="247200" cy="247200"/>
          </a:xfrm>
          <a:prstGeom prst="ellipse">
            <a:avLst/>
          </a:prstGeom>
          <a:solidFill>
            <a:srgbClr val="00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cxnSp>
        <p:nvCxnSpPr>
          <p:cNvPr id="1863" name="Google Shape;1863;p169"/>
          <p:cNvCxnSpPr/>
          <p:nvPr/>
        </p:nvCxnSpPr>
        <p:spPr>
          <a:xfrm>
            <a:off x="4921467" y="4567433"/>
            <a:ext cx="1075200" cy="1095200"/>
          </a:xfrm>
          <a:prstGeom prst="straightConnector1">
            <a:avLst/>
          </a:prstGeom>
          <a:noFill/>
          <a:ln w="28575" cap="flat" cmpd="sng">
            <a:solidFill>
              <a:srgbClr val="FF9900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533320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Google Shape;1868;p170"/>
          <p:cNvSpPr txBox="1">
            <a:spLocks noGrp="1"/>
          </p:cNvSpPr>
          <p:nvPr>
            <p:ph type="title"/>
          </p:nvPr>
        </p:nvSpPr>
        <p:spPr>
          <a:xfrm>
            <a:off x="1389900" y="394384"/>
            <a:ext cx="103864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9" name="Google Shape;1869;p17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Visually we can see what parameter value to choose to minimize our Cost!</a:t>
            </a:r>
            <a:endParaRPr sz="4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72" name="Google Shape;1872;p170"/>
          <p:cNvCxnSpPr/>
          <p:nvPr/>
        </p:nvCxnSpPr>
        <p:spPr>
          <a:xfrm rot="10800000">
            <a:off x="3707867" y="3005500"/>
            <a:ext cx="11600" cy="3074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73" name="Google Shape;1873;p170"/>
          <p:cNvCxnSpPr/>
          <p:nvPr/>
        </p:nvCxnSpPr>
        <p:spPr>
          <a:xfrm>
            <a:off x="3470967" y="5872900"/>
            <a:ext cx="45140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74" name="Google Shape;1874;p170"/>
          <p:cNvSpPr txBox="1"/>
          <p:nvPr/>
        </p:nvSpPr>
        <p:spPr>
          <a:xfrm>
            <a:off x="5455700" y="5959700"/>
            <a:ext cx="808000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>
                <a:latin typeface="Montserrat"/>
                <a:ea typeface="Montserrat"/>
                <a:cs typeface="Montserrat"/>
                <a:sym typeface="Montserrat"/>
              </a:rPr>
              <a:t>w</a:t>
            </a:r>
            <a:endParaRPr sz="3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5" name="Google Shape;1875;p170"/>
          <p:cNvSpPr txBox="1"/>
          <p:nvPr/>
        </p:nvSpPr>
        <p:spPr>
          <a:xfrm>
            <a:off x="3086333" y="3923000"/>
            <a:ext cx="512800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>
                <a:latin typeface="Montserrat"/>
                <a:ea typeface="Montserrat"/>
                <a:cs typeface="Montserrat"/>
                <a:sym typeface="Montserrat"/>
              </a:rPr>
              <a:t>C</a:t>
            </a:r>
            <a:endParaRPr sz="3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6" name="Google Shape;1876;p170"/>
          <p:cNvSpPr/>
          <p:nvPr/>
        </p:nvSpPr>
        <p:spPr>
          <a:xfrm>
            <a:off x="4206965" y="3061567"/>
            <a:ext cx="3519160" cy="2230328"/>
          </a:xfrm>
          <a:custGeom>
            <a:avLst/>
            <a:gdLst/>
            <a:ahLst/>
            <a:cxnLst/>
            <a:rect l="l" t="t" r="r" b="b"/>
            <a:pathLst>
              <a:path w="98964" h="58698" extrusionOk="0">
                <a:moveTo>
                  <a:pt x="0" y="1803"/>
                </a:moveTo>
                <a:cubicBezTo>
                  <a:pt x="7713" y="11285"/>
                  <a:pt x="29783" y="58998"/>
                  <a:pt x="46277" y="58697"/>
                </a:cubicBezTo>
                <a:cubicBezTo>
                  <a:pt x="62771" y="58397"/>
                  <a:pt x="90183" y="9783"/>
                  <a:pt x="98964" y="0"/>
                </a:cubicBezTo>
              </a:path>
            </a:pathLst>
          </a:custGeom>
          <a:noFill/>
          <a:ln w="28575" cap="flat" cmpd="sng">
            <a:solidFill>
              <a:srgbClr val="990000"/>
            </a:solidFill>
            <a:prstDash val="solid"/>
            <a:round/>
            <a:headEnd type="triangle" w="med" len="med"/>
            <a:tailEnd type="triangle" w="med" len="med"/>
          </a:ln>
        </p:spPr>
      </p:sp>
      <p:sp>
        <p:nvSpPr>
          <p:cNvPr id="1877" name="Google Shape;1877;p170"/>
          <p:cNvSpPr/>
          <p:nvPr/>
        </p:nvSpPr>
        <p:spPr>
          <a:xfrm>
            <a:off x="5682733" y="5158367"/>
            <a:ext cx="247200" cy="247200"/>
          </a:xfrm>
          <a:prstGeom prst="ellipse">
            <a:avLst/>
          </a:prstGeom>
          <a:solidFill>
            <a:srgbClr val="0000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817854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p171"/>
          <p:cNvSpPr txBox="1">
            <a:spLocks noGrp="1"/>
          </p:cNvSpPr>
          <p:nvPr>
            <p:ph type="title"/>
          </p:nvPr>
        </p:nvSpPr>
        <p:spPr>
          <a:xfrm>
            <a:off x="1389900" y="394384"/>
            <a:ext cx="103864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3" name="Google Shape;1883;p17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Finding this minimum is simple for 1 dimension, but our cases will have many more parameters, meaning we’ll need to use the built-in linear algebra that our Deep Learning library will provide!</a:t>
            </a:r>
            <a:endParaRPr sz="4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39517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172"/>
          <p:cNvSpPr txBox="1">
            <a:spLocks noGrp="1"/>
          </p:cNvSpPr>
          <p:nvPr>
            <p:ph type="title"/>
          </p:nvPr>
        </p:nvSpPr>
        <p:spPr>
          <a:xfrm>
            <a:off x="1389900" y="394384"/>
            <a:ext cx="103864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1" name="Google Shape;1891;p17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Using gradient descent we can figure out the best parameters for minimizing our cost, for example, finding the best values for the weights of the neuron inputs.</a:t>
            </a:r>
            <a:endParaRPr sz="4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10908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p173"/>
          <p:cNvSpPr txBox="1">
            <a:spLocks noGrp="1"/>
          </p:cNvSpPr>
          <p:nvPr>
            <p:ph type="title"/>
          </p:nvPr>
        </p:nvSpPr>
        <p:spPr>
          <a:xfrm>
            <a:off x="1389900" y="394384"/>
            <a:ext cx="103864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9" name="Google Shape;1899;p17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now just have one issue to solve, how can we quickly adjust the optimal parameters or weights across our entire network?</a:t>
            </a:r>
            <a:endParaRPr sz="4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where backpropagation comes in!</a:t>
            </a:r>
            <a:endParaRPr sz="4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995201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p174"/>
          <p:cNvSpPr txBox="1">
            <a:spLocks noGrp="1"/>
          </p:cNvSpPr>
          <p:nvPr>
            <p:ph type="title"/>
          </p:nvPr>
        </p:nvSpPr>
        <p:spPr>
          <a:xfrm>
            <a:off x="1389900" y="394384"/>
            <a:ext cx="103864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7" name="Google Shape;1907;p17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Backpropagation is used to calculate the error contribution of each neuron after a batch of data is processed.</a:t>
            </a:r>
            <a:endParaRPr sz="4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relies heavily on the chain rule to go back through the network and calculate these errors. </a:t>
            </a:r>
            <a:endParaRPr sz="4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541678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p175"/>
          <p:cNvSpPr txBox="1">
            <a:spLocks noGrp="1"/>
          </p:cNvSpPr>
          <p:nvPr>
            <p:ph type="title"/>
          </p:nvPr>
        </p:nvSpPr>
        <p:spPr>
          <a:xfrm>
            <a:off x="1389900" y="394384"/>
            <a:ext cx="103864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5" name="Google Shape;1915;p17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Backpropagation works by calculating  the error at the output and then distributes back through the network layers.</a:t>
            </a:r>
            <a:endParaRPr sz="4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558786">
              <a:lnSpc>
                <a:spcPct val="115000"/>
              </a:lnSpc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4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requires a known desired output for each input value (supervised learning).</a:t>
            </a:r>
            <a:endParaRPr sz="4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328339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1">
  <a:themeElements>
    <a:clrScheme name="Corporate Template_29010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orporate Template_290107">
      <a:majorFont>
        <a:latin typeface="Myriad Pro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orporate Template_29010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rporate Template_290107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rporate Template_290107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rporate Template_290107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rporate Template_290107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rporate Template_290107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rporate Template_290107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rporate Template_290107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rporate Template_290107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rporate Template_290107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rporate Template_290107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rporate Template_290107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1" id="{0B1A9D2E-7234-4C9C-9361-E7CF51436312}" vid="{27D004F1-B73F-4F13-97A3-E967EBF33976}"/>
    </a:ext>
  </a:extLst>
</a:theme>
</file>

<file path=ppt/theme/theme2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Myriad Pro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Deliverable &amp; Presentation Graphics Standard">
  <a:themeElements>
    <a:clrScheme name="Deliverable &amp; Presentation Graphics Standard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6CCFF6"/>
      </a:accent1>
      <a:accent2>
        <a:srgbClr val="BDB1A5"/>
      </a:accent2>
      <a:accent3>
        <a:srgbClr val="FFFFFF"/>
      </a:accent3>
      <a:accent4>
        <a:srgbClr val="000000"/>
      </a:accent4>
      <a:accent5>
        <a:srgbClr val="BAE4FA"/>
      </a:accent5>
      <a:accent6>
        <a:srgbClr val="ABA095"/>
      </a:accent6>
      <a:hlink>
        <a:srgbClr val="4E84C4"/>
      </a:hlink>
      <a:folHlink>
        <a:srgbClr val="C4ECFB"/>
      </a:folHlink>
    </a:clrScheme>
    <a:fontScheme name="Deliverable &amp; Presentation Graphics Standard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liverable &amp; Presentation Graphics Standard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CCFF6"/>
        </a:accent1>
        <a:accent2>
          <a:srgbClr val="BDB1A5"/>
        </a:accent2>
        <a:accent3>
          <a:srgbClr val="FFFFFF"/>
        </a:accent3>
        <a:accent4>
          <a:srgbClr val="000000"/>
        </a:accent4>
        <a:accent5>
          <a:srgbClr val="BAE4FA"/>
        </a:accent5>
        <a:accent6>
          <a:srgbClr val="ABA095"/>
        </a:accent6>
        <a:hlink>
          <a:srgbClr val="4E84C4"/>
        </a:hlink>
        <a:folHlink>
          <a:srgbClr val="C4ECF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TCS Presentation_Template">
  <a:themeElements>
    <a:clrScheme name="Custom 2">
      <a:dk1>
        <a:srgbClr val="000000"/>
      </a:dk1>
      <a:lt1>
        <a:sysClr val="window" lastClr="FFFFFF"/>
      </a:lt1>
      <a:dk2>
        <a:srgbClr val="4E84C4"/>
      </a:dk2>
      <a:lt2>
        <a:srgbClr val="000000"/>
      </a:lt2>
      <a:accent1>
        <a:srgbClr val="0063BE"/>
      </a:accent1>
      <a:accent2>
        <a:srgbClr val="83389B"/>
      </a:accent2>
      <a:accent3>
        <a:srgbClr val="55A51C"/>
      </a:accent3>
      <a:accent4>
        <a:srgbClr val="D6492A"/>
      </a:accent4>
      <a:accent5>
        <a:srgbClr val="B9AFA4"/>
      </a:accent5>
      <a:accent6>
        <a:srgbClr val="974B07"/>
      </a:accent6>
      <a:hlink>
        <a:srgbClr val="0000FF"/>
      </a:hlink>
      <a:folHlink>
        <a:srgbClr val="800080"/>
      </a:folHlink>
    </a:clrScheme>
    <a:fontScheme name="Custom 1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6DCFF6"/>
        </a:solidFill>
        <a:ln w="952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TCS Blue 100%">
      <a:srgbClr val="6DCFF6"/>
    </a:custClr>
    <a:custClr name="TCS Blue 70%">
      <a:srgbClr val="8ED2ED"/>
    </a:custClr>
    <a:custClr name="TCS Blue 50%">
      <a:srgbClr val="B0DFF3"/>
    </a:custClr>
    <a:custClr name="TCS Blue 30%">
      <a:srgbClr val="D1ECF9"/>
    </a:custClr>
    <a:custClr name="TCS Dark Blue 100%">
      <a:srgbClr val="0063BE"/>
    </a:custClr>
    <a:custClr name="TCS Dark Blue 70%">
      <a:srgbClr val="6D97D8"/>
    </a:custClr>
    <a:custClr name="TCS Dark Blue 50%">
      <a:srgbClr val="98B4E6"/>
    </a:custClr>
    <a:custClr name="TCS Dark Blue 30%">
      <a:srgbClr val="C1D2F1"/>
    </a:custClr>
    <a:custClr name="TCS Light Violet 100%">
      <a:srgbClr val="83389B"/>
    </a:custClr>
    <a:custClr name="TCS Light Violet 70%">
      <a:srgbClr val="B17AC6"/>
    </a:custClr>
    <a:custClr name="TCS Light Violet 50%">
      <a:srgbClr val="C69FD8"/>
    </a:custClr>
    <a:custClr name="TCS Light Violet 30%">
      <a:srgbClr val="DCC5E8"/>
    </a:custClr>
    <a:custClr name="TCS Green 100%">
      <a:srgbClr val="55A51C"/>
    </a:custClr>
    <a:custClr name="TCS Green 70%">
      <a:srgbClr val="89C35F"/>
    </a:custClr>
    <a:custClr name="TCS Green 50%">
      <a:srgbClr val="ABD38C"/>
    </a:custClr>
    <a:custClr name="TCS Green 30%">
      <a:srgbClr val="CCE5BA"/>
    </a:custClr>
    <a:custClr name="TCS Orange 100%">
      <a:srgbClr val="D6492A"/>
    </a:custClr>
    <a:custClr name="TCS Orange 70%">
      <a:srgbClr val="F1896C"/>
    </a:custClr>
    <a:custClr name="TCS Orange 50%">
      <a:srgbClr val="F7AC94"/>
    </a:custClr>
    <a:custClr name="TCS Orange 30%">
      <a:srgbClr val="FACDBF"/>
    </a:custClr>
    <a:custClr name="TCS Warm Grey 100%">
      <a:srgbClr val="B9AFA4"/>
    </a:custClr>
    <a:custClr name="TCS Warm Grey 70%">
      <a:srgbClr val="C9C3BC"/>
    </a:custClr>
    <a:custClr name="TCS Warm Grey 50%">
      <a:srgbClr val="D7D4CF"/>
    </a:custClr>
    <a:custClr name="TCS Warm Grey 30%">
      <a:srgbClr val="E4E6E3"/>
    </a:custClr>
    <a:custClr name="TCS Brown 100%">
      <a:srgbClr val="974807"/>
    </a:custClr>
    <a:custClr name="TCS Brown 70%">
      <a:srgbClr val="C07F51"/>
    </a:custClr>
    <a:custClr name="TCS Brown 50%">
      <a:srgbClr val="D5A380"/>
    </a:custClr>
    <a:custClr name="TCS Brown 30%">
      <a:srgbClr val="E6C8B3"/>
    </a:custClr>
    <a:custClr name="TCS Light Green 100%">
      <a:srgbClr val="CDCA2F"/>
    </a:custClr>
    <a:custClr name="TCS Light Green 70%">
      <a:srgbClr val="E4DD7B"/>
    </a:custClr>
    <a:custClr name="TCS Light Green 50%">
      <a:srgbClr val="EDE6A0"/>
    </a:custClr>
    <a:custClr name="TCS Light Green 30%">
      <a:srgbClr val="F5F0C8"/>
    </a:custClr>
    <a:custClr name="TCS Yellow 100%">
      <a:srgbClr val="FFDD3E"/>
    </a:custClr>
    <a:custClr name="TCS Yellow 70%">
      <a:srgbClr val="FDE97F"/>
    </a:custClr>
    <a:custClr name="TCS Yellow 50%">
      <a:srgbClr val="FCEFA4"/>
    </a:custClr>
    <a:custClr name="TCS Yellow 30%">
      <a:srgbClr val="FEF5CA"/>
    </a:custClr>
    <a:custClr name="TATA Blue 100%">
      <a:srgbClr val="4E84C4"/>
    </a:custClr>
    <a:custClr name="TATA Blue 70%">
      <a:srgbClr val="8BACE4"/>
    </a:custClr>
    <a:custClr name="TATA Blue 50%">
      <a:srgbClr val="ACC3EC"/>
    </a:custClr>
    <a:custClr name="TATA Blue 30%">
      <a:srgbClr val="CEDBF0"/>
    </a:custClr>
  </a:custClrLst>
</a:theme>
</file>

<file path=ppt/theme/theme5.xml><?xml version="1.0" encoding="utf-8"?>
<a:theme xmlns:a="http://schemas.openxmlformats.org/drawingml/2006/main" name="TCS_Presentation_Template">
  <a:themeElements>
    <a:clrScheme name="TCS_Presentation_Template 1">
      <a:dk1>
        <a:srgbClr val="000000"/>
      </a:dk1>
      <a:lt1>
        <a:srgbClr val="FFFFFF"/>
      </a:lt1>
      <a:dk2>
        <a:srgbClr val="4E84C4"/>
      </a:dk2>
      <a:lt2>
        <a:srgbClr val="000000"/>
      </a:lt2>
      <a:accent1>
        <a:srgbClr val="0063BE"/>
      </a:accent1>
      <a:accent2>
        <a:srgbClr val="83389B"/>
      </a:accent2>
      <a:accent3>
        <a:srgbClr val="FFFFFF"/>
      </a:accent3>
      <a:accent4>
        <a:srgbClr val="000000"/>
      </a:accent4>
      <a:accent5>
        <a:srgbClr val="AAB7DB"/>
      </a:accent5>
      <a:accent6>
        <a:srgbClr val="76328C"/>
      </a:accent6>
      <a:hlink>
        <a:srgbClr val="0000FF"/>
      </a:hlink>
      <a:folHlink>
        <a:srgbClr val="800080"/>
      </a:folHlink>
    </a:clrScheme>
    <a:fontScheme name="TCS_Presentation_Template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TCS_Presentation_Template 1">
        <a:dk1>
          <a:srgbClr val="000000"/>
        </a:dk1>
        <a:lt1>
          <a:srgbClr val="FFFFFF"/>
        </a:lt1>
        <a:dk2>
          <a:srgbClr val="4E84C4"/>
        </a:dk2>
        <a:lt2>
          <a:srgbClr val="000000"/>
        </a:lt2>
        <a:accent1>
          <a:srgbClr val="0063BE"/>
        </a:accent1>
        <a:accent2>
          <a:srgbClr val="83389B"/>
        </a:accent2>
        <a:accent3>
          <a:srgbClr val="FFFFFF"/>
        </a:accent3>
        <a:accent4>
          <a:srgbClr val="000000"/>
        </a:accent4>
        <a:accent5>
          <a:srgbClr val="AAB7DB"/>
        </a:accent5>
        <a:accent6>
          <a:srgbClr val="76328C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1551</TotalTime>
  <Words>1668</Words>
  <Application>Microsoft Office PowerPoint</Application>
  <PresentationFormat>Widescreen</PresentationFormat>
  <Paragraphs>339</Paragraphs>
  <Slides>68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68</vt:i4>
      </vt:variant>
    </vt:vector>
  </HeadingPairs>
  <TitlesOfParts>
    <vt:vector size="84" baseType="lpstr">
      <vt:lpstr>Arial</vt:lpstr>
      <vt:lpstr>Calibri</vt:lpstr>
      <vt:lpstr>Century Gothic</vt:lpstr>
      <vt:lpstr>Courier New</vt:lpstr>
      <vt:lpstr>Montserrat</vt:lpstr>
      <vt:lpstr>Myriad Pro</vt:lpstr>
      <vt:lpstr>Roboto</vt:lpstr>
      <vt:lpstr>Times New Roman</vt:lpstr>
      <vt:lpstr>Wingdings</vt:lpstr>
      <vt:lpstr>Wingdings 3</vt:lpstr>
      <vt:lpstr>Theme1</vt:lpstr>
      <vt:lpstr>1_Default Design</vt:lpstr>
      <vt:lpstr>Deliverable &amp; Presentation Graphics Standard</vt:lpstr>
      <vt:lpstr>TCS Presentation_Template</vt:lpstr>
      <vt:lpstr>TCS_Presentation_Template</vt:lpstr>
      <vt:lpstr>Wisp</vt:lpstr>
      <vt:lpstr>Introduction to  Deep Learning</vt:lpstr>
      <vt:lpstr>Agenda</vt:lpstr>
      <vt:lpstr>What is Artificial Intelligence</vt:lpstr>
      <vt:lpstr>What is Artificial Intelligence</vt:lpstr>
      <vt:lpstr>What is Artificial Intelligence</vt:lpstr>
      <vt:lpstr>What is Artificial Intelligence</vt:lpstr>
      <vt:lpstr>Deep Learning </vt:lpstr>
      <vt:lpstr>Deep Learning </vt:lpstr>
      <vt:lpstr>Deep Learning </vt:lpstr>
      <vt:lpstr>Deep Learning </vt:lpstr>
      <vt:lpstr>Deep Learning </vt:lpstr>
      <vt:lpstr>Deep Learning </vt:lpstr>
      <vt:lpstr>Deep Learning </vt:lpstr>
      <vt:lpstr>Deep Learning </vt:lpstr>
      <vt:lpstr>Deep Learning </vt:lpstr>
      <vt:lpstr>Deep Learning </vt:lpstr>
      <vt:lpstr>Deep Learning </vt:lpstr>
      <vt:lpstr>Deep Learning </vt:lpstr>
      <vt:lpstr>Deep Learning </vt:lpstr>
      <vt:lpstr>Deep Learning </vt:lpstr>
      <vt:lpstr>Deep Learning </vt:lpstr>
      <vt:lpstr>Deep Learning </vt:lpstr>
      <vt:lpstr>Deep Learning </vt:lpstr>
      <vt:lpstr>Deep Learning </vt:lpstr>
      <vt:lpstr>Deep Learning </vt:lpstr>
      <vt:lpstr>Deep Learning </vt:lpstr>
      <vt:lpstr>Deep Learning </vt:lpstr>
      <vt:lpstr>Deep Learning </vt:lpstr>
      <vt:lpstr>Perceptron /Neuron</vt:lpstr>
      <vt:lpstr>Deep Learning </vt:lpstr>
      <vt:lpstr>Introduction to  Neural Networks</vt:lpstr>
      <vt:lpstr>Deep Learning </vt:lpstr>
      <vt:lpstr>Deep Learning </vt:lpstr>
      <vt:lpstr>Deep Learning </vt:lpstr>
      <vt:lpstr>Deep Learning </vt:lpstr>
      <vt:lpstr>Tid-Bit</vt:lpstr>
      <vt:lpstr>Deep Learning </vt:lpstr>
      <vt:lpstr>Deep Learning </vt:lpstr>
      <vt:lpstr>Deep Learning </vt:lpstr>
      <vt:lpstr>Deep Learning </vt:lpstr>
      <vt:lpstr>Deep Learning </vt:lpstr>
      <vt:lpstr>Deep Learning </vt:lpstr>
      <vt:lpstr>Deep Learning </vt:lpstr>
      <vt:lpstr>Deep Learning </vt:lpstr>
      <vt:lpstr>Deep Learning </vt:lpstr>
      <vt:lpstr>Deep Learning </vt:lpstr>
      <vt:lpstr>Deep Learning </vt:lpstr>
      <vt:lpstr>Deep Learning </vt:lpstr>
      <vt:lpstr>Deep Learning </vt:lpstr>
      <vt:lpstr>Cost Functions</vt:lpstr>
      <vt:lpstr>Deep Learning</vt:lpstr>
      <vt:lpstr>Deep Learning</vt:lpstr>
      <vt:lpstr>Deep Learning</vt:lpstr>
      <vt:lpstr>Deep Learning</vt:lpstr>
      <vt:lpstr>Deep Learning</vt:lpstr>
      <vt:lpstr>Deep Learning</vt:lpstr>
      <vt:lpstr>Gradient Descent and Backpropagation</vt:lpstr>
      <vt:lpstr>Deep Learning</vt:lpstr>
      <vt:lpstr>Deep Learning</vt:lpstr>
      <vt:lpstr>Deep Learning</vt:lpstr>
      <vt:lpstr>Deep Learning</vt:lpstr>
      <vt:lpstr>Deep Learning</vt:lpstr>
      <vt:lpstr>Deep Learning</vt:lpstr>
      <vt:lpstr>Deep Learning</vt:lpstr>
      <vt:lpstr>Deep Learning</vt:lpstr>
      <vt:lpstr>Deep Learning</vt:lpstr>
      <vt:lpstr>Deep Learning</vt:lpstr>
      <vt:lpstr>Deep Learning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Veena Sarda</dc:creator>
  <cp:lastModifiedBy>Veena Sarda</cp:lastModifiedBy>
  <cp:revision>19</cp:revision>
  <dcterms:created xsi:type="dcterms:W3CDTF">2019-08-06T13:50:16Z</dcterms:created>
  <dcterms:modified xsi:type="dcterms:W3CDTF">2022-06-06T11:44:47Z</dcterms:modified>
</cp:coreProperties>
</file>