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16175"/>
            <a:ext cx="7772400" cy="1470025"/>
          </a:xfrm>
        </p:spPr>
        <p:txBody>
          <a:bodyPr/>
          <a:lstStyle/>
          <a:p>
            <a:r>
              <a:rPr lang="en-US" dirty="0"/>
              <a:t>Introduction to Decision &amp; Regression Tree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66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81000"/>
            <a:ext cx="8610600" cy="6248400"/>
          </a:xfrm>
        </p:spPr>
        <p:txBody>
          <a:bodyPr>
            <a:normAutofit/>
          </a:bodyPr>
          <a:lstStyle/>
          <a:p>
            <a:r>
              <a:rPr lang="en-US" sz="2800" dirty="0"/>
              <a:t>What is a Decision Tree?</a:t>
            </a:r>
          </a:p>
          <a:p>
            <a:pPr lvl="1" algn="just"/>
            <a:r>
              <a:rPr lang="en-US" sz="2400" dirty="0"/>
              <a:t>A tree structure where </a:t>
            </a:r>
          </a:p>
          <a:p>
            <a:pPr lvl="2" algn="just"/>
            <a:r>
              <a:rPr lang="en-US" sz="2000" dirty="0"/>
              <a:t>Each internal node is a test on some attribute.</a:t>
            </a:r>
            <a:endParaRPr lang="en-IN" dirty="0"/>
          </a:p>
          <a:p>
            <a:pPr lvl="2" algn="just"/>
            <a:r>
              <a:rPr lang="en-US" sz="2000" dirty="0"/>
              <a:t>Each branch is outcome of the test</a:t>
            </a:r>
          </a:p>
          <a:p>
            <a:pPr lvl="2" algn="just"/>
            <a:r>
              <a:rPr lang="en-US" sz="2000" dirty="0"/>
              <a:t>Each leaf node is one of the predefined classes</a:t>
            </a:r>
          </a:p>
          <a:p>
            <a:pPr algn="just"/>
            <a:r>
              <a:rPr lang="en-US" dirty="0"/>
              <a:t>Used for predictive analysis</a:t>
            </a:r>
          </a:p>
          <a:p>
            <a:pPr algn="just"/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048000"/>
            <a:ext cx="5943600" cy="3720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527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0960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Tree induction algorithms are used to construct DT from the training set.</a:t>
            </a:r>
          </a:p>
          <a:p>
            <a:pPr algn="just"/>
            <a:r>
              <a:rPr lang="en-US" sz="2800" dirty="0"/>
              <a:t>ID3 (Iterative </a:t>
            </a:r>
            <a:r>
              <a:rPr lang="en-US" sz="2800" dirty="0" err="1"/>
              <a:t>Dichotomiser</a:t>
            </a:r>
            <a:r>
              <a:rPr lang="en-US" sz="2800" dirty="0"/>
              <a:t> 3)</a:t>
            </a:r>
          </a:p>
          <a:p>
            <a:pPr lvl="1" algn="just"/>
            <a:r>
              <a:rPr lang="en-US" sz="2400" dirty="0"/>
              <a:t>A recursive procedure to construct DT</a:t>
            </a:r>
          </a:p>
          <a:p>
            <a:pPr lvl="1" algn="just"/>
            <a:r>
              <a:rPr lang="en-US" sz="2400" dirty="0"/>
              <a:t>Takes set of training samples and list of attributes as input</a:t>
            </a:r>
          </a:p>
          <a:p>
            <a:pPr lvl="1" algn="just"/>
            <a:r>
              <a:rPr lang="en-US" sz="2400" dirty="0"/>
              <a:t>Returns tree structure as output</a:t>
            </a:r>
          </a:p>
          <a:p>
            <a:pPr lvl="1" algn="just"/>
            <a:r>
              <a:rPr lang="en-US" sz="2400" dirty="0"/>
              <a:t>It has to make following decisions while constructing a tree</a:t>
            </a:r>
          </a:p>
          <a:p>
            <a:pPr marL="1314450" lvl="2" indent="-457200" algn="just">
              <a:buFont typeface="+mj-lt"/>
              <a:buAutoNum type="arabicPeriod"/>
            </a:pPr>
            <a:r>
              <a:rPr lang="en-US" sz="2000" dirty="0"/>
              <a:t>When a new node is created, it should become leaf node or internal node?</a:t>
            </a:r>
          </a:p>
          <a:p>
            <a:pPr marL="1314450" lvl="2" indent="-457200" algn="just">
              <a:buFont typeface="+mj-lt"/>
              <a:buAutoNum type="arabicPeriod"/>
            </a:pPr>
            <a:r>
              <a:rPr lang="en-US" sz="2000" dirty="0"/>
              <a:t>If it becomes a leaf node then it should be labeled with which class name?</a:t>
            </a:r>
          </a:p>
          <a:p>
            <a:pPr marL="1314450" lvl="2" indent="-457200" algn="just">
              <a:buFont typeface="+mj-lt"/>
              <a:buAutoNum type="arabicPeriod"/>
            </a:pPr>
            <a:r>
              <a:rPr lang="en-US" sz="2000" dirty="0"/>
              <a:t>If it becomes an internal node then it should be labeled with which attribute and how many branches it will have?</a:t>
            </a:r>
          </a:p>
          <a:p>
            <a:pPr marL="1314450" lvl="2" indent="-457200" algn="just">
              <a:buFont typeface="+mj-lt"/>
              <a:buAutoNum type="arabicPeriod"/>
            </a:pPr>
            <a:r>
              <a:rPr lang="en-US" sz="2000" dirty="0"/>
              <a:t>What are parameters to be passed to the recursive call?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781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45720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err="1"/>
              <a:t>Generate_tree</a:t>
            </a:r>
            <a:r>
              <a:rPr lang="en-US" sz="2800" dirty="0"/>
              <a:t> (set of samples S, attribute list)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en-US" sz="2400" dirty="0"/>
              <a:t>Create a node N;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en-US" sz="2400" dirty="0"/>
              <a:t>If all samples in S belong to the same class C then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en-US" sz="2400" dirty="0"/>
              <a:t>Return N as leaf node labeled with the class C;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en-US" sz="2400" dirty="0"/>
              <a:t>If attribute list is empty then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en-US" sz="2400" dirty="0"/>
              <a:t>Return N as leaf node labeled with the most common class in the set of samples;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en-US" sz="2400" dirty="0"/>
              <a:t>Select the attribute with the highest information gain as test attribute;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en-US" sz="2400" dirty="0"/>
              <a:t>Label the node N with the test attribute;</a:t>
            </a:r>
            <a:endParaRPr lang="en-IN" sz="24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2667000" y="4724400"/>
            <a:ext cx="3619500" cy="1524000"/>
            <a:chOff x="2667000" y="4724400"/>
            <a:chExt cx="3619500" cy="1524000"/>
          </a:xfrm>
        </p:grpSpPr>
        <p:sp>
          <p:nvSpPr>
            <p:cNvPr id="4" name="Oval 3"/>
            <p:cNvSpPr/>
            <p:nvPr/>
          </p:nvSpPr>
          <p:spPr>
            <a:xfrm>
              <a:off x="3429000" y="4724400"/>
              <a:ext cx="1981200" cy="76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886200" y="4872335"/>
              <a:ext cx="1295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gender</a:t>
              </a:r>
              <a:endParaRPr lang="en-IN" sz="2400" dirty="0"/>
            </a:p>
          </p:txBody>
        </p:sp>
        <p:cxnSp>
          <p:nvCxnSpPr>
            <p:cNvPr id="7" name="Straight Connector 6"/>
            <p:cNvCxnSpPr/>
            <p:nvPr/>
          </p:nvCxnSpPr>
          <p:spPr>
            <a:xfrm flipH="1">
              <a:off x="2667000" y="5410200"/>
              <a:ext cx="1143000" cy="838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781300" y="5498068"/>
              <a:ext cx="647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male</a:t>
              </a:r>
              <a:endParaRPr lang="en-IN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5029200" y="5410200"/>
              <a:ext cx="1066800" cy="76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410200" y="5486400"/>
              <a:ext cx="876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female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64582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838200"/>
                <a:ext cx="8229600" cy="3276600"/>
              </a:xfrm>
            </p:spPr>
            <p:txBody>
              <a:bodyPr>
                <a:normAutofit/>
              </a:bodyPr>
              <a:lstStyle/>
              <a:p>
                <a:pPr marL="914400" lvl="1" indent="-514350" algn="just">
                  <a:buFont typeface="+mj-lt"/>
                  <a:buAutoNum type="arabicPeriod" startAt="8"/>
                </a:pPr>
                <a:r>
                  <a:rPr lang="en-US" sz="2400" dirty="0"/>
                  <a:t>For each known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dirty="0"/>
                  <a:t> of the test attribute do</a:t>
                </a:r>
              </a:p>
              <a:p>
                <a:pPr marL="1257300" lvl="2" indent="-457200" algn="just">
                  <a:buAutoNum type="alphaLcPeriod"/>
                </a:pPr>
                <a:r>
                  <a:rPr lang="en-US" sz="2000" dirty="0"/>
                  <a:t>Grow a branch from N such that test attribute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/>
                  <a:t>;</a:t>
                </a:r>
              </a:p>
              <a:p>
                <a:pPr marL="1257300" lvl="2" indent="-457200" algn="just">
                  <a:buFont typeface="Arial" pitchFamily="34" charset="0"/>
                  <a:buAutoNum type="alphaLcPeriod"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/>
                  <a:t> be the set of sample </a:t>
                </a:r>
                <a:r>
                  <a:rPr lang="en-US" sz="2000" dirty="0"/>
                  <a:t>such that test attribute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/>
                  <a:t>;</a:t>
                </a:r>
              </a:p>
              <a:p>
                <a:pPr marL="1257300" lvl="2" indent="-457200" algn="just">
                  <a:buAutoNum type="alphaLcPeriod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/>
                  <a:t> is empty then</a:t>
                </a:r>
              </a:p>
              <a:p>
                <a:pPr marL="1257300" lvl="2" indent="-457200" algn="just">
                  <a:lnSpc>
                    <a:spcPct val="300000"/>
                  </a:lnSpc>
                  <a:buAutoNum type="alphaLcPeriod"/>
                </a:pPr>
                <a:r>
                  <a:rPr lang="en-US" sz="2000" dirty="0"/>
                  <a:t>Attach a leaf node labeled with the most common class in S;</a:t>
                </a:r>
              </a:p>
              <a:p>
                <a:pPr marL="1257300" lvl="2" indent="-457200" algn="just">
                  <a:buAutoNum type="alphaLcPeriod"/>
                </a:pPr>
                <a:r>
                  <a:rPr lang="en-US" sz="2000" dirty="0"/>
                  <a:t>Else attach a node returned by</a:t>
                </a:r>
              </a:p>
              <a:p>
                <a:pPr marL="800100" lvl="2" indent="0" algn="just">
                  <a:buNone/>
                </a:pPr>
                <a:r>
                  <a:rPr lang="en-US" sz="2000" dirty="0"/>
                  <a:t>		</a:t>
                </a:r>
                <a:r>
                  <a:rPr lang="en-US" sz="2000" dirty="0" err="1"/>
                  <a:t>Generate_tree</a:t>
                </a:r>
                <a:r>
                  <a:rPr lang="en-US" sz="2000" dirty="0"/>
                  <a:t> (</a:t>
                </a: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8200"/>
                <a:ext cx="8229600" cy="3276600"/>
              </a:xfrm>
              <a:blipFill rotWithShape="1">
                <a:blip r:embed="rId2"/>
                <a:stretch>
                  <a:fillRect t="-1676" b="-27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6477000" y="1447800"/>
            <a:ext cx="2514600" cy="1447800"/>
            <a:chOff x="5410200" y="1981200"/>
            <a:chExt cx="2743200" cy="1524000"/>
          </a:xfrm>
        </p:grpSpPr>
        <p:sp>
          <p:nvSpPr>
            <p:cNvPr id="5" name="Oval 4"/>
            <p:cNvSpPr/>
            <p:nvPr/>
          </p:nvSpPr>
          <p:spPr>
            <a:xfrm>
              <a:off x="6172200" y="1981200"/>
              <a:ext cx="1981200" cy="76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629400" y="2129135"/>
              <a:ext cx="1295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gender</a:t>
              </a:r>
              <a:endParaRPr lang="en-IN" sz="2400" dirty="0"/>
            </a:p>
          </p:txBody>
        </p:sp>
        <p:cxnSp>
          <p:nvCxnSpPr>
            <p:cNvPr id="7" name="Straight Connector 6"/>
            <p:cNvCxnSpPr/>
            <p:nvPr/>
          </p:nvCxnSpPr>
          <p:spPr>
            <a:xfrm flipH="1">
              <a:off x="5410200" y="2667000"/>
              <a:ext cx="1143000" cy="838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410201" y="2754868"/>
              <a:ext cx="762000" cy="388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male</a:t>
              </a:r>
              <a:endParaRPr lang="en-IN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487992" y="3714690"/>
                <a:ext cx="35179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/>
                  <a:t>, attribute list – test attribute)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992" y="3714690"/>
                <a:ext cx="3517901" cy="400110"/>
              </a:xfrm>
              <a:prstGeom prst="rect">
                <a:avLst/>
              </a:prstGeom>
              <a:blipFill rotWithShape="1">
                <a:blip r:embed="rId3"/>
                <a:stretch>
                  <a:fillRect t="-7576" r="-520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727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838700"/>
            <a:ext cx="8686800" cy="1790700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Step 1: create a node N;</a:t>
            </a:r>
          </a:p>
          <a:p>
            <a:pPr algn="just"/>
            <a:r>
              <a:rPr lang="en-US" sz="2000" dirty="0"/>
              <a:t>Step 2: condition is false</a:t>
            </a:r>
          </a:p>
          <a:p>
            <a:pPr algn="just"/>
            <a:r>
              <a:rPr lang="en-US" sz="2000" dirty="0"/>
              <a:t>Step 4: condition is false</a:t>
            </a:r>
          </a:p>
          <a:p>
            <a:pPr algn="just"/>
            <a:r>
              <a:rPr lang="en-US" sz="2000" dirty="0"/>
              <a:t>Step 6: select the attribute with the highest information gain as test attribute;</a:t>
            </a:r>
          </a:p>
          <a:p>
            <a:pPr algn="just"/>
            <a:endParaRPr lang="en-IN" sz="2000" dirty="0"/>
          </a:p>
        </p:txBody>
      </p:sp>
      <p:pic>
        <p:nvPicPr>
          <p:cNvPr id="1026" name="Picture 2" descr="Image for pos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3"/>
          <a:stretch/>
        </p:blipFill>
        <p:spPr bwMode="auto">
          <a:xfrm>
            <a:off x="914400" y="381000"/>
            <a:ext cx="6934200" cy="4114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/>
          <p:cNvSpPr/>
          <p:nvPr/>
        </p:nvSpPr>
        <p:spPr>
          <a:xfrm>
            <a:off x="7175500" y="4838700"/>
            <a:ext cx="1816100" cy="723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21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52400"/>
                <a:ext cx="8839200" cy="39624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400" dirty="0"/>
                  <a:t>Calculate initial entropy, it is given as,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𝐷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∗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𝑙𝑜𝑔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f>
                          <m:fPr>
                            <m:type m:val="skw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en-IN" sz="2400" dirty="0"/>
                  <a:t> where n is number of classes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dirty="0"/>
                  <a:t> is probability of class </a:t>
                </a:r>
                <a:r>
                  <a:rPr lang="en-IN" sz="2400" dirty="0" err="1"/>
                  <a:t>i</a:t>
                </a:r>
                <a:r>
                  <a:rPr lang="en-IN" sz="2400" dirty="0"/>
                  <a:t>.</a:t>
                </a:r>
              </a:p>
              <a:p>
                <a:pPr algn="just"/>
                <a:r>
                  <a:rPr lang="en-US" sz="2400" dirty="0"/>
                  <a:t>This equation can be written as,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𝐷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=−</m:t>
                    </m:r>
                  </m:oMath>
                </a14:m>
                <a:r>
                  <a:rPr lang="en-IN" sz="2400" dirty="0"/>
                  <a:t>1/log(n)*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[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∗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nary>
                    <m:r>
                      <a:rPr lang="en-US" sz="2400" b="0" i="1" smtClean="0">
                        <a:latin typeface="Cambria Math"/>
                      </a:rPr>
                      <m:t>]</m:t>
                    </m:r>
                  </m:oMath>
                </a14:m>
                <a:endParaRPr lang="en-IN" sz="2400" dirty="0"/>
              </a:p>
              <a:p>
                <a:pPr marL="0" indent="0" algn="just">
                  <a:buNone/>
                </a:pPr>
                <a:r>
                  <a:rPr lang="en-IN" sz="2400" dirty="0"/>
                  <a:t>		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/>
                      </a:rPr>
                      <m:t>=−3.322</m:t>
                    </m:r>
                    <m:d>
                      <m:dPr>
                        <m:begChr m:val="["/>
                        <m:endChr m:val="]"/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b="0" i="1" smtClean="0">
                                <a:latin typeface="Cambria Math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b="0" i="1" smtClean="0">
                                <a:latin typeface="Cambria Math"/>
                              </a:rPr>
                              <m:t>14</m:t>
                            </m:r>
                          </m:den>
                        </m:f>
                        <m:r>
                          <a:rPr lang="en-IN" sz="2400" b="0" i="1" smtClean="0">
                            <a:latin typeface="Cambria Math"/>
                          </a:rPr>
                          <m:t>∗</m:t>
                        </m:r>
                        <m:func>
                          <m:func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sz="2400" b="0" i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skw"/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b="0" i="1" smtClean="0">
                                        <a:latin typeface="Cambria Math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IN" sz="2400" b="0" i="1" smtClean="0">
                                        <a:latin typeface="Cambria Math"/>
                                      </a:rPr>
                                      <m:t>14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IN" sz="2400" b="0" i="1" smtClean="0">
                            <a:latin typeface="Cambria Math"/>
                          </a:rPr>
                          <m:t>+</m:t>
                        </m:r>
                        <m:f>
                          <m:fPr>
                            <m:type m:val="skw"/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b="0" i="1" smtClean="0">
                                <a:latin typeface="Cambria Math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b="0" i="1" smtClean="0">
                                <a:latin typeface="Cambria Math"/>
                              </a:rPr>
                              <m:t>14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 b="0" i="0" smtClean="0">
                            <a:latin typeface="Cambria Math"/>
                          </a:rPr>
                          <m:t>log</m:t>
                        </m:r>
                        <m:r>
                          <a:rPr lang="en-IN" sz="2400" b="0" i="1" smtClean="0">
                            <a:latin typeface="Cambria Math"/>
                          </a:rPr>
                          <m:t>⁡(</m:t>
                        </m:r>
                        <m:f>
                          <m:fPr>
                            <m:type m:val="skw"/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b="0" i="1" smtClean="0">
                                <a:latin typeface="Cambria Math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b="0" i="1" smtClean="0">
                                <a:latin typeface="Cambria Math"/>
                              </a:rPr>
                              <m:t>14</m:t>
                            </m:r>
                          </m:den>
                        </m:f>
                        <m:r>
                          <a:rPr lang="en-IN" sz="2400" b="0" i="1" smtClean="0">
                            <a:latin typeface="Cambria Math"/>
                          </a:rPr>
                          <m:t>)</m:t>
                        </m:r>
                      </m:e>
                    </m:d>
                  </m:oMath>
                </a14:m>
                <a:endParaRPr lang="en-IN" sz="2400" dirty="0"/>
              </a:p>
              <a:p>
                <a:pPr marL="0" indent="0" algn="just">
                  <a:buNone/>
                </a:pPr>
                <a:r>
                  <a:rPr lang="en-IN" sz="2400" dirty="0"/>
                  <a:t>		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/>
                      </a:rPr>
                      <m:t>=0.9403</m:t>
                    </m:r>
                  </m:oMath>
                </a14:m>
                <a:endParaRPr lang="en-IN" sz="2400" dirty="0"/>
              </a:p>
              <a:p>
                <a:pPr algn="just"/>
                <a:r>
                  <a:rPr lang="en-IN" sz="2400" dirty="0"/>
                  <a:t>If outlook is the split attribute,</a:t>
                </a:r>
              </a:p>
              <a:p>
                <a:pPr lvl="1" algn="just"/>
                <a:r>
                  <a:rPr lang="en-IN" sz="2000" dirty="0"/>
                  <a:t>It has 3 values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52400"/>
                <a:ext cx="8839200" cy="3962400"/>
              </a:xfrm>
              <a:blipFill rotWithShape="1">
                <a:blip r:embed="rId2"/>
                <a:stretch>
                  <a:fillRect l="-1034" t="-7692" r="-1034" b="-4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/>
          <p:cNvGrpSpPr/>
          <p:nvPr/>
        </p:nvGrpSpPr>
        <p:grpSpPr>
          <a:xfrm>
            <a:off x="76200" y="3962400"/>
            <a:ext cx="7162800" cy="1131332"/>
            <a:chOff x="76200" y="3962400"/>
            <a:chExt cx="7162800" cy="1131332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2209800" y="3962400"/>
              <a:ext cx="0" cy="3048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1066800" y="4267200"/>
              <a:ext cx="51054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066800" y="4267200"/>
              <a:ext cx="0" cy="457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3733800" y="4267200"/>
              <a:ext cx="0" cy="457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172200" y="4267200"/>
              <a:ext cx="0" cy="457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76200" y="4724400"/>
              <a:ext cx="1905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Sunny (5 samples)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590800" y="4724400"/>
              <a:ext cx="220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Overcast (4 samples)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410200" y="4724400"/>
              <a:ext cx="182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Rain </a:t>
              </a:r>
              <a:r>
                <a:rPr lang="en-IN" dirty="0" smtClean="0"/>
                <a:t>(5 </a:t>
              </a:r>
              <a:r>
                <a:rPr lang="en-IN" dirty="0"/>
                <a:t>samples)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09600" y="4982496"/>
            <a:ext cx="1037304" cy="1265904"/>
            <a:chOff x="609600" y="4982496"/>
            <a:chExt cx="1037304" cy="1265904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609600" y="5169932"/>
              <a:ext cx="0" cy="92606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609600" y="5169932"/>
              <a:ext cx="228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609600" y="6096000"/>
              <a:ext cx="228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793956" y="4982496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2 (Yes)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8704" y="5879068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3 (No)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763296" y="4953000"/>
            <a:ext cx="1037304" cy="1265904"/>
            <a:chOff x="3763296" y="4953000"/>
            <a:chExt cx="1037304" cy="1265904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3763296" y="5140436"/>
              <a:ext cx="0" cy="92606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3763296" y="5140436"/>
              <a:ext cx="228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3763296" y="6066504"/>
              <a:ext cx="228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947652" y="4953000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4 (Yes)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62400" y="5849572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0 (No)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125496" y="4982496"/>
            <a:ext cx="1037304" cy="1265904"/>
            <a:chOff x="6125496" y="4982496"/>
            <a:chExt cx="1037304" cy="1265904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6125496" y="5169932"/>
              <a:ext cx="0" cy="92606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6125496" y="5169932"/>
              <a:ext cx="228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6125496" y="6096000"/>
              <a:ext cx="228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6309852" y="4982496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3 (Yes)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324600" y="5879068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2 (No)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714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228600"/>
                <a:ext cx="8686800" cy="6324600"/>
              </a:xfrm>
            </p:spPr>
            <p:txBody>
              <a:bodyPr>
                <a:normAutofit/>
              </a:bodyPr>
              <a:lstStyle/>
              <a:p>
                <a:r>
                  <a:rPr lang="en-IN" sz="2400" dirty="0"/>
                  <a:t>Entropy of each subset is,</a:t>
                </a: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/>
                            </a:rPr>
                            <m:t>𝑠𝑢𝑛𝑛𝑦</m:t>
                          </m:r>
                        </m:e>
                      </m:d>
                      <m:r>
                        <a:rPr lang="en-IN" sz="2000" b="0" i="1" smtClean="0">
                          <a:latin typeface="Cambria Math"/>
                        </a:rPr>
                        <m:t>=−3.322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/>
                                </a:rPr>
                                <m:t>5</m:t>
                              </m:r>
                            </m:den>
                          </m:f>
                          <m:r>
                            <a:rPr lang="en-IN" sz="2000" b="0" i="1" smtClean="0">
                              <a:latin typeface="Cambria Math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000" b="0" i="0" smtClean="0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n-I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0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IN" sz="2000" b="0" i="1" smtClean="0">
                                          <a:latin typeface="Cambria Math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IN" sz="2000" b="0" i="1" smtClean="0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/>
                                </a:rPr>
                                <m:t>5</m:t>
                              </m:r>
                            </m:den>
                          </m:f>
                          <m:r>
                            <a:rPr lang="en-IN" sz="2000" b="0" i="1" smtClean="0">
                              <a:latin typeface="Cambria Math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000" b="0" i="0" smtClean="0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n-I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000" b="0" i="1" smtClean="0">
                                          <a:latin typeface="Cambria Math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IN" sz="2000" b="0" i="1" smtClean="0">
                                          <a:latin typeface="Cambria Math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en-IN" sz="2000" b="0" i="1" smtClean="0">
                          <a:latin typeface="Cambria Math"/>
                        </a:rPr>
                        <m:t>=0.971</m:t>
                      </m:r>
                    </m:oMath>
                  </m:oMathPara>
                </a14:m>
                <a:endParaRPr lang="en-IN" sz="2000" dirty="0"/>
              </a:p>
              <a:p>
                <a:pPr marL="400050" lvl="1" indent="0">
                  <a:buNone/>
                </a:pPr>
                <a14:m>
                  <m:oMath xmlns:m="http://schemas.openxmlformats.org/officeDocument/2006/math">
                    <m:r>
                      <a:rPr lang="en-IN" sz="2400" i="1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/>
                          </a:rPr>
                          <m:t>𝑜𝑣𝑒𝑟𝑐𝑎𝑠𝑡</m:t>
                        </m:r>
                      </m:e>
                    </m:d>
                    <m:r>
                      <a:rPr lang="en-IN" sz="2400" i="1">
                        <a:latin typeface="Cambria Math"/>
                      </a:rPr>
                      <m:t>=−3.322</m:t>
                    </m:r>
                    <m:d>
                      <m:dPr>
                        <m:begChr m:val="["/>
                        <m:endChr m:val="]"/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b="0" i="1" smtClean="0">
                                <a:latin typeface="Cambria Math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b="0" i="1" smtClean="0">
                                <a:latin typeface="Cambria Math"/>
                              </a:rPr>
                              <m:t>4</m:t>
                            </m:r>
                          </m:den>
                        </m:f>
                        <m:r>
                          <a:rPr lang="en-IN" sz="2400" i="1">
                            <a:latin typeface="Cambria Math"/>
                          </a:rPr>
                          <m:t>∗</m:t>
                        </m:r>
                        <m:func>
                          <m:func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sz="240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skw"/>
                                    <m:ctrlP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sz="24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IN" sz="2400" i="1">
                            <a:latin typeface="Cambria Math"/>
                          </a:rPr>
                          <m:t>+</m:t>
                        </m:r>
                        <m:r>
                          <a:rPr lang="en-IN" sz="2400" b="0" i="1" smtClean="0">
                            <a:latin typeface="Cambria Math"/>
                          </a:rPr>
                          <m:t>0</m:t>
                        </m:r>
                      </m:e>
                    </m:d>
                    <m:r>
                      <a:rPr lang="en-IN" sz="2400" i="1">
                        <a:latin typeface="Cambria Math"/>
                      </a:rPr>
                      <m:t>=</m:t>
                    </m:r>
                  </m:oMath>
                </a14:m>
                <a:r>
                  <a:rPr lang="en-IN" sz="2400" dirty="0"/>
                  <a:t>0</a:t>
                </a: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/>
                            </a:rPr>
                            <m:t>𝑟𝑎𝑖𝑛</m:t>
                          </m:r>
                        </m:e>
                      </m:d>
                      <m:r>
                        <a:rPr lang="en-IN" sz="2000" i="1">
                          <a:latin typeface="Cambria Math"/>
                        </a:rPr>
                        <m:t>=0.971</m:t>
                      </m:r>
                    </m:oMath>
                  </m:oMathPara>
                </a14:m>
                <a:endParaRPr lang="en-IN" sz="2000" dirty="0"/>
              </a:p>
              <a:p>
                <a:r>
                  <a:rPr lang="en-IN" sz="2400" dirty="0"/>
                  <a:t>Weighted entropy is,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IN" sz="2000" b="0" i="1" smtClean="0">
                            <a:latin typeface="Cambria Math"/>
                          </a:rPr>
                          <m:t>14</m:t>
                        </m:r>
                      </m:den>
                    </m:f>
                    <m:r>
                      <a:rPr lang="en-IN" sz="2000" b="0" i="1" smtClean="0">
                        <a:latin typeface="Cambria Math"/>
                      </a:rPr>
                      <m:t>∗0.971+</m:t>
                    </m:r>
                    <m:f>
                      <m:fPr>
                        <m:type m:val="skw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IN" sz="2000" b="0" i="1" smtClean="0">
                            <a:latin typeface="Cambria Math"/>
                          </a:rPr>
                          <m:t>14</m:t>
                        </m:r>
                      </m:den>
                    </m:f>
                    <m:r>
                      <a:rPr lang="en-IN" sz="2000" b="0" i="1" smtClean="0">
                        <a:latin typeface="Cambria Math"/>
                      </a:rPr>
                      <m:t>∗0+</m:t>
                    </m:r>
                    <m:f>
                      <m:fPr>
                        <m:type m:val="skw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IN" sz="2000" b="0" i="1" smtClean="0">
                            <a:latin typeface="Cambria Math"/>
                          </a:rPr>
                          <m:t>14</m:t>
                        </m:r>
                      </m:den>
                    </m:f>
                    <m:r>
                      <a:rPr lang="en-IN" sz="2000" b="0" i="1" smtClean="0">
                        <a:latin typeface="Cambria Math"/>
                      </a:rPr>
                      <m:t>∗0.971=0.694</m:t>
                    </m:r>
                  </m:oMath>
                </a14:m>
                <a:endParaRPr lang="en-IN" sz="2400" dirty="0"/>
              </a:p>
              <a:p>
                <a:r>
                  <a:rPr lang="en-IN" sz="2400" dirty="0"/>
                  <a:t>Information gain (outlook) = 0.9403 – 0.694 = 0.2463</a:t>
                </a:r>
              </a:p>
              <a:p>
                <a:r>
                  <a:rPr lang="en-IN" sz="2400" dirty="0"/>
                  <a:t>Information gain (temperature) = </a:t>
                </a:r>
              </a:p>
              <a:p>
                <a:r>
                  <a:rPr lang="en-IN" sz="2400" dirty="0"/>
                  <a:t>Information gain (humidity) = </a:t>
                </a:r>
              </a:p>
              <a:p>
                <a:r>
                  <a:rPr lang="en-IN" sz="2400" dirty="0"/>
                  <a:t>Information gain (wind) = </a:t>
                </a:r>
              </a:p>
              <a:p>
                <a:r>
                  <a:rPr lang="en-IN" sz="2400" dirty="0"/>
                  <a:t>Step 7: Label node N with the test attribute</a:t>
                </a:r>
              </a:p>
              <a:p>
                <a:endParaRPr lang="en-IN" sz="2400" dirty="0"/>
              </a:p>
              <a:p>
                <a:endParaRPr lang="en-IN" sz="2400" dirty="0"/>
              </a:p>
              <a:p>
                <a:r>
                  <a:rPr lang="en-IN" sz="2400" dirty="0"/>
                  <a:t>Step 8: For each known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IN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dirty="0"/>
                  <a:t> of the test attribute</a:t>
                </a:r>
              </a:p>
              <a:p>
                <a:r>
                  <a:rPr lang="en-IN" sz="2400" dirty="0"/>
                  <a:t>Step 8a: Grow a branch from N such that test attribute=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228600"/>
                <a:ext cx="8686800" cy="6324600"/>
              </a:xfrm>
              <a:blipFill rotWithShape="1">
                <a:blip r:embed="rId2"/>
                <a:stretch>
                  <a:fillRect l="-982" t="-7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3670300" y="4533900"/>
            <a:ext cx="1816100" cy="723900"/>
            <a:chOff x="3670300" y="4343400"/>
            <a:chExt cx="1816100" cy="723900"/>
          </a:xfrm>
        </p:grpSpPr>
        <p:sp>
          <p:nvSpPr>
            <p:cNvPr id="5" name="Oval 4"/>
            <p:cNvSpPr/>
            <p:nvPr/>
          </p:nvSpPr>
          <p:spPr>
            <a:xfrm>
              <a:off x="3670300" y="4343400"/>
              <a:ext cx="1816100" cy="7239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038600" y="4483938"/>
              <a:ext cx="1187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outlook</a:t>
              </a:r>
              <a:endParaRPr lang="en-IN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8837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763000" cy="4953000"/>
              </a:xfrm>
            </p:spPr>
            <p:txBody>
              <a:bodyPr>
                <a:normAutofit/>
              </a:bodyPr>
              <a:lstStyle/>
              <a:p>
                <a:r>
                  <a:rPr lang="en-IN" sz="2400" dirty="0"/>
                  <a:t>Step 8b: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dirty="0"/>
                  <a:t> be the set of samples such that test attribute=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IN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IN" sz="2400" dirty="0"/>
              </a:p>
              <a:p>
                <a:endParaRPr lang="en-IN" sz="2400" dirty="0"/>
              </a:p>
              <a:p>
                <a:endParaRPr lang="en-IN" sz="2400" dirty="0"/>
              </a:p>
              <a:p>
                <a:endParaRPr lang="en-IN" sz="2400" dirty="0"/>
              </a:p>
              <a:p>
                <a:endParaRPr lang="en-IN" sz="2400" dirty="0"/>
              </a:p>
              <a:p>
                <a:endParaRPr lang="en-IN" sz="2400" dirty="0"/>
              </a:p>
              <a:p>
                <a:endParaRPr lang="en-IN" sz="2400" dirty="0"/>
              </a:p>
              <a:p>
                <a:endParaRPr lang="en-IN" sz="2400" dirty="0"/>
              </a:p>
              <a:p>
                <a:r>
                  <a:rPr lang="en-IN" sz="2400" dirty="0"/>
                  <a:t>Step 8c: condition is false</a:t>
                </a:r>
              </a:p>
              <a:p>
                <a:pPr algn="just"/>
                <a:r>
                  <a:rPr lang="en-IN" sz="2400" dirty="0"/>
                  <a:t>Step 8e: attach a node returned by </a:t>
                </a:r>
                <a:r>
                  <a:rPr lang="en-IN" sz="2400" dirty="0" err="1"/>
                  <a:t>Generate_tree</a:t>
                </a:r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dirty="0"/>
                  <a:t>, attribute list–test attribute)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763000" cy="4953000"/>
              </a:xfrm>
              <a:blipFill rotWithShape="1">
                <a:blip r:embed="rId2"/>
                <a:stretch>
                  <a:fillRect l="-974" t="-985" r="-10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2590801" y="152400"/>
            <a:ext cx="2590800" cy="1447800"/>
            <a:chOff x="5327073" y="1981200"/>
            <a:chExt cx="2826327" cy="1524000"/>
          </a:xfrm>
        </p:grpSpPr>
        <p:sp>
          <p:nvSpPr>
            <p:cNvPr id="5" name="Oval 4"/>
            <p:cNvSpPr/>
            <p:nvPr/>
          </p:nvSpPr>
          <p:spPr>
            <a:xfrm>
              <a:off x="6172200" y="1981200"/>
              <a:ext cx="1981200" cy="76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629400" y="2129135"/>
              <a:ext cx="1295400" cy="485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outlook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 flipH="1">
              <a:off x="5410200" y="2667000"/>
              <a:ext cx="1143000" cy="838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327073" y="2754868"/>
              <a:ext cx="914399" cy="388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sunny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6200" y="2013156"/>
            <a:ext cx="6934200" cy="2971800"/>
            <a:chOff x="76200" y="2057400"/>
            <a:chExt cx="6934200" cy="2971800"/>
          </a:xfrm>
        </p:grpSpPr>
        <p:grpSp>
          <p:nvGrpSpPr>
            <p:cNvPr id="9" name="Group 8"/>
            <p:cNvGrpSpPr/>
            <p:nvPr/>
          </p:nvGrpSpPr>
          <p:grpSpPr>
            <a:xfrm>
              <a:off x="3048000" y="2057400"/>
              <a:ext cx="2590800" cy="1447800"/>
              <a:chOff x="5327073" y="1981200"/>
              <a:chExt cx="2826327" cy="152400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6172200" y="1981200"/>
                <a:ext cx="1981200" cy="76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6629400" y="2129135"/>
                <a:ext cx="1295400" cy="485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outlook</a:t>
                </a:r>
              </a:p>
            </p:txBody>
          </p:sp>
          <p:cxnSp>
            <p:nvCxnSpPr>
              <p:cNvPr id="12" name="Straight Connector 11"/>
              <p:cNvCxnSpPr/>
              <p:nvPr/>
            </p:nvCxnSpPr>
            <p:spPr>
              <a:xfrm flipH="1">
                <a:off x="5410200" y="2667000"/>
                <a:ext cx="1143000" cy="838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5327073" y="2754868"/>
                <a:ext cx="914399" cy="388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sunny</a:t>
                </a: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76200" y="3505200"/>
              <a:ext cx="6934200" cy="1524000"/>
              <a:chOff x="76200" y="3505200"/>
              <a:chExt cx="6934200" cy="1524000"/>
            </a:xfrm>
          </p:grpSpPr>
          <p:pic>
            <p:nvPicPr>
              <p:cNvPr id="14" name="Picture 2" descr="Image for post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870" r="24523" b="79152"/>
              <a:stretch/>
            </p:blipFill>
            <p:spPr bwMode="auto">
              <a:xfrm>
                <a:off x="76200" y="3505200"/>
                <a:ext cx="6934200" cy="57518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Image for post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2748" r="24523" b="32915"/>
              <a:stretch/>
            </p:blipFill>
            <p:spPr bwMode="auto">
              <a:xfrm>
                <a:off x="76200" y="4119716"/>
                <a:ext cx="6934200" cy="5899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" descr="Image for post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3537" r="24523" b="19295"/>
              <a:stretch/>
            </p:blipFill>
            <p:spPr bwMode="auto">
              <a:xfrm>
                <a:off x="76200" y="4734232"/>
                <a:ext cx="6934200" cy="29496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75355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3124200" y="871950"/>
            <a:ext cx="3475705" cy="2209800"/>
            <a:chOff x="1752600" y="152400"/>
            <a:chExt cx="3475705" cy="2209800"/>
          </a:xfrm>
        </p:grpSpPr>
        <p:sp>
          <p:nvSpPr>
            <p:cNvPr id="6" name="TextBox 5"/>
            <p:cNvSpPr txBox="1"/>
            <p:nvPr/>
          </p:nvSpPr>
          <p:spPr>
            <a:xfrm>
              <a:off x="3784601" y="292938"/>
              <a:ext cx="1187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outlook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1752600" y="152400"/>
              <a:ext cx="3475705" cy="2209800"/>
              <a:chOff x="1705896" y="152400"/>
              <a:chExt cx="3475705" cy="2209800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3365501" y="152400"/>
                <a:ext cx="1816100" cy="7239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 flipH="1">
                <a:off x="2667001" y="803910"/>
                <a:ext cx="1047750" cy="79629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2590801" y="887385"/>
                <a:ext cx="8381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sunny</a:t>
                </a:r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1705896" y="1638300"/>
                <a:ext cx="1816100" cy="7239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934496" y="1749342"/>
                <a:ext cx="1371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humidity</a:t>
                </a:r>
              </a:p>
            </p:txBody>
          </p:sp>
        </p:grpSp>
      </p:grpSp>
      <p:sp>
        <p:nvSpPr>
          <p:cNvPr id="13" name="Cloud Callout 12"/>
          <p:cNvSpPr/>
          <p:nvPr/>
        </p:nvSpPr>
        <p:spPr>
          <a:xfrm rot="661381">
            <a:off x="5449087" y="1787266"/>
            <a:ext cx="2000249" cy="1181100"/>
          </a:xfrm>
          <a:prstGeom prst="cloudCallout">
            <a:avLst>
              <a:gd name="adj1" fmla="val -68401"/>
              <a:gd name="adj2" fmla="val 603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Created by recursive call</a:t>
            </a:r>
            <a:endParaRPr lang="en-IN" dirty="0"/>
          </a:p>
        </p:txBody>
      </p:sp>
      <p:grpSp>
        <p:nvGrpSpPr>
          <p:cNvPr id="35" name="Group 34"/>
          <p:cNvGrpSpPr/>
          <p:nvPr/>
        </p:nvGrpSpPr>
        <p:grpSpPr>
          <a:xfrm>
            <a:off x="2691584" y="3005550"/>
            <a:ext cx="820992" cy="838200"/>
            <a:chOff x="1236408" y="2286000"/>
            <a:chExt cx="820992" cy="838200"/>
          </a:xfrm>
        </p:grpSpPr>
        <p:cxnSp>
          <p:nvCxnSpPr>
            <p:cNvPr id="19" name="Straight Connector 18"/>
            <p:cNvCxnSpPr/>
            <p:nvPr/>
          </p:nvCxnSpPr>
          <p:spPr>
            <a:xfrm flipH="1">
              <a:off x="1447800" y="2286000"/>
              <a:ext cx="609600" cy="838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236408" y="2403364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high</a:t>
              </a:r>
              <a:endParaRPr lang="en-IN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993900" y="3843750"/>
            <a:ext cx="1816100" cy="723900"/>
            <a:chOff x="3365501" y="3657600"/>
            <a:chExt cx="1816100" cy="723900"/>
          </a:xfrm>
        </p:grpSpPr>
        <p:sp>
          <p:nvSpPr>
            <p:cNvPr id="22" name="Oval 21"/>
            <p:cNvSpPr/>
            <p:nvPr/>
          </p:nvSpPr>
          <p:spPr>
            <a:xfrm>
              <a:off x="3365501" y="3657600"/>
              <a:ext cx="1816100" cy="7239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63527" y="3798138"/>
              <a:ext cx="5937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No</a:t>
              </a:r>
              <a:endParaRPr lang="en-IN" sz="2400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356100" y="3881455"/>
            <a:ext cx="1816100" cy="723900"/>
            <a:chOff x="3365501" y="3657600"/>
            <a:chExt cx="1816100" cy="723900"/>
          </a:xfrm>
        </p:grpSpPr>
        <p:sp>
          <p:nvSpPr>
            <p:cNvPr id="28" name="Oval 27"/>
            <p:cNvSpPr/>
            <p:nvPr/>
          </p:nvSpPr>
          <p:spPr>
            <a:xfrm>
              <a:off x="3365501" y="3657600"/>
              <a:ext cx="1816100" cy="7239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63527" y="3798138"/>
              <a:ext cx="6759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Yes</a:t>
              </a:r>
              <a:endParaRPr lang="en-IN" sz="2400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491334" y="3040880"/>
            <a:ext cx="1263651" cy="838200"/>
            <a:chOff x="3009900" y="2286000"/>
            <a:chExt cx="1263651" cy="838200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3009900" y="2286000"/>
              <a:ext cx="704851" cy="838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3306095" y="2438400"/>
              <a:ext cx="967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normal</a:t>
              </a:r>
              <a:endParaRPr lang="en-IN" dirty="0"/>
            </a:p>
          </p:txBody>
        </p:sp>
      </p:grpSp>
      <p:sp>
        <p:nvSpPr>
          <p:cNvPr id="37" name="Cloud Callout 36"/>
          <p:cNvSpPr/>
          <p:nvPr/>
        </p:nvSpPr>
        <p:spPr>
          <a:xfrm rot="661381">
            <a:off x="366651" y="2129250"/>
            <a:ext cx="2445973" cy="1181100"/>
          </a:xfrm>
          <a:prstGeom prst="cloudCallout">
            <a:avLst>
              <a:gd name="adj1" fmla="val 62159"/>
              <a:gd name="adj2" fmla="val 573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Created by recursive call for loop</a:t>
            </a:r>
            <a:endParaRPr lang="en-IN" dirty="0"/>
          </a:p>
        </p:txBody>
      </p:sp>
      <p:sp>
        <p:nvSpPr>
          <p:cNvPr id="38" name="Cloud Callout 37"/>
          <p:cNvSpPr/>
          <p:nvPr/>
        </p:nvSpPr>
        <p:spPr>
          <a:xfrm rot="1652268">
            <a:off x="3351692" y="5064510"/>
            <a:ext cx="2279284" cy="1181100"/>
          </a:xfrm>
          <a:prstGeom prst="cloudCallout">
            <a:avLst>
              <a:gd name="adj1" fmla="val -80986"/>
              <a:gd name="adj2" fmla="val -213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Created by next recursive call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83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7" grpId="0" animBg="1"/>
      <p:bldP spid="3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4770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What is regression tree?</a:t>
            </a:r>
          </a:p>
          <a:p>
            <a:pPr lvl="1" algn="just"/>
            <a:r>
              <a:rPr lang="en-US" sz="2400" dirty="0"/>
              <a:t>A variant of DT</a:t>
            </a:r>
          </a:p>
          <a:p>
            <a:pPr lvl="1" algn="just"/>
            <a:r>
              <a:rPr lang="en-IN" sz="2400" dirty="0"/>
              <a:t>A Decision tree which built for a data set whose target variable is continuous (numeric) is called regression tree.</a:t>
            </a:r>
          </a:p>
          <a:p>
            <a:pPr lvl="1" algn="just"/>
            <a:endParaRPr lang="en-IN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3648"/>
              </p:ext>
            </p:extLst>
          </p:nvPr>
        </p:nvGraphicFramePr>
        <p:xfrm>
          <a:off x="1447800" y="1799304"/>
          <a:ext cx="6019802" cy="50682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0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4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36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effectLst/>
                        </a:rPr>
                        <a:t>Day</a:t>
                      </a:r>
                      <a:endParaRPr lang="en-IN" sz="11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Outlook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Temp.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Humidity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Wind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Golf Players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1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Sunny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Hot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High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Weak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25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2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Sunny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Hot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effectLst/>
                        </a:rPr>
                        <a:t>High</a:t>
                      </a:r>
                      <a:endParaRPr lang="en-IN" sz="11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Strong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30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3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Overcast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Hot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High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Weak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46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4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Rain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Mild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High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Weak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45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5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Rain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Cool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Normal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Weak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52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6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Rain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Cool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Normal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Strong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23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7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Overcast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Cool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Normal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Strong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43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8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Sunny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Mild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High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Weak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35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9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Sunny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Cool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Normal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Weak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38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10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Rain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Mild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Normal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Weak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46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11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Sunny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Mild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Normal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Strong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48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12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Overcast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Mild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High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Strong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52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13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Overcast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Hot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Normal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Weak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44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14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Rain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Mild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High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>
                          <a:effectLst/>
                        </a:rPr>
                        <a:t>Strong</a:t>
                      </a:r>
                      <a:endParaRPr lang="en-IN" sz="11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effectLst/>
                        </a:rPr>
                        <a:t>30</a:t>
                      </a:r>
                      <a:endParaRPr lang="en-IN" sz="11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550" marR="72550" marT="72550" marB="7255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99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960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Information gain for attribute selection is based on standard deviation rather than entropy</a:t>
            </a:r>
          </a:p>
          <a:p>
            <a:pPr algn="just"/>
            <a:r>
              <a:rPr lang="en-US" sz="2800" dirty="0"/>
              <a:t>Calculate initial SD </a:t>
            </a:r>
          </a:p>
          <a:p>
            <a:pPr algn="just"/>
            <a:r>
              <a:rPr lang="en-US" sz="2800" dirty="0"/>
              <a:t>Calculate SD after splitting dataset on an attribute</a:t>
            </a:r>
          </a:p>
          <a:p>
            <a:pPr algn="just"/>
            <a:r>
              <a:rPr lang="en-US" sz="2800" dirty="0"/>
              <a:t>Calculate weighted SD</a:t>
            </a:r>
          </a:p>
          <a:p>
            <a:pPr algn="just"/>
            <a:r>
              <a:rPr lang="en-US" sz="2800" dirty="0"/>
              <a:t>Information gain = initial SD – weighted SD</a:t>
            </a:r>
          </a:p>
          <a:p>
            <a:pPr algn="just"/>
            <a:r>
              <a:rPr lang="en-US" sz="2800" dirty="0"/>
              <a:t>Select a threshold on number samples to prevent further split</a:t>
            </a:r>
          </a:p>
          <a:p>
            <a:pPr algn="just"/>
            <a:r>
              <a:rPr lang="en-US" sz="2800" dirty="0"/>
              <a:t>Label leaf node with the average of target variable in the dataset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998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019800"/>
          </a:xfrm>
        </p:spPr>
        <p:txBody>
          <a:bodyPr>
            <a:normAutofit/>
          </a:bodyPr>
          <a:lstStyle/>
          <a:p>
            <a:pPr algn="just"/>
            <a:r>
              <a:rPr lang="en-IN" sz="2800" dirty="0"/>
              <a:t>Tree pruning</a:t>
            </a:r>
          </a:p>
          <a:p>
            <a:pPr lvl="1" algn="just"/>
            <a:r>
              <a:rPr lang="en-IN" sz="2400" dirty="0"/>
              <a:t>Overfitting problem</a:t>
            </a:r>
          </a:p>
          <a:p>
            <a:pPr lvl="2" algn="just"/>
            <a:r>
              <a:rPr lang="en-IN" sz="2000" dirty="0"/>
              <a:t>Occurs due to presence of outliers or over-learning</a:t>
            </a:r>
          </a:p>
          <a:p>
            <a:pPr lvl="2" algn="just"/>
            <a:r>
              <a:rPr lang="en-IN" sz="2000" dirty="0"/>
              <a:t>Difficulty in generalization</a:t>
            </a:r>
          </a:p>
          <a:p>
            <a:pPr lvl="2" algn="just"/>
            <a:r>
              <a:rPr lang="en-IN" sz="2000" dirty="0"/>
              <a:t>Can be solved using tree pruning methods</a:t>
            </a:r>
          </a:p>
          <a:p>
            <a:pPr lvl="1" algn="just"/>
            <a:r>
              <a:rPr lang="en-IN" sz="2400" dirty="0"/>
              <a:t>There are two approaches</a:t>
            </a:r>
          </a:p>
          <a:p>
            <a:pPr lvl="2" algn="just"/>
            <a:r>
              <a:rPr lang="en-IN" sz="2000" dirty="0"/>
              <a:t>Pre-pruning: Wrong branches are deleted before entire tree is fully grown</a:t>
            </a:r>
          </a:p>
          <a:p>
            <a:pPr lvl="3" algn="just"/>
            <a:r>
              <a:rPr lang="en-IN" sz="1600" dirty="0"/>
              <a:t>Difficult to select threshold for goodness of split</a:t>
            </a:r>
          </a:p>
          <a:p>
            <a:pPr lvl="3" algn="just"/>
            <a:r>
              <a:rPr lang="en-IN" sz="1600" dirty="0"/>
              <a:t>Tree construction slows down</a:t>
            </a:r>
          </a:p>
          <a:p>
            <a:pPr lvl="2" algn="just"/>
            <a:r>
              <a:rPr lang="en-IN" sz="2000" dirty="0"/>
              <a:t>Post pruning: Wrong branches are deleted from the fully grown tree</a:t>
            </a:r>
          </a:p>
          <a:p>
            <a:pPr lvl="3" algn="just"/>
            <a:r>
              <a:rPr lang="en-IN" sz="1600" dirty="0"/>
              <a:t>More difficult to implement</a:t>
            </a:r>
          </a:p>
          <a:p>
            <a:pPr lvl="3" algn="just"/>
            <a:r>
              <a:rPr lang="en-IN" sz="1600" dirty="0"/>
              <a:t>Tree pruning slows down</a:t>
            </a:r>
          </a:p>
        </p:txBody>
      </p:sp>
    </p:spTree>
    <p:extLst>
      <p:ext uri="{BB962C8B-B14F-4D97-AF65-F5344CB8AC3E}">
        <p14:creationId xmlns:p14="http://schemas.microsoft.com/office/powerpoint/2010/main" val="97392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0"/>
            <a:ext cx="8229600" cy="11430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671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623</Words>
  <Application>Microsoft Office PowerPoint</Application>
  <PresentationFormat>On-screen Show (4:3)</PresentationFormat>
  <Paragraphs>211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Times New Roman</vt:lpstr>
      <vt:lpstr>Office Theme</vt:lpstr>
      <vt:lpstr>Introduction to Decision &amp; Regression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Decision &amp; Regression Tree</dc:title>
  <dc:creator>acer</dc:creator>
  <cp:lastModifiedBy>Vipul Dalal</cp:lastModifiedBy>
  <cp:revision>54</cp:revision>
  <dcterms:created xsi:type="dcterms:W3CDTF">2006-08-16T00:00:00Z</dcterms:created>
  <dcterms:modified xsi:type="dcterms:W3CDTF">2021-07-08T12:38:21Z</dcterms:modified>
</cp:coreProperties>
</file>