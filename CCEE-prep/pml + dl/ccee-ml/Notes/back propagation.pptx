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40"/>
  </p:notesMasterIdLst>
  <p:sldIdLst>
    <p:sldId id="297" r:id="rId2"/>
    <p:sldId id="284" r:id="rId3"/>
    <p:sldId id="286" r:id="rId4"/>
    <p:sldId id="287" r:id="rId5"/>
    <p:sldId id="256" r:id="rId6"/>
    <p:sldId id="258" r:id="rId7"/>
    <p:sldId id="259" r:id="rId8"/>
    <p:sldId id="263" r:id="rId9"/>
    <p:sldId id="260" r:id="rId10"/>
    <p:sldId id="285" r:id="rId11"/>
    <p:sldId id="266" r:id="rId12"/>
    <p:sldId id="261" r:id="rId13"/>
    <p:sldId id="267" r:id="rId14"/>
    <p:sldId id="268" r:id="rId15"/>
    <p:sldId id="269" r:id="rId16"/>
    <p:sldId id="270" r:id="rId17"/>
    <p:sldId id="271" r:id="rId18"/>
    <p:sldId id="272" r:id="rId19"/>
    <p:sldId id="301" r:id="rId20"/>
    <p:sldId id="265" r:id="rId21"/>
    <p:sldId id="302" r:id="rId22"/>
    <p:sldId id="276" r:id="rId23"/>
    <p:sldId id="277" r:id="rId24"/>
    <p:sldId id="278" r:id="rId25"/>
    <p:sldId id="279" r:id="rId26"/>
    <p:sldId id="274" r:id="rId27"/>
    <p:sldId id="280" r:id="rId28"/>
    <p:sldId id="281" r:id="rId29"/>
    <p:sldId id="282" r:id="rId30"/>
    <p:sldId id="298" r:id="rId31"/>
    <p:sldId id="299" r:id="rId32"/>
    <p:sldId id="300" r:id="rId33"/>
    <p:sldId id="283" r:id="rId34"/>
    <p:sldId id="303" r:id="rId35"/>
    <p:sldId id="304" r:id="rId36"/>
    <p:sldId id="305" r:id="rId37"/>
    <p:sldId id="306" r:id="rId38"/>
    <p:sldId id="27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F8D5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5F5D6-45A3-48C6-AE8F-CB5CECF069A3}" type="datetimeFigureOut">
              <a:rPr lang="en-IN" smtClean="0"/>
              <a:t>07-06-2022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C28A1-79D7-46B2-9BA6-3885BE0B6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1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94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1163" y="698500"/>
            <a:ext cx="6194425" cy="3484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en-US" sz="1200" b="1" dirty="0" smtClean="0">
                <a:solidFill>
                  <a:prstClr val="black"/>
                </a:solidFill>
                <a:latin typeface="Century Gothic"/>
              </a:rPr>
              <a:t>Full list: </a:t>
            </a:r>
            <a:r>
              <a:rPr lang="en-US" sz="1200" b="1" dirty="0" smtClean="0">
                <a:solidFill>
                  <a:prstClr val="black"/>
                </a:solidFill>
                <a:latin typeface="Century Gothic"/>
                <a:hlinkClick r:id="rId3"/>
              </a:rPr>
              <a:t>https://en.wikipedia.org/wiki/Activation_function</a:t>
            </a:r>
            <a:r>
              <a:rPr lang="en-US" sz="1200" b="1" dirty="0" smtClean="0">
                <a:solidFill>
                  <a:prstClr val="black"/>
                </a:solidFill>
                <a:latin typeface="Century Gothic"/>
              </a:rPr>
              <a:t> </a:t>
            </a:r>
            <a:endParaRPr lang="el-GR" sz="1200" b="1" dirty="0" smtClean="0">
              <a:solidFill>
                <a:prstClr val="black"/>
              </a:solidFill>
              <a:latin typeface="Century Gothic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F5050A8D-AF32-4F32-A373-6563BC48D42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1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49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0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37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2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3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3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5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5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44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618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955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43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4424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36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08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47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846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55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3200" dirty="0" smtClean="0"/>
              <a:t>Gradient descent</a:t>
            </a:r>
            <a:br>
              <a:rPr lang="en-IN" sz="3200" dirty="0" smtClean="0"/>
            </a:br>
            <a:r>
              <a:rPr lang="en-IN" sz="3200" dirty="0" smtClean="0"/>
              <a:t>back propagation</a:t>
            </a:r>
            <a:br>
              <a:rPr lang="en-IN" sz="3200" dirty="0" smtClean="0"/>
            </a:br>
            <a:r>
              <a:rPr lang="en-IN" sz="3200" dirty="0" smtClean="0"/>
              <a:t>optimization methods</a:t>
            </a:r>
            <a:br>
              <a:rPr lang="en-IN" sz="3200" dirty="0" smtClean="0"/>
            </a:br>
            <a:r>
              <a:rPr lang="en-IN" sz="3200" dirty="0" smtClean="0"/>
              <a:t>activation functions</a:t>
            </a:r>
            <a:br>
              <a:rPr lang="en-IN" sz="3200" dirty="0" smtClean="0"/>
            </a:br>
            <a:r>
              <a:rPr lang="en-IN" sz="3200" dirty="0" smtClean="0"/>
              <a:t>loss functions</a:t>
            </a:r>
            <a:br>
              <a:rPr lang="en-IN" sz="3200" dirty="0" smtClean="0"/>
            </a:br>
            <a:r>
              <a:rPr lang="en-IN" sz="3200" dirty="0" err="1" smtClean="0"/>
              <a:t>ann</a:t>
            </a:r>
            <a:r>
              <a:rPr lang="en-IN" sz="3200" dirty="0" smtClean="0"/>
              <a:t> design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Veena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 err="1" smtClean="0">
                <a:solidFill>
                  <a:schemeClr val="tx1"/>
                </a:solidFill>
              </a:rPr>
              <a:t>Sarda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14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105896"/>
            <a:ext cx="8534400" cy="150706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derivative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Let's minimize the following function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y=x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−</a:t>
            </a:r>
            <a:r>
              <a:rPr lang="en-US" dirty="0" smtClean="0">
                <a:solidFill>
                  <a:schemeClr val="tx1"/>
                </a:solidFill>
              </a:rPr>
              <a:t>4x+6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For x = 0, y = 6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For x = 1, y = 1-4+6=3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For x =2, y = 4-8+6=2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For x = 3, y = 9-12+6 = 3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For x = -1 , y =1+4+6=11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Derivative of above equation is 2x-4=0 hence x=2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So minimum of the function is its derivative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9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k Arc 3"/>
          <p:cNvSpPr/>
          <p:nvPr/>
        </p:nvSpPr>
        <p:spPr>
          <a:xfrm rot="9327113">
            <a:off x="3617257" y="430304"/>
            <a:ext cx="4397189" cy="4316507"/>
          </a:xfrm>
          <a:prstGeom prst="blockArc">
            <a:avLst>
              <a:gd name="adj1" fmla="val 10800000"/>
              <a:gd name="adj2" fmla="val 2688148"/>
              <a:gd name="adj3" fmla="val 1383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818965" y="3173506"/>
            <a:ext cx="349624" cy="36307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4212" y="4988859"/>
            <a:ext cx="8534400" cy="1005540"/>
          </a:xfrm>
        </p:spPr>
        <p:txBody>
          <a:bodyPr/>
          <a:lstStyle/>
          <a:p>
            <a:r>
              <a:rPr lang="en-IN" dirty="0" smtClean="0"/>
              <a:t>How to find minima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02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k Arc 3"/>
          <p:cNvSpPr/>
          <p:nvPr/>
        </p:nvSpPr>
        <p:spPr>
          <a:xfrm rot="9327113">
            <a:off x="3617257" y="430304"/>
            <a:ext cx="4397189" cy="4316507"/>
          </a:xfrm>
          <a:prstGeom prst="blockArc">
            <a:avLst>
              <a:gd name="adj1" fmla="val 10800000"/>
              <a:gd name="adj2" fmla="val 2688148"/>
              <a:gd name="adj3" fmla="val 1383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7584141" y="2588557"/>
            <a:ext cx="349624" cy="36307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4212" y="5042647"/>
            <a:ext cx="8534400" cy="951752"/>
          </a:xfrm>
        </p:spPr>
        <p:txBody>
          <a:bodyPr/>
          <a:lstStyle/>
          <a:p>
            <a:r>
              <a:rPr lang="en-IN" dirty="0" smtClean="0"/>
              <a:t>How to find minima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84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back propagation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Veena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 err="1" smtClean="0">
                <a:solidFill>
                  <a:schemeClr val="tx1"/>
                </a:solidFill>
              </a:rPr>
              <a:t>Sarda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21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5105" y="704201"/>
            <a:ext cx="994185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Backpropagation algorithm  is the cornerstone </a:t>
            </a:r>
            <a:r>
              <a:rPr lang="en-US" sz="2400" dirty="0"/>
              <a:t>of modern neural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Without </a:t>
            </a:r>
            <a:r>
              <a:rPr lang="en-US" sz="2400" dirty="0" err="1"/>
              <a:t>backpropagation</a:t>
            </a:r>
            <a:r>
              <a:rPr lang="en-US" sz="2400" dirty="0"/>
              <a:t>, we would be unable to efficiently train our </a:t>
            </a:r>
            <a:r>
              <a:rPr lang="en-IN" sz="2400" dirty="0"/>
              <a:t>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Modern </a:t>
            </a:r>
            <a:r>
              <a:rPr lang="en-US" sz="2400" dirty="0"/>
              <a:t>neural network libraries such as </a:t>
            </a:r>
            <a:r>
              <a:rPr lang="en-US" sz="2400" dirty="0" err="1"/>
              <a:t>Keras</a:t>
            </a:r>
            <a:r>
              <a:rPr lang="en-US" sz="2400" dirty="0"/>
              <a:t> already have (highly optimized</a:t>
            </a:r>
            <a:r>
              <a:rPr lang="en-US" sz="2400" dirty="0" smtClean="0"/>
              <a:t>) </a:t>
            </a:r>
            <a:r>
              <a:rPr lang="en-US" sz="2400" dirty="0" err="1" smtClean="0"/>
              <a:t>backpropagation</a:t>
            </a:r>
            <a:r>
              <a:rPr lang="en-US" sz="2400" dirty="0" smtClean="0"/>
              <a:t> </a:t>
            </a:r>
            <a:r>
              <a:rPr lang="en-US" sz="2400" dirty="0"/>
              <a:t>algorithms </a:t>
            </a:r>
            <a:r>
              <a:rPr lang="en-US" sz="2400" dirty="0" smtClean="0"/>
              <a:t>built-in.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Implementing </a:t>
            </a:r>
            <a:r>
              <a:rPr lang="en-US" sz="2400" dirty="0" err="1"/>
              <a:t>backpropagation</a:t>
            </a:r>
            <a:r>
              <a:rPr lang="en-US" sz="2400" dirty="0"/>
              <a:t> by hand each time we </a:t>
            </a:r>
            <a:r>
              <a:rPr lang="en-US" sz="2400" dirty="0" smtClean="0"/>
              <a:t>wished to </a:t>
            </a:r>
            <a:r>
              <a:rPr lang="en-US" sz="2400" dirty="0"/>
              <a:t>train a neural network would be like coding a linked list or hash table data structure from </a:t>
            </a:r>
            <a:r>
              <a:rPr lang="en-US" sz="2400" dirty="0" smtClean="0"/>
              <a:t>scratch each </a:t>
            </a:r>
            <a:r>
              <a:rPr lang="en-US" sz="2400" dirty="0"/>
              <a:t>time we worked on a general purpose programming problem 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It’s </a:t>
            </a:r>
            <a:r>
              <a:rPr lang="en-US" sz="2400" dirty="0"/>
              <a:t>unrealistic, </a:t>
            </a:r>
            <a:r>
              <a:rPr lang="en-US" sz="2400" dirty="0" smtClean="0"/>
              <a:t>but it’s </a:t>
            </a:r>
            <a:r>
              <a:rPr lang="en-US" sz="2400" dirty="0"/>
              <a:t>also a waste of our time and </a:t>
            </a:r>
            <a:r>
              <a:rPr lang="en-US" sz="2400" dirty="0" smtClean="0"/>
              <a:t>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But we will understand </a:t>
            </a:r>
            <a:r>
              <a:rPr lang="en-US" sz="2400" dirty="0" err="1" smtClean="0"/>
              <a:t>backpropagation</a:t>
            </a:r>
            <a:r>
              <a:rPr lang="en-US" sz="2400" dirty="0" smtClean="0"/>
              <a:t> using a concrete example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997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572727" y="295570"/>
            <a:ext cx="5301026" cy="1477328"/>
            <a:chOff x="6572727" y="295570"/>
            <a:chExt cx="5301026" cy="1477328"/>
          </a:xfrm>
        </p:grpSpPr>
        <p:sp>
          <p:nvSpPr>
            <p:cNvPr id="77" name="Rectangle 76"/>
            <p:cNvSpPr/>
            <p:nvPr/>
          </p:nvSpPr>
          <p:spPr>
            <a:xfrm>
              <a:off x="9847751" y="295570"/>
              <a:ext cx="2026002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dirty="0"/>
                <a:t>x1	x2	b	y</a:t>
              </a:r>
            </a:p>
            <a:p>
              <a:r>
                <a:rPr lang="es-ES" dirty="0"/>
                <a:t>0	0	1	0</a:t>
              </a:r>
            </a:p>
            <a:p>
              <a:r>
                <a:rPr lang="es-ES" dirty="0"/>
                <a:t>0	1	1	1</a:t>
              </a:r>
            </a:p>
            <a:p>
              <a:r>
                <a:rPr lang="es-ES" dirty="0"/>
                <a:t>1	0	1	1</a:t>
              </a:r>
            </a:p>
            <a:p>
              <a:r>
                <a:rPr lang="es-ES" dirty="0"/>
                <a:t>1	1	1	0</a:t>
              </a:r>
            </a:p>
          </p:txBody>
        </p:sp>
        <p:sp>
          <p:nvSpPr>
            <p:cNvPr id="78" name="Right Arrow 77"/>
            <p:cNvSpPr/>
            <p:nvPr/>
          </p:nvSpPr>
          <p:spPr>
            <a:xfrm>
              <a:off x="9035490" y="907986"/>
              <a:ext cx="592604" cy="252496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572727" y="849568"/>
              <a:ext cx="2323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Calculate for row 2</a:t>
              </a:r>
              <a:endParaRPr lang="en-IN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605787" y="1160482"/>
            <a:ext cx="8968670" cy="4826320"/>
            <a:chOff x="2600869" y="1295988"/>
            <a:chExt cx="8968670" cy="4826320"/>
          </a:xfrm>
        </p:grpSpPr>
        <p:sp>
          <p:nvSpPr>
            <p:cNvPr id="2" name="Oval 1"/>
            <p:cNvSpPr/>
            <p:nvPr/>
          </p:nvSpPr>
          <p:spPr>
            <a:xfrm>
              <a:off x="2600869" y="1470340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x1</a:t>
              </a:r>
              <a:endParaRPr lang="en-IN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2600870" y="3008083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x2</a:t>
              </a:r>
              <a:endParaRPr lang="en-IN" b="1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2600869" y="4722780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solidFill>
                    <a:schemeClr val="bg1"/>
                  </a:solidFill>
                </a:rPr>
                <a:t>x3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5486211" y="1793350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/>
            <p:cNvSpPr/>
            <p:nvPr/>
          </p:nvSpPr>
          <p:spPr>
            <a:xfrm>
              <a:off x="5486210" y="3014443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/>
            <p:cNvSpPr/>
            <p:nvPr/>
          </p:nvSpPr>
          <p:spPr>
            <a:xfrm>
              <a:off x="5486210" y="4701985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Arrow Connector 8"/>
            <p:cNvCxnSpPr>
              <a:stCxn id="2" idx="6"/>
              <a:endCxn id="5" idx="2"/>
            </p:cNvCxnSpPr>
            <p:nvPr/>
          </p:nvCxnSpPr>
          <p:spPr>
            <a:xfrm>
              <a:off x="3219434" y="1772899"/>
              <a:ext cx="2266777" cy="323010"/>
            </a:xfrm>
            <a:prstGeom prst="straightConnector1">
              <a:avLst/>
            </a:prstGeom>
            <a:ln w="38100">
              <a:solidFill>
                <a:srgbClr val="F8D5BE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2" idx="6"/>
              <a:endCxn id="6" idx="2"/>
            </p:cNvCxnSpPr>
            <p:nvPr/>
          </p:nvCxnSpPr>
          <p:spPr>
            <a:xfrm>
              <a:off x="3219434" y="1772899"/>
              <a:ext cx="2266776" cy="1544103"/>
            </a:xfrm>
            <a:prstGeom prst="straightConnector1">
              <a:avLst/>
            </a:prstGeom>
            <a:ln w="38100">
              <a:solidFill>
                <a:srgbClr val="F8D5BE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2" idx="6"/>
              <a:endCxn id="7" idx="1"/>
            </p:cNvCxnSpPr>
            <p:nvPr/>
          </p:nvCxnSpPr>
          <p:spPr>
            <a:xfrm>
              <a:off x="3219434" y="1772899"/>
              <a:ext cx="2357363" cy="3017703"/>
            </a:xfrm>
            <a:prstGeom prst="straightConnector1">
              <a:avLst/>
            </a:prstGeom>
            <a:ln w="38100">
              <a:solidFill>
                <a:srgbClr val="F8D5BE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112793" y="2705997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rgbClr val="FFFF00"/>
                  </a:solidFill>
                </a:rPr>
                <a:t>1.08</a:t>
              </a:r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14389" y="1957565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-0.09</a:t>
              </a:r>
              <a:endParaRPr lang="en-IN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9964" y="2336193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0.46</a:t>
              </a:r>
              <a:endParaRPr lang="en-IN" dirty="0"/>
            </a:p>
          </p:txBody>
        </p:sp>
        <p:cxnSp>
          <p:nvCxnSpPr>
            <p:cNvPr id="28" name="Straight Arrow Connector 27"/>
            <p:cNvCxnSpPr>
              <a:stCxn id="3" idx="6"/>
            </p:cNvCxnSpPr>
            <p:nvPr/>
          </p:nvCxnSpPr>
          <p:spPr>
            <a:xfrm flipV="1">
              <a:off x="3219435" y="3289271"/>
              <a:ext cx="2286469" cy="2137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3" idx="6"/>
              <a:endCxn id="5" idx="2"/>
            </p:cNvCxnSpPr>
            <p:nvPr/>
          </p:nvCxnSpPr>
          <p:spPr>
            <a:xfrm flipV="1">
              <a:off x="3219435" y="2095909"/>
              <a:ext cx="2266776" cy="1214733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3" idx="6"/>
              <a:endCxn id="7" idx="2"/>
            </p:cNvCxnSpPr>
            <p:nvPr/>
          </p:nvCxnSpPr>
          <p:spPr>
            <a:xfrm>
              <a:off x="3219435" y="3310642"/>
              <a:ext cx="2266775" cy="1693902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280882" y="1451379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0.35</a:t>
              </a:r>
              <a:endParaRPr lang="en-IN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517504" y="3264320"/>
              <a:ext cx="824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solidFill>
                    <a:srgbClr val="FFFF00"/>
                  </a:solidFill>
                </a:rPr>
                <a:t>-0.17</a:t>
              </a:r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89525" y="3571198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rgbClr val="FFFF00"/>
                  </a:solidFill>
                </a:rPr>
                <a:t>-0.17</a:t>
              </a:r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40" name="Straight Arrow Connector 39"/>
            <p:cNvCxnSpPr>
              <a:stCxn id="4" idx="7"/>
              <a:endCxn id="5" idx="3"/>
            </p:cNvCxnSpPr>
            <p:nvPr/>
          </p:nvCxnSpPr>
          <p:spPr>
            <a:xfrm flipV="1">
              <a:off x="3128847" y="2309850"/>
              <a:ext cx="2447951" cy="2501547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" idx="6"/>
              <a:endCxn id="6" idx="2"/>
            </p:cNvCxnSpPr>
            <p:nvPr/>
          </p:nvCxnSpPr>
          <p:spPr>
            <a:xfrm flipV="1">
              <a:off x="3219434" y="3317002"/>
              <a:ext cx="2266776" cy="1708337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" idx="5"/>
              <a:endCxn id="7" idx="3"/>
            </p:cNvCxnSpPr>
            <p:nvPr/>
          </p:nvCxnSpPr>
          <p:spPr>
            <a:xfrm flipV="1">
              <a:off x="3128847" y="5218485"/>
              <a:ext cx="2447950" cy="20795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672771" y="4224812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1.12</a:t>
              </a:r>
              <a:endParaRPr lang="en-IN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636107" y="461747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0.54</a:t>
              </a:r>
              <a:endParaRPr lang="en-IN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10995" y="5315747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-0.33</a:t>
              </a:r>
              <a:endParaRPr lang="en-IN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8556623" y="3085735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6" name="Straight Arrow Connector 55"/>
            <p:cNvCxnSpPr>
              <a:stCxn id="5" idx="6"/>
              <a:endCxn id="55" idx="2"/>
            </p:cNvCxnSpPr>
            <p:nvPr/>
          </p:nvCxnSpPr>
          <p:spPr>
            <a:xfrm>
              <a:off x="6104776" y="2095909"/>
              <a:ext cx="2451847" cy="1292385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6" idx="6"/>
              <a:endCxn id="55" idx="2"/>
            </p:cNvCxnSpPr>
            <p:nvPr/>
          </p:nvCxnSpPr>
          <p:spPr>
            <a:xfrm>
              <a:off x="6104775" y="3317002"/>
              <a:ext cx="2451848" cy="71292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7" idx="6"/>
              <a:endCxn id="55" idx="2"/>
            </p:cNvCxnSpPr>
            <p:nvPr/>
          </p:nvCxnSpPr>
          <p:spPr>
            <a:xfrm flipV="1">
              <a:off x="6104775" y="3388294"/>
              <a:ext cx="2451848" cy="1616250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6490810" y="1911242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0.38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69901" y="2935617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0.-33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665541" y="4624674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0.-33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573070" y="1295988"/>
              <a:ext cx="389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 smtClean="0">
                  <a:latin typeface="Adobe Fangsong Std R" panose="02020400000000000000" pitchFamily="18" charset="-128"/>
                  <a:ea typeface="Adobe Fangsong Std R" panose="02020400000000000000" pitchFamily="18" charset="-128"/>
                  <a:cs typeface="Adobe Arabic" panose="02040503050201020203" pitchFamily="18" charset="-78"/>
                </a:rPr>
                <a:t>?</a:t>
              </a:r>
              <a:endParaRPr lang="en-IN" sz="240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Adobe Arabic" panose="02040503050201020203" pitchFamily="18" charset="-78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615657" y="2597063"/>
              <a:ext cx="3660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 smtClean="0">
                  <a:latin typeface="Adobe Fangsong Std R" panose="02020400000000000000" pitchFamily="18" charset="-128"/>
                  <a:ea typeface="Adobe Fangsong Std R" panose="02020400000000000000" pitchFamily="18" charset="-128"/>
                  <a:cs typeface="Adobe Arabic" panose="02040503050201020203" pitchFamily="18" charset="-78"/>
                </a:rPr>
                <a:t>?</a:t>
              </a:r>
              <a:endParaRPr lang="en-IN" sz="240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Adobe Arabic" panose="02040503050201020203" pitchFamily="18" charset="-78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602952" y="4147868"/>
              <a:ext cx="389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 smtClean="0">
                  <a:latin typeface="Adobe Fangsong Std R" panose="02020400000000000000" pitchFamily="18" charset="-128"/>
                  <a:ea typeface="Adobe Fangsong Std R" panose="02020400000000000000" pitchFamily="18" charset="-128"/>
                  <a:cs typeface="Adobe Arabic" panose="02040503050201020203" pitchFamily="18" charset="-78"/>
                </a:rPr>
                <a:t>?</a:t>
              </a:r>
              <a:endParaRPr lang="en-IN" sz="240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Adobe Arabic" panose="02040503050201020203" pitchFamily="18" charset="-78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645729" y="2563768"/>
              <a:ext cx="389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 smtClean="0">
                  <a:latin typeface="Adobe Fangsong Std R" panose="02020400000000000000" pitchFamily="18" charset="-128"/>
                  <a:ea typeface="Adobe Fangsong Std R" panose="02020400000000000000" pitchFamily="18" charset="-128"/>
                  <a:cs typeface="Adobe Arabic" panose="02040503050201020203" pitchFamily="18" charset="-78"/>
                </a:rPr>
                <a:t>?</a:t>
              </a:r>
              <a:endParaRPr lang="en-IN" sz="240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Adobe Arabic" panose="02040503050201020203" pitchFamily="18" charset="-78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20163" y="5752976"/>
              <a:ext cx="3360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Sigmoid Activation function</a:t>
              </a:r>
              <a:endParaRPr lang="en-IN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09324" y="3972927"/>
              <a:ext cx="3360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Sigmoid Activation function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8856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4435" y="1116106"/>
            <a:ext cx="56140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[0 1 1] *   0.35  - </a:t>
            </a:r>
            <a:r>
              <a:rPr lang="en-IN" sz="3200" dirty="0"/>
              <a:t>0.09 </a:t>
            </a:r>
            <a:r>
              <a:rPr lang="en-IN" sz="3200" dirty="0" smtClean="0"/>
              <a:t>   0.46 </a:t>
            </a:r>
          </a:p>
          <a:p>
            <a:r>
              <a:rPr lang="en-IN" sz="3200" dirty="0"/>
              <a:t>	</a:t>
            </a:r>
            <a:r>
              <a:rPr lang="en-IN" sz="3200" dirty="0" smtClean="0"/>
              <a:t>			1.08  - 0.17  - 0.17 </a:t>
            </a:r>
          </a:p>
          <a:p>
            <a:r>
              <a:rPr lang="en-IN" sz="3200" dirty="0"/>
              <a:t>	</a:t>
            </a:r>
            <a:r>
              <a:rPr lang="en-IN" sz="3200" dirty="0" smtClean="0"/>
              <a:t>			1.12    0.54	- 0.33  </a:t>
            </a:r>
            <a:endParaRPr lang="en-IN" sz="3200" dirty="0"/>
          </a:p>
        </p:txBody>
      </p:sp>
      <p:sp>
        <p:nvSpPr>
          <p:cNvPr id="3" name="Right Arrow 2"/>
          <p:cNvSpPr/>
          <p:nvPr/>
        </p:nvSpPr>
        <p:spPr>
          <a:xfrm>
            <a:off x="6441141" y="1620198"/>
            <a:ext cx="887506" cy="4168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664824" y="1536239"/>
            <a:ext cx="3254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σ</a:t>
            </a:r>
            <a:r>
              <a:rPr lang="en-IN" sz="3200" dirty="0" smtClean="0"/>
              <a:t>[2.2  0.34  -0.5]</a:t>
            </a:r>
            <a:endParaRPr lang="en-I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7772400" y="3452248"/>
            <a:ext cx="3318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[0.90  0.59  0.38]</a:t>
            </a:r>
            <a:endParaRPr lang="en-IN" sz="3200" dirty="0"/>
          </a:p>
        </p:txBody>
      </p:sp>
      <p:sp>
        <p:nvSpPr>
          <p:cNvPr id="6" name="Down Arrow 5"/>
          <p:cNvSpPr/>
          <p:nvPr/>
        </p:nvSpPr>
        <p:spPr>
          <a:xfrm>
            <a:off x="9292032" y="2393576"/>
            <a:ext cx="376403" cy="8337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mtClean="0"/>
              <a:t>Forward pass</a:t>
            </a:r>
            <a:endParaRPr lang="en-IN" dirty="0"/>
          </a:p>
        </p:txBody>
      </p:sp>
      <p:sp>
        <p:nvSpPr>
          <p:cNvPr id="8" name="Left Bracket 7"/>
          <p:cNvSpPr/>
          <p:nvPr/>
        </p:nvSpPr>
        <p:spPr>
          <a:xfrm>
            <a:off x="2232213" y="1210235"/>
            <a:ext cx="147916" cy="1425389"/>
          </a:xfrm>
          <a:prstGeom prst="leftBracket">
            <a:avLst/>
          </a:prstGeom>
          <a:noFill/>
          <a:ln w="571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ket 8"/>
          <p:cNvSpPr/>
          <p:nvPr/>
        </p:nvSpPr>
        <p:spPr>
          <a:xfrm>
            <a:off x="5862918" y="1210235"/>
            <a:ext cx="134470" cy="1425389"/>
          </a:xfrm>
          <a:prstGeom prst="rightBracket">
            <a:avLst/>
          </a:prstGeom>
          <a:ln w="57150"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16215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632682" y="529046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1632683" y="2066789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x2</a:t>
            </a:r>
            <a:endParaRPr lang="en-IN" b="1" dirty="0"/>
          </a:p>
        </p:txBody>
      </p:sp>
      <p:sp>
        <p:nvSpPr>
          <p:cNvPr id="4" name="Oval 3"/>
          <p:cNvSpPr/>
          <p:nvPr/>
        </p:nvSpPr>
        <p:spPr>
          <a:xfrm>
            <a:off x="1632682" y="3781486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  <a:endParaRPr lang="en-IN" dirty="0"/>
          </a:p>
        </p:txBody>
      </p:sp>
      <p:sp>
        <p:nvSpPr>
          <p:cNvPr id="5" name="Oval 4"/>
          <p:cNvSpPr/>
          <p:nvPr/>
        </p:nvSpPr>
        <p:spPr>
          <a:xfrm>
            <a:off x="4518024" y="852056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4518023" y="2073149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4518023" y="3760691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>
            <a:stCxn id="2" idx="6"/>
            <a:endCxn id="5" idx="2"/>
          </p:cNvCxnSpPr>
          <p:nvPr/>
        </p:nvCxnSpPr>
        <p:spPr>
          <a:xfrm>
            <a:off x="2251247" y="831605"/>
            <a:ext cx="2266777" cy="323010"/>
          </a:xfrm>
          <a:prstGeom prst="straightConnector1">
            <a:avLst/>
          </a:prstGeom>
          <a:ln w="38100">
            <a:solidFill>
              <a:srgbClr val="F8D5BE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" idx="6"/>
            <a:endCxn id="6" idx="2"/>
          </p:cNvCxnSpPr>
          <p:nvPr/>
        </p:nvCxnSpPr>
        <p:spPr>
          <a:xfrm>
            <a:off x="2251247" y="831605"/>
            <a:ext cx="2266776" cy="1544103"/>
          </a:xfrm>
          <a:prstGeom prst="straightConnector1">
            <a:avLst/>
          </a:prstGeom>
          <a:ln w="38100">
            <a:solidFill>
              <a:srgbClr val="F8D5BE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6"/>
            <a:endCxn id="7" idx="1"/>
          </p:cNvCxnSpPr>
          <p:nvPr/>
        </p:nvCxnSpPr>
        <p:spPr>
          <a:xfrm>
            <a:off x="2251247" y="831605"/>
            <a:ext cx="2357363" cy="3017703"/>
          </a:xfrm>
          <a:prstGeom prst="straightConnector1">
            <a:avLst/>
          </a:prstGeom>
          <a:ln w="38100">
            <a:solidFill>
              <a:srgbClr val="F8D5BE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44606" y="176470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FF00"/>
                </a:solidFill>
              </a:rPr>
              <a:t>1.08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46202" y="101627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-0.09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161777" y="139489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0.46</a:t>
            </a:r>
            <a:endParaRPr lang="en-IN" dirty="0"/>
          </a:p>
        </p:txBody>
      </p:sp>
      <p:cxnSp>
        <p:nvCxnSpPr>
          <p:cNvPr id="28" name="Straight Arrow Connector 27"/>
          <p:cNvCxnSpPr>
            <a:stCxn id="3" idx="6"/>
          </p:cNvCxnSpPr>
          <p:nvPr/>
        </p:nvCxnSpPr>
        <p:spPr>
          <a:xfrm flipV="1">
            <a:off x="2251248" y="2347977"/>
            <a:ext cx="2286469" cy="2137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3" idx="6"/>
            <a:endCxn id="5" idx="2"/>
          </p:cNvCxnSpPr>
          <p:nvPr/>
        </p:nvCxnSpPr>
        <p:spPr>
          <a:xfrm flipV="1">
            <a:off x="2251248" y="1154615"/>
            <a:ext cx="2266776" cy="121473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" idx="6"/>
            <a:endCxn id="7" idx="2"/>
          </p:cNvCxnSpPr>
          <p:nvPr/>
        </p:nvCxnSpPr>
        <p:spPr>
          <a:xfrm>
            <a:off x="2251248" y="2369348"/>
            <a:ext cx="2266775" cy="169390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12695" y="51008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0.35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2549317" y="2323026"/>
            <a:ext cx="82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FF00"/>
                </a:solidFill>
              </a:rPr>
              <a:t>-0.17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021338" y="262990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FF00"/>
                </a:solidFill>
              </a:rPr>
              <a:t>-0.17</a:t>
            </a:r>
            <a:endParaRPr lang="en-IN" dirty="0">
              <a:solidFill>
                <a:srgbClr val="FFFF00"/>
              </a:solidFill>
            </a:endParaRPr>
          </a:p>
        </p:txBody>
      </p:sp>
      <p:cxnSp>
        <p:nvCxnSpPr>
          <p:cNvPr id="40" name="Straight Arrow Connector 39"/>
          <p:cNvCxnSpPr>
            <a:stCxn id="4" idx="7"/>
            <a:endCxn id="5" idx="3"/>
          </p:cNvCxnSpPr>
          <p:nvPr/>
        </p:nvCxnSpPr>
        <p:spPr>
          <a:xfrm flipV="1">
            <a:off x="2160660" y="1368556"/>
            <a:ext cx="2447951" cy="2501547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" idx="6"/>
            <a:endCxn id="6" idx="2"/>
          </p:cNvCxnSpPr>
          <p:nvPr/>
        </p:nvCxnSpPr>
        <p:spPr>
          <a:xfrm flipV="1">
            <a:off x="2251247" y="2375708"/>
            <a:ext cx="2266776" cy="1708337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" idx="5"/>
            <a:endCxn id="7" idx="3"/>
          </p:cNvCxnSpPr>
          <p:nvPr/>
        </p:nvCxnSpPr>
        <p:spPr>
          <a:xfrm flipV="1">
            <a:off x="2160660" y="4277191"/>
            <a:ext cx="2447950" cy="20795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704584" y="328351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1.12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667920" y="36761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0.54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42808" y="43744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-0.33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7588436" y="2144441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Straight Arrow Connector 55"/>
          <p:cNvCxnSpPr>
            <a:stCxn id="5" idx="6"/>
            <a:endCxn id="55" idx="2"/>
          </p:cNvCxnSpPr>
          <p:nvPr/>
        </p:nvCxnSpPr>
        <p:spPr>
          <a:xfrm>
            <a:off x="5136589" y="115461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6" idx="6"/>
            <a:endCxn id="55" idx="2"/>
          </p:cNvCxnSpPr>
          <p:nvPr/>
        </p:nvCxnSpPr>
        <p:spPr>
          <a:xfrm>
            <a:off x="5136588" y="237570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7" idx="6"/>
            <a:endCxn id="55" idx="2"/>
          </p:cNvCxnSpPr>
          <p:nvPr/>
        </p:nvCxnSpPr>
        <p:spPr>
          <a:xfrm flipV="1">
            <a:off x="5136588" y="2447000"/>
            <a:ext cx="2451848" cy="161625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522623" y="96994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0.38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01714" y="199432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0.-33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97354" y="36833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0.-33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677542" y="1622474"/>
            <a:ext cx="389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  <a:cs typeface="Adobe Arabic" panose="02040503050201020203" pitchFamily="18" charset="-78"/>
              </a:rPr>
              <a:t>?</a:t>
            </a:r>
            <a:endParaRPr lang="en-IN" sz="24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Adobe Arabic" panose="02040503050201020203" pitchFamily="18" charset="-78"/>
            </a:endParaRP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740891" y="5396881"/>
            <a:ext cx="8534400" cy="11624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/>
              <a:t>Forward pass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6931854" y="3031633"/>
            <a:ext cx="336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Sigmoid Activation function</a:t>
            </a:r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3821606" y="4536485"/>
            <a:ext cx="336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Sigmoid Activation function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4579471" y="50191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/>
              <a:t>0.91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450" y="172300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 smtClean="0"/>
              <a:t>0.58</a:t>
            </a:r>
            <a:endParaRPr lang="en-IN" dirty="0"/>
          </a:p>
        </p:txBody>
      </p:sp>
      <p:sp>
        <p:nvSpPr>
          <p:cNvPr id="58" name="TextBox 57"/>
          <p:cNvSpPr txBox="1"/>
          <p:nvPr/>
        </p:nvSpPr>
        <p:spPr>
          <a:xfrm>
            <a:off x="4579471" y="341094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 smtClean="0"/>
              <a:t>0.38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63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632682" y="529046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1632683" y="2066789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x2</a:t>
            </a:r>
            <a:endParaRPr lang="en-IN" b="1" dirty="0"/>
          </a:p>
        </p:txBody>
      </p:sp>
      <p:sp>
        <p:nvSpPr>
          <p:cNvPr id="4" name="Oval 3"/>
          <p:cNvSpPr/>
          <p:nvPr/>
        </p:nvSpPr>
        <p:spPr>
          <a:xfrm>
            <a:off x="1632682" y="3781486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  <a:endParaRPr lang="en-IN" dirty="0"/>
          </a:p>
        </p:txBody>
      </p:sp>
      <p:sp>
        <p:nvSpPr>
          <p:cNvPr id="5" name="Oval 4"/>
          <p:cNvSpPr/>
          <p:nvPr/>
        </p:nvSpPr>
        <p:spPr>
          <a:xfrm>
            <a:off x="4518024" y="852056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4518023" y="2073149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4518023" y="3760691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>
            <a:stCxn id="2" idx="6"/>
            <a:endCxn id="5" idx="2"/>
          </p:cNvCxnSpPr>
          <p:nvPr/>
        </p:nvCxnSpPr>
        <p:spPr>
          <a:xfrm>
            <a:off x="2251247" y="831605"/>
            <a:ext cx="2266777" cy="323010"/>
          </a:xfrm>
          <a:prstGeom prst="straightConnector1">
            <a:avLst/>
          </a:prstGeom>
          <a:ln w="38100">
            <a:solidFill>
              <a:srgbClr val="F8D5BE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" idx="6"/>
            <a:endCxn id="6" idx="2"/>
          </p:cNvCxnSpPr>
          <p:nvPr/>
        </p:nvCxnSpPr>
        <p:spPr>
          <a:xfrm>
            <a:off x="2251247" y="831605"/>
            <a:ext cx="2266776" cy="1544103"/>
          </a:xfrm>
          <a:prstGeom prst="straightConnector1">
            <a:avLst/>
          </a:prstGeom>
          <a:ln w="38100">
            <a:solidFill>
              <a:srgbClr val="F8D5BE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6"/>
            <a:endCxn id="7" idx="1"/>
          </p:cNvCxnSpPr>
          <p:nvPr/>
        </p:nvCxnSpPr>
        <p:spPr>
          <a:xfrm>
            <a:off x="2251247" y="831605"/>
            <a:ext cx="2357363" cy="3017703"/>
          </a:xfrm>
          <a:prstGeom prst="straightConnector1">
            <a:avLst/>
          </a:prstGeom>
          <a:ln w="38100">
            <a:solidFill>
              <a:srgbClr val="F8D5BE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44606" y="176470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FF00"/>
                </a:solidFill>
              </a:rPr>
              <a:t>1.08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46202" y="101627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-0.09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161777" y="139489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0.46</a:t>
            </a:r>
            <a:endParaRPr lang="en-IN" dirty="0"/>
          </a:p>
        </p:txBody>
      </p:sp>
      <p:cxnSp>
        <p:nvCxnSpPr>
          <p:cNvPr id="28" name="Straight Arrow Connector 27"/>
          <p:cNvCxnSpPr>
            <a:stCxn id="3" idx="6"/>
          </p:cNvCxnSpPr>
          <p:nvPr/>
        </p:nvCxnSpPr>
        <p:spPr>
          <a:xfrm flipV="1">
            <a:off x="2251248" y="2347977"/>
            <a:ext cx="2286469" cy="2137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3" idx="6"/>
            <a:endCxn id="5" idx="2"/>
          </p:cNvCxnSpPr>
          <p:nvPr/>
        </p:nvCxnSpPr>
        <p:spPr>
          <a:xfrm flipV="1">
            <a:off x="2251248" y="1154615"/>
            <a:ext cx="2266776" cy="121473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" idx="6"/>
            <a:endCxn id="7" idx="2"/>
          </p:cNvCxnSpPr>
          <p:nvPr/>
        </p:nvCxnSpPr>
        <p:spPr>
          <a:xfrm>
            <a:off x="2251248" y="2369348"/>
            <a:ext cx="2266775" cy="169390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12695" y="51008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0.35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2549317" y="2323026"/>
            <a:ext cx="82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FF00"/>
                </a:solidFill>
              </a:rPr>
              <a:t>-0.17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021338" y="262990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FF00"/>
                </a:solidFill>
              </a:rPr>
              <a:t>-0.17</a:t>
            </a:r>
            <a:endParaRPr lang="en-IN" dirty="0">
              <a:solidFill>
                <a:srgbClr val="FFFF00"/>
              </a:solidFill>
            </a:endParaRPr>
          </a:p>
        </p:txBody>
      </p:sp>
      <p:cxnSp>
        <p:nvCxnSpPr>
          <p:cNvPr id="40" name="Straight Arrow Connector 39"/>
          <p:cNvCxnSpPr>
            <a:stCxn id="4" idx="7"/>
            <a:endCxn id="5" idx="2"/>
          </p:cNvCxnSpPr>
          <p:nvPr/>
        </p:nvCxnSpPr>
        <p:spPr>
          <a:xfrm flipV="1">
            <a:off x="2160660" y="1154615"/>
            <a:ext cx="2357364" cy="2715488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" idx="6"/>
            <a:endCxn id="6" idx="2"/>
          </p:cNvCxnSpPr>
          <p:nvPr/>
        </p:nvCxnSpPr>
        <p:spPr>
          <a:xfrm flipV="1">
            <a:off x="2251247" y="2375708"/>
            <a:ext cx="2266776" cy="1708337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" idx="5"/>
            <a:endCxn id="7" idx="3"/>
          </p:cNvCxnSpPr>
          <p:nvPr/>
        </p:nvCxnSpPr>
        <p:spPr>
          <a:xfrm flipV="1">
            <a:off x="2160660" y="4277191"/>
            <a:ext cx="2447950" cy="20795"/>
          </a:xfrm>
          <a:prstGeom prst="straightConnector1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704584" y="328351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1.12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667920" y="36761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0.54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42808" y="43744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-0.33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7588436" y="2144441"/>
            <a:ext cx="618565" cy="60511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Straight Arrow Connector 55"/>
          <p:cNvCxnSpPr>
            <a:stCxn id="5" idx="6"/>
            <a:endCxn id="55" idx="2"/>
          </p:cNvCxnSpPr>
          <p:nvPr/>
        </p:nvCxnSpPr>
        <p:spPr>
          <a:xfrm>
            <a:off x="5136589" y="115461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6" idx="6"/>
            <a:endCxn id="55" idx="2"/>
          </p:cNvCxnSpPr>
          <p:nvPr/>
        </p:nvCxnSpPr>
        <p:spPr>
          <a:xfrm>
            <a:off x="5136588" y="237570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7" idx="6"/>
            <a:endCxn id="55" idx="2"/>
          </p:cNvCxnSpPr>
          <p:nvPr/>
        </p:nvCxnSpPr>
        <p:spPr>
          <a:xfrm flipV="1">
            <a:off x="5136588" y="2447000"/>
            <a:ext cx="2451848" cy="161625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522623" y="96994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0.38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01714" y="199432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0.-33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97354" y="368338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0.-33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295207" y="222668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/>
              <a:t>0.51</a:t>
            </a: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727444" y="5448233"/>
            <a:ext cx="8534400" cy="84216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/>
              <a:t>Forward pass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6931854" y="3031633"/>
            <a:ext cx="336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Sigmoid Activation function</a:t>
            </a:r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3821606" y="4536485"/>
            <a:ext cx="336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Sigmoid Activation function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4579471" y="50191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/>
              <a:t>0.91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450" y="172300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 smtClean="0"/>
              <a:t>0.58</a:t>
            </a:r>
            <a:endParaRPr lang="en-IN" dirty="0"/>
          </a:p>
        </p:txBody>
      </p:sp>
      <p:sp>
        <p:nvSpPr>
          <p:cNvPr id="58" name="TextBox 57"/>
          <p:cNvSpPr txBox="1"/>
          <p:nvPr/>
        </p:nvSpPr>
        <p:spPr>
          <a:xfrm>
            <a:off x="4579471" y="341094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 smtClean="0"/>
              <a:t>0.38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15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19919" y="1963271"/>
            <a:ext cx="2823882" cy="2380129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4"/>
          </p:cNvCxnSpPr>
          <p:nvPr/>
        </p:nvCxnSpPr>
        <p:spPr>
          <a:xfrm>
            <a:off x="6131860" y="1963271"/>
            <a:ext cx="0" cy="238012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75392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out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3451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net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8613" y="2486833"/>
            <a:ext cx="4003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E = </a:t>
            </a:r>
            <a:r>
              <a:rPr lang="en-IN" sz="2400" u="sng" dirty="0" smtClean="0"/>
              <a:t>1</a:t>
            </a:r>
            <a:r>
              <a:rPr lang="en-IN" sz="2400" dirty="0" smtClean="0"/>
              <a:t>(actual – predicted)</a:t>
            </a:r>
            <a:r>
              <a:rPr lang="en-IN" sz="2400" baseline="30000" dirty="0" smtClean="0"/>
              <a:t>2</a:t>
            </a:r>
          </a:p>
          <a:p>
            <a:r>
              <a:rPr lang="en-IN" sz="2400" baseline="30000" dirty="0"/>
              <a:t> </a:t>
            </a:r>
            <a:r>
              <a:rPr lang="en-IN" sz="2400" baseline="30000" dirty="0" smtClean="0"/>
              <a:t>        </a:t>
            </a:r>
            <a:r>
              <a:rPr lang="en-IN" sz="2400" dirty="0" smtClean="0"/>
              <a:t>2</a:t>
            </a:r>
            <a:endParaRPr lang="en-IN" sz="2400" baseline="30000" dirty="0"/>
          </a:p>
        </p:txBody>
      </p:sp>
      <p:sp>
        <p:nvSpPr>
          <p:cNvPr id="10" name="Curved Down Arrow 9"/>
          <p:cNvSpPr/>
          <p:nvPr/>
        </p:nvSpPr>
        <p:spPr>
          <a:xfrm rot="9969597">
            <a:off x="6902203" y="3135935"/>
            <a:ext cx="1363196" cy="618564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1159268">
            <a:off x="5317787" y="3348101"/>
            <a:ext cx="1363196" cy="618564"/>
          </a:xfrm>
          <a:prstGeom prst="curved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68072" y="185605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68071" y="307714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3148440"/>
            <a:ext cx="2205319" cy="11949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Curved Right Arrow 15"/>
          <p:cNvSpPr/>
          <p:nvPr/>
        </p:nvSpPr>
        <p:spPr>
          <a:xfrm rot="6644755">
            <a:off x="4182941" y="1584907"/>
            <a:ext cx="608952" cy="1627094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223" y="448139"/>
            <a:ext cx="6279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 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*  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*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net</a:t>
            </a:r>
          </a:p>
          <a:p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  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   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net   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</a:t>
            </a:r>
            <a:endParaRPr lang="en-IN" sz="360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57318" y="4927163"/>
            <a:ext cx="8534400" cy="1507067"/>
          </a:xfrm>
        </p:spPr>
        <p:txBody>
          <a:bodyPr/>
          <a:lstStyle/>
          <a:p>
            <a:r>
              <a:rPr lang="en-IN" dirty="0" smtClean="0"/>
              <a:t>Backward pass – </a:t>
            </a:r>
            <a:r>
              <a:rPr lang="en-IN" sz="2800" dirty="0" smtClean="0"/>
              <a:t>modify weight to minimise loss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2730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600869" y="1295988"/>
            <a:ext cx="6678367" cy="4389091"/>
            <a:chOff x="2600869" y="1295988"/>
            <a:chExt cx="6678367" cy="4389091"/>
          </a:xfrm>
        </p:grpSpPr>
        <p:sp>
          <p:nvSpPr>
            <p:cNvPr id="2" name="Oval 1"/>
            <p:cNvSpPr/>
            <p:nvPr/>
          </p:nvSpPr>
          <p:spPr>
            <a:xfrm>
              <a:off x="2600869" y="1470340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x1</a:t>
              </a:r>
              <a:endParaRPr lang="en-IN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2600870" y="3008083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x2</a:t>
              </a:r>
              <a:endParaRPr lang="en-IN" b="1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2600869" y="4722780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</a:t>
              </a:r>
              <a:endParaRPr lang="en-IN" dirty="0"/>
            </a:p>
          </p:txBody>
        </p:sp>
        <p:sp>
          <p:nvSpPr>
            <p:cNvPr id="5" name="Oval 4"/>
            <p:cNvSpPr/>
            <p:nvPr/>
          </p:nvSpPr>
          <p:spPr>
            <a:xfrm>
              <a:off x="5486211" y="1793350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/>
            <p:cNvSpPr/>
            <p:nvPr/>
          </p:nvSpPr>
          <p:spPr>
            <a:xfrm>
              <a:off x="5486210" y="3014443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/>
            <p:cNvSpPr/>
            <p:nvPr/>
          </p:nvSpPr>
          <p:spPr>
            <a:xfrm>
              <a:off x="5486210" y="4701985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Arrow Connector 8"/>
            <p:cNvCxnSpPr>
              <a:stCxn id="2" idx="6"/>
              <a:endCxn id="5" idx="2"/>
            </p:cNvCxnSpPr>
            <p:nvPr/>
          </p:nvCxnSpPr>
          <p:spPr>
            <a:xfrm>
              <a:off x="3219434" y="1772899"/>
              <a:ext cx="2266777" cy="323010"/>
            </a:xfrm>
            <a:prstGeom prst="straightConnector1">
              <a:avLst/>
            </a:prstGeom>
            <a:ln w="38100">
              <a:solidFill>
                <a:srgbClr val="F8D5BE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2" idx="6"/>
              <a:endCxn id="6" idx="2"/>
            </p:cNvCxnSpPr>
            <p:nvPr/>
          </p:nvCxnSpPr>
          <p:spPr>
            <a:xfrm>
              <a:off x="3219434" y="1772899"/>
              <a:ext cx="2266776" cy="1544103"/>
            </a:xfrm>
            <a:prstGeom prst="straightConnector1">
              <a:avLst/>
            </a:prstGeom>
            <a:ln w="38100">
              <a:solidFill>
                <a:srgbClr val="F8D5BE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2" idx="6"/>
              <a:endCxn id="7" idx="1"/>
            </p:cNvCxnSpPr>
            <p:nvPr/>
          </p:nvCxnSpPr>
          <p:spPr>
            <a:xfrm>
              <a:off x="3219434" y="1772899"/>
              <a:ext cx="2357363" cy="3017703"/>
            </a:xfrm>
            <a:prstGeom prst="straightConnector1">
              <a:avLst/>
            </a:prstGeom>
            <a:ln w="38100">
              <a:solidFill>
                <a:srgbClr val="F8D5BE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112793" y="2705997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rgbClr val="FFFF00"/>
                  </a:solidFill>
                </a:rPr>
                <a:t>1.08</a:t>
              </a:r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14389" y="1957565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-0.09</a:t>
              </a:r>
              <a:endParaRPr lang="en-IN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9964" y="2336193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0.46</a:t>
              </a:r>
              <a:endParaRPr lang="en-IN" dirty="0"/>
            </a:p>
          </p:txBody>
        </p:sp>
        <p:cxnSp>
          <p:nvCxnSpPr>
            <p:cNvPr id="28" name="Straight Arrow Connector 27"/>
            <p:cNvCxnSpPr>
              <a:stCxn id="3" idx="6"/>
            </p:cNvCxnSpPr>
            <p:nvPr/>
          </p:nvCxnSpPr>
          <p:spPr>
            <a:xfrm flipV="1">
              <a:off x="3219435" y="3289271"/>
              <a:ext cx="2286469" cy="2137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3" idx="6"/>
              <a:endCxn id="5" idx="2"/>
            </p:cNvCxnSpPr>
            <p:nvPr/>
          </p:nvCxnSpPr>
          <p:spPr>
            <a:xfrm flipV="1">
              <a:off x="3219435" y="2095909"/>
              <a:ext cx="2266776" cy="1214733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3" idx="6"/>
              <a:endCxn id="7" idx="2"/>
            </p:cNvCxnSpPr>
            <p:nvPr/>
          </p:nvCxnSpPr>
          <p:spPr>
            <a:xfrm>
              <a:off x="3219435" y="3310642"/>
              <a:ext cx="2266775" cy="1693902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280882" y="1451379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0.35</a:t>
              </a:r>
              <a:endParaRPr lang="en-IN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517504" y="3264320"/>
              <a:ext cx="824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solidFill>
                    <a:srgbClr val="FFFF00"/>
                  </a:solidFill>
                </a:rPr>
                <a:t>-0.17</a:t>
              </a:r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89525" y="3571198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rgbClr val="FFFF00"/>
                  </a:solidFill>
                </a:rPr>
                <a:t>-0.17</a:t>
              </a:r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40" name="Straight Arrow Connector 39"/>
            <p:cNvCxnSpPr>
              <a:stCxn id="4" idx="7"/>
              <a:endCxn id="5" idx="3"/>
            </p:cNvCxnSpPr>
            <p:nvPr/>
          </p:nvCxnSpPr>
          <p:spPr>
            <a:xfrm flipV="1">
              <a:off x="3128847" y="2309850"/>
              <a:ext cx="2447951" cy="2501547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" idx="6"/>
              <a:endCxn id="6" idx="2"/>
            </p:cNvCxnSpPr>
            <p:nvPr/>
          </p:nvCxnSpPr>
          <p:spPr>
            <a:xfrm flipV="1">
              <a:off x="3219434" y="3317002"/>
              <a:ext cx="2266776" cy="1708337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" idx="5"/>
              <a:endCxn id="7" idx="3"/>
            </p:cNvCxnSpPr>
            <p:nvPr/>
          </p:nvCxnSpPr>
          <p:spPr>
            <a:xfrm flipV="1">
              <a:off x="3128847" y="5218485"/>
              <a:ext cx="2447950" cy="20795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672771" y="4224812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1.12</a:t>
              </a:r>
              <a:endParaRPr lang="en-IN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636107" y="461747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0.54</a:t>
              </a:r>
              <a:endParaRPr lang="en-IN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10995" y="5315747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-0.33</a:t>
              </a:r>
              <a:endParaRPr lang="en-IN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8556623" y="3085735"/>
              <a:ext cx="618565" cy="6051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6" name="Straight Arrow Connector 55"/>
            <p:cNvCxnSpPr>
              <a:stCxn id="5" idx="6"/>
              <a:endCxn id="55" idx="2"/>
            </p:cNvCxnSpPr>
            <p:nvPr/>
          </p:nvCxnSpPr>
          <p:spPr>
            <a:xfrm>
              <a:off x="6104776" y="2095909"/>
              <a:ext cx="2451847" cy="1292385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6" idx="6"/>
              <a:endCxn id="55" idx="2"/>
            </p:cNvCxnSpPr>
            <p:nvPr/>
          </p:nvCxnSpPr>
          <p:spPr>
            <a:xfrm>
              <a:off x="6104775" y="3317002"/>
              <a:ext cx="2451848" cy="71292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7" idx="6"/>
              <a:endCxn id="55" idx="2"/>
            </p:cNvCxnSpPr>
            <p:nvPr/>
          </p:nvCxnSpPr>
          <p:spPr>
            <a:xfrm flipV="1">
              <a:off x="6104775" y="3388294"/>
              <a:ext cx="2451848" cy="1616250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6490810" y="1911242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0.38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69901" y="2935617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0.-33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665541" y="4624674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0.-33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573070" y="129598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IN" dirty="0"/>
                <a:t>0.91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615657" y="2597063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IN" dirty="0" smtClean="0"/>
                <a:t>0.58</a:t>
              </a:r>
              <a:endParaRPr lang="en-IN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602952" y="414786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IN" dirty="0" smtClean="0"/>
                <a:t>0.38</a:t>
              </a:r>
              <a:endParaRPr lang="en-IN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645729" y="256376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IN" dirty="0" smtClean="0"/>
                <a:t>0.51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8193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19919" y="1963271"/>
            <a:ext cx="2823882" cy="2380129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4"/>
          </p:cNvCxnSpPr>
          <p:nvPr/>
        </p:nvCxnSpPr>
        <p:spPr>
          <a:xfrm>
            <a:off x="6131860" y="1963271"/>
            <a:ext cx="0" cy="238012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75392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out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3451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net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8613" y="2486833"/>
            <a:ext cx="4003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E = </a:t>
            </a:r>
            <a:r>
              <a:rPr lang="en-IN" sz="2400" u="sng" dirty="0" smtClean="0"/>
              <a:t>1</a:t>
            </a:r>
            <a:r>
              <a:rPr lang="en-IN" sz="2400" dirty="0" smtClean="0"/>
              <a:t>(actual – predicted)</a:t>
            </a:r>
            <a:r>
              <a:rPr lang="en-IN" sz="2400" baseline="30000" dirty="0" smtClean="0"/>
              <a:t>2</a:t>
            </a:r>
          </a:p>
          <a:p>
            <a:r>
              <a:rPr lang="en-IN" sz="2400" baseline="30000" dirty="0"/>
              <a:t> </a:t>
            </a:r>
            <a:r>
              <a:rPr lang="en-IN" sz="2400" baseline="30000" dirty="0" smtClean="0"/>
              <a:t>        </a:t>
            </a:r>
            <a:r>
              <a:rPr lang="en-IN" sz="2400" dirty="0" smtClean="0"/>
              <a:t>2</a:t>
            </a:r>
            <a:endParaRPr lang="en-IN" sz="2400" baseline="30000" dirty="0"/>
          </a:p>
        </p:txBody>
      </p:sp>
      <p:sp>
        <p:nvSpPr>
          <p:cNvPr id="10" name="Curved Down Arrow 9"/>
          <p:cNvSpPr/>
          <p:nvPr/>
        </p:nvSpPr>
        <p:spPr>
          <a:xfrm rot="9969597">
            <a:off x="6902203" y="3135935"/>
            <a:ext cx="1363196" cy="618564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1159268">
            <a:off x="5317787" y="3348101"/>
            <a:ext cx="1363196" cy="618564"/>
          </a:xfrm>
          <a:prstGeom prst="curved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68072" y="185605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68071" y="307714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3148440"/>
            <a:ext cx="2205319" cy="11949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Curved Right Arrow 15"/>
          <p:cNvSpPr/>
          <p:nvPr/>
        </p:nvSpPr>
        <p:spPr>
          <a:xfrm rot="6644755">
            <a:off x="4182941" y="1584907"/>
            <a:ext cx="608952" cy="1627094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223" y="448139"/>
            <a:ext cx="6279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 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*  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*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net</a:t>
            </a:r>
          </a:p>
          <a:p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  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   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net   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</a:t>
            </a:r>
            <a:endParaRPr lang="en-IN" sz="360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57318" y="4927163"/>
            <a:ext cx="8534400" cy="1507067"/>
          </a:xfrm>
        </p:spPr>
        <p:txBody>
          <a:bodyPr/>
          <a:lstStyle/>
          <a:p>
            <a:r>
              <a:rPr lang="en-IN" dirty="0" smtClean="0"/>
              <a:t>Backward pass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027894" y="43434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 = 1-0.51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6464966" y="454438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Out=0.51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759589" y="4544384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net=0.23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3374281" y="4544384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w=0.38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562101" y="164087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endParaRPr lang="en-IN" baseline="-25000" dirty="0"/>
          </a:p>
        </p:txBody>
      </p:sp>
      <p:sp>
        <p:nvSpPr>
          <p:cNvPr id="24" name="TextBox 23"/>
          <p:cNvSpPr txBox="1"/>
          <p:nvPr/>
        </p:nvSpPr>
        <p:spPr>
          <a:xfrm>
            <a:off x="1452914" y="4573351"/>
            <a:ext cx="150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r>
              <a:rPr lang="en-IN" baseline="-25000" dirty="0" smtClean="0"/>
              <a:t> </a:t>
            </a:r>
            <a:r>
              <a:rPr lang="en-IN" dirty="0" smtClean="0"/>
              <a:t>= 0.91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0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19919" y="1963271"/>
            <a:ext cx="2823882" cy="2380129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4"/>
          </p:cNvCxnSpPr>
          <p:nvPr/>
        </p:nvCxnSpPr>
        <p:spPr>
          <a:xfrm>
            <a:off x="6131860" y="1963271"/>
            <a:ext cx="0" cy="238012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75392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out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3451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net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8613" y="2486833"/>
            <a:ext cx="4003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E = </a:t>
            </a:r>
            <a:r>
              <a:rPr lang="en-IN" sz="2400" u="sng" dirty="0" smtClean="0"/>
              <a:t>1</a:t>
            </a:r>
            <a:r>
              <a:rPr lang="en-IN" sz="2400" dirty="0" smtClean="0"/>
              <a:t>(actual – predicted)</a:t>
            </a:r>
            <a:r>
              <a:rPr lang="en-IN" sz="2400" baseline="30000" dirty="0" smtClean="0"/>
              <a:t>2</a:t>
            </a:r>
          </a:p>
          <a:p>
            <a:r>
              <a:rPr lang="en-IN" sz="2400" baseline="30000" dirty="0"/>
              <a:t> </a:t>
            </a:r>
            <a:r>
              <a:rPr lang="en-IN" sz="2400" baseline="30000" dirty="0" smtClean="0"/>
              <a:t>        </a:t>
            </a:r>
            <a:r>
              <a:rPr lang="en-IN" sz="2400" dirty="0" smtClean="0"/>
              <a:t>2</a:t>
            </a:r>
            <a:endParaRPr lang="en-IN" sz="2400" baseline="30000" dirty="0"/>
          </a:p>
        </p:txBody>
      </p:sp>
      <p:sp>
        <p:nvSpPr>
          <p:cNvPr id="10" name="Curved Down Arrow 9"/>
          <p:cNvSpPr/>
          <p:nvPr/>
        </p:nvSpPr>
        <p:spPr>
          <a:xfrm rot="9969597">
            <a:off x="6902203" y="3135935"/>
            <a:ext cx="1363196" cy="618564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1159268">
            <a:off x="5317787" y="3348101"/>
            <a:ext cx="1363196" cy="618564"/>
          </a:xfrm>
          <a:prstGeom prst="curved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68072" y="185605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68071" y="307714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3148440"/>
            <a:ext cx="2205319" cy="11949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Curved Right Arrow 15"/>
          <p:cNvSpPr/>
          <p:nvPr/>
        </p:nvSpPr>
        <p:spPr>
          <a:xfrm rot="6644755">
            <a:off x="4182941" y="1584907"/>
            <a:ext cx="608952" cy="1627094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18013" y="448139"/>
            <a:ext cx="8498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= out – actual = 0.51-1 = -0.49</a:t>
            </a:r>
          </a:p>
          <a:p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   </a:t>
            </a:r>
            <a:endParaRPr lang="en-IN" sz="360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57318" y="4927163"/>
            <a:ext cx="8534400" cy="1507067"/>
          </a:xfrm>
        </p:spPr>
        <p:txBody>
          <a:bodyPr/>
          <a:lstStyle/>
          <a:p>
            <a:r>
              <a:rPr lang="en-IN" dirty="0" smtClean="0"/>
              <a:t>Backward pass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027894" y="43434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 = 1-0.51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6464966" y="454438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Out=0.51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759589" y="4544384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net=0.23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3374281" y="4544384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w=0.38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562101" y="164087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endParaRPr lang="en-IN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452914" y="4573351"/>
            <a:ext cx="150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r>
              <a:rPr lang="en-IN" baseline="-25000" dirty="0" smtClean="0"/>
              <a:t> </a:t>
            </a:r>
            <a:r>
              <a:rPr lang="en-IN" dirty="0" smtClean="0"/>
              <a:t>= 0.91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71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19919" y="1963271"/>
            <a:ext cx="2823882" cy="2380129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4"/>
          </p:cNvCxnSpPr>
          <p:nvPr/>
        </p:nvCxnSpPr>
        <p:spPr>
          <a:xfrm>
            <a:off x="6131860" y="1963271"/>
            <a:ext cx="0" cy="238012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75392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out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3451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net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8613" y="2486833"/>
            <a:ext cx="4003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E = </a:t>
            </a:r>
            <a:r>
              <a:rPr lang="en-IN" sz="2400" u="sng" dirty="0" smtClean="0"/>
              <a:t>1</a:t>
            </a:r>
            <a:r>
              <a:rPr lang="en-IN" sz="2400" dirty="0" smtClean="0"/>
              <a:t>(actual – predicted)</a:t>
            </a:r>
            <a:r>
              <a:rPr lang="en-IN" sz="2400" baseline="30000" dirty="0" smtClean="0"/>
              <a:t>2</a:t>
            </a:r>
          </a:p>
          <a:p>
            <a:r>
              <a:rPr lang="en-IN" sz="2400" baseline="30000" dirty="0"/>
              <a:t> </a:t>
            </a:r>
            <a:r>
              <a:rPr lang="en-IN" sz="2400" baseline="30000" dirty="0" smtClean="0"/>
              <a:t>        </a:t>
            </a:r>
            <a:r>
              <a:rPr lang="en-IN" sz="2400" dirty="0" smtClean="0"/>
              <a:t>2</a:t>
            </a:r>
            <a:endParaRPr lang="en-IN" sz="2400" baseline="30000" dirty="0"/>
          </a:p>
        </p:txBody>
      </p:sp>
      <p:sp>
        <p:nvSpPr>
          <p:cNvPr id="10" name="Curved Down Arrow 9"/>
          <p:cNvSpPr/>
          <p:nvPr/>
        </p:nvSpPr>
        <p:spPr>
          <a:xfrm rot="9969597">
            <a:off x="6902203" y="3135935"/>
            <a:ext cx="1363196" cy="618564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1159268">
            <a:off x="5317787" y="3348101"/>
            <a:ext cx="1363196" cy="618564"/>
          </a:xfrm>
          <a:prstGeom prst="curved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68072" y="185605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68071" y="307714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3148440"/>
            <a:ext cx="2205319" cy="11949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Curved Right Arrow 15"/>
          <p:cNvSpPr/>
          <p:nvPr/>
        </p:nvSpPr>
        <p:spPr>
          <a:xfrm rot="6644755">
            <a:off x="4182941" y="1584907"/>
            <a:ext cx="608952" cy="1627094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15353" y="448139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= out * (1– out) = 0.51*-0.49 = -0.25</a:t>
            </a:r>
          </a:p>
          <a:p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net   </a:t>
            </a:r>
            <a:endParaRPr lang="en-IN" sz="360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57318" y="4927163"/>
            <a:ext cx="8534400" cy="1507067"/>
          </a:xfrm>
        </p:spPr>
        <p:txBody>
          <a:bodyPr/>
          <a:lstStyle/>
          <a:p>
            <a:r>
              <a:rPr lang="en-IN" dirty="0" smtClean="0"/>
              <a:t>Backward pass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027894" y="43434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 = 1-0.51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6464966" y="454438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Out=0.51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759589" y="4544384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net=0.23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3374281" y="4544384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w=0.38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562101" y="164087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endParaRPr lang="en-IN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452914" y="4573351"/>
            <a:ext cx="150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r>
              <a:rPr lang="en-IN" baseline="-25000" dirty="0" smtClean="0"/>
              <a:t> </a:t>
            </a:r>
            <a:r>
              <a:rPr lang="en-IN" dirty="0" smtClean="0"/>
              <a:t>= 0.91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98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19919" y="1963271"/>
            <a:ext cx="2823882" cy="2380129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4"/>
          </p:cNvCxnSpPr>
          <p:nvPr/>
        </p:nvCxnSpPr>
        <p:spPr>
          <a:xfrm>
            <a:off x="6131860" y="1963271"/>
            <a:ext cx="0" cy="238012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75392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out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3451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net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8613" y="2486833"/>
            <a:ext cx="4003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E = </a:t>
            </a:r>
            <a:r>
              <a:rPr lang="en-IN" sz="2400" u="sng" dirty="0" smtClean="0"/>
              <a:t>1</a:t>
            </a:r>
            <a:r>
              <a:rPr lang="en-IN" sz="2400" dirty="0" smtClean="0"/>
              <a:t>(actual – predicted)</a:t>
            </a:r>
            <a:r>
              <a:rPr lang="en-IN" sz="2400" baseline="30000" dirty="0" smtClean="0"/>
              <a:t>2</a:t>
            </a:r>
          </a:p>
          <a:p>
            <a:r>
              <a:rPr lang="en-IN" sz="2400" baseline="30000" dirty="0"/>
              <a:t> </a:t>
            </a:r>
            <a:r>
              <a:rPr lang="en-IN" sz="2400" baseline="30000" dirty="0" smtClean="0"/>
              <a:t>        </a:t>
            </a:r>
            <a:r>
              <a:rPr lang="en-IN" sz="2400" dirty="0" smtClean="0"/>
              <a:t>2</a:t>
            </a:r>
            <a:endParaRPr lang="en-IN" sz="2400" baseline="30000" dirty="0"/>
          </a:p>
        </p:txBody>
      </p:sp>
      <p:sp>
        <p:nvSpPr>
          <p:cNvPr id="10" name="Curved Down Arrow 9"/>
          <p:cNvSpPr/>
          <p:nvPr/>
        </p:nvSpPr>
        <p:spPr>
          <a:xfrm rot="9969597">
            <a:off x="6902203" y="3135935"/>
            <a:ext cx="1363196" cy="618564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1159268">
            <a:off x="5317787" y="3348101"/>
            <a:ext cx="1363196" cy="618564"/>
          </a:xfrm>
          <a:prstGeom prst="curved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68072" y="185605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68071" y="307714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3148440"/>
            <a:ext cx="2205319" cy="11949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Curved Right Arrow 15"/>
          <p:cNvSpPr/>
          <p:nvPr/>
        </p:nvSpPr>
        <p:spPr>
          <a:xfrm rot="6644755">
            <a:off x="4182941" y="1584907"/>
            <a:ext cx="608952" cy="1627094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15353" y="448139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l-GR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net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= </a:t>
            </a:r>
            <a:r>
              <a:rPr lang="en-IN" sz="36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</a:t>
            </a:r>
            <a:r>
              <a:rPr lang="en-IN" sz="3600" baseline="-250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hn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0.91</a:t>
            </a:r>
          </a:p>
          <a:p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l-GR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   </a:t>
            </a:r>
            <a:endParaRPr lang="en-IN" sz="360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57318" y="4927163"/>
            <a:ext cx="8534400" cy="1507067"/>
          </a:xfrm>
        </p:spPr>
        <p:txBody>
          <a:bodyPr/>
          <a:lstStyle/>
          <a:p>
            <a:r>
              <a:rPr lang="en-IN" dirty="0" smtClean="0"/>
              <a:t>Backward pass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027894" y="43434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 = 1-0.51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6464966" y="454438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Out=0.51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759589" y="4544384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net=0.23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3374281" y="4544384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w=0.38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562101" y="164087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 smtClean="0"/>
              <a:t>out</a:t>
            </a:r>
            <a:r>
              <a:rPr lang="en-IN" b="1" baseline="-25000" dirty="0" err="1" smtClean="0"/>
              <a:t>hn</a:t>
            </a:r>
            <a:endParaRPr lang="en-IN" b="1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452914" y="4573351"/>
            <a:ext cx="150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 smtClean="0"/>
              <a:t>Out</a:t>
            </a:r>
            <a:r>
              <a:rPr lang="en-IN" b="1" baseline="-25000" dirty="0" err="1" smtClean="0"/>
              <a:t>hn</a:t>
            </a:r>
            <a:r>
              <a:rPr lang="en-IN" b="1" baseline="-25000" dirty="0" smtClean="0"/>
              <a:t> </a:t>
            </a:r>
            <a:r>
              <a:rPr lang="en-IN" b="1" dirty="0" smtClean="0"/>
              <a:t>= 0.91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3541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19919" y="1963271"/>
            <a:ext cx="2823882" cy="2380129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4"/>
          </p:cNvCxnSpPr>
          <p:nvPr/>
        </p:nvCxnSpPr>
        <p:spPr>
          <a:xfrm>
            <a:off x="6131860" y="1963271"/>
            <a:ext cx="0" cy="238012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75392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out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3451" y="296866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net</a:t>
            </a:r>
            <a:endParaRPr lang="en-IN" b="1" baseline="-25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8613" y="2486833"/>
            <a:ext cx="4003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E = </a:t>
            </a:r>
            <a:r>
              <a:rPr lang="en-IN" sz="2400" u="sng" dirty="0" smtClean="0"/>
              <a:t>1</a:t>
            </a:r>
            <a:r>
              <a:rPr lang="en-IN" sz="2400" dirty="0" smtClean="0"/>
              <a:t>(actual – predicted)</a:t>
            </a:r>
            <a:r>
              <a:rPr lang="en-IN" sz="2400" baseline="30000" dirty="0" smtClean="0"/>
              <a:t>2</a:t>
            </a:r>
          </a:p>
          <a:p>
            <a:r>
              <a:rPr lang="en-IN" sz="2400" baseline="30000" dirty="0"/>
              <a:t> </a:t>
            </a:r>
            <a:r>
              <a:rPr lang="en-IN" sz="2400" baseline="30000" dirty="0" smtClean="0"/>
              <a:t>        </a:t>
            </a:r>
            <a:r>
              <a:rPr lang="en-IN" sz="2400" dirty="0" smtClean="0"/>
              <a:t>2</a:t>
            </a:r>
            <a:endParaRPr lang="en-IN" sz="2400" baseline="30000" dirty="0"/>
          </a:p>
        </p:txBody>
      </p:sp>
      <p:sp>
        <p:nvSpPr>
          <p:cNvPr id="10" name="Curved Down Arrow 9"/>
          <p:cNvSpPr/>
          <p:nvPr/>
        </p:nvSpPr>
        <p:spPr>
          <a:xfrm rot="9969597">
            <a:off x="6902203" y="3135935"/>
            <a:ext cx="1363196" cy="618564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1159268">
            <a:off x="5317787" y="3348101"/>
            <a:ext cx="1363196" cy="618564"/>
          </a:xfrm>
          <a:prstGeom prst="curved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68072" y="1856055"/>
            <a:ext cx="2451847" cy="129238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68071" y="3077148"/>
            <a:ext cx="2451848" cy="7129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3148440"/>
            <a:ext cx="2205319" cy="11949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Curved Right Arrow 15"/>
          <p:cNvSpPr/>
          <p:nvPr/>
        </p:nvSpPr>
        <p:spPr>
          <a:xfrm rot="6644755">
            <a:off x="4182941" y="1584907"/>
            <a:ext cx="608952" cy="1627094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657318" y="5223982"/>
            <a:ext cx="8534400" cy="1210248"/>
          </a:xfrm>
        </p:spPr>
        <p:txBody>
          <a:bodyPr/>
          <a:lstStyle/>
          <a:p>
            <a:r>
              <a:rPr lang="en-IN" dirty="0" smtClean="0"/>
              <a:t>Backward pass for any node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027894" y="43434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 = 1-0.51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6464966" y="454438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Out=0.51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759589" y="4544384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net=0.23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3374281" y="4544384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w=0.38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562101" y="164087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endParaRPr lang="en-IN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452914" y="4573351"/>
            <a:ext cx="150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Out</a:t>
            </a:r>
            <a:r>
              <a:rPr lang="en-IN" baseline="-25000" dirty="0" err="1" smtClean="0"/>
              <a:t>hn</a:t>
            </a:r>
            <a:r>
              <a:rPr lang="en-IN" baseline="-25000" dirty="0" smtClean="0"/>
              <a:t> </a:t>
            </a:r>
            <a:r>
              <a:rPr lang="en-IN" dirty="0" smtClean="0"/>
              <a:t>= 0.91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3720632" y="1074440"/>
            <a:ext cx="7306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24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 </a:t>
            </a:r>
            <a:r>
              <a:rPr lang="en-IN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 -0.49 * -0.25 * 0.91 = 0.11</a:t>
            </a:r>
          </a:p>
          <a:p>
            <a:r>
              <a:rPr lang="el-GR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</a:t>
            </a:r>
            <a:endParaRPr lang="en-IN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3720632" y="24582"/>
            <a:ext cx="7947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2800" u="sng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 </a:t>
            </a:r>
            <a:r>
              <a:rPr lang="en-IN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 (out-actual) * out*(1-out)* </a:t>
            </a:r>
            <a:r>
              <a:rPr lang="en-IN" sz="28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</a:t>
            </a:r>
            <a:r>
              <a:rPr lang="en-IN" sz="2800" baseline="-250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hn</a:t>
            </a:r>
            <a:endParaRPr lang="en-IN" sz="2800" baseline="-25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l-GR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4776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Learning rate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w</a:t>
            </a:r>
            <a:r>
              <a:rPr lang="en-IN" sz="3200" dirty="0" smtClean="0">
                <a:solidFill>
                  <a:schemeClr val="tx1"/>
                </a:solidFill>
              </a:rPr>
              <a:t> = w-</a:t>
            </a:r>
            <a:r>
              <a:rPr lang="el-GR" sz="3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η</a:t>
            </a:r>
            <a:r>
              <a:rPr lang="en-IN" sz="3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 </a:t>
            </a:r>
            <a:r>
              <a:rPr lang="el-GR" sz="3200" u="sng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200" u="sng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</a:t>
            </a:r>
            <a:r>
              <a:rPr lang="en-IN" sz="3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)</a:t>
            </a:r>
            <a:r>
              <a:rPr lang="en-IN" sz="3200" u="sng" dirty="0" smtClean="0">
                <a:solidFill>
                  <a:schemeClr val="tx1"/>
                </a:solidFill>
              </a:rPr>
              <a:t/>
            </a:r>
            <a:br>
              <a:rPr lang="en-IN" sz="3200" u="sng" dirty="0" smtClean="0">
                <a:solidFill>
                  <a:schemeClr val="tx1"/>
                </a:solidFill>
              </a:rPr>
            </a:br>
            <a:r>
              <a:rPr lang="en-IN" sz="3200" dirty="0" smtClean="0">
                <a:solidFill>
                  <a:schemeClr val="tx1"/>
                </a:solidFill>
              </a:rPr>
              <a:t>                </a:t>
            </a:r>
            <a:r>
              <a:rPr lang="el-GR" sz="3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δ</a:t>
            </a:r>
            <a:r>
              <a:rPr lang="en-IN" sz="3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57246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0011" y="261190"/>
            <a:ext cx="8428037" cy="5211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Tahoma" panose="020B0604030504040204" pitchFamily="34" charset="0"/>
              </a:rPr>
              <a:t>We can minimize error by </a:t>
            </a:r>
          </a:p>
          <a:p>
            <a:r>
              <a:rPr lang="en-GB" sz="2800" dirty="0">
                <a:solidFill>
                  <a:schemeClr val="tx1"/>
                </a:solidFill>
                <a:latin typeface="Tahoma" panose="020B0604030504040204" pitchFamily="34" charset="0"/>
              </a:rPr>
              <a:t>Adjusting neural network weights. </a:t>
            </a:r>
          </a:p>
          <a:p>
            <a:r>
              <a:rPr lang="en-US" sz="2800" dirty="0">
                <a:solidFill>
                  <a:schemeClr val="tx1"/>
                </a:solidFill>
              </a:rPr>
              <a:t>Weights are determined by </a:t>
            </a:r>
            <a:r>
              <a:rPr lang="en-US" sz="2800" i="1" dirty="0">
                <a:solidFill>
                  <a:schemeClr val="tx1"/>
                </a:solidFill>
              </a:rPr>
              <a:t>training</a:t>
            </a:r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Start out with initial random weights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Best to keep weights close to zero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Back-propagation: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On given input, compare actual output to desired output.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Adjust weights to output nodes.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Work backwards through the various layers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475129" y="5688107"/>
            <a:ext cx="7772400" cy="755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ea typeface="HG Mincho Light J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Franklin Gothic Book" panose="020B050302010202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Franklin Gothic Book" panose="020B0503020102020204" pitchFamily="34" charset="0"/>
              </a:rPr>
              <a:t>Back Propagation</a:t>
            </a:r>
          </a:p>
        </p:txBody>
      </p:sp>
    </p:spTree>
    <p:extLst>
      <p:ext uri="{BB962C8B-B14F-4D97-AF65-F5344CB8AC3E}">
        <p14:creationId xmlns:p14="http://schemas.microsoft.com/office/powerpoint/2010/main" val="168066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Backward pass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 order to apply the </a:t>
            </a:r>
            <a:r>
              <a:rPr lang="en-US" sz="28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backpropagation</a:t>
            </a: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algorithm, our activation function must be differentiable </a:t>
            </a:r>
            <a:r>
              <a:rPr lang="en-US" sz="2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so that </a:t>
            </a: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 can compute the partial derivative of the error with respect to a given </a:t>
            </a:r>
            <a:endParaRPr lang="en-US" sz="28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Loss (Error)</a:t>
            </a:r>
          </a:p>
          <a:p>
            <a:pPr lvl="1"/>
            <a:r>
              <a:rPr lang="en-US" sz="2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Node </a:t>
            </a:r>
            <a:r>
              <a:rPr lang="en-US" sz="26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ouput</a:t>
            </a:r>
            <a:endParaRPr lang="en-US" sz="26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Weight</a:t>
            </a:r>
            <a:endParaRPr lang="en-US" sz="2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endParaRPr lang="en-IN" sz="2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7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676399" y="394447"/>
            <a:ext cx="9040907" cy="5742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271463" indent="-2714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ea typeface="HG Mincho Light J" charset="0"/>
                <a:cs typeface="HG Mincho Light J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9pPr>
          </a:lstStyle>
          <a:p>
            <a:pPr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There are a plethora of different nonlinear optimization methods that we </a:t>
            </a:r>
            <a:r>
              <a:rPr lang="en-US" sz="2400" dirty="0" smtClean="0">
                <a:solidFill>
                  <a:schemeClr val="tx1"/>
                </a:solidFill>
                <a:latin typeface="+mn-lt"/>
              </a:rPr>
              <a:t>can use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with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backpropagation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 Few Optimization Methods:</a:t>
            </a: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Annealing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Stochastic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Gradient Descent</a:t>
            </a: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AW-SGD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(new!)</a:t>
            </a: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Momentum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(SGD)</a:t>
            </a: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n-lt"/>
              </a:rPr>
              <a:t>Nesterov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Momentum (SGD)</a:t>
            </a: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n-lt"/>
              </a:rPr>
              <a:t>AdaGrad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n-lt"/>
              </a:rPr>
              <a:t>AdaDelta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ADAM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BFGS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lvl="1">
              <a:spcBef>
                <a:spcPts val="575"/>
              </a:spcBef>
              <a:buClr>
                <a:srgbClr val="D34817"/>
              </a:buClr>
              <a:buSzPct val="85000"/>
              <a:buFont typeface="Wingdings 2" panose="05020102010507070707" pitchFamily="18" charset="2"/>
              <a:buChar char="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LBFGS </a:t>
            </a:r>
            <a:endParaRPr lang="en-GB" sz="28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56122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343443"/>
            <a:ext cx="8534400" cy="55212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Matrix Dimensions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7" y="5058878"/>
            <a:ext cx="6078069" cy="9041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65" y="404541"/>
            <a:ext cx="8447335" cy="37950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7506" y="5326268"/>
            <a:ext cx="254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 </a:t>
            </a:r>
            <a:r>
              <a:rPr lang="en-IN" b="1" dirty="0" smtClean="0"/>
              <a:t>any row, 1</a:t>
            </a:r>
            <a:r>
              <a:rPr lang="en-IN" b="1" baseline="30000" dirty="0" smtClean="0"/>
              <a:t>st</a:t>
            </a:r>
            <a:r>
              <a:rPr lang="en-IN" b="1" dirty="0" smtClean="0"/>
              <a:t> Layer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7848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977" y="5327068"/>
            <a:ext cx="8534400" cy="976613"/>
          </a:xfrm>
        </p:spPr>
        <p:txBody>
          <a:bodyPr/>
          <a:lstStyle/>
          <a:p>
            <a:r>
              <a:rPr lang="en-IN" dirty="0"/>
              <a:t>Matrix Dimensions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35" y="2388555"/>
            <a:ext cx="4407689" cy="9069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831009"/>
            <a:ext cx="4352925" cy="8961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785" y="3956878"/>
            <a:ext cx="5924550" cy="106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6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Dimensions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412" y="2718296"/>
            <a:ext cx="4798921" cy="6855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290573"/>
            <a:ext cx="5339746" cy="7686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3000" y="1490245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For 2</a:t>
            </a:r>
            <a:r>
              <a:rPr lang="en-IN" b="1" baseline="30000" dirty="0"/>
              <a:t>nd</a:t>
            </a:r>
            <a:r>
              <a:rPr lang="en-IN" b="1" dirty="0"/>
              <a:t>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2804122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For 3rd Layer</a:t>
            </a:r>
          </a:p>
        </p:txBody>
      </p:sp>
    </p:spTree>
    <p:extLst>
      <p:ext uri="{BB962C8B-B14F-4D97-AF65-F5344CB8AC3E}">
        <p14:creationId xmlns:p14="http://schemas.microsoft.com/office/powerpoint/2010/main" val="47285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Dimensions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0090"/>
            <a:ext cx="8534400" cy="11476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48030"/>
            <a:ext cx="4953000" cy="108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1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Graphs of derivatives of activation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19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Derivative of Sigmoid</a:t>
            </a:r>
            <a:endParaRPr lang="en-IN" dirty="0"/>
          </a:p>
        </p:txBody>
      </p:sp>
      <p:pic>
        <p:nvPicPr>
          <p:cNvPr id="7170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529" y="343079"/>
            <a:ext cx="5948083" cy="442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55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529" y="2190365"/>
            <a:ext cx="5679141" cy="320097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24" y="549290"/>
            <a:ext cx="3868737" cy="2131753"/>
          </a:xfrm>
          <a:solidFill>
            <a:schemeClr val="tx1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64869" y="3157815"/>
                <a:ext cx="2638992" cy="714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GB"/>
                </a:defPPr>
                <a:lvl1pPr>
                  <a:defRPr sz="24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HK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HK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zh-H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func>
                      <m:r>
                        <a:rPr lang="en-US" altLang="zh-HK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H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H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altLang="zh-HK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H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zh-HK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H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altLang="zh-HK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H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zh-HK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HK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869" y="3157815"/>
                <a:ext cx="2638992" cy="71493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012" y="1311289"/>
            <a:ext cx="2176604" cy="60775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079" y="3342880"/>
            <a:ext cx="868790" cy="44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1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Activation function activity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 smtClean="0">
                <a:solidFill>
                  <a:schemeClr val="tx1"/>
                </a:solidFill>
              </a:rPr>
              <a:t>Plot derivatives of </a:t>
            </a:r>
            <a:r>
              <a:rPr lang="en-IN" sz="3200" dirty="0" err="1" smtClean="0">
                <a:solidFill>
                  <a:schemeClr val="tx1"/>
                </a:solidFill>
              </a:rPr>
              <a:t>Relu</a:t>
            </a:r>
            <a:r>
              <a:rPr lang="en-IN" sz="3200" dirty="0" smtClean="0">
                <a:solidFill>
                  <a:schemeClr val="tx1"/>
                </a:solidFill>
              </a:rPr>
              <a:t> and Threshold functions</a:t>
            </a:r>
            <a:endParaRPr lang="en-IN" sz="32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7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2559425" y="254011"/>
            <a:ext cx="7772400" cy="69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ea typeface="HG Mincho Light J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Franklin Gothic Book" panose="020B0503020102020204" pitchFamily="34" charset="0"/>
              <a:buNone/>
            </a:pPr>
            <a:r>
              <a:rPr lang="en-GB" sz="3600" dirty="0">
                <a:solidFill>
                  <a:schemeClr val="tx1"/>
                </a:solidFill>
                <a:latin typeface="Franklin Gothic Book" panose="020B0503020102020204" pitchFamily="34" charset="0"/>
              </a:rPr>
              <a:t>Stochastic 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6272" y="1743636"/>
            <a:ext cx="36934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Gradient Descent requires a convex function and has one global minimum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888214"/>
            <a:ext cx="3962400" cy="2343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924" y="1272479"/>
            <a:ext cx="39556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8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2438400" y="155685"/>
            <a:ext cx="7772400" cy="69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ea typeface="HG Mincho Light J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Franklin Gothic Book" panose="020B0503020102020204" pitchFamily="34" charset="0"/>
              <a:buNone/>
            </a:pPr>
            <a:r>
              <a:rPr lang="en-GB" sz="3600" dirty="0">
                <a:solidFill>
                  <a:schemeClr val="tx1"/>
                </a:solidFill>
                <a:latin typeface="Franklin Gothic Book" panose="020B0503020102020204" pitchFamily="34" charset="0"/>
              </a:rPr>
              <a:t>Stochastic Gradient 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1" y="1219201"/>
            <a:ext cx="3933825" cy="2276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1" y="3657601"/>
            <a:ext cx="673417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2613212" y="1930697"/>
            <a:ext cx="7772400" cy="69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ea typeface="HG Mincho Light J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Franklin Gothic Book" panose="020B0503020102020204" pitchFamily="34" charset="0"/>
              <a:buNone/>
            </a:pPr>
            <a:r>
              <a:rPr lang="en-GB" sz="36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Mini Batch Gradient Descent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3212" y="2958353"/>
            <a:ext cx="746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Take batches of rows and perform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86555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908176"/>
            <a:ext cx="8534400" cy="1086223"/>
          </a:xfrm>
        </p:spPr>
        <p:txBody>
          <a:bodyPr/>
          <a:lstStyle/>
          <a:p>
            <a:r>
              <a:rPr lang="en-IN" dirty="0" err="1" smtClean="0"/>
              <a:t>Softmax</a:t>
            </a:r>
            <a:r>
              <a:rPr lang="en-IN" dirty="0" smtClean="0"/>
              <a:t> activation function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47" y="425823"/>
            <a:ext cx="8036860" cy="433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7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730624" y="5634318"/>
            <a:ext cx="7772400" cy="755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ea typeface="HG Mincho Light J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HG Mincho Light J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Franklin Gothic Book" panose="020B050302010202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Franklin Gothic Book" panose="020B0503020102020204" pitchFamily="34" charset="0"/>
              </a:rPr>
              <a:t>Loss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990600"/>
            <a:ext cx="776791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loss function (or objective function, or optimization score function) is one of the two parameters required to compile a model</a:t>
            </a:r>
          </a:p>
          <a:p>
            <a:endParaRPr lang="en-US" sz="24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sz="2000" dirty="0" err="1"/>
              <a:t>categorical_crossentropy</a:t>
            </a:r>
            <a:r>
              <a:rPr lang="en-IN" sz="2000" dirty="0"/>
              <a:t> - </a:t>
            </a:r>
            <a:r>
              <a:rPr lang="en-US" sz="2000" dirty="0"/>
              <a:t>If your targets are one-hot encoded, use </a:t>
            </a:r>
            <a:r>
              <a:rPr lang="en-US" sz="2000" dirty="0" err="1"/>
              <a:t>categorical_crossentropy</a:t>
            </a:r>
            <a:r>
              <a:rPr lang="en-US" sz="2000" dirty="0"/>
              <a:t>.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sz="2000" dirty="0" err="1"/>
              <a:t>sparse_categorical_crossentropy</a:t>
            </a:r>
            <a:r>
              <a:rPr lang="en-IN" sz="2000" dirty="0"/>
              <a:t> - </a:t>
            </a:r>
            <a:r>
              <a:rPr lang="en-US" sz="2000" dirty="0"/>
              <a:t> if your targets are integers, use </a:t>
            </a:r>
            <a:r>
              <a:rPr lang="en-US" sz="2000" dirty="0" err="1"/>
              <a:t>sparse_categorical_crossentropy</a:t>
            </a:r>
            <a:r>
              <a:rPr lang="en-US" sz="2000" dirty="0"/>
              <a:t>.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sz="2000" dirty="0" err="1"/>
              <a:t>binary_crossentropy</a:t>
            </a:r>
            <a:endParaRPr lang="en-IN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Mean Squared Error </a:t>
            </a:r>
          </a:p>
        </p:txBody>
      </p:sp>
    </p:spTree>
    <p:extLst>
      <p:ext uri="{BB962C8B-B14F-4D97-AF65-F5344CB8AC3E}">
        <p14:creationId xmlns:p14="http://schemas.microsoft.com/office/powerpoint/2010/main" val="280540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636" y="4957979"/>
            <a:ext cx="8534400" cy="1507067"/>
          </a:xfrm>
        </p:spPr>
        <p:txBody>
          <a:bodyPr/>
          <a:lstStyle/>
          <a:p>
            <a:r>
              <a:rPr lang="en-IN" dirty="0"/>
              <a:t>Loss </a:t>
            </a:r>
            <a:r>
              <a:rPr lang="en-IN" dirty="0" smtClean="0"/>
              <a:t>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6223" y="410103"/>
            <a:ext cx="8428037" cy="483076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Regression Loss </a:t>
            </a:r>
            <a:r>
              <a:rPr lang="en-IN" dirty="0" smtClean="0">
                <a:solidFill>
                  <a:schemeClr val="tx1"/>
                </a:solidFill>
              </a:rPr>
              <a:t>Functions - </a:t>
            </a:r>
            <a:r>
              <a:rPr lang="en-US" dirty="0">
                <a:solidFill>
                  <a:schemeClr val="tx1"/>
                </a:solidFill>
              </a:rPr>
              <a:t>A regression predictive modeling problem involves predicting a real-valued quantity.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Mean Squared Error Loss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Binary </a:t>
            </a:r>
            <a:r>
              <a:rPr lang="en-IN" dirty="0">
                <a:solidFill>
                  <a:schemeClr val="tx1"/>
                </a:solidFill>
              </a:rPr>
              <a:t>Classification Loss </a:t>
            </a:r>
            <a:r>
              <a:rPr lang="en-IN" dirty="0" smtClean="0">
                <a:solidFill>
                  <a:schemeClr val="tx1"/>
                </a:solidFill>
              </a:rPr>
              <a:t>Functions - </a:t>
            </a:r>
            <a:r>
              <a:rPr lang="en-US" dirty="0">
                <a:solidFill>
                  <a:schemeClr val="tx1"/>
                </a:solidFill>
              </a:rPr>
              <a:t>Binary classification are those predictive modeling problems where examples are assigned one of two labels.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Binary Cross-Entropy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Multi-Class </a:t>
            </a:r>
            <a:r>
              <a:rPr lang="en-IN" dirty="0">
                <a:solidFill>
                  <a:schemeClr val="tx1"/>
                </a:solidFill>
              </a:rPr>
              <a:t>Classification Loss </a:t>
            </a:r>
            <a:r>
              <a:rPr lang="en-IN" dirty="0" smtClean="0">
                <a:solidFill>
                  <a:schemeClr val="tx1"/>
                </a:solidFill>
              </a:rPr>
              <a:t>Functions - </a:t>
            </a:r>
            <a:r>
              <a:rPr lang="en-US" dirty="0">
                <a:solidFill>
                  <a:schemeClr val="tx1"/>
                </a:solidFill>
              </a:rPr>
              <a:t>Multi-Class classification are those predictive modeling problems where examples are assigned one of more than two classes.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Multi-Class Cross-Entropy Loss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Sparse Multiclass Cross-Entropy </a:t>
            </a:r>
            <a:r>
              <a:rPr lang="en-IN" dirty="0" smtClean="0">
                <a:solidFill>
                  <a:schemeClr val="tx1"/>
                </a:solidFill>
              </a:rPr>
              <a:t>Loss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52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 Training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7893" y="133901"/>
            <a:ext cx="8229600" cy="2514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Overtraining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An ANN can be made to work too well on a training set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But </a:t>
            </a:r>
            <a:r>
              <a:rPr lang="en-US" dirty="0" smtClean="0">
                <a:solidFill>
                  <a:schemeClr val="tx1"/>
                </a:solidFill>
              </a:rPr>
              <a:t>bad performance </a:t>
            </a:r>
            <a:r>
              <a:rPr lang="en-US" dirty="0">
                <a:solidFill>
                  <a:schemeClr val="tx1"/>
                </a:solidFill>
              </a:rPr>
              <a:t>on test sets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819" y="1999134"/>
            <a:ext cx="8126134" cy="2852182"/>
            <a:chOff x="476607" y="3048000"/>
            <a:chExt cx="8126134" cy="2852182"/>
          </a:xfrm>
        </p:grpSpPr>
        <p:sp>
          <p:nvSpPr>
            <p:cNvPr id="92164" name="Line 4"/>
            <p:cNvSpPr>
              <a:spLocks noChangeShapeType="1"/>
            </p:cNvSpPr>
            <p:nvPr/>
          </p:nvSpPr>
          <p:spPr bwMode="auto">
            <a:xfrm>
              <a:off x="935116" y="3452812"/>
              <a:ext cx="0" cy="22494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165" name="Line 5"/>
            <p:cNvSpPr>
              <a:spLocks noChangeShapeType="1"/>
            </p:cNvSpPr>
            <p:nvPr/>
          </p:nvSpPr>
          <p:spPr bwMode="auto">
            <a:xfrm>
              <a:off x="828754" y="5486400"/>
              <a:ext cx="7219950" cy="1428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167" name="Freeform 7"/>
            <p:cNvSpPr>
              <a:spLocks/>
            </p:cNvSpPr>
            <p:nvPr/>
          </p:nvSpPr>
          <p:spPr bwMode="auto">
            <a:xfrm>
              <a:off x="935116" y="3446462"/>
              <a:ext cx="7205663" cy="1620838"/>
            </a:xfrm>
            <a:custGeom>
              <a:avLst/>
              <a:gdLst>
                <a:gd name="T0" fmla="*/ 0 w 4539"/>
                <a:gd name="T1" fmla="*/ 1021 h 1021"/>
                <a:gd name="T2" fmla="*/ 804 w 4539"/>
                <a:gd name="T3" fmla="*/ 571 h 1021"/>
                <a:gd name="T4" fmla="*/ 1882 w 4539"/>
                <a:gd name="T5" fmla="*/ 199 h 1021"/>
                <a:gd name="T6" fmla="*/ 2695 w 4539"/>
                <a:gd name="T7" fmla="*/ 36 h 1021"/>
                <a:gd name="T8" fmla="*/ 3809 w 4539"/>
                <a:gd name="T9" fmla="*/ 4 h 1021"/>
                <a:gd name="T10" fmla="*/ 4539 w 4539"/>
                <a:gd name="T11" fmla="*/ 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39" h="1021">
                  <a:moveTo>
                    <a:pt x="0" y="1021"/>
                  </a:moveTo>
                  <a:cubicBezTo>
                    <a:pt x="245" y="864"/>
                    <a:pt x="490" y="708"/>
                    <a:pt x="804" y="571"/>
                  </a:cubicBezTo>
                  <a:cubicBezTo>
                    <a:pt x="1118" y="434"/>
                    <a:pt x="1567" y="288"/>
                    <a:pt x="1882" y="199"/>
                  </a:cubicBezTo>
                  <a:cubicBezTo>
                    <a:pt x="2197" y="110"/>
                    <a:pt x="2374" y="68"/>
                    <a:pt x="2695" y="36"/>
                  </a:cubicBezTo>
                  <a:cubicBezTo>
                    <a:pt x="3016" y="4"/>
                    <a:pt x="3502" y="8"/>
                    <a:pt x="3809" y="4"/>
                  </a:cubicBezTo>
                  <a:cubicBezTo>
                    <a:pt x="4116" y="0"/>
                    <a:pt x="4327" y="4"/>
                    <a:pt x="4539" y="9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168" name="Freeform 8"/>
            <p:cNvSpPr>
              <a:spLocks/>
            </p:cNvSpPr>
            <p:nvPr/>
          </p:nvSpPr>
          <p:spPr bwMode="auto">
            <a:xfrm>
              <a:off x="943054" y="3740150"/>
              <a:ext cx="7204075" cy="1327150"/>
            </a:xfrm>
            <a:custGeom>
              <a:avLst/>
              <a:gdLst>
                <a:gd name="T0" fmla="*/ 0 w 4538"/>
                <a:gd name="T1" fmla="*/ 836 h 836"/>
                <a:gd name="T2" fmla="*/ 1017 w 4538"/>
                <a:gd name="T3" fmla="*/ 381 h 836"/>
                <a:gd name="T4" fmla="*/ 2137 w 4538"/>
                <a:gd name="T5" fmla="*/ 60 h 836"/>
                <a:gd name="T6" fmla="*/ 2745 w 4538"/>
                <a:gd name="T7" fmla="*/ 23 h 836"/>
                <a:gd name="T8" fmla="*/ 3386 w 4538"/>
                <a:gd name="T9" fmla="*/ 126 h 836"/>
                <a:gd name="T10" fmla="*/ 3874 w 4538"/>
                <a:gd name="T11" fmla="*/ 321 h 836"/>
                <a:gd name="T12" fmla="*/ 4399 w 4538"/>
                <a:gd name="T13" fmla="*/ 683 h 836"/>
                <a:gd name="T14" fmla="*/ 4538 w 4538"/>
                <a:gd name="T15" fmla="*/ 79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8" h="836">
                  <a:moveTo>
                    <a:pt x="0" y="836"/>
                  </a:moveTo>
                  <a:cubicBezTo>
                    <a:pt x="330" y="673"/>
                    <a:pt x="661" y="510"/>
                    <a:pt x="1017" y="381"/>
                  </a:cubicBezTo>
                  <a:cubicBezTo>
                    <a:pt x="1373" y="252"/>
                    <a:pt x="1849" y="120"/>
                    <a:pt x="2137" y="60"/>
                  </a:cubicBezTo>
                  <a:cubicBezTo>
                    <a:pt x="2425" y="0"/>
                    <a:pt x="2537" y="12"/>
                    <a:pt x="2745" y="23"/>
                  </a:cubicBezTo>
                  <a:cubicBezTo>
                    <a:pt x="2953" y="34"/>
                    <a:pt x="3198" y="76"/>
                    <a:pt x="3386" y="126"/>
                  </a:cubicBezTo>
                  <a:cubicBezTo>
                    <a:pt x="3574" y="176"/>
                    <a:pt x="3705" y="228"/>
                    <a:pt x="3874" y="321"/>
                  </a:cubicBezTo>
                  <a:cubicBezTo>
                    <a:pt x="4043" y="414"/>
                    <a:pt x="4288" y="605"/>
                    <a:pt x="4399" y="683"/>
                  </a:cubicBezTo>
                  <a:cubicBezTo>
                    <a:pt x="4510" y="761"/>
                    <a:pt x="4514" y="772"/>
                    <a:pt x="4538" y="790"/>
                  </a:cubicBezTo>
                </a:path>
              </a:pathLst>
            </a:custGeom>
            <a:noFill/>
            <a:ln w="254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169" name="Text Box 9"/>
            <p:cNvSpPr txBox="1">
              <a:spLocks noChangeArrowheads="1"/>
            </p:cNvSpPr>
            <p:nvPr/>
          </p:nvSpPr>
          <p:spPr bwMode="auto">
            <a:xfrm>
              <a:off x="7034291" y="3048000"/>
              <a:ext cx="141605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Training set</a:t>
              </a:r>
            </a:p>
          </p:txBody>
        </p:sp>
        <p:sp>
          <p:nvSpPr>
            <p:cNvPr id="92170" name="Text Box 10"/>
            <p:cNvSpPr txBox="1">
              <a:spLocks noChangeArrowheads="1"/>
            </p:cNvSpPr>
            <p:nvPr/>
          </p:nvSpPr>
          <p:spPr bwMode="auto">
            <a:xfrm>
              <a:off x="7186691" y="3960812"/>
              <a:ext cx="141605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Test set</a:t>
              </a:r>
            </a:p>
          </p:txBody>
        </p:sp>
        <p:sp>
          <p:nvSpPr>
            <p:cNvPr id="92171" name="Text Box 11"/>
            <p:cNvSpPr txBox="1">
              <a:spLocks noChangeArrowheads="1"/>
            </p:cNvSpPr>
            <p:nvPr/>
          </p:nvSpPr>
          <p:spPr bwMode="auto">
            <a:xfrm rot="16200000">
              <a:off x="-174824" y="4068761"/>
              <a:ext cx="1672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Performance</a:t>
              </a:r>
            </a:p>
          </p:txBody>
        </p:sp>
        <p:sp>
          <p:nvSpPr>
            <p:cNvPr id="92172" name="Text Box 12"/>
            <p:cNvSpPr txBox="1">
              <a:spLocks noChangeArrowheads="1"/>
            </p:cNvSpPr>
            <p:nvPr/>
          </p:nvSpPr>
          <p:spPr bwMode="auto">
            <a:xfrm>
              <a:off x="6604079" y="5530850"/>
              <a:ext cx="18891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Training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964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 Design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1" y="685800"/>
            <a:ext cx="9105247" cy="36152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Number of layers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Apparently, three layers is almost always good enough and better than four layers.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Also: fewer layers are faster in execution and training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How many hidden nodes?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Many hidden nodes allow to learn more complicated patterns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Because of overtraining, almost always best to set the number of hidden nodes too low and then increase their numbers.</a:t>
            </a:r>
          </a:p>
        </p:txBody>
      </p:sp>
    </p:spTree>
    <p:extLst>
      <p:ext uri="{BB962C8B-B14F-4D97-AF65-F5344CB8AC3E}">
        <p14:creationId xmlns:p14="http://schemas.microsoft.com/office/powerpoint/2010/main" val="249628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2952</TotalTime>
  <Words>1029</Words>
  <Application>Microsoft Office PowerPoint</Application>
  <PresentationFormat>Widescreen</PresentationFormat>
  <Paragraphs>276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Adobe Fangsong Std R</vt:lpstr>
      <vt:lpstr>Arial Unicode MS</vt:lpstr>
      <vt:lpstr>微軟正黑體</vt:lpstr>
      <vt:lpstr>Adobe Arabic</vt:lpstr>
      <vt:lpstr>Arial</vt:lpstr>
      <vt:lpstr>Calibri</vt:lpstr>
      <vt:lpstr>Cambria Math</vt:lpstr>
      <vt:lpstr>Century Gothic</vt:lpstr>
      <vt:lpstr>Franklin Gothic Book</vt:lpstr>
      <vt:lpstr>HG Mincho Light J</vt:lpstr>
      <vt:lpstr>Tahoma</vt:lpstr>
      <vt:lpstr>Times New Roman</vt:lpstr>
      <vt:lpstr>Wingdings 2</vt:lpstr>
      <vt:lpstr>Wingdings 3</vt:lpstr>
      <vt:lpstr>Slice</vt:lpstr>
      <vt:lpstr>Gradient descent back propagation optimization methods activation functions loss functions ann design</vt:lpstr>
      <vt:lpstr>The derivative function</vt:lpstr>
      <vt:lpstr>How to find minima</vt:lpstr>
      <vt:lpstr>How to find minima</vt:lpstr>
      <vt:lpstr>back 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Backward pass – modify weight to minimise loss</vt:lpstr>
      <vt:lpstr>PowerPoint Presentation</vt:lpstr>
      <vt:lpstr>Backward pass</vt:lpstr>
      <vt:lpstr>Backward pass</vt:lpstr>
      <vt:lpstr>Backward pass</vt:lpstr>
      <vt:lpstr>Backward pass</vt:lpstr>
      <vt:lpstr>Backward pass for any node</vt:lpstr>
      <vt:lpstr>Learning rate</vt:lpstr>
      <vt:lpstr>PowerPoint Presentation</vt:lpstr>
      <vt:lpstr>Backward pass</vt:lpstr>
      <vt:lpstr>PowerPoint Presentation</vt:lpstr>
      <vt:lpstr>Matrix Dimensions</vt:lpstr>
      <vt:lpstr>Matrix Dimensions</vt:lpstr>
      <vt:lpstr>Matrix Dimensions</vt:lpstr>
      <vt:lpstr>Matrix Dimensions</vt:lpstr>
      <vt:lpstr>Graphs of derivatives of activation functions</vt:lpstr>
      <vt:lpstr>Derivative of Sigmoid</vt:lpstr>
      <vt:lpstr>PowerPoint Presentation</vt:lpstr>
      <vt:lpstr>Activation function activity</vt:lpstr>
      <vt:lpstr>PowerPoint Presentation</vt:lpstr>
      <vt:lpstr>PowerPoint Presentation</vt:lpstr>
      <vt:lpstr>PowerPoint Presentation</vt:lpstr>
      <vt:lpstr>Softmax activation function</vt:lpstr>
      <vt:lpstr>PowerPoint Presentation</vt:lpstr>
      <vt:lpstr>Loss Functions</vt:lpstr>
      <vt:lpstr>ANN Training</vt:lpstr>
      <vt:lpstr>ANN Design</vt:lpstr>
      <vt:lpstr>Thank you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propagation</dc:title>
  <dc:creator>Veena Sarda</dc:creator>
  <cp:lastModifiedBy>Veena Sarda</cp:lastModifiedBy>
  <cp:revision>32</cp:revision>
  <dcterms:created xsi:type="dcterms:W3CDTF">2020-07-15T04:55:55Z</dcterms:created>
  <dcterms:modified xsi:type="dcterms:W3CDTF">2022-06-08T06:33:43Z</dcterms:modified>
</cp:coreProperties>
</file>