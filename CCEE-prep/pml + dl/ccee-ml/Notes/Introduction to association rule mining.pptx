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68575"/>
            <a:ext cx="7772400" cy="1470025"/>
          </a:xfrm>
        </p:spPr>
        <p:txBody>
          <a:bodyPr/>
          <a:lstStyle/>
          <a:p>
            <a:r>
              <a:rPr lang="en-US" dirty="0" smtClean="0"/>
              <a:t>Introduction to Association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4841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2484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Association Analysis/Association Rule Mining</a:t>
            </a:r>
          </a:p>
          <a:p>
            <a:pPr lvl="1" algn="just"/>
            <a:r>
              <a:rPr lang="en-US" sz="2400" dirty="0" smtClean="0"/>
              <a:t>Process of identifying and extracting association between attribute value conditions that frequently occur together in the given dataset.</a:t>
            </a:r>
          </a:p>
          <a:p>
            <a:pPr lvl="1" algn="just"/>
            <a:r>
              <a:rPr lang="en-US" sz="2400" dirty="0" smtClean="0"/>
              <a:t>Represented in terms of association rules</a:t>
            </a:r>
          </a:p>
          <a:p>
            <a:pPr lvl="1" algn="just"/>
            <a:r>
              <a:rPr lang="en-US" sz="2400" dirty="0" smtClean="0"/>
              <a:t>An association rule is of the form,</a:t>
            </a:r>
          </a:p>
          <a:p>
            <a:pPr lvl="2" algn="just"/>
            <a:r>
              <a:rPr lang="en-US" sz="2000" dirty="0" smtClean="0"/>
              <a:t>X</a:t>
            </a:r>
            <a:r>
              <a:rPr lang="en-US" sz="2000" dirty="0" smtClean="0">
                <a:sym typeface="Symbol"/>
              </a:rPr>
              <a:t>Y where X &amp; Y are attribute value conditions such that XY=</a:t>
            </a:r>
          </a:p>
          <a:p>
            <a:pPr lvl="1" algn="just"/>
            <a:r>
              <a:rPr lang="en-US" sz="2400" dirty="0" smtClean="0">
                <a:sym typeface="Symbol"/>
              </a:rPr>
              <a:t>Interpretation: Those database tuples that satisfy attribute value condition in X likely to satisfy condition in Y</a:t>
            </a:r>
          </a:p>
          <a:p>
            <a:pPr lvl="1" algn="just"/>
            <a:endParaRPr lang="en-US" sz="2400" dirty="0" smtClean="0">
              <a:sym typeface="Symbol"/>
            </a:endParaRPr>
          </a:p>
          <a:p>
            <a:pPr lvl="1" algn="just"/>
            <a:r>
              <a:rPr lang="en-US" sz="2400" dirty="0" smtClean="0">
                <a:sym typeface="Symbol"/>
              </a:rPr>
              <a:t>For example, following rules from customer database,</a:t>
            </a:r>
          </a:p>
          <a:p>
            <a:pPr marL="457200" lvl="1" indent="0" algn="just">
              <a:buNone/>
            </a:pPr>
            <a:r>
              <a:rPr lang="en-US" sz="2400" dirty="0" smtClean="0">
                <a:sym typeface="Symbol"/>
              </a:rPr>
              <a:t>Buys (C, “computer”)  Buys (C, “software”)</a:t>
            </a:r>
          </a:p>
          <a:p>
            <a:pPr marL="457200" lvl="1" indent="0" algn="just">
              <a:buNone/>
            </a:pPr>
            <a:r>
              <a:rPr lang="en-US" sz="2400" dirty="0" smtClean="0">
                <a:sym typeface="Symbol"/>
              </a:rPr>
              <a:t>Income(C, “50K..80K”)  Age(C, “30..40”)  </a:t>
            </a:r>
          </a:p>
          <a:p>
            <a:pPr marL="457200" lvl="1" indent="0" algn="just">
              <a:buNone/>
            </a:pPr>
            <a:r>
              <a:rPr lang="en-US" sz="2400" dirty="0">
                <a:sym typeface="Symbol"/>
              </a:rPr>
              <a:t>	</a:t>
            </a:r>
            <a:r>
              <a:rPr lang="en-US" sz="2400" dirty="0" smtClean="0">
                <a:sym typeface="Symbol"/>
              </a:rPr>
              <a:t>			Buys(C, “home appliance”)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1725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229600" cy="63246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800" dirty="0" smtClean="0"/>
                  <a:t>Support &amp; Confidence of the rule</a:t>
                </a:r>
              </a:p>
              <a:p>
                <a:pPr lvl="1" algn="just"/>
                <a:r>
                  <a:rPr lang="en-US" sz="2400" dirty="0" smtClean="0"/>
                  <a:t>Support of the rule is its usefulness.</a:t>
                </a:r>
              </a:p>
              <a:p>
                <a:pPr lvl="1" algn="just"/>
                <a:r>
                  <a:rPr lang="en-US" sz="2400" dirty="0" smtClean="0"/>
                  <a:t>Defined as, </a:t>
                </a: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⇒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𝑛𝑢𝑚𝑏𝑒𝑟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𝑜𝑓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𝑡𝑢𝑝𝑙𝑒𝑠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𝑡h𝑎𝑡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𝑠𝑎𝑡𝑖𝑠𝑓𝑦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𝑏𝑜𝑡h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 &amp; 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𝑌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𝑡𝑜𝑡𝑎𝑙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𝑛𝑢𝑚𝑏𝑒𝑟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𝑜𝑓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𝑡𝑢𝑝𝑙𝑒𝑠</m:t>
                          </m:r>
                        </m:den>
                      </m:f>
                    </m:oMath>
                  </m:oMathPara>
                </a14:m>
                <a:endParaRPr lang="en-IN" sz="2400" dirty="0" smtClean="0"/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⇒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𝑃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𝑋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∪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𝑌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400" dirty="0" smtClean="0"/>
              </a:p>
              <a:p>
                <a:pPr marL="457200" lvl="1" indent="0" algn="just">
                  <a:buNone/>
                </a:pPr>
                <a:endParaRPr lang="en-US" sz="2400" dirty="0" smtClean="0"/>
              </a:p>
              <a:p>
                <a:pPr lvl="1" algn="just"/>
                <a:r>
                  <a:rPr lang="en-US" sz="2400" dirty="0" smtClean="0"/>
                  <a:t>Confidence of the rule is its validity, certainty or correctness</a:t>
                </a:r>
              </a:p>
              <a:p>
                <a:pPr lvl="1" algn="just"/>
                <a:r>
                  <a:rPr lang="en-US" sz="2400" dirty="0" smtClean="0"/>
                  <a:t>Defined as,</a:t>
                </a: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⇒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𝑡𝑢𝑝𝑙𝑒𝑠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𝑡h𝑎𝑡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𝑠𝑎𝑡𝑖𝑠𝑓𝑦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𝑏𝑜𝑡h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&amp;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𝑌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𝑡𝑢𝑝𝑙𝑒𝑠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𝑡h𝑎𝑡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𝑠𝑎𝑡𝑖𝑠𝑓𝑦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</m:den>
                      </m:f>
                    </m:oMath>
                  </m:oMathPara>
                </a14:m>
                <a:endParaRPr lang="en-US" sz="2400" dirty="0" smtClean="0"/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⇒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𝑃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</a:rPr>
                            <m:t>𝑌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</m:den>
                      </m:f>
                      <m:r>
                        <a:rPr lang="en-US" sz="2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 smtClean="0"/>
              </a:p>
              <a:p>
                <a:pPr algn="just"/>
                <a:r>
                  <a:rPr lang="en-US" sz="2800" dirty="0" smtClean="0"/>
                  <a:t>Strong rule &amp; exact rule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229600" cy="6324600"/>
              </a:xfrm>
              <a:blipFill rotWithShape="1">
                <a:blip r:embed="rId2"/>
                <a:stretch>
                  <a:fillRect l="-1259" t="-867" r="-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21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276600"/>
                <a:ext cx="8229600" cy="3429000"/>
              </a:xfrm>
            </p:spPr>
            <p:txBody>
              <a:bodyPr>
                <a:normAutofit/>
              </a:bodyPr>
              <a:lstStyle/>
              <a:p>
                <a:r>
                  <a:rPr lang="en-IN" sz="2400" dirty="0" smtClean="0"/>
                  <a:t>Let number of transactions be 100</a:t>
                </a:r>
              </a:p>
              <a:p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/>
                          </a:rPr>
                          <m:t>𝑡𝑜𝑜𝑡h𝑏𝑟𝑢𝑠h</m:t>
                        </m:r>
                        <m:r>
                          <a:rPr lang="en-IN" sz="2400" b="0" i="1" smtClean="0">
                            <a:latin typeface="Cambria Math"/>
                          </a:rPr>
                          <m:t>⇒</m:t>
                        </m:r>
                        <m:r>
                          <a:rPr lang="en-IN" sz="2400" b="0" i="1" smtClean="0">
                            <a:latin typeface="Cambria Math"/>
                          </a:rPr>
                          <m:t>𝑚𝑖𝑙𝑘</m:t>
                        </m:r>
                      </m:e>
                    </m:d>
                  </m:oMath>
                </a14:m>
                <a:endParaRPr lang="en-IN" sz="24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/>
                            </a:rPr>
                            <m:t>10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/>
                            </a:rPr>
                            <m:t>14</m:t>
                          </m:r>
                        </m:den>
                      </m:f>
                      <m:r>
                        <a:rPr lang="en-IN" sz="2400" b="0" i="1" smtClean="0">
                          <a:latin typeface="Cambria Math"/>
                        </a:rPr>
                        <m:t>=0.714</m:t>
                      </m:r>
                    </m:oMath>
                  </m:oMathPara>
                </a14:m>
                <a:endParaRPr lang="en-IN" sz="2400" dirty="0" smtClean="0"/>
              </a:p>
              <a:p>
                <a:r>
                  <a:rPr lang="en-IN" sz="2400" dirty="0" smtClean="0"/>
                  <a:t>lift is defined as,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/>
                        </a:rPr>
                        <m:t>𝑙𝑖𝑓𝑡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⇒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IN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/>
                            </a:rPr>
                            <m:t>𝑐𝑜𝑛𝑓𝑖𝑑𝑒𝑛𝑐𝑐𝑒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 (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⇒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𝑌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/>
                            </a:rPr>
                            <m:t>𝑠𝑢𝑝𝑝𝑜𝑟𝑡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 (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𝑌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400" dirty="0" smtClean="0"/>
              </a:p>
              <a:p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/>
                          </a:rPr>
                          <m:t>𝑡𝑜𝑜𝑡h𝑏𝑟𝑢𝑠h</m:t>
                        </m:r>
                        <m:r>
                          <a:rPr lang="en-IN" sz="2400" b="0" i="1" smtClean="0">
                            <a:latin typeface="Cambria Math"/>
                          </a:rPr>
                          <m:t>⇒</m:t>
                        </m:r>
                        <m:r>
                          <a:rPr lang="en-IN" sz="2400" b="0" i="1" smtClean="0">
                            <a:latin typeface="Cambria Math"/>
                          </a:rPr>
                          <m:t>𝑚𝑖𝑙𝑘</m:t>
                        </m:r>
                      </m:e>
                    </m:d>
                    <m:r>
                      <a:rPr lang="en-IN" sz="2400" b="0" i="1" smtClean="0">
                        <a:latin typeface="Cambria Math"/>
                      </a:rPr>
                      <m:t>=</m:t>
                    </m:r>
                    <m:f>
                      <m:fPr>
                        <m:type m:val="skw"/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/>
                          </a:rPr>
                          <m:t>0.714</m:t>
                        </m:r>
                      </m:num>
                      <m:den>
                        <m:r>
                          <a:rPr lang="en-IN" sz="2400" b="0" i="1" smtClean="0">
                            <a:latin typeface="Cambria Math"/>
                          </a:rPr>
                          <m:t>0.8</m:t>
                        </m:r>
                      </m:den>
                    </m:f>
                    <m:r>
                      <a:rPr lang="en-IN" sz="2400" b="0" i="1" smtClean="0">
                        <a:latin typeface="Cambria Math"/>
                      </a:rPr>
                      <m:t>=0.89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276600"/>
                <a:ext cx="8229600" cy="3429000"/>
              </a:xfrm>
              <a:blipFill>
                <a:blip r:embed="rId2"/>
                <a:stretch>
                  <a:fillRect l="-963" t="-1423" b="-137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for pos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76571"/>
            <a:ext cx="4829175" cy="2947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21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Types of association rules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Based on type of value</a:t>
            </a:r>
          </a:p>
          <a:p>
            <a:pPr lvl="1" indent="-342900"/>
            <a:r>
              <a:rPr lang="en-US" sz="2400" dirty="0" smtClean="0"/>
              <a:t>Boolean rules deal with absence &amp; presence of values</a:t>
            </a:r>
          </a:p>
          <a:p>
            <a:pPr marL="400050" lvl="1" indent="0">
              <a:buNone/>
            </a:pPr>
            <a:r>
              <a:rPr lang="en-US" sz="2400" dirty="0">
                <a:sym typeface="Symbol"/>
              </a:rPr>
              <a:t>Buys (C, “computer”)  Buys (C, “software”)</a:t>
            </a:r>
          </a:p>
          <a:p>
            <a:pPr lvl="1" indent="-342900"/>
            <a:r>
              <a:rPr lang="en-US" sz="2400" dirty="0" smtClean="0"/>
              <a:t>Quantitative rules deal with range of values</a:t>
            </a:r>
          </a:p>
          <a:p>
            <a:pPr marL="457200" lvl="1" indent="0" algn="just">
              <a:buNone/>
            </a:pPr>
            <a:r>
              <a:rPr lang="en-US" sz="2400" dirty="0">
                <a:sym typeface="Symbol"/>
              </a:rPr>
              <a:t>Income(C, “50K..80K”)  Age(C, “30..40”)  </a:t>
            </a:r>
          </a:p>
          <a:p>
            <a:pPr marL="457200" lvl="1" indent="0" algn="just">
              <a:buNone/>
            </a:pPr>
            <a:r>
              <a:rPr lang="en-US" sz="2400" dirty="0">
                <a:sym typeface="Symbol"/>
              </a:rPr>
              <a:t>				Buys(C, “home appliance”)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Based on number of attributes</a:t>
            </a:r>
          </a:p>
          <a:p>
            <a:pPr lvl="1"/>
            <a:r>
              <a:rPr lang="en-US" sz="2400" dirty="0" smtClean="0"/>
              <a:t>Single dimensional</a:t>
            </a:r>
          </a:p>
          <a:p>
            <a:pPr lvl="1"/>
            <a:r>
              <a:rPr lang="en-US" sz="2400" dirty="0" smtClean="0"/>
              <a:t>Multi-dimensional</a:t>
            </a:r>
          </a:p>
          <a:p>
            <a:pPr marL="514350" indent="-457200">
              <a:buFont typeface="+mj-lt"/>
              <a:buAutoNum type="arabicPeriod"/>
            </a:pPr>
            <a:r>
              <a:rPr lang="en-US" sz="2800" dirty="0" smtClean="0"/>
              <a:t>Based on level of abstraction</a:t>
            </a:r>
          </a:p>
          <a:p>
            <a:pPr marL="914400" lvl="1" indent="-457200"/>
            <a:r>
              <a:rPr lang="en-US" sz="2400" dirty="0" smtClean="0"/>
              <a:t>Single level</a:t>
            </a:r>
          </a:p>
          <a:p>
            <a:pPr marL="914400" lvl="1" indent="-457200"/>
            <a:r>
              <a:rPr lang="en-US" sz="2400" dirty="0" smtClean="0"/>
              <a:t>Multi-level</a:t>
            </a:r>
          </a:p>
          <a:p>
            <a:pPr marL="457200" lvl="1" indent="0">
              <a:buNone/>
            </a:pPr>
            <a:r>
              <a:rPr lang="en-US" sz="2400" dirty="0" smtClean="0"/>
              <a:t>Buys (C, “HP laptop”) </a:t>
            </a:r>
            <a:r>
              <a:rPr lang="en-US" sz="2400" dirty="0" smtClean="0">
                <a:sym typeface="Symbol"/>
              </a:rPr>
              <a:t> Buys (C, “MATLAB”)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9478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229600" cy="6324600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 smtClean="0"/>
                  <a:t>Consider a set of data items/products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𝐼</m:t>
                    </m:r>
                    <m:r>
                      <a:rPr lang="en-US" b="0" i="1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dirty="0" smtClean="0"/>
                  <a:t> and set of transactions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𝐷</m:t>
                    </m:r>
                    <m:r>
                      <a:rPr lang="en-US" b="0" i="1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dirty="0" smtClean="0"/>
                  <a:t> such that each transaction T</a:t>
                </a:r>
                <a:r>
                  <a:rPr lang="en-US" dirty="0" smtClean="0">
                    <a:sym typeface="Symbol"/>
                  </a:rPr>
                  <a:t>I</a:t>
                </a:r>
                <a:endParaRPr lang="en-US" dirty="0" smtClean="0"/>
              </a:p>
              <a:p>
                <a:r>
                  <a:rPr lang="en-US" sz="2800" dirty="0" smtClean="0"/>
                  <a:t>Basic terms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US" sz="2400" dirty="0" smtClean="0"/>
                  <a:t>Item set: A set of data items from I </a:t>
                </a:r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𝐴</m:t>
                      </m:r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  </m:t>
                      </m:r>
                      <m:r>
                        <a:rPr lang="en-US" sz="2000" b="0" i="1" smtClean="0">
                          <a:latin typeface="Cambria Math"/>
                        </a:rPr>
                        <m:t>𝐵</m:t>
                      </m:r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   </m:t>
                      </m:r>
                      <m:r>
                        <a:rPr lang="en-US" sz="2000" b="0" i="1" smtClean="0">
                          <a:latin typeface="Cambria Math"/>
                        </a:rPr>
                        <m:t>𝐶</m:t>
                      </m:r>
                      <m:r>
                        <a:rPr lang="en-US" sz="2000" b="0" i="1" smtClean="0">
                          <a:latin typeface="Cambria Math"/>
                        </a:rPr>
                        <m:t>={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IN" sz="2000" dirty="0" smtClean="0"/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sz="2400" dirty="0" smtClean="0"/>
                  <a:t>K-item set: A set of K data items from I</a:t>
                </a:r>
              </a:p>
              <a:p>
                <a:pPr marL="857250" lvl="1" indent="-457200" algn="just">
                  <a:buFont typeface="+mj-lt"/>
                  <a:buAutoNum type="arabicPeriod"/>
                </a:pPr>
                <a:r>
                  <a:rPr lang="en-US" sz="2400" dirty="0" smtClean="0"/>
                  <a:t>Support count: occurrence frequency of an </a:t>
                </a:r>
                <a:r>
                  <a:rPr lang="en-US" sz="2400" dirty="0" err="1" smtClean="0"/>
                  <a:t>itemset</a:t>
                </a:r>
                <a:r>
                  <a:rPr lang="en-US" sz="2400" dirty="0" smtClean="0"/>
                  <a:t> with respect to the given set of transactions</a:t>
                </a:r>
              </a:p>
              <a:p>
                <a:pPr marL="800100" lvl="2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𝐴</m:t>
                      </m:r>
                      <m:r>
                        <a:rPr lang="en-US" sz="20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</a:rPr>
                        <m:t>→2  </m:t>
                      </m:r>
                      <m:r>
                        <a:rPr lang="en-US" sz="2000" i="1">
                          <a:latin typeface="Cambria Math"/>
                        </a:rPr>
                        <m:t> </m:t>
                      </m:r>
                      <m:r>
                        <a:rPr lang="en-US" sz="2000" i="1">
                          <a:latin typeface="Cambria Math"/>
                        </a:rPr>
                        <m:t>𝐵</m:t>
                      </m:r>
                      <m:r>
                        <a:rPr lang="en-US" sz="20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</a:rPr>
                        <m:t>→3 </m:t>
                      </m:r>
                      <m:r>
                        <a:rPr lang="en-US" sz="2000" i="1">
                          <a:latin typeface="Cambria Math"/>
                        </a:rPr>
                        <m:t>  </m:t>
                      </m:r>
                      <m:r>
                        <a:rPr lang="en-US" sz="2000" i="1">
                          <a:latin typeface="Cambria Math"/>
                        </a:rPr>
                        <m:t>𝐶</m:t>
                      </m:r>
                      <m:r>
                        <a:rPr lang="en-US" sz="20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→6</m:t>
                      </m:r>
                    </m:oMath>
                  </m:oMathPara>
                </a14:m>
                <a:endParaRPr lang="en-IN" sz="2000" dirty="0"/>
              </a:p>
              <a:p>
                <a:pPr marL="857250" lvl="1" indent="-457200" algn="just">
                  <a:buFont typeface="+mj-lt"/>
                  <a:buAutoNum type="arabicPeriod"/>
                </a:pPr>
                <a:r>
                  <a:rPr lang="en-US" sz="2400" dirty="0" smtClean="0"/>
                  <a:t>Minimum support: product of support threshold and number of transactions in the </a:t>
                </a:r>
                <a:r>
                  <a:rPr lang="en-US" sz="2400" dirty="0" err="1" smtClean="0"/>
                  <a:t>db</a:t>
                </a:r>
                <a:endParaRPr lang="en-US" sz="2400" dirty="0" smtClean="0"/>
              </a:p>
              <a:p>
                <a:pPr marL="857250" lvl="1" indent="-457200" algn="just">
                  <a:buFont typeface="+mj-lt"/>
                  <a:buAutoNum type="arabicPeriod"/>
                </a:pPr>
                <a:r>
                  <a:rPr lang="en-US" sz="2400" dirty="0" smtClean="0"/>
                  <a:t>Frequent item set: An item set which satisfies minimum support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229600" cy="6324600"/>
              </a:xfrm>
              <a:blipFill rotWithShape="1">
                <a:blip r:embed="rId2"/>
                <a:stretch>
                  <a:fillRect l="-1259" t="-867" r="-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508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229600" cy="6324600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 smtClean="0"/>
                  <a:t>The set of frequent K item sets is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en-IN" sz="2800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={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},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{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},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{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5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},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{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6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},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{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8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/>
                      </a:rPr>
                      <m:t>}</m:t>
                    </m:r>
                  </m:oMath>
                </a14:m>
                <a:endParaRPr lang="en-IN" sz="2400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={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/>
                      </a:rPr>
                      <m:t>}</m:t>
                    </m:r>
                  </m:oMath>
                </a14:m>
                <a:endParaRPr lang="en-IN" sz="2400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={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6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8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/>
                      </a:rPr>
                      <m:t>}</m:t>
                    </m:r>
                  </m:oMath>
                </a14:m>
                <a:endParaRPr lang="en-IN" sz="2400" dirty="0" smtClean="0"/>
              </a:p>
              <a:p>
                <a:pPr lvl="1"/>
                <a:endParaRPr lang="en-US" sz="2400" dirty="0"/>
              </a:p>
              <a:p>
                <a:r>
                  <a:rPr lang="en-US" sz="2800" dirty="0" smtClean="0"/>
                  <a:t>Generating strong boolean</a:t>
                </a:r>
                <a:r>
                  <a:rPr lang="en-US" sz="2800" dirty="0"/>
                  <a:t> </a:t>
                </a:r>
                <a:r>
                  <a:rPr lang="en-US" sz="2800" dirty="0" smtClean="0"/>
                  <a:t>rules requires two steps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US" sz="2400" dirty="0" smtClean="0"/>
                  <a:t>Finding all frequent item sets in the dataset using support threshold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US" sz="2400" dirty="0" smtClean="0"/>
                  <a:t>Extracting strong rules using confidence threshold</a:t>
                </a:r>
              </a:p>
              <a:p>
                <a:pPr marL="914400" lvl="1" indent="-514350">
                  <a:buFont typeface="+mj-lt"/>
                  <a:buAutoNum type="arabicPeriod"/>
                </a:pPr>
                <a:endParaRPr lang="en-US" sz="2400" dirty="0"/>
              </a:p>
              <a:p>
                <a:r>
                  <a:rPr lang="en-US" sz="2800" dirty="0" err="1" smtClean="0"/>
                  <a:t>Apriori</a:t>
                </a:r>
                <a:r>
                  <a:rPr lang="en-US" sz="2800" dirty="0" smtClean="0"/>
                  <a:t> Algorithm</a:t>
                </a:r>
              </a:p>
              <a:p>
                <a:pPr lvl="1" algn="just"/>
                <a:r>
                  <a:rPr lang="en-US" sz="2400" dirty="0" smtClean="0"/>
                  <a:t>Used in step 1, to find all frequent item sets in the dataset using support threshold</a:t>
                </a:r>
              </a:p>
              <a:p>
                <a:pPr lvl="1"/>
                <a:r>
                  <a:rPr lang="en-US" sz="2400" dirty="0" smtClean="0"/>
                  <a:t>Employs level-wise search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229600" cy="6324600"/>
              </a:xfrm>
              <a:blipFill rotWithShape="1">
                <a:blip r:embed="rId2"/>
                <a:stretch>
                  <a:fillRect l="-1259" t="-867" r="-1852" b="-5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094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28600"/>
                <a:ext cx="8229600" cy="63246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800" dirty="0" smtClean="0"/>
                  <a:t>Apriori Algorithm (Continued….)</a:t>
                </a:r>
              </a:p>
              <a:p>
                <a:pPr lvl="1" algn="just"/>
                <a:r>
                  <a:rPr lang="en-US" sz="2400" dirty="0" smtClean="0"/>
                  <a:t>Uses </a:t>
                </a:r>
                <a:r>
                  <a:rPr lang="en-US" sz="2400" dirty="0" err="1" smtClean="0"/>
                  <a:t>Apriori</a:t>
                </a:r>
                <a:r>
                  <a:rPr lang="en-US" sz="2400" dirty="0" smtClean="0"/>
                  <a:t> property to reduce number of </a:t>
                </a:r>
                <a:r>
                  <a:rPr lang="en-US" sz="2400" dirty="0" err="1" smtClean="0"/>
                  <a:t>db</a:t>
                </a:r>
                <a:r>
                  <a:rPr lang="en-US" sz="2400" dirty="0" smtClean="0"/>
                  <a:t> scans</a:t>
                </a:r>
              </a:p>
              <a:p>
                <a:pPr lvl="1" algn="just"/>
                <a:r>
                  <a:rPr lang="en-US" sz="2400" dirty="0" err="1" smtClean="0"/>
                  <a:t>Apriori</a:t>
                </a:r>
                <a:r>
                  <a:rPr lang="en-US" sz="2400" dirty="0" smtClean="0"/>
                  <a:t> property: All non-empty subsets of a frequent item set must be frequent.</a:t>
                </a:r>
              </a:p>
              <a:p>
                <a:pPr lvl="1" algn="just"/>
                <a:r>
                  <a:rPr lang="en-US" sz="2400" dirty="0" smtClean="0"/>
                  <a:t>How is it used to reduce number of </a:t>
                </a:r>
                <a:r>
                  <a:rPr lang="en-US" sz="2400" dirty="0" err="1" smtClean="0"/>
                  <a:t>db</a:t>
                </a:r>
                <a:r>
                  <a:rPr lang="en-US" sz="2400" dirty="0" smtClean="0"/>
                  <a:t> scans?</a:t>
                </a:r>
              </a:p>
              <a:p>
                <a:pPr marL="457200" lvl="1" indent="0" algn="just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dirty="0" smtClean="0"/>
                  <a:t> and let minimum support be 3</a:t>
                </a:r>
              </a:p>
              <a:p>
                <a:pPr marL="457200" lvl="1" indent="0" algn="just">
                  <a:buNone/>
                </a:pPr>
                <a:r>
                  <a:rPr lang="en-US" sz="2400" dirty="0" smtClean="0"/>
                  <a:t>Its non-empty subsets are:</a:t>
                </a: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→6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→7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→5</m:t>
                      </m:r>
                    </m:oMath>
                  </m:oMathPara>
                </a14:m>
                <a:endParaRPr lang="en-IN" sz="2400" dirty="0" smtClean="0"/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→3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→4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→4</m:t>
                      </m:r>
                    </m:oMath>
                  </m:oMathPara>
                </a14:m>
                <a:endParaRPr lang="en-IN" sz="2400" dirty="0" smtClean="0"/>
              </a:p>
              <a:p>
                <a:pPr marL="457200" lvl="1" indent="0" algn="just">
                  <a:buNone/>
                </a:pPr>
                <a:endParaRPr lang="en-US" sz="2400" dirty="0"/>
              </a:p>
              <a:p>
                <a:pPr lvl="1" algn="just"/>
                <a:r>
                  <a:rPr lang="en-US" sz="2400" dirty="0" smtClean="0"/>
                  <a:t>Two steps executed iteratively</a:t>
                </a:r>
              </a:p>
              <a:p>
                <a:pPr marL="1314450" lvl="2" indent="-457200" algn="just">
                  <a:buFont typeface="+mj-lt"/>
                  <a:buAutoNum type="arabicPeriod"/>
                </a:pPr>
                <a:r>
                  <a:rPr lang="en-US" sz="2000" dirty="0" smtClean="0"/>
                  <a:t>Join: generate candidate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sz="2000" dirty="0" smtClean="0"/>
                  <a:t> by joining previous level frequent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sz="2000" dirty="0" smtClean="0"/>
                  <a:t> with itself.</a:t>
                </a:r>
              </a:p>
              <a:p>
                <a:pPr marL="857250" lvl="2" indent="0" algn="just">
                  <a:buNone/>
                </a:pPr>
                <a:r>
                  <a:rPr lang="en-US" sz="2000" dirty="0"/>
                  <a:t>	</a:t>
                </a:r>
                <a:r>
                  <a:rPr lang="en-US" sz="2000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endParaRPr lang="en-IN" sz="2000" dirty="0" smtClean="0"/>
              </a:p>
              <a:p>
                <a:pPr marL="1314450" lvl="2" indent="-457200" algn="just">
                  <a:buFont typeface="+mj-lt"/>
                  <a:buAutoNum type="arabicPeriod" startAt="2"/>
                </a:pPr>
                <a:r>
                  <a:rPr lang="en-US" sz="2000" dirty="0" smtClean="0"/>
                  <a:t>Prune: non-frequent members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sz="2000" dirty="0" smtClean="0"/>
                  <a:t> are deleted</a:t>
                </a: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28600"/>
                <a:ext cx="8229600" cy="6324600"/>
              </a:xfrm>
              <a:blipFill rotWithShape="1">
                <a:blip r:embed="rId2"/>
                <a:stretch>
                  <a:fillRect l="-1259" t="-868" r="-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836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1473559"/>
              </p:ext>
            </p:extLst>
          </p:nvPr>
        </p:nvGraphicFramePr>
        <p:xfrm>
          <a:off x="228600" y="228600"/>
          <a:ext cx="2362200" cy="2971801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543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sz="1600" b="1">
                          <a:effectLst/>
                        </a:rPr>
                        <a:t>Transaction</a:t>
                      </a:r>
                    </a:p>
                  </a:txBody>
                  <a:tcPr marL="27984" marR="27984" marT="27984" marB="279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sz="1600" b="1">
                          <a:effectLst/>
                        </a:rPr>
                        <a:t>List of items</a:t>
                      </a:r>
                    </a:p>
                  </a:txBody>
                  <a:tcPr marL="27984" marR="27984" marT="27984" marB="279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T1</a:t>
                      </a:r>
                    </a:p>
                  </a:txBody>
                  <a:tcPr marL="27984" marR="27984" marT="27984" marB="27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I1,I2,I3</a:t>
                      </a:r>
                    </a:p>
                  </a:txBody>
                  <a:tcPr marL="27984" marR="27984" marT="27984" marB="27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T2</a:t>
                      </a:r>
                    </a:p>
                  </a:txBody>
                  <a:tcPr marL="27984" marR="27984" marT="27984" marB="27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I2,I3,I4</a:t>
                      </a:r>
                    </a:p>
                  </a:txBody>
                  <a:tcPr marL="27984" marR="27984" marT="27984" marB="27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T3</a:t>
                      </a:r>
                    </a:p>
                  </a:txBody>
                  <a:tcPr marL="27984" marR="27984" marT="27984" marB="27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I4,I5</a:t>
                      </a:r>
                    </a:p>
                  </a:txBody>
                  <a:tcPr marL="27984" marR="27984" marT="27984" marB="27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T4</a:t>
                      </a:r>
                    </a:p>
                  </a:txBody>
                  <a:tcPr marL="27984" marR="27984" marT="27984" marB="27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I1,I2,I4</a:t>
                      </a:r>
                    </a:p>
                  </a:txBody>
                  <a:tcPr marL="27984" marR="27984" marT="27984" marB="27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T5</a:t>
                      </a:r>
                    </a:p>
                  </a:txBody>
                  <a:tcPr marL="27984" marR="27984" marT="27984" marB="27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I1,I2,I3,I5</a:t>
                      </a:r>
                    </a:p>
                  </a:txBody>
                  <a:tcPr marL="27984" marR="27984" marT="27984" marB="27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T6</a:t>
                      </a:r>
                    </a:p>
                  </a:txBody>
                  <a:tcPr marL="27984" marR="27984" marT="27984" marB="27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 dirty="0">
                          <a:effectLst/>
                        </a:rPr>
                        <a:t>I1,I2,I3,I4</a:t>
                      </a:r>
                    </a:p>
                  </a:txBody>
                  <a:tcPr marL="27984" marR="27984" marT="27984" marB="27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52400" y="3163669"/>
            <a:ext cx="2514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Support threshold=50% =&gt; 0.5*6= 3 =&gt; </a:t>
            </a:r>
            <a:r>
              <a:rPr lang="en-IN" sz="1400" dirty="0" err="1"/>
              <a:t>min_sup</a:t>
            </a:r>
            <a:r>
              <a:rPr lang="en-IN" sz="1400" dirty="0"/>
              <a:t>=3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102913"/>
              </p:ext>
            </p:extLst>
          </p:nvPr>
        </p:nvGraphicFramePr>
        <p:xfrm>
          <a:off x="3352799" y="304800"/>
          <a:ext cx="1447801" cy="2377440"/>
        </p:xfrm>
        <a:graphic>
          <a:graphicData uri="http://schemas.openxmlformats.org/drawingml/2006/table">
            <a:tbl>
              <a:tblPr/>
              <a:tblGrid>
                <a:gridCol w="685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sz="1600" b="1">
                          <a:effectLst/>
                        </a:rPr>
                        <a:t>Item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sz="1600" b="1">
                          <a:effectLst/>
                        </a:rPr>
                        <a:t>Count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I1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I2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5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I5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509270"/>
              </p:ext>
            </p:extLst>
          </p:nvPr>
        </p:nvGraphicFramePr>
        <p:xfrm>
          <a:off x="5287296" y="351504"/>
          <a:ext cx="1342104" cy="1981200"/>
        </p:xfrm>
        <a:graphic>
          <a:graphicData uri="http://schemas.openxmlformats.org/drawingml/2006/table">
            <a:tbl>
              <a:tblPr/>
              <a:tblGrid>
                <a:gridCol w="656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sz="1600" b="1">
                          <a:effectLst/>
                        </a:rPr>
                        <a:t>Item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sz="1600" b="1">
                          <a:effectLst/>
                        </a:rPr>
                        <a:t>Count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I1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I2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5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 dirty="0"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365123"/>
              </p:ext>
            </p:extLst>
          </p:nvPr>
        </p:nvGraphicFramePr>
        <p:xfrm>
          <a:off x="7239000" y="389989"/>
          <a:ext cx="1371601" cy="2773680"/>
        </p:xfrm>
        <a:graphic>
          <a:graphicData uri="http://schemas.openxmlformats.org/drawingml/2006/table">
            <a:tbl>
              <a:tblPr/>
              <a:tblGrid>
                <a:gridCol w="609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sz="1600" b="1">
                          <a:effectLst/>
                        </a:rPr>
                        <a:t>Item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sz="1600" b="1">
                          <a:effectLst/>
                        </a:rPr>
                        <a:t>Count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I1,I2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I1,I3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I1,I4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I2,I3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I2,I4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I3,I4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463495"/>
              </p:ext>
            </p:extLst>
          </p:nvPr>
        </p:nvGraphicFramePr>
        <p:xfrm>
          <a:off x="7162800" y="4114800"/>
          <a:ext cx="1447801" cy="1981200"/>
        </p:xfrm>
        <a:graphic>
          <a:graphicData uri="http://schemas.openxmlformats.org/drawingml/2006/table">
            <a:tbl>
              <a:tblPr/>
              <a:tblGrid>
                <a:gridCol w="685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sz="1600" b="1">
                          <a:effectLst/>
                        </a:rPr>
                        <a:t>Item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sz="1600" b="1">
                          <a:effectLst/>
                        </a:rPr>
                        <a:t>Count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I1,I2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I1,I3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I2,I3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>
                          <a:effectLst/>
                        </a:rPr>
                        <a:t>I2,I4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712939"/>
              </p:ext>
            </p:extLst>
          </p:nvPr>
        </p:nvGraphicFramePr>
        <p:xfrm>
          <a:off x="3839028" y="4677954"/>
          <a:ext cx="2895600" cy="118872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sz="1600" b="1">
                          <a:effectLst/>
                        </a:rPr>
                        <a:t>Item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b="1" dirty="0" smtClean="0">
                          <a:effectLst/>
                        </a:rPr>
                        <a:t>Count</a:t>
                      </a:r>
                      <a:endParaRPr lang="en-IN" sz="1600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 dirty="0">
                          <a:effectLst/>
                        </a:rPr>
                        <a:t>I1,I2,I3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effectLst/>
                        </a:rPr>
                        <a:t>3</a:t>
                      </a:r>
                      <a:endParaRPr lang="en-IN" sz="1600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 dirty="0">
                          <a:effectLst/>
                        </a:rPr>
                        <a:t>I2,I3,I4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rgbClr val="FF0000"/>
                          </a:solidFill>
                          <a:effectLst/>
                        </a:rPr>
                        <a:t>Discarded with </a:t>
                      </a:r>
                      <a:r>
                        <a:rPr lang="en-US" sz="1600" b="0" dirty="0" err="1" smtClean="0">
                          <a:solidFill>
                            <a:srgbClr val="FF0000"/>
                          </a:solidFill>
                          <a:effectLst/>
                        </a:rPr>
                        <a:t>apriori</a:t>
                      </a:r>
                      <a:endParaRPr lang="en-IN" sz="1600" b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ight Arrow 10"/>
          <p:cNvSpPr/>
          <p:nvPr/>
        </p:nvSpPr>
        <p:spPr>
          <a:xfrm>
            <a:off x="2667000" y="1295400"/>
            <a:ext cx="6096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ight Arrow 11"/>
          <p:cNvSpPr/>
          <p:nvPr/>
        </p:nvSpPr>
        <p:spPr>
          <a:xfrm>
            <a:off x="4876800" y="1295400"/>
            <a:ext cx="381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ight Arrow 12"/>
          <p:cNvSpPr/>
          <p:nvPr/>
        </p:nvSpPr>
        <p:spPr>
          <a:xfrm>
            <a:off x="6705600" y="1485900"/>
            <a:ext cx="45720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>
            <a:off x="7620000" y="3276600"/>
            <a:ext cx="381000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Left Arrow 16"/>
          <p:cNvSpPr/>
          <p:nvPr/>
        </p:nvSpPr>
        <p:spPr>
          <a:xfrm>
            <a:off x="6705600" y="5105400"/>
            <a:ext cx="4572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666271"/>
              </p:ext>
            </p:extLst>
          </p:nvPr>
        </p:nvGraphicFramePr>
        <p:xfrm>
          <a:off x="1676400" y="4861560"/>
          <a:ext cx="1600200" cy="79248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sz="1600" b="1">
                          <a:effectLst/>
                        </a:rPr>
                        <a:t>Item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b="1" dirty="0" smtClean="0">
                          <a:effectLst/>
                        </a:rPr>
                        <a:t>Count</a:t>
                      </a:r>
                      <a:endParaRPr lang="en-IN" sz="1600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600" b="0" dirty="0">
                          <a:effectLst/>
                        </a:rPr>
                        <a:t>I1,I2,I3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effectLst/>
                        </a:rPr>
                        <a:t>3</a:t>
                      </a:r>
                      <a:endParaRPr lang="en-IN" sz="1600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Left Arrow 18"/>
          <p:cNvSpPr/>
          <p:nvPr/>
        </p:nvSpPr>
        <p:spPr>
          <a:xfrm>
            <a:off x="3429000" y="5257800"/>
            <a:ext cx="3810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Callout 20"/>
          <p:cNvSpPr/>
          <p:nvPr/>
        </p:nvSpPr>
        <p:spPr>
          <a:xfrm rot="3219981">
            <a:off x="6195347" y="2467075"/>
            <a:ext cx="946171" cy="609600"/>
          </a:xfrm>
          <a:prstGeom prst="wedgeEllipseCallout">
            <a:avLst>
              <a:gd name="adj1" fmla="val -103210"/>
              <a:gd name="adj2" fmla="val 79966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L1</a:t>
            </a:r>
            <a:endParaRPr lang="en-IN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22" name="Oval Callout 21"/>
          <p:cNvSpPr/>
          <p:nvPr/>
        </p:nvSpPr>
        <p:spPr>
          <a:xfrm rot="18887517">
            <a:off x="6461114" y="3382088"/>
            <a:ext cx="946171" cy="609600"/>
          </a:xfrm>
          <a:prstGeom prst="wedgeEllipseCallout">
            <a:avLst>
              <a:gd name="adj1" fmla="val -61471"/>
              <a:gd name="adj2" fmla="val 14178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L2</a:t>
            </a:r>
            <a:endParaRPr lang="en-IN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23" name="Oval Callout 22"/>
          <p:cNvSpPr/>
          <p:nvPr/>
        </p:nvSpPr>
        <p:spPr>
          <a:xfrm rot="19902592">
            <a:off x="738552" y="5666276"/>
            <a:ext cx="946171" cy="609600"/>
          </a:xfrm>
          <a:prstGeom prst="wedgeEllipseCallout">
            <a:avLst>
              <a:gd name="adj1" fmla="val 106977"/>
              <a:gd name="adj2" fmla="val 30256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L3</a:t>
            </a:r>
            <a:endParaRPr lang="en-IN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2851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  <p:bldP spid="12" grpId="0" animBg="1"/>
      <p:bldP spid="13" grpId="0" animBg="1"/>
      <p:bldP spid="14" grpId="0" animBg="1"/>
      <p:bldP spid="17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28600"/>
                <a:ext cx="8229600" cy="6324600"/>
              </a:xfrm>
            </p:spPr>
            <p:txBody>
              <a:bodyPr>
                <a:normAutofit/>
              </a:bodyPr>
              <a:lstStyle/>
              <a:p>
                <a:pPr marL="342900" lvl="1" indent="-342900">
                  <a:buFont typeface="Arial" pitchFamily="34" charset="0"/>
                  <a:buChar char="•"/>
                </a:pPr>
                <a:r>
                  <a:rPr lang="en-US" dirty="0"/>
                  <a:t>Advantages: Better than Brute-force approach</a:t>
                </a:r>
                <a:endParaRPr lang="en-IN" dirty="0"/>
              </a:p>
              <a:p>
                <a:r>
                  <a:rPr lang="en-US" sz="2800" dirty="0" smtClean="0"/>
                  <a:t>Limitations: </a:t>
                </a:r>
              </a:p>
              <a:p>
                <a:pPr lvl="1"/>
                <a:r>
                  <a:rPr lang="en-US" sz="2400" dirty="0" smtClean="0"/>
                  <a:t>Multiple scans of the </a:t>
                </a:r>
                <a:r>
                  <a:rPr lang="en-US" sz="2400" dirty="0" err="1" smtClean="0"/>
                  <a:t>db</a:t>
                </a:r>
                <a:endParaRPr lang="en-US" sz="2400" dirty="0" smtClean="0"/>
              </a:p>
              <a:p>
                <a:pPr lvl="1"/>
                <a:r>
                  <a:rPr lang="en-US" sz="2400" dirty="0" smtClean="0"/>
                  <a:t>Candidate set generation</a:t>
                </a:r>
              </a:p>
              <a:p>
                <a:r>
                  <a:rPr lang="en-US" sz="2800" dirty="0" smtClean="0"/>
                  <a:t>Generating strong </a:t>
                </a:r>
                <a:r>
                  <a:rPr lang="en-US" sz="2800" dirty="0" err="1"/>
                  <a:t>boolean</a:t>
                </a:r>
                <a:r>
                  <a:rPr lang="en-US" sz="2800" dirty="0"/>
                  <a:t> rules requires two steps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accent6"/>
                    </a:solidFill>
                  </a:rPr>
                  <a:t>Finding all frequent item sets in the dataset using support threshold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US" sz="2400" dirty="0"/>
                  <a:t>Extracting strong rules using confidence threshold</a:t>
                </a:r>
              </a:p>
              <a:p>
                <a:pPr marL="914400" lvl="1" indent="-514350">
                  <a:buFont typeface="+mj-lt"/>
                  <a:buAutoNum type="arabicPeriod"/>
                </a:pPr>
                <a:endParaRPr lang="en-US" sz="2400" dirty="0"/>
              </a:p>
              <a:p>
                <a:r>
                  <a:rPr lang="en-US" sz="2800" dirty="0" smtClean="0"/>
                  <a:t>Extracting strong rules: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US" sz="2400" dirty="0" smtClean="0"/>
                  <a:t>For each frequent item set L, find all nonempty subsets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US" sz="2400" dirty="0" smtClean="0"/>
                  <a:t>For each subset S of L, generate rule,</a:t>
                </a: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𝑆</m:t>
                      </m:r>
                      <m:r>
                        <a:rPr lang="en-US" sz="2000" b="0" i="1" smtClean="0">
                          <a:latin typeface="Cambria Math"/>
                        </a:rPr>
                        <m:t>⇒</m:t>
                      </m:r>
                      <m:r>
                        <a:rPr lang="en-US" sz="2000" b="0" i="1" smtClean="0">
                          <a:latin typeface="Cambria Math"/>
                        </a:rPr>
                        <m:t>𝐿</m:t>
                      </m:r>
                      <m:r>
                        <a:rPr lang="en-US" sz="2000" b="0" i="1" smtClean="0">
                          <a:latin typeface="Cambria Math"/>
                        </a:rPr>
                        <m:t>−</m:t>
                      </m:r>
                      <m:r>
                        <a:rPr lang="en-US" sz="2000" b="0" i="1" smtClean="0">
                          <a:latin typeface="Cambria Math"/>
                        </a:rPr>
                        <m:t>𝑆</m:t>
                      </m:r>
                      <m:r>
                        <a:rPr lang="en-US" sz="2000" b="0" i="1" smtClean="0">
                          <a:latin typeface="Cambria Math"/>
                        </a:rPr>
                        <m:t>, </m:t>
                      </m:r>
                      <m:r>
                        <a:rPr lang="en-US" sz="2000" b="0" i="1" smtClean="0">
                          <a:latin typeface="Cambria Math"/>
                        </a:rPr>
                        <m:t>𝑖𝑓</m:t>
                      </m:r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𝑆𝑢𝑝𝑝𝑜𝑟𝑡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𝐶𝑜𝑢𝑛𝑡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𝐿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𝑆𝑢𝑝𝑝𝑜𝑟𝑡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𝐶𝑜𝑢𝑛𝑡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𝑆</m:t>
                          </m:r>
                        </m:den>
                      </m:f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𝐶𝑜𝑛𝑓𝑖𝑑𝑒𝑛𝑐𝑒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𝑇h𝑟𝑠h𝑜𝑙𝑑</m:t>
                      </m:r>
                    </m:oMath>
                  </m:oMathPara>
                </a14:m>
                <a:endParaRPr lang="en-IN" sz="2400" dirty="0" smtClean="0"/>
              </a:p>
              <a:p>
                <a:pPr marL="400050" lvl="1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28600"/>
                <a:ext cx="8229600" cy="6324600"/>
              </a:xfrm>
              <a:blipFill rotWithShape="1">
                <a:blip r:embed="rId2"/>
                <a:stretch>
                  <a:fillRect l="-1259" t="-868" r="-18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196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2400" dirty="0"/>
              <a:t>Let </a:t>
            </a:r>
            <a:r>
              <a:rPr lang="en-US" sz="2400" dirty="0" smtClean="0"/>
              <a:t>Confidence Threshold = 75%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400" dirty="0" smtClean="0"/>
              <a:t>L</a:t>
            </a:r>
            <a:r>
              <a:rPr lang="en-US" sz="2400" dirty="0"/>
              <a:t>= {i1, i2, i3</a:t>
            </a:r>
            <a:r>
              <a:rPr lang="en-US" sz="2400" dirty="0" smtClean="0"/>
              <a:t>}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/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 smtClean="0"/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/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 smtClean="0"/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/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 smtClean="0"/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/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400" dirty="0" smtClean="0"/>
              <a:t>The process is repeated for all frequent item sets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/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 smtClean="0"/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/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 smtClean="0"/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/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 smtClean="0"/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/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 smtClean="0"/>
          </a:p>
          <a:p>
            <a:endParaRPr lang="en-IN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362484"/>
              </p:ext>
            </p:extLst>
          </p:nvPr>
        </p:nvGraphicFramePr>
        <p:xfrm>
          <a:off x="1447800" y="1295400"/>
          <a:ext cx="6019798" cy="3017520"/>
        </p:xfrm>
        <a:graphic>
          <a:graphicData uri="http://schemas.openxmlformats.org/drawingml/2006/table">
            <a:tbl>
              <a:tblPr/>
              <a:tblGrid>
                <a:gridCol w="732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0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75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sz="1600" b="1" dirty="0" smtClean="0">
                          <a:effectLst/>
                        </a:rPr>
                        <a:t>Subset S</a:t>
                      </a:r>
                      <a:endParaRPr lang="en-IN" sz="1600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b="1" dirty="0" smtClean="0">
                          <a:effectLst/>
                        </a:rPr>
                        <a:t>L-S </a:t>
                      </a:r>
                      <a:endParaRPr lang="en-IN" sz="1600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b="1" dirty="0" smtClean="0">
                          <a:effectLst/>
                        </a:rPr>
                        <a:t>Rule </a:t>
                      </a:r>
                      <a:endParaRPr lang="en-IN" sz="1600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b="1" dirty="0" smtClean="0">
                          <a:effectLst/>
                        </a:rPr>
                        <a:t>Confidence</a:t>
                      </a:r>
                      <a:endParaRPr lang="en-IN" sz="1600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sz="1600" b="1" dirty="0" smtClean="0">
                          <a:effectLst/>
                        </a:rPr>
                        <a:t>Lift </a:t>
                      </a:r>
                      <a:endParaRPr lang="en-IN" sz="1600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b="1" dirty="0" smtClean="0">
                          <a:effectLst/>
                        </a:rPr>
                        <a:t>Rejected/Selected</a:t>
                      </a:r>
                      <a:endParaRPr lang="en-IN" sz="1600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i1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i2,i3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i1=&gt;i2,i3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3/4=75%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Selected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smtClean="0">
                          <a:solidFill>
                            <a:schemeClr val="tx1"/>
                          </a:solidFill>
                          <a:effectLst/>
                        </a:rPr>
                        <a:t>i2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i1,i3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i2=&gt;i1,i3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3/5=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  <a:effectLst/>
                        </a:rPr>
                        <a:t> 60%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Rejected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i3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i1,i2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i3=&gt;i1,i2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3/4=75%</a:t>
                      </a:r>
                      <a:endParaRPr lang="en-IN" sz="16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smtClean="0">
                          <a:solidFill>
                            <a:schemeClr val="tx1"/>
                          </a:solidFill>
                          <a:effectLst/>
                        </a:rPr>
                        <a:t>Selected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i1,i2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i3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i1,i2=&gt;i3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3/4=75%</a:t>
                      </a:r>
                      <a:endParaRPr lang="en-IN" sz="16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smtClean="0">
                          <a:solidFill>
                            <a:schemeClr val="tx1"/>
                          </a:solidFill>
                          <a:effectLst/>
                        </a:rPr>
                        <a:t>Selected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i1,i3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i2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i1,i3=&gt;i2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3/3=100%</a:t>
                      </a:r>
                      <a:endParaRPr lang="en-IN" sz="16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smtClean="0">
                          <a:solidFill>
                            <a:schemeClr val="tx1"/>
                          </a:solidFill>
                          <a:effectLst/>
                        </a:rPr>
                        <a:t>Selected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i2,i3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i1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i2,i3=&gt;i1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3/4=75%</a:t>
                      </a:r>
                      <a:endParaRPr lang="en-IN" sz="16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Selected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452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/>
          </a:bodyPr>
          <a:lstStyle/>
          <a:p>
            <a:pPr algn="just"/>
            <a:r>
              <a:rPr lang="en-IN" sz="2800" dirty="0" smtClean="0"/>
              <a:t>FP (Frequent Pattern) Growth</a:t>
            </a:r>
          </a:p>
          <a:p>
            <a:pPr lvl="1" algn="just"/>
            <a:r>
              <a:rPr lang="en-IN" sz="2400" dirty="0" smtClean="0"/>
              <a:t>Generates frequent item sets without generating candidate sets.</a:t>
            </a:r>
          </a:p>
          <a:p>
            <a:pPr lvl="1" algn="just"/>
            <a:r>
              <a:rPr lang="en-IN" sz="2400" dirty="0" smtClean="0"/>
              <a:t>Uses FP tree to map transactional </a:t>
            </a:r>
            <a:r>
              <a:rPr lang="en-IN" sz="2400" dirty="0" err="1" smtClean="0"/>
              <a:t>db</a:t>
            </a:r>
            <a:r>
              <a:rPr lang="en-IN" sz="2400" dirty="0" smtClean="0"/>
              <a:t> into tree such that association information is retained</a:t>
            </a:r>
          </a:p>
          <a:p>
            <a:pPr lvl="1" algn="just"/>
            <a:endParaRPr lang="en-IN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180286"/>
              </p:ext>
            </p:extLst>
          </p:nvPr>
        </p:nvGraphicFramePr>
        <p:xfrm>
          <a:off x="304800" y="3124200"/>
          <a:ext cx="2667000" cy="298704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b="1">
                          <a:effectLst/>
                        </a:rPr>
                        <a:t>Transaction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b="1">
                          <a:effectLst/>
                        </a:rPr>
                        <a:t>List of items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T1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I1,I2,I3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T2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I2,I3,I4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T3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I4,I5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T4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I1,I2,I4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T5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I1,I2,I3,I5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T6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 dirty="0">
                          <a:effectLst/>
                        </a:rPr>
                        <a:t>I1,I2,I3,I4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28600" y="6096000"/>
            <a:ext cx="2514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Support threshold=50% =&gt; 0.5*6= 3 =&gt; </a:t>
            </a:r>
            <a:r>
              <a:rPr lang="en-IN" sz="1400" dirty="0" err="1"/>
              <a:t>min_sup</a:t>
            </a:r>
            <a:r>
              <a:rPr lang="en-IN" sz="1400" dirty="0"/>
              <a:t>=3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803065"/>
              </p:ext>
            </p:extLst>
          </p:nvPr>
        </p:nvGraphicFramePr>
        <p:xfrm>
          <a:off x="3957637" y="3124200"/>
          <a:ext cx="1681163" cy="2560320"/>
        </p:xfrm>
        <a:graphic>
          <a:graphicData uri="http://schemas.openxmlformats.org/drawingml/2006/table">
            <a:tbl>
              <a:tblPr/>
              <a:tblGrid>
                <a:gridCol w="690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b="1">
                          <a:effectLst/>
                        </a:rPr>
                        <a:t>Item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b="1">
                          <a:effectLst/>
                        </a:rPr>
                        <a:t>Count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I1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I2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5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I3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I4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I5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825080"/>
              </p:ext>
            </p:extLst>
          </p:nvPr>
        </p:nvGraphicFramePr>
        <p:xfrm>
          <a:off x="6777037" y="3200400"/>
          <a:ext cx="1528763" cy="2133600"/>
        </p:xfrm>
        <a:graphic>
          <a:graphicData uri="http://schemas.openxmlformats.org/drawingml/2006/table">
            <a:tbl>
              <a:tblPr/>
              <a:tblGrid>
                <a:gridCol w="690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b="1">
                          <a:effectLst/>
                        </a:rPr>
                        <a:t>Item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b="1">
                          <a:effectLst/>
                        </a:rPr>
                        <a:t>Count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 dirty="0">
                          <a:effectLst/>
                        </a:rPr>
                        <a:t>I2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5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 dirty="0">
                          <a:effectLst/>
                        </a:rPr>
                        <a:t>I1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 dirty="0">
                          <a:effectLst/>
                        </a:rPr>
                        <a:t>I3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 dirty="0">
                          <a:effectLst/>
                        </a:rPr>
                        <a:t>I4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 dirty="0"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581400" y="5715000"/>
            <a:ext cx="2514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 smtClean="0"/>
              <a:t>Find support count of each item</a:t>
            </a:r>
            <a:endParaRPr lang="en-IN" sz="1400" dirty="0"/>
          </a:p>
        </p:txBody>
      </p:sp>
      <p:sp>
        <p:nvSpPr>
          <p:cNvPr id="9" name="Rectangle 8"/>
          <p:cNvSpPr/>
          <p:nvPr/>
        </p:nvSpPr>
        <p:spPr>
          <a:xfrm>
            <a:off x="6400800" y="5410200"/>
            <a:ext cx="2514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400" dirty="0" smtClean="0"/>
              <a:t>Arrange frequent items in descending order</a:t>
            </a:r>
            <a:endParaRPr lang="en-IN" sz="1400" dirty="0"/>
          </a:p>
        </p:txBody>
      </p:sp>
      <p:sp>
        <p:nvSpPr>
          <p:cNvPr id="2" name="Right Arrow 1"/>
          <p:cNvSpPr/>
          <p:nvPr/>
        </p:nvSpPr>
        <p:spPr>
          <a:xfrm>
            <a:off x="3124200" y="4191000"/>
            <a:ext cx="7620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ight Arrow 9"/>
          <p:cNvSpPr/>
          <p:nvPr/>
        </p:nvSpPr>
        <p:spPr>
          <a:xfrm>
            <a:off x="5791200" y="4191000"/>
            <a:ext cx="8382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27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2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328089"/>
              </p:ext>
            </p:extLst>
          </p:nvPr>
        </p:nvGraphicFramePr>
        <p:xfrm>
          <a:off x="152400" y="152400"/>
          <a:ext cx="2667000" cy="298704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b="1">
                          <a:effectLst/>
                        </a:rPr>
                        <a:t>Transaction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b="1">
                          <a:effectLst/>
                        </a:rPr>
                        <a:t>List of items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T1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I1,I2,I3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T2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I2,I3,I4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T3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I4,I5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T4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I1,I2,I4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T5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I1,I2,I3,I5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>
                          <a:effectLst/>
                        </a:rPr>
                        <a:t>T6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 dirty="0">
                          <a:effectLst/>
                        </a:rPr>
                        <a:t>I1,I2,I3,I4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52400" y="3200400"/>
            <a:ext cx="2514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400" dirty="0" smtClean="0"/>
              <a:t>Order is i2, i1, i3, i4</a:t>
            </a:r>
            <a:endParaRPr lang="en-IN" sz="1400" dirty="0"/>
          </a:p>
        </p:txBody>
      </p:sp>
      <p:grpSp>
        <p:nvGrpSpPr>
          <p:cNvPr id="24" name="Group 23"/>
          <p:cNvGrpSpPr/>
          <p:nvPr/>
        </p:nvGrpSpPr>
        <p:grpSpPr>
          <a:xfrm>
            <a:off x="3747852" y="76201"/>
            <a:ext cx="1235874" cy="2834841"/>
            <a:chOff x="3535926" y="457200"/>
            <a:chExt cx="1645674" cy="3962400"/>
          </a:xfrm>
        </p:grpSpPr>
        <p:grpSp>
          <p:nvGrpSpPr>
            <p:cNvPr id="10" name="Group 9"/>
            <p:cNvGrpSpPr/>
            <p:nvPr/>
          </p:nvGrpSpPr>
          <p:grpSpPr>
            <a:xfrm>
              <a:off x="4343400" y="457200"/>
              <a:ext cx="838200" cy="533400"/>
              <a:chOff x="4343400" y="457200"/>
              <a:chExt cx="838200" cy="53340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4419600" y="533400"/>
                <a:ext cx="762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 smtClean="0"/>
                  <a:t>Null</a:t>
                </a:r>
                <a:endParaRPr lang="en-IN" dirty="0"/>
              </a:p>
            </p:txBody>
          </p:sp>
        </p:grpSp>
        <p:cxnSp>
          <p:nvCxnSpPr>
            <p:cNvPr id="12" name="Straight Arrow Connector 11"/>
            <p:cNvCxnSpPr/>
            <p:nvPr/>
          </p:nvCxnSpPr>
          <p:spPr>
            <a:xfrm flipH="1">
              <a:off x="4343400" y="990600"/>
              <a:ext cx="76200" cy="609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3962400" y="1600200"/>
              <a:ext cx="838200" cy="533400"/>
              <a:chOff x="4343400" y="457200"/>
              <a:chExt cx="838200" cy="533400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419600" y="533400"/>
                <a:ext cx="762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i</a:t>
                </a:r>
                <a:r>
                  <a:rPr lang="en-IN" dirty="0" smtClean="0"/>
                  <a:t>2:1</a:t>
                </a:r>
                <a:endParaRPr lang="en-IN" dirty="0"/>
              </a:p>
            </p:txBody>
          </p:sp>
        </p:grpSp>
        <p:cxnSp>
          <p:nvCxnSpPr>
            <p:cNvPr id="16" name="Straight Arrow Connector 15"/>
            <p:cNvCxnSpPr/>
            <p:nvPr/>
          </p:nvCxnSpPr>
          <p:spPr>
            <a:xfrm flipH="1">
              <a:off x="4038600" y="2133600"/>
              <a:ext cx="76200" cy="609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/>
            <p:cNvGrpSpPr/>
            <p:nvPr/>
          </p:nvGrpSpPr>
          <p:grpSpPr>
            <a:xfrm>
              <a:off x="3695700" y="2743200"/>
              <a:ext cx="838200" cy="533400"/>
              <a:chOff x="4343400" y="457200"/>
              <a:chExt cx="838200" cy="53340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419600" y="533400"/>
                <a:ext cx="762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 smtClean="0"/>
                  <a:t>i</a:t>
                </a:r>
                <a:r>
                  <a:rPr lang="en-IN" dirty="0"/>
                  <a:t>1</a:t>
                </a:r>
                <a:r>
                  <a:rPr lang="en-IN" dirty="0" smtClean="0"/>
                  <a:t>:1</a:t>
                </a:r>
                <a:endParaRPr lang="en-IN" dirty="0"/>
              </a:p>
            </p:txBody>
          </p:sp>
        </p:grpSp>
        <p:cxnSp>
          <p:nvCxnSpPr>
            <p:cNvPr id="20" name="Straight Arrow Connector 19"/>
            <p:cNvCxnSpPr/>
            <p:nvPr/>
          </p:nvCxnSpPr>
          <p:spPr>
            <a:xfrm flipH="1">
              <a:off x="3776816" y="3276600"/>
              <a:ext cx="76200" cy="609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/>
            <p:cNvGrpSpPr/>
            <p:nvPr/>
          </p:nvGrpSpPr>
          <p:grpSpPr>
            <a:xfrm>
              <a:off x="3535926" y="3886200"/>
              <a:ext cx="838200" cy="533400"/>
              <a:chOff x="4343400" y="457200"/>
              <a:chExt cx="838200" cy="53340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4419600" y="533400"/>
                <a:ext cx="762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 smtClean="0"/>
                  <a:t>i3:1</a:t>
                </a:r>
                <a:endParaRPr lang="en-IN" dirty="0"/>
              </a:p>
            </p:txBody>
          </p:sp>
        </p:grpSp>
      </p:grpSp>
      <p:sp>
        <p:nvSpPr>
          <p:cNvPr id="25" name="Rectangle 24"/>
          <p:cNvSpPr/>
          <p:nvPr/>
        </p:nvSpPr>
        <p:spPr>
          <a:xfrm>
            <a:off x="3810000" y="2971800"/>
            <a:ext cx="10975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400" dirty="0" smtClean="0"/>
              <a:t>After T1</a:t>
            </a:r>
            <a:endParaRPr lang="en-IN" sz="1400" dirty="0"/>
          </a:p>
        </p:txBody>
      </p:sp>
      <p:grpSp>
        <p:nvGrpSpPr>
          <p:cNvPr id="53" name="Group 52"/>
          <p:cNvGrpSpPr/>
          <p:nvPr/>
        </p:nvGrpSpPr>
        <p:grpSpPr>
          <a:xfrm>
            <a:off x="5867400" y="76200"/>
            <a:ext cx="1981200" cy="2834842"/>
            <a:chOff x="5638800" y="76200"/>
            <a:chExt cx="1981200" cy="3231590"/>
          </a:xfrm>
        </p:grpSpPr>
        <p:grpSp>
          <p:nvGrpSpPr>
            <p:cNvPr id="27" name="Group 26"/>
            <p:cNvGrpSpPr/>
            <p:nvPr/>
          </p:nvGrpSpPr>
          <p:grpSpPr>
            <a:xfrm>
              <a:off x="6228526" y="76200"/>
              <a:ext cx="629474" cy="435022"/>
              <a:chOff x="4343400" y="457200"/>
              <a:chExt cx="838200" cy="533400"/>
            </a:xfrm>
          </p:grpSpPr>
          <p:sp>
            <p:nvSpPr>
              <p:cNvPr id="40" name="Rectangle 39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4419600" y="533400"/>
                <a:ext cx="762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 smtClean="0"/>
                  <a:t>Null</a:t>
                </a:r>
                <a:endParaRPr lang="en-IN" dirty="0"/>
              </a:p>
            </p:txBody>
          </p:sp>
        </p:grpSp>
        <p:cxnSp>
          <p:nvCxnSpPr>
            <p:cNvPr id="28" name="Straight Arrow Connector 27"/>
            <p:cNvCxnSpPr/>
            <p:nvPr/>
          </p:nvCxnSpPr>
          <p:spPr>
            <a:xfrm flipH="1">
              <a:off x="6228526" y="511222"/>
              <a:ext cx="57225" cy="4971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/>
            <p:cNvGrpSpPr/>
            <p:nvPr/>
          </p:nvGrpSpPr>
          <p:grpSpPr>
            <a:xfrm>
              <a:off x="5942401" y="1008389"/>
              <a:ext cx="629474" cy="435022"/>
              <a:chOff x="4343400" y="457200"/>
              <a:chExt cx="838200" cy="533400"/>
            </a:xfrm>
          </p:grpSpPr>
          <p:sp>
            <p:nvSpPr>
              <p:cNvPr id="38" name="Rectangle 37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/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4419600" y="533400"/>
                <a:ext cx="762000" cy="452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 smtClean="0"/>
                  <a:t>i2:2</a:t>
                </a:r>
                <a:endParaRPr lang="en-IN" dirty="0"/>
              </a:p>
            </p:txBody>
          </p:sp>
        </p:grpSp>
        <p:cxnSp>
          <p:nvCxnSpPr>
            <p:cNvPr id="30" name="Straight Arrow Connector 29"/>
            <p:cNvCxnSpPr/>
            <p:nvPr/>
          </p:nvCxnSpPr>
          <p:spPr>
            <a:xfrm flipH="1">
              <a:off x="5999626" y="1443411"/>
              <a:ext cx="57225" cy="4971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/>
            <p:cNvGrpSpPr/>
            <p:nvPr/>
          </p:nvGrpSpPr>
          <p:grpSpPr>
            <a:xfrm>
              <a:off x="5742114" y="1940579"/>
              <a:ext cx="629474" cy="435022"/>
              <a:chOff x="4343400" y="457200"/>
              <a:chExt cx="838200" cy="533400"/>
            </a:xfrm>
          </p:grpSpPr>
          <p:sp>
            <p:nvSpPr>
              <p:cNvPr id="36" name="Rectangle 35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4419600" y="533400"/>
                <a:ext cx="762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 smtClean="0"/>
                  <a:t>i</a:t>
                </a:r>
                <a:r>
                  <a:rPr lang="en-IN" dirty="0"/>
                  <a:t>1</a:t>
                </a:r>
                <a:r>
                  <a:rPr lang="en-IN" dirty="0" smtClean="0"/>
                  <a:t>:1</a:t>
                </a:r>
                <a:endParaRPr lang="en-IN" dirty="0"/>
              </a:p>
            </p:txBody>
          </p:sp>
        </p:grpSp>
        <p:cxnSp>
          <p:nvCxnSpPr>
            <p:cNvPr id="32" name="Straight Arrow Connector 31"/>
            <p:cNvCxnSpPr/>
            <p:nvPr/>
          </p:nvCxnSpPr>
          <p:spPr>
            <a:xfrm flipH="1">
              <a:off x="5803030" y="2375601"/>
              <a:ext cx="57225" cy="4971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/>
            <p:cNvGrpSpPr/>
            <p:nvPr/>
          </p:nvGrpSpPr>
          <p:grpSpPr>
            <a:xfrm>
              <a:off x="5638800" y="2872768"/>
              <a:ext cx="629474" cy="435022"/>
              <a:chOff x="4343400" y="457200"/>
              <a:chExt cx="838200" cy="533400"/>
            </a:xfrm>
          </p:grpSpPr>
          <p:sp>
            <p:nvSpPr>
              <p:cNvPr id="34" name="Rectangle 33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4419600" y="533400"/>
                <a:ext cx="762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 smtClean="0"/>
                  <a:t>i3:1</a:t>
                </a:r>
                <a:endParaRPr lang="en-IN" dirty="0"/>
              </a:p>
            </p:txBody>
          </p:sp>
        </p:grpSp>
        <p:cxnSp>
          <p:nvCxnSpPr>
            <p:cNvPr id="43" name="Straight Arrow Connector 42"/>
            <p:cNvCxnSpPr/>
            <p:nvPr/>
          </p:nvCxnSpPr>
          <p:spPr>
            <a:xfrm>
              <a:off x="6543263" y="1439867"/>
              <a:ext cx="314737" cy="50071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 44"/>
            <p:cNvGrpSpPr/>
            <p:nvPr/>
          </p:nvGrpSpPr>
          <p:grpSpPr>
            <a:xfrm>
              <a:off x="6629194" y="1941926"/>
              <a:ext cx="629474" cy="435022"/>
              <a:chOff x="4343400" y="457200"/>
              <a:chExt cx="838200" cy="533400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/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4419600" y="533400"/>
                <a:ext cx="762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 smtClean="0"/>
                  <a:t>i3:1</a:t>
                </a:r>
                <a:endParaRPr lang="en-IN" dirty="0"/>
              </a:p>
            </p:txBody>
          </p:sp>
        </p:grpSp>
        <p:cxnSp>
          <p:nvCxnSpPr>
            <p:cNvPr id="49" name="Straight Arrow Connector 48"/>
            <p:cNvCxnSpPr/>
            <p:nvPr/>
          </p:nvCxnSpPr>
          <p:spPr>
            <a:xfrm>
              <a:off x="7000463" y="2362200"/>
              <a:ext cx="314737" cy="50071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9"/>
            <p:cNvGrpSpPr/>
            <p:nvPr/>
          </p:nvGrpSpPr>
          <p:grpSpPr>
            <a:xfrm>
              <a:off x="6990526" y="2848896"/>
              <a:ext cx="629474" cy="435022"/>
              <a:chOff x="4343400" y="457200"/>
              <a:chExt cx="838200" cy="533400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4419600" y="533400"/>
                <a:ext cx="762000" cy="452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 smtClean="0"/>
                  <a:t>i4:1</a:t>
                </a:r>
                <a:endParaRPr lang="en-IN" dirty="0"/>
              </a:p>
            </p:txBody>
          </p:sp>
        </p:grpSp>
      </p:grpSp>
      <p:sp>
        <p:nvSpPr>
          <p:cNvPr id="54" name="Rectangle 53"/>
          <p:cNvSpPr/>
          <p:nvPr/>
        </p:nvSpPr>
        <p:spPr>
          <a:xfrm>
            <a:off x="6366256" y="2971800"/>
            <a:ext cx="10975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400" dirty="0" smtClean="0"/>
              <a:t>After T2</a:t>
            </a:r>
            <a:endParaRPr lang="en-IN" sz="1400" dirty="0"/>
          </a:p>
        </p:txBody>
      </p:sp>
      <p:sp>
        <p:nvSpPr>
          <p:cNvPr id="79" name="Rectangle 78"/>
          <p:cNvSpPr/>
          <p:nvPr/>
        </p:nvSpPr>
        <p:spPr>
          <a:xfrm>
            <a:off x="500824" y="6445381"/>
            <a:ext cx="10975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400" dirty="0" smtClean="0"/>
              <a:t>After T3</a:t>
            </a:r>
            <a:endParaRPr lang="en-IN" sz="1400" dirty="0"/>
          </a:p>
        </p:txBody>
      </p:sp>
      <p:grpSp>
        <p:nvGrpSpPr>
          <p:cNvPr id="85" name="Group 84"/>
          <p:cNvGrpSpPr/>
          <p:nvPr/>
        </p:nvGrpSpPr>
        <p:grpSpPr>
          <a:xfrm>
            <a:off x="152400" y="3581400"/>
            <a:ext cx="1905000" cy="2853630"/>
            <a:chOff x="152400" y="3581400"/>
            <a:chExt cx="1905000" cy="2853630"/>
          </a:xfrm>
        </p:grpSpPr>
        <p:grpSp>
          <p:nvGrpSpPr>
            <p:cNvPr id="56" name="Group 55"/>
            <p:cNvGrpSpPr/>
            <p:nvPr/>
          </p:nvGrpSpPr>
          <p:grpSpPr>
            <a:xfrm>
              <a:off x="719444" y="3581400"/>
              <a:ext cx="605263" cy="393230"/>
              <a:chOff x="4343400" y="457200"/>
              <a:chExt cx="838200" cy="548035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Null</a:t>
                </a:r>
                <a:endParaRPr lang="en-IN" sz="1600" dirty="0"/>
              </a:p>
            </p:txBody>
          </p:sp>
        </p:grpSp>
        <p:cxnSp>
          <p:nvCxnSpPr>
            <p:cNvPr id="57" name="Straight Arrow Connector 56"/>
            <p:cNvCxnSpPr/>
            <p:nvPr/>
          </p:nvCxnSpPr>
          <p:spPr>
            <a:xfrm flipH="1">
              <a:off x="719444" y="3964129"/>
              <a:ext cx="55024" cy="4374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Group 57"/>
            <p:cNvGrpSpPr/>
            <p:nvPr/>
          </p:nvGrpSpPr>
          <p:grpSpPr>
            <a:xfrm>
              <a:off x="444324" y="4401533"/>
              <a:ext cx="605263" cy="393230"/>
              <a:chOff x="4343400" y="457200"/>
              <a:chExt cx="838200" cy="548035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i2:2</a:t>
                </a:r>
                <a:endParaRPr lang="en-IN" sz="1600" dirty="0"/>
              </a:p>
            </p:txBody>
          </p:sp>
        </p:grpSp>
        <p:cxnSp>
          <p:nvCxnSpPr>
            <p:cNvPr id="59" name="Straight Arrow Connector 58"/>
            <p:cNvCxnSpPr/>
            <p:nvPr/>
          </p:nvCxnSpPr>
          <p:spPr>
            <a:xfrm flipH="1">
              <a:off x="499348" y="4784262"/>
              <a:ext cx="55024" cy="4374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Group 59"/>
            <p:cNvGrpSpPr/>
            <p:nvPr/>
          </p:nvGrpSpPr>
          <p:grpSpPr>
            <a:xfrm>
              <a:off x="251740" y="5221667"/>
              <a:ext cx="605263" cy="393230"/>
              <a:chOff x="4343400" y="457200"/>
              <a:chExt cx="838200" cy="548035"/>
            </a:xfrm>
          </p:grpSpPr>
          <p:sp>
            <p:nvSpPr>
              <p:cNvPr id="73" name="Rectangle 72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</a:t>
                </a:r>
                <a:r>
                  <a:rPr lang="en-IN" sz="1600" dirty="0"/>
                  <a:t>1</a:t>
                </a:r>
                <a:r>
                  <a:rPr lang="en-IN" sz="1600" dirty="0" smtClean="0"/>
                  <a:t>:1</a:t>
                </a:r>
                <a:endParaRPr lang="en-IN" sz="1600" dirty="0"/>
              </a:p>
            </p:txBody>
          </p:sp>
        </p:grpSp>
        <p:cxnSp>
          <p:nvCxnSpPr>
            <p:cNvPr id="61" name="Straight Arrow Connector 60"/>
            <p:cNvCxnSpPr/>
            <p:nvPr/>
          </p:nvCxnSpPr>
          <p:spPr>
            <a:xfrm flipH="1">
              <a:off x="310313" y="5604396"/>
              <a:ext cx="55024" cy="4374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/>
            <p:cNvGrpSpPr/>
            <p:nvPr/>
          </p:nvGrpSpPr>
          <p:grpSpPr>
            <a:xfrm>
              <a:off x="152400" y="6041800"/>
              <a:ext cx="605263" cy="393230"/>
              <a:chOff x="4343400" y="457200"/>
              <a:chExt cx="838200" cy="548035"/>
            </a:xfrm>
          </p:grpSpPr>
          <p:sp>
            <p:nvSpPr>
              <p:cNvPr id="71" name="Rectangle 70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i3:1</a:t>
                </a:r>
                <a:endParaRPr lang="en-IN" sz="1600" dirty="0"/>
              </a:p>
            </p:txBody>
          </p:sp>
        </p:grpSp>
        <p:cxnSp>
          <p:nvCxnSpPr>
            <p:cNvPr id="63" name="Straight Arrow Connector 62"/>
            <p:cNvCxnSpPr/>
            <p:nvPr/>
          </p:nvCxnSpPr>
          <p:spPr>
            <a:xfrm>
              <a:off x="1022076" y="4781144"/>
              <a:ext cx="302632" cy="44052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 63"/>
            <p:cNvGrpSpPr/>
            <p:nvPr/>
          </p:nvGrpSpPr>
          <p:grpSpPr>
            <a:xfrm>
              <a:off x="1104702" y="5222852"/>
              <a:ext cx="605263" cy="393230"/>
              <a:chOff x="4343400" y="457200"/>
              <a:chExt cx="838200" cy="548035"/>
            </a:xfrm>
          </p:grpSpPr>
          <p:sp>
            <p:nvSpPr>
              <p:cNvPr id="69" name="Rectangle 68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i3:1</a:t>
                </a:r>
                <a:endParaRPr lang="en-IN" sz="1600" dirty="0"/>
              </a:p>
            </p:txBody>
          </p:sp>
        </p:grpSp>
        <p:cxnSp>
          <p:nvCxnSpPr>
            <p:cNvPr id="65" name="Straight Arrow Connector 64"/>
            <p:cNvCxnSpPr/>
            <p:nvPr/>
          </p:nvCxnSpPr>
          <p:spPr>
            <a:xfrm>
              <a:off x="1461691" y="5592606"/>
              <a:ext cx="302632" cy="44052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/>
            <p:cNvGrpSpPr/>
            <p:nvPr/>
          </p:nvGrpSpPr>
          <p:grpSpPr>
            <a:xfrm>
              <a:off x="1452137" y="6020797"/>
              <a:ext cx="605263" cy="393230"/>
              <a:chOff x="4343400" y="457200"/>
              <a:chExt cx="838200" cy="548035"/>
            </a:xfrm>
          </p:grpSpPr>
          <p:sp>
            <p:nvSpPr>
              <p:cNvPr id="67" name="Rectangle 66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i4:1</a:t>
                </a:r>
                <a:endParaRPr lang="en-IN" sz="1600" dirty="0"/>
              </a:p>
            </p:txBody>
          </p:sp>
        </p:grpSp>
        <p:grpSp>
          <p:nvGrpSpPr>
            <p:cNvPr id="80" name="Group 79"/>
            <p:cNvGrpSpPr/>
            <p:nvPr/>
          </p:nvGrpSpPr>
          <p:grpSpPr>
            <a:xfrm>
              <a:off x="1295400" y="4387914"/>
              <a:ext cx="605263" cy="393230"/>
              <a:chOff x="4343400" y="457200"/>
              <a:chExt cx="838200" cy="548035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i4:1</a:t>
                </a:r>
                <a:endParaRPr lang="en-IN" sz="1600" dirty="0"/>
              </a:p>
            </p:txBody>
          </p:sp>
        </p:grpSp>
        <p:cxnSp>
          <p:nvCxnSpPr>
            <p:cNvPr id="84" name="Straight Arrow Connector 83"/>
            <p:cNvCxnSpPr/>
            <p:nvPr/>
          </p:nvCxnSpPr>
          <p:spPr>
            <a:xfrm>
              <a:off x="1173392" y="3964129"/>
              <a:ext cx="261453" cy="4374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/>
          <p:cNvGrpSpPr/>
          <p:nvPr/>
        </p:nvGrpSpPr>
        <p:grpSpPr>
          <a:xfrm>
            <a:off x="2286000" y="3581400"/>
            <a:ext cx="2133600" cy="2863981"/>
            <a:chOff x="2514600" y="3581400"/>
            <a:chExt cx="2133600" cy="2863981"/>
          </a:xfrm>
        </p:grpSpPr>
        <p:grpSp>
          <p:nvGrpSpPr>
            <p:cNvPr id="87" name="Group 86"/>
            <p:cNvGrpSpPr/>
            <p:nvPr/>
          </p:nvGrpSpPr>
          <p:grpSpPr>
            <a:xfrm>
              <a:off x="3081644" y="3581400"/>
              <a:ext cx="605263" cy="393230"/>
              <a:chOff x="4343400" y="457200"/>
              <a:chExt cx="838200" cy="548035"/>
            </a:xfrm>
          </p:grpSpPr>
          <p:sp>
            <p:nvSpPr>
              <p:cNvPr id="112" name="Rectangle 111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Null</a:t>
                </a:r>
                <a:endParaRPr lang="en-IN" sz="1600" dirty="0"/>
              </a:p>
            </p:txBody>
          </p:sp>
        </p:grpSp>
        <p:cxnSp>
          <p:nvCxnSpPr>
            <p:cNvPr id="88" name="Straight Arrow Connector 87"/>
            <p:cNvCxnSpPr/>
            <p:nvPr/>
          </p:nvCxnSpPr>
          <p:spPr>
            <a:xfrm flipH="1">
              <a:off x="3081644" y="3964129"/>
              <a:ext cx="55024" cy="4374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Group 88"/>
            <p:cNvGrpSpPr/>
            <p:nvPr/>
          </p:nvGrpSpPr>
          <p:grpSpPr>
            <a:xfrm>
              <a:off x="2806524" y="4401533"/>
              <a:ext cx="605263" cy="393230"/>
              <a:chOff x="4343400" y="457200"/>
              <a:chExt cx="838200" cy="548035"/>
            </a:xfrm>
          </p:grpSpPr>
          <p:sp>
            <p:nvSpPr>
              <p:cNvPr id="110" name="Rectangle 109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i2:3</a:t>
                </a:r>
                <a:endParaRPr lang="en-IN" sz="1600" dirty="0"/>
              </a:p>
            </p:txBody>
          </p:sp>
        </p:grpSp>
        <p:cxnSp>
          <p:nvCxnSpPr>
            <p:cNvPr id="90" name="Straight Arrow Connector 89"/>
            <p:cNvCxnSpPr/>
            <p:nvPr/>
          </p:nvCxnSpPr>
          <p:spPr>
            <a:xfrm flipH="1">
              <a:off x="2861548" y="4784262"/>
              <a:ext cx="55024" cy="4374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/>
            <p:cNvGrpSpPr/>
            <p:nvPr/>
          </p:nvGrpSpPr>
          <p:grpSpPr>
            <a:xfrm>
              <a:off x="2613940" y="5221667"/>
              <a:ext cx="605263" cy="393230"/>
              <a:chOff x="4343400" y="457200"/>
              <a:chExt cx="838200" cy="548035"/>
            </a:xfrm>
          </p:grpSpPr>
          <p:sp>
            <p:nvSpPr>
              <p:cNvPr id="108" name="Rectangle 107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09" name="TextBox 108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i1:2</a:t>
                </a:r>
                <a:endParaRPr lang="en-IN" sz="1600" dirty="0"/>
              </a:p>
            </p:txBody>
          </p:sp>
        </p:grpSp>
        <p:cxnSp>
          <p:nvCxnSpPr>
            <p:cNvPr id="92" name="Straight Arrow Connector 91"/>
            <p:cNvCxnSpPr/>
            <p:nvPr/>
          </p:nvCxnSpPr>
          <p:spPr>
            <a:xfrm flipH="1">
              <a:off x="2672513" y="5604396"/>
              <a:ext cx="55024" cy="4374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Group 92"/>
            <p:cNvGrpSpPr/>
            <p:nvPr/>
          </p:nvGrpSpPr>
          <p:grpSpPr>
            <a:xfrm>
              <a:off x="2514600" y="6041800"/>
              <a:ext cx="605263" cy="393230"/>
              <a:chOff x="4343400" y="457200"/>
              <a:chExt cx="838200" cy="548035"/>
            </a:xfrm>
          </p:grpSpPr>
          <p:sp>
            <p:nvSpPr>
              <p:cNvPr id="106" name="Rectangle 105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07" name="TextBox 106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i3:1</a:t>
                </a:r>
                <a:endParaRPr lang="en-IN" sz="1600" dirty="0"/>
              </a:p>
            </p:txBody>
          </p:sp>
        </p:grpSp>
        <p:cxnSp>
          <p:nvCxnSpPr>
            <p:cNvPr id="94" name="Straight Arrow Connector 93"/>
            <p:cNvCxnSpPr/>
            <p:nvPr/>
          </p:nvCxnSpPr>
          <p:spPr>
            <a:xfrm>
              <a:off x="3384276" y="4781144"/>
              <a:ext cx="302632" cy="44052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" name="Group 94"/>
            <p:cNvGrpSpPr/>
            <p:nvPr/>
          </p:nvGrpSpPr>
          <p:grpSpPr>
            <a:xfrm>
              <a:off x="3466902" y="5222852"/>
              <a:ext cx="605263" cy="393230"/>
              <a:chOff x="4343400" y="457200"/>
              <a:chExt cx="838200" cy="548035"/>
            </a:xfrm>
          </p:grpSpPr>
          <p:sp>
            <p:nvSpPr>
              <p:cNvPr id="104" name="Rectangle 103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i3:1</a:t>
                </a:r>
                <a:endParaRPr lang="en-IN" sz="1600" dirty="0"/>
              </a:p>
            </p:txBody>
          </p:sp>
        </p:grpSp>
        <p:cxnSp>
          <p:nvCxnSpPr>
            <p:cNvPr id="96" name="Straight Arrow Connector 95"/>
            <p:cNvCxnSpPr/>
            <p:nvPr/>
          </p:nvCxnSpPr>
          <p:spPr>
            <a:xfrm>
              <a:off x="3823891" y="5592606"/>
              <a:ext cx="302632" cy="44052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" name="Group 96"/>
            <p:cNvGrpSpPr/>
            <p:nvPr/>
          </p:nvGrpSpPr>
          <p:grpSpPr>
            <a:xfrm>
              <a:off x="4042937" y="6020797"/>
              <a:ext cx="605263" cy="393230"/>
              <a:chOff x="4343400" y="457200"/>
              <a:chExt cx="838200" cy="548035"/>
            </a:xfrm>
          </p:grpSpPr>
          <p:sp>
            <p:nvSpPr>
              <p:cNvPr id="102" name="Rectangle 101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i4:1</a:t>
                </a:r>
                <a:endParaRPr lang="en-IN" sz="1600" dirty="0"/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3657600" y="4387914"/>
              <a:ext cx="605263" cy="393230"/>
              <a:chOff x="4343400" y="457200"/>
              <a:chExt cx="838200" cy="548035"/>
            </a:xfrm>
          </p:grpSpPr>
          <p:sp>
            <p:nvSpPr>
              <p:cNvPr id="100" name="Rectangle 99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i4:1</a:t>
                </a:r>
                <a:endParaRPr lang="en-IN" sz="1600" dirty="0"/>
              </a:p>
            </p:txBody>
          </p:sp>
        </p:grpSp>
        <p:cxnSp>
          <p:nvCxnSpPr>
            <p:cNvPr id="99" name="Straight Arrow Connector 98"/>
            <p:cNvCxnSpPr/>
            <p:nvPr/>
          </p:nvCxnSpPr>
          <p:spPr>
            <a:xfrm>
              <a:off x="3535592" y="3964129"/>
              <a:ext cx="261453" cy="4374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Group 113"/>
            <p:cNvGrpSpPr/>
            <p:nvPr/>
          </p:nvGrpSpPr>
          <p:grpSpPr>
            <a:xfrm>
              <a:off x="3262577" y="6052151"/>
              <a:ext cx="605263" cy="393230"/>
              <a:chOff x="4343400" y="457200"/>
              <a:chExt cx="838200" cy="548035"/>
            </a:xfrm>
          </p:grpSpPr>
          <p:sp>
            <p:nvSpPr>
              <p:cNvPr id="115" name="Rectangle 114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i4:1</a:t>
                </a:r>
                <a:endParaRPr lang="en-IN" sz="1600" dirty="0"/>
              </a:p>
            </p:txBody>
          </p:sp>
        </p:grpSp>
        <p:cxnSp>
          <p:nvCxnSpPr>
            <p:cNvPr id="118" name="Straight Arrow Connector 117"/>
            <p:cNvCxnSpPr/>
            <p:nvPr/>
          </p:nvCxnSpPr>
          <p:spPr>
            <a:xfrm>
              <a:off x="3081644" y="5592606"/>
              <a:ext cx="385258" cy="4281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Rectangle 118"/>
          <p:cNvSpPr/>
          <p:nvPr/>
        </p:nvSpPr>
        <p:spPr>
          <a:xfrm>
            <a:off x="2590800" y="6474023"/>
            <a:ext cx="10975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400" dirty="0" smtClean="0"/>
              <a:t>After T4</a:t>
            </a:r>
            <a:endParaRPr lang="en-IN" sz="1400" dirty="0"/>
          </a:p>
        </p:txBody>
      </p:sp>
      <p:grpSp>
        <p:nvGrpSpPr>
          <p:cNvPr id="121" name="Group 120"/>
          <p:cNvGrpSpPr/>
          <p:nvPr/>
        </p:nvGrpSpPr>
        <p:grpSpPr>
          <a:xfrm>
            <a:off x="4572000" y="3551904"/>
            <a:ext cx="2133600" cy="2863981"/>
            <a:chOff x="2514600" y="3581400"/>
            <a:chExt cx="2133600" cy="2863981"/>
          </a:xfrm>
        </p:grpSpPr>
        <p:grpSp>
          <p:nvGrpSpPr>
            <p:cNvPr id="122" name="Group 121"/>
            <p:cNvGrpSpPr/>
            <p:nvPr/>
          </p:nvGrpSpPr>
          <p:grpSpPr>
            <a:xfrm>
              <a:off x="3081644" y="3581400"/>
              <a:ext cx="605263" cy="393230"/>
              <a:chOff x="4343400" y="457200"/>
              <a:chExt cx="838200" cy="548035"/>
            </a:xfrm>
          </p:grpSpPr>
          <p:sp>
            <p:nvSpPr>
              <p:cNvPr id="151" name="Rectangle 150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52" name="TextBox 151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Null</a:t>
                </a:r>
                <a:endParaRPr lang="en-IN" sz="1600" dirty="0"/>
              </a:p>
            </p:txBody>
          </p:sp>
        </p:grpSp>
        <p:cxnSp>
          <p:nvCxnSpPr>
            <p:cNvPr id="123" name="Straight Arrow Connector 122"/>
            <p:cNvCxnSpPr/>
            <p:nvPr/>
          </p:nvCxnSpPr>
          <p:spPr>
            <a:xfrm flipH="1">
              <a:off x="3081644" y="3964129"/>
              <a:ext cx="55024" cy="4374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4" name="Group 123"/>
            <p:cNvGrpSpPr/>
            <p:nvPr/>
          </p:nvGrpSpPr>
          <p:grpSpPr>
            <a:xfrm>
              <a:off x="2806524" y="4401533"/>
              <a:ext cx="605263" cy="393230"/>
              <a:chOff x="4343400" y="457200"/>
              <a:chExt cx="838200" cy="548035"/>
            </a:xfrm>
          </p:grpSpPr>
          <p:sp>
            <p:nvSpPr>
              <p:cNvPr id="149" name="Rectangle 148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50" name="TextBox 149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i2:4</a:t>
                </a:r>
                <a:endParaRPr lang="en-IN" sz="1600" dirty="0"/>
              </a:p>
            </p:txBody>
          </p:sp>
        </p:grpSp>
        <p:cxnSp>
          <p:nvCxnSpPr>
            <p:cNvPr id="125" name="Straight Arrow Connector 124"/>
            <p:cNvCxnSpPr/>
            <p:nvPr/>
          </p:nvCxnSpPr>
          <p:spPr>
            <a:xfrm flipH="1">
              <a:off x="2861548" y="4784262"/>
              <a:ext cx="55024" cy="4374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6" name="Group 125"/>
            <p:cNvGrpSpPr/>
            <p:nvPr/>
          </p:nvGrpSpPr>
          <p:grpSpPr>
            <a:xfrm>
              <a:off x="2613940" y="5221667"/>
              <a:ext cx="605263" cy="393230"/>
              <a:chOff x="4343400" y="457200"/>
              <a:chExt cx="838200" cy="548035"/>
            </a:xfrm>
          </p:grpSpPr>
          <p:sp>
            <p:nvSpPr>
              <p:cNvPr id="147" name="Rectangle 146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48" name="TextBox 147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i1:3</a:t>
                </a:r>
                <a:endParaRPr lang="en-IN" sz="1600" dirty="0"/>
              </a:p>
            </p:txBody>
          </p:sp>
        </p:grpSp>
        <p:cxnSp>
          <p:nvCxnSpPr>
            <p:cNvPr id="127" name="Straight Arrow Connector 126"/>
            <p:cNvCxnSpPr/>
            <p:nvPr/>
          </p:nvCxnSpPr>
          <p:spPr>
            <a:xfrm flipH="1">
              <a:off x="2672513" y="5604396"/>
              <a:ext cx="55024" cy="4374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8" name="Group 127"/>
            <p:cNvGrpSpPr/>
            <p:nvPr/>
          </p:nvGrpSpPr>
          <p:grpSpPr>
            <a:xfrm>
              <a:off x="2514600" y="6041800"/>
              <a:ext cx="605263" cy="393230"/>
              <a:chOff x="4343400" y="457200"/>
              <a:chExt cx="838200" cy="548035"/>
            </a:xfrm>
          </p:grpSpPr>
          <p:sp>
            <p:nvSpPr>
              <p:cNvPr id="145" name="Rectangle 144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46" name="TextBox 145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i3:2</a:t>
                </a:r>
                <a:endParaRPr lang="en-IN" sz="1600" dirty="0"/>
              </a:p>
            </p:txBody>
          </p:sp>
        </p:grpSp>
        <p:cxnSp>
          <p:nvCxnSpPr>
            <p:cNvPr id="129" name="Straight Arrow Connector 128"/>
            <p:cNvCxnSpPr/>
            <p:nvPr/>
          </p:nvCxnSpPr>
          <p:spPr>
            <a:xfrm>
              <a:off x="3384276" y="4781144"/>
              <a:ext cx="302632" cy="44052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/>
            <p:cNvGrpSpPr/>
            <p:nvPr/>
          </p:nvGrpSpPr>
          <p:grpSpPr>
            <a:xfrm>
              <a:off x="3466902" y="5222852"/>
              <a:ext cx="605263" cy="393230"/>
              <a:chOff x="4343400" y="457200"/>
              <a:chExt cx="838200" cy="548035"/>
            </a:xfrm>
          </p:grpSpPr>
          <p:sp>
            <p:nvSpPr>
              <p:cNvPr id="143" name="Rectangle 142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44" name="TextBox 143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i3:1</a:t>
                </a:r>
                <a:endParaRPr lang="en-IN" sz="1600" dirty="0"/>
              </a:p>
            </p:txBody>
          </p:sp>
        </p:grpSp>
        <p:cxnSp>
          <p:nvCxnSpPr>
            <p:cNvPr id="131" name="Straight Arrow Connector 130"/>
            <p:cNvCxnSpPr/>
            <p:nvPr/>
          </p:nvCxnSpPr>
          <p:spPr>
            <a:xfrm>
              <a:off x="3823891" y="5592606"/>
              <a:ext cx="302632" cy="44052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2" name="Group 131"/>
            <p:cNvGrpSpPr/>
            <p:nvPr/>
          </p:nvGrpSpPr>
          <p:grpSpPr>
            <a:xfrm>
              <a:off x="4042937" y="6020797"/>
              <a:ext cx="605263" cy="393230"/>
              <a:chOff x="4343400" y="457200"/>
              <a:chExt cx="838200" cy="548035"/>
            </a:xfrm>
          </p:grpSpPr>
          <p:sp>
            <p:nvSpPr>
              <p:cNvPr id="141" name="Rectangle 140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42" name="TextBox 141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i4:1</a:t>
                </a:r>
                <a:endParaRPr lang="en-IN" sz="1600" dirty="0"/>
              </a:p>
            </p:txBody>
          </p:sp>
        </p:grpSp>
        <p:grpSp>
          <p:nvGrpSpPr>
            <p:cNvPr id="133" name="Group 132"/>
            <p:cNvGrpSpPr/>
            <p:nvPr/>
          </p:nvGrpSpPr>
          <p:grpSpPr>
            <a:xfrm>
              <a:off x="3657600" y="4387914"/>
              <a:ext cx="605263" cy="393230"/>
              <a:chOff x="4343400" y="457200"/>
              <a:chExt cx="838200" cy="548035"/>
            </a:xfrm>
          </p:grpSpPr>
          <p:sp>
            <p:nvSpPr>
              <p:cNvPr id="139" name="Rectangle 138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40" name="TextBox 139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i4:1</a:t>
                </a:r>
                <a:endParaRPr lang="en-IN" sz="1600" dirty="0"/>
              </a:p>
            </p:txBody>
          </p:sp>
        </p:grpSp>
        <p:cxnSp>
          <p:nvCxnSpPr>
            <p:cNvPr id="134" name="Straight Arrow Connector 133"/>
            <p:cNvCxnSpPr/>
            <p:nvPr/>
          </p:nvCxnSpPr>
          <p:spPr>
            <a:xfrm>
              <a:off x="3535592" y="3964129"/>
              <a:ext cx="261453" cy="4374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5" name="Group 134"/>
            <p:cNvGrpSpPr/>
            <p:nvPr/>
          </p:nvGrpSpPr>
          <p:grpSpPr>
            <a:xfrm>
              <a:off x="3262577" y="6052151"/>
              <a:ext cx="605263" cy="393230"/>
              <a:chOff x="4343400" y="457200"/>
              <a:chExt cx="838200" cy="548035"/>
            </a:xfrm>
          </p:grpSpPr>
          <p:sp>
            <p:nvSpPr>
              <p:cNvPr id="137" name="Rectangle 136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38" name="TextBox 137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i4:1</a:t>
                </a:r>
                <a:endParaRPr lang="en-IN" sz="1600" dirty="0"/>
              </a:p>
            </p:txBody>
          </p:sp>
        </p:grpSp>
        <p:cxnSp>
          <p:nvCxnSpPr>
            <p:cNvPr id="136" name="Straight Arrow Connector 135"/>
            <p:cNvCxnSpPr/>
            <p:nvPr/>
          </p:nvCxnSpPr>
          <p:spPr>
            <a:xfrm>
              <a:off x="3081644" y="5592606"/>
              <a:ext cx="385258" cy="4281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Rectangle 152"/>
          <p:cNvSpPr/>
          <p:nvPr/>
        </p:nvSpPr>
        <p:spPr>
          <a:xfrm>
            <a:off x="4998474" y="6477000"/>
            <a:ext cx="10975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400" dirty="0" smtClean="0"/>
              <a:t>After T5</a:t>
            </a:r>
            <a:endParaRPr lang="en-IN" sz="1400" dirty="0"/>
          </a:p>
        </p:txBody>
      </p:sp>
      <p:grpSp>
        <p:nvGrpSpPr>
          <p:cNvPr id="191" name="Group 190"/>
          <p:cNvGrpSpPr/>
          <p:nvPr/>
        </p:nvGrpSpPr>
        <p:grpSpPr>
          <a:xfrm>
            <a:off x="6858000" y="3200400"/>
            <a:ext cx="2133600" cy="3378977"/>
            <a:chOff x="6858000" y="3250423"/>
            <a:chExt cx="2133600" cy="3378977"/>
          </a:xfrm>
        </p:grpSpPr>
        <p:grpSp>
          <p:nvGrpSpPr>
            <p:cNvPr id="155" name="Group 154"/>
            <p:cNvGrpSpPr/>
            <p:nvPr/>
          </p:nvGrpSpPr>
          <p:grpSpPr>
            <a:xfrm>
              <a:off x="7425044" y="3250423"/>
              <a:ext cx="605263" cy="380241"/>
              <a:chOff x="4343400" y="457200"/>
              <a:chExt cx="838200" cy="548035"/>
            </a:xfrm>
          </p:grpSpPr>
          <p:sp>
            <p:nvSpPr>
              <p:cNvPr id="184" name="Rectangle 183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85" name="TextBox 184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Null</a:t>
                </a:r>
                <a:endParaRPr lang="en-IN" sz="1600" dirty="0"/>
              </a:p>
            </p:txBody>
          </p:sp>
        </p:grpSp>
        <p:cxnSp>
          <p:nvCxnSpPr>
            <p:cNvPr id="156" name="Straight Arrow Connector 155"/>
            <p:cNvCxnSpPr/>
            <p:nvPr/>
          </p:nvCxnSpPr>
          <p:spPr>
            <a:xfrm flipH="1">
              <a:off x="7425044" y="3620510"/>
              <a:ext cx="55024" cy="42295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7" name="Group 156"/>
            <p:cNvGrpSpPr/>
            <p:nvPr/>
          </p:nvGrpSpPr>
          <p:grpSpPr>
            <a:xfrm>
              <a:off x="7149924" y="4043465"/>
              <a:ext cx="605263" cy="391424"/>
              <a:chOff x="4343400" y="457200"/>
              <a:chExt cx="838200" cy="564153"/>
            </a:xfrm>
          </p:grpSpPr>
          <p:sp>
            <p:nvSpPr>
              <p:cNvPr id="182" name="Rectangle 181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83" name="TextBox 182"/>
              <p:cNvSpPr txBox="1"/>
              <p:nvPr/>
            </p:nvSpPr>
            <p:spPr>
              <a:xfrm>
                <a:off x="4419600" y="533401"/>
                <a:ext cx="762000" cy="4879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i2:5</a:t>
                </a:r>
                <a:endParaRPr lang="en-IN" sz="1600" dirty="0"/>
              </a:p>
            </p:txBody>
          </p:sp>
        </p:grpSp>
        <p:cxnSp>
          <p:nvCxnSpPr>
            <p:cNvPr id="158" name="Straight Arrow Connector 157"/>
            <p:cNvCxnSpPr/>
            <p:nvPr/>
          </p:nvCxnSpPr>
          <p:spPr>
            <a:xfrm flipH="1">
              <a:off x="7204948" y="4413552"/>
              <a:ext cx="55024" cy="42295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9" name="Group 158"/>
            <p:cNvGrpSpPr/>
            <p:nvPr/>
          </p:nvGrpSpPr>
          <p:grpSpPr>
            <a:xfrm>
              <a:off x="6957340" y="4836508"/>
              <a:ext cx="605263" cy="391424"/>
              <a:chOff x="4343400" y="457200"/>
              <a:chExt cx="838200" cy="564153"/>
            </a:xfrm>
          </p:grpSpPr>
          <p:sp>
            <p:nvSpPr>
              <p:cNvPr id="180" name="Rectangle 179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81" name="TextBox 180"/>
              <p:cNvSpPr txBox="1"/>
              <p:nvPr/>
            </p:nvSpPr>
            <p:spPr>
              <a:xfrm>
                <a:off x="4419600" y="533401"/>
                <a:ext cx="762000" cy="4879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i1:4</a:t>
                </a:r>
                <a:endParaRPr lang="en-IN" sz="1600" dirty="0"/>
              </a:p>
            </p:txBody>
          </p:sp>
        </p:grpSp>
        <p:cxnSp>
          <p:nvCxnSpPr>
            <p:cNvPr id="160" name="Straight Arrow Connector 159"/>
            <p:cNvCxnSpPr/>
            <p:nvPr/>
          </p:nvCxnSpPr>
          <p:spPr>
            <a:xfrm flipH="1">
              <a:off x="7015913" y="5206595"/>
              <a:ext cx="55024" cy="42295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1" name="Group 160"/>
            <p:cNvGrpSpPr/>
            <p:nvPr/>
          </p:nvGrpSpPr>
          <p:grpSpPr>
            <a:xfrm>
              <a:off x="6858000" y="5629550"/>
              <a:ext cx="605263" cy="391424"/>
              <a:chOff x="4343400" y="457200"/>
              <a:chExt cx="838200" cy="564153"/>
            </a:xfrm>
          </p:grpSpPr>
          <p:sp>
            <p:nvSpPr>
              <p:cNvPr id="178" name="Rectangle 177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79" name="TextBox 178"/>
              <p:cNvSpPr txBox="1"/>
              <p:nvPr/>
            </p:nvSpPr>
            <p:spPr>
              <a:xfrm>
                <a:off x="4419600" y="533401"/>
                <a:ext cx="762000" cy="4879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i3:3</a:t>
                </a:r>
                <a:endParaRPr lang="en-IN" sz="1600" dirty="0"/>
              </a:p>
            </p:txBody>
          </p:sp>
        </p:grpSp>
        <p:cxnSp>
          <p:nvCxnSpPr>
            <p:cNvPr id="162" name="Straight Arrow Connector 161"/>
            <p:cNvCxnSpPr/>
            <p:nvPr/>
          </p:nvCxnSpPr>
          <p:spPr>
            <a:xfrm>
              <a:off x="7727676" y="4410537"/>
              <a:ext cx="302632" cy="42597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3" name="Group 162"/>
            <p:cNvGrpSpPr/>
            <p:nvPr/>
          </p:nvGrpSpPr>
          <p:grpSpPr>
            <a:xfrm>
              <a:off x="7810302" y="4837654"/>
              <a:ext cx="605263" cy="380241"/>
              <a:chOff x="4343400" y="457200"/>
              <a:chExt cx="838200" cy="548035"/>
            </a:xfrm>
          </p:grpSpPr>
          <p:sp>
            <p:nvSpPr>
              <p:cNvPr id="176" name="Rectangle 175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77" name="TextBox 176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i3:1</a:t>
                </a:r>
                <a:endParaRPr lang="en-IN" sz="1600" dirty="0"/>
              </a:p>
            </p:txBody>
          </p:sp>
        </p:grpSp>
        <p:cxnSp>
          <p:nvCxnSpPr>
            <p:cNvPr id="164" name="Straight Arrow Connector 163"/>
            <p:cNvCxnSpPr/>
            <p:nvPr/>
          </p:nvCxnSpPr>
          <p:spPr>
            <a:xfrm>
              <a:off x="8167291" y="5195194"/>
              <a:ext cx="302632" cy="42597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5" name="Group 164"/>
            <p:cNvGrpSpPr/>
            <p:nvPr/>
          </p:nvGrpSpPr>
          <p:grpSpPr>
            <a:xfrm>
              <a:off x="8386337" y="5609241"/>
              <a:ext cx="605263" cy="380241"/>
              <a:chOff x="4343400" y="457200"/>
              <a:chExt cx="838200" cy="548035"/>
            </a:xfrm>
          </p:grpSpPr>
          <p:sp>
            <p:nvSpPr>
              <p:cNvPr id="174" name="Rectangle 173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75" name="TextBox 174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i4:1</a:t>
                </a:r>
                <a:endParaRPr lang="en-IN" sz="1600" dirty="0"/>
              </a:p>
            </p:txBody>
          </p:sp>
        </p:grpSp>
        <p:grpSp>
          <p:nvGrpSpPr>
            <p:cNvPr id="166" name="Group 165"/>
            <p:cNvGrpSpPr/>
            <p:nvPr/>
          </p:nvGrpSpPr>
          <p:grpSpPr>
            <a:xfrm>
              <a:off x="8001000" y="4030296"/>
              <a:ext cx="605263" cy="380241"/>
              <a:chOff x="4343400" y="457200"/>
              <a:chExt cx="838200" cy="548035"/>
            </a:xfrm>
          </p:grpSpPr>
          <p:sp>
            <p:nvSpPr>
              <p:cNvPr id="172" name="Rectangle 171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73" name="TextBox 172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i4:1</a:t>
                </a:r>
                <a:endParaRPr lang="en-IN" sz="1600" dirty="0"/>
              </a:p>
            </p:txBody>
          </p:sp>
        </p:grpSp>
        <p:cxnSp>
          <p:nvCxnSpPr>
            <p:cNvPr id="167" name="Straight Arrow Connector 166"/>
            <p:cNvCxnSpPr/>
            <p:nvPr/>
          </p:nvCxnSpPr>
          <p:spPr>
            <a:xfrm>
              <a:off x="7878992" y="3620510"/>
              <a:ext cx="261453" cy="42295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8" name="Group 167"/>
            <p:cNvGrpSpPr/>
            <p:nvPr/>
          </p:nvGrpSpPr>
          <p:grpSpPr>
            <a:xfrm>
              <a:off x="7605977" y="5639559"/>
              <a:ext cx="605263" cy="380241"/>
              <a:chOff x="4343400" y="457200"/>
              <a:chExt cx="838200" cy="548035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71" name="TextBox 170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i4:1</a:t>
                </a:r>
                <a:endParaRPr lang="en-IN" sz="1600" dirty="0"/>
              </a:p>
            </p:txBody>
          </p:sp>
        </p:grpSp>
        <p:cxnSp>
          <p:nvCxnSpPr>
            <p:cNvPr id="169" name="Straight Arrow Connector 168"/>
            <p:cNvCxnSpPr/>
            <p:nvPr/>
          </p:nvCxnSpPr>
          <p:spPr>
            <a:xfrm>
              <a:off x="7425044" y="5195194"/>
              <a:ext cx="385258" cy="4140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6" name="Group 185"/>
            <p:cNvGrpSpPr/>
            <p:nvPr/>
          </p:nvGrpSpPr>
          <p:grpSpPr>
            <a:xfrm>
              <a:off x="7467600" y="6249159"/>
              <a:ext cx="605263" cy="380241"/>
              <a:chOff x="4343400" y="457200"/>
              <a:chExt cx="838200" cy="548035"/>
            </a:xfrm>
          </p:grpSpPr>
          <p:sp>
            <p:nvSpPr>
              <p:cNvPr id="187" name="Rectangle 186"/>
              <p:cNvSpPr/>
              <p:nvPr/>
            </p:nvSpPr>
            <p:spPr>
              <a:xfrm>
                <a:off x="4343400" y="457200"/>
                <a:ext cx="838200" cy="533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p:sp>
            <p:nvSpPr>
              <p:cNvPr id="188" name="TextBox 187"/>
              <p:cNvSpPr txBox="1"/>
              <p:nvPr/>
            </p:nvSpPr>
            <p:spPr>
              <a:xfrm>
                <a:off x="4419600" y="533401"/>
                <a:ext cx="762000" cy="47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 smtClean="0"/>
                  <a:t>i4:1</a:t>
                </a:r>
                <a:endParaRPr lang="en-IN" sz="1600" dirty="0"/>
              </a:p>
            </p:txBody>
          </p:sp>
        </p:grpSp>
        <p:cxnSp>
          <p:nvCxnSpPr>
            <p:cNvPr id="190" name="Straight Arrow Connector 189"/>
            <p:cNvCxnSpPr/>
            <p:nvPr/>
          </p:nvCxnSpPr>
          <p:spPr>
            <a:xfrm>
              <a:off x="7386431" y="6019800"/>
              <a:ext cx="219546" cy="2293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Rectangle 191"/>
          <p:cNvSpPr/>
          <p:nvPr/>
        </p:nvSpPr>
        <p:spPr>
          <a:xfrm>
            <a:off x="7208274" y="6526164"/>
            <a:ext cx="10975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400" dirty="0" smtClean="0"/>
              <a:t>After T6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123790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5" grpId="0"/>
      <p:bldP spid="54" grpId="0"/>
      <p:bldP spid="79" grpId="0"/>
      <p:bldP spid="119" grpId="0"/>
      <p:bldP spid="153" grpId="0"/>
      <p:bldP spid="19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266533"/>
              </p:ext>
            </p:extLst>
          </p:nvPr>
        </p:nvGraphicFramePr>
        <p:xfrm>
          <a:off x="152400" y="813186"/>
          <a:ext cx="1447799" cy="2133600"/>
        </p:xfrm>
        <a:graphic>
          <a:graphicData uri="http://schemas.openxmlformats.org/drawingml/2006/table">
            <a:tbl>
              <a:tblPr/>
              <a:tblGrid>
                <a:gridCol w="609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b="1" dirty="0" smtClean="0">
                          <a:effectLst/>
                        </a:rPr>
                        <a:t>Item </a:t>
                      </a:r>
                      <a:endParaRPr lang="en-IN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b="1" dirty="0" smtClean="0">
                          <a:effectLst/>
                        </a:rPr>
                        <a:t>SC</a:t>
                      </a:r>
                      <a:endParaRPr lang="en-IN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b="1" dirty="0" err="1" smtClean="0">
                          <a:effectLst/>
                        </a:rPr>
                        <a:t>Ptr</a:t>
                      </a:r>
                      <a:endParaRPr lang="en-IN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 dirty="0" smtClean="0">
                          <a:effectLst/>
                        </a:rPr>
                        <a:t>I4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4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I3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4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I1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4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I2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5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2" name="Group 71"/>
          <p:cNvGrpSpPr/>
          <p:nvPr/>
        </p:nvGrpSpPr>
        <p:grpSpPr>
          <a:xfrm>
            <a:off x="1295400" y="76200"/>
            <a:ext cx="3160131" cy="3378977"/>
            <a:chOff x="1295400" y="76200"/>
            <a:chExt cx="3352800" cy="3378977"/>
          </a:xfrm>
        </p:grpSpPr>
        <p:grpSp>
          <p:nvGrpSpPr>
            <p:cNvPr id="4" name="Group 3"/>
            <p:cNvGrpSpPr/>
            <p:nvPr/>
          </p:nvGrpSpPr>
          <p:grpSpPr>
            <a:xfrm>
              <a:off x="2514600" y="76200"/>
              <a:ext cx="2133600" cy="3378977"/>
              <a:chOff x="6858000" y="3250423"/>
              <a:chExt cx="2133600" cy="3378977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7425044" y="3250423"/>
                <a:ext cx="605263" cy="380241"/>
                <a:chOff x="4343400" y="457200"/>
                <a:chExt cx="838200" cy="548035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4343400" y="457200"/>
                  <a:ext cx="838200" cy="533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400"/>
                </a:p>
              </p:txBody>
            </p:sp>
            <p:sp>
              <p:nvSpPr>
                <p:cNvPr id="39" name="TextBox 38"/>
                <p:cNvSpPr txBox="1"/>
                <p:nvPr/>
              </p:nvSpPr>
              <p:spPr>
                <a:xfrm>
                  <a:off x="4419600" y="533401"/>
                  <a:ext cx="762000" cy="471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600" dirty="0" smtClean="0"/>
                    <a:t>Null</a:t>
                  </a:r>
                  <a:endParaRPr lang="en-IN" sz="1600" dirty="0"/>
                </a:p>
              </p:txBody>
            </p:sp>
          </p:grpSp>
          <p:cxnSp>
            <p:nvCxnSpPr>
              <p:cNvPr id="6" name="Straight Arrow Connector 5"/>
              <p:cNvCxnSpPr/>
              <p:nvPr/>
            </p:nvCxnSpPr>
            <p:spPr>
              <a:xfrm flipH="1">
                <a:off x="7425044" y="3620510"/>
                <a:ext cx="55024" cy="42295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" name="Group 6"/>
              <p:cNvGrpSpPr/>
              <p:nvPr/>
            </p:nvGrpSpPr>
            <p:grpSpPr>
              <a:xfrm>
                <a:off x="7149924" y="4043465"/>
                <a:ext cx="605263" cy="391424"/>
                <a:chOff x="4343400" y="457200"/>
                <a:chExt cx="838200" cy="564153"/>
              </a:xfrm>
            </p:grpSpPr>
            <p:sp>
              <p:nvSpPr>
                <p:cNvPr id="36" name="Rectangle 35"/>
                <p:cNvSpPr/>
                <p:nvPr/>
              </p:nvSpPr>
              <p:spPr>
                <a:xfrm>
                  <a:off x="4343400" y="457200"/>
                  <a:ext cx="838200" cy="533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400"/>
                </a:p>
              </p:txBody>
            </p:sp>
            <p:sp>
              <p:nvSpPr>
                <p:cNvPr id="37" name="TextBox 36"/>
                <p:cNvSpPr txBox="1"/>
                <p:nvPr/>
              </p:nvSpPr>
              <p:spPr>
                <a:xfrm>
                  <a:off x="4419600" y="533401"/>
                  <a:ext cx="762000" cy="4879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600" dirty="0" smtClean="0"/>
                    <a:t>i2:5</a:t>
                  </a:r>
                  <a:endParaRPr lang="en-IN" sz="1600" dirty="0"/>
                </a:p>
              </p:txBody>
            </p:sp>
          </p:grpSp>
          <p:cxnSp>
            <p:nvCxnSpPr>
              <p:cNvPr id="8" name="Straight Arrow Connector 7"/>
              <p:cNvCxnSpPr/>
              <p:nvPr/>
            </p:nvCxnSpPr>
            <p:spPr>
              <a:xfrm flipH="1">
                <a:off x="7204948" y="4413552"/>
                <a:ext cx="55024" cy="42295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" name="Group 8"/>
              <p:cNvGrpSpPr/>
              <p:nvPr/>
            </p:nvGrpSpPr>
            <p:grpSpPr>
              <a:xfrm>
                <a:off x="6957340" y="4836508"/>
                <a:ext cx="605263" cy="391424"/>
                <a:chOff x="4343400" y="457200"/>
                <a:chExt cx="838200" cy="564153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4343400" y="457200"/>
                  <a:ext cx="838200" cy="533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400"/>
                </a:p>
              </p:txBody>
            </p:sp>
            <p:sp>
              <p:nvSpPr>
                <p:cNvPr id="35" name="TextBox 34"/>
                <p:cNvSpPr txBox="1"/>
                <p:nvPr/>
              </p:nvSpPr>
              <p:spPr>
                <a:xfrm>
                  <a:off x="4419600" y="533401"/>
                  <a:ext cx="762000" cy="4879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600" dirty="0" smtClean="0"/>
                    <a:t>i1:4</a:t>
                  </a:r>
                  <a:endParaRPr lang="en-IN" sz="1600" dirty="0"/>
                </a:p>
              </p:txBody>
            </p:sp>
          </p:grpSp>
          <p:cxnSp>
            <p:nvCxnSpPr>
              <p:cNvPr id="10" name="Straight Arrow Connector 9"/>
              <p:cNvCxnSpPr/>
              <p:nvPr/>
            </p:nvCxnSpPr>
            <p:spPr>
              <a:xfrm flipH="1">
                <a:off x="7015913" y="5206595"/>
                <a:ext cx="55024" cy="42295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/>
              <p:cNvGrpSpPr/>
              <p:nvPr/>
            </p:nvGrpSpPr>
            <p:grpSpPr>
              <a:xfrm>
                <a:off x="6858000" y="5629550"/>
                <a:ext cx="605263" cy="391424"/>
                <a:chOff x="4343400" y="457200"/>
                <a:chExt cx="838200" cy="564153"/>
              </a:xfrm>
            </p:grpSpPr>
            <p:sp>
              <p:nvSpPr>
                <p:cNvPr id="32" name="Rectangle 31"/>
                <p:cNvSpPr/>
                <p:nvPr/>
              </p:nvSpPr>
              <p:spPr>
                <a:xfrm>
                  <a:off x="4343400" y="457200"/>
                  <a:ext cx="838200" cy="533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400"/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4419600" y="533401"/>
                  <a:ext cx="762000" cy="4879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600" dirty="0" smtClean="0"/>
                    <a:t>i3:3</a:t>
                  </a:r>
                  <a:endParaRPr lang="en-IN" sz="1600" dirty="0"/>
                </a:p>
              </p:txBody>
            </p:sp>
          </p:grpSp>
          <p:cxnSp>
            <p:nvCxnSpPr>
              <p:cNvPr id="12" name="Straight Arrow Connector 11"/>
              <p:cNvCxnSpPr/>
              <p:nvPr/>
            </p:nvCxnSpPr>
            <p:spPr>
              <a:xfrm>
                <a:off x="7727676" y="4410537"/>
                <a:ext cx="302632" cy="42597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Group 12"/>
              <p:cNvGrpSpPr/>
              <p:nvPr/>
            </p:nvGrpSpPr>
            <p:grpSpPr>
              <a:xfrm>
                <a:off x="7810302" y="4837654"/>
                <a:ext cx="605263" cy="380241"/>
                <a:chOff x="4343400" y="457200"/>
                <a:chExt cx="838200" cy="548035"/>
              </a:xfrm>
            </p:grpSpPr>
            <p:sp>
              <p:nvSpPr>
                <p:cNvPr id="30" name="Rectangle 29"/>
                <p:cNvSpPr/>
                <p:nvPr/>
              </p:nvSpPr>
              <p:spPr>
                <a:xfrm>
                  <a:off x="4343400" y="457200"/>
                  <a:ext cx="838200" cy="533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400"/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4419600" y="533401"/>
                  <a:ext cx="762000" cy="471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600" dirty="0" smtClean="0"/>
                    <a:t>i3:1</a:t>
                  </a:r>
                  <a:endParaRPr lang="en-IN" sz="1600" dirty="0"/>
                </a:p>
              </p:txBody>
            </p:sp>
          </p:grpSp>
          <p:cxnSp>
            <p:nvCxnSpPr>
              <p:cNvPr id="14" name="Straight Arrow Connector 13"/>
              <p:cNvCxnSpPr/>
              <p:nvPr/>
            </p:nvCxnSpPr>
            <p:spPr>
              <a:xfrm>
                <a:off x="8167291" y="5195194"/>
                <a:ext cx="302632" cy="42597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Group 14"/>
              <p:cNvGrpSpPr/>
              <p:nvPr/>
            </p:nvGrpSpPr>
            <p:grpSpPr>
              <a:xfrm>
                <a:off x="8386337" y="5609241"/>
                <a:ext cx="605263" cy="380241"/>
                <a:chOff x="4343400" y="457200"/>
                <a:chExt cx="838200" cy="548035"/>
              </a:xfrm>
            </p:grpSpPr>
            <p:sp>
              <p:nvSpPr>
                <p:cNvPr id="28" name="Rectangle 27"/>
                <p:cNvSpPr/>
                <p:nvPr/>
              </p:nvSpPr>
              <p:spPr>
                <a:xfrm>
                  <a:off x="4343400" y="457200"/>
                  <a:ext cx="838200" cy="533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400"/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4419600" y="533401"/>
                  <a:ext cx="762000" cy="471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600" dirty="0" smtClean="0"/>
                    <a:t>i4:1</a:t>
                  </a:r>
                  <a:endParaRPr lang="en-IN" sz="1600" dirty="0"/>
                </a:p>
              </p:txBody>
            </p:sp>
          </p:grpSp>
          <p:grpSp>
            <p:nvGrpSpPr>
              <p:cNvPr id="16" name="Group 15"/>
              <p:cNvGrpSpPr/>
              <p:nvPr/>
            </p:nvGrpSpPr>
            <p:grpSpPr>
              <a:xfrm>
                <a:off x="8001000" y="4030296"/>
                <a:ext cx="605263" cy="380241"/>
                <a:chOff x="4343400" y="457200"/>
                <a:chExt cx="838200" cy="548035"/>
              </a:xfrm>
            </p:grpSpPr>
            <p:sp>
              <p:nvSpPr>
                <p:cNvPr id="26" name="Rectangle 25"/>
                <p:cNvSpPr/>
                <p:nvPr/>
              </p:nvSpPr>
              <p:spPr>
                <a:xfrm>
                  <a:off x="4343400" y="457200"/>
                  <a:ext cx="838200" cy="533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400"/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4419600" y="533401"/>
                  <a:ext cx="762000" cy="471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600" dirty="0" smtClean="0"/>
                    <a:t>i4:1</a:t>
                  </a:r>
                  <a:endParaRPr lang="en-IN" sz="1600" dirty="0"/>
                </a:p>
              </p:txBody>
            </p:sp>
          </p:grpSp>
          <p:cxnSp>
            <p:nvCxnSpPr>
              <p:cNvPr id="17" name="Straight Arrow Connector 16"/>
              <p:cNvCxnSpPr/>
              <p:nvPr/>
            </p:nvCxnSpPr>
            <p:spPr>
              <a:xfrm>
                <a:off x="7878992" y="3620510"/>
                <a:ext cx="261453" cy="42295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" name="Group 17"/>
              <p:cNvGrpSpPr/>
              <p:nvPr/>
            </p:nvGrpSpPr>
            <p:grpSpPr>
              <a:xfrm>
                <a:off x="7605977" y="5639559"/>
                <a:ext cx="605263" cy="380241"/>
                <a:chOff x="4343400" y="457200"/>
                <a:chExt cx="838200" cy="548035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4343400" y="457200"/>
                  <a:ext cx="838200" cy="533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400"/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>
                  <a:off x="4419600" y="533401"/>
                  <a:ext cx="762000" cy="471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600" dirty="0" smtClean="0"/>
                    <a:t>i4:1</a:t>
                  </a:r>
                  <a:endParaRPr lang="en-IN" sz="1600" dirty="0"/>
                </a:p>
              </p:txBody>
            </p:sp>
          </p:grpSp>
          <p:cxnSp>
            <p:nvCxnSpPr>
              <p:cNvPr id="19" name="Straight Arrow Connector 18"/>
              <p:cNvCxnSpPr/>
              <p:nvPr/>
            </p:nvCxnSpPr>
            <p:spPr>
              <a:xfrm>
                <a:off x="7425044" y="5195194"/>
                <a:ext cx="385258" cy="41404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" name="Group 19"/>
              <p:cNvGrpSpPr/>
              <p:nvPr/>
            </p:nvGrpSpPr>
            <p:grpSpPr>
              <a:xfrm>
                <a:off x="7467600" y="6249159"/>
                <a:ext cx="605263" cy="380241"/>
                <a:chOff x="4343400" y="457200"/>
                <a:chExt cx="838200" cy="548035"/>
              </a:xfrm>
            </p:grpSpPr>
            <p:sp>
              <p:nvSpPr>
                <p:cNvPr id="22" name="Rectangle 21"/>
                <p:cNvSpPr/>
                <p:nvPr/>
              </p:nvSpPr>
              <p:spPr>
                <a:xfrm>
                  <a:off x="4343400" y="457200"/>
                  <a:ext cx="838200" cy="533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400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4419600" y="533401"/>
                  <a:ext cx="762000" cy="471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600" dirty="0" smtClean="0"/>
                    <a:t>i4:1</a:t>
                  </a:r>
                  <a:endParaRPr lang="en-IN" sz="1600" dirty="0"/>
                </a:p>
              </p:txBody>
            </p:sp>
          </p:grpSp>
          <p:cxnSp>
            <p:nvCxnSpPr>
              <p:cNvPr id="21" name="Straight Arrow Connector 20"/>
              <p:cNvCxnSpPr/>
              <p:nvPr/>
            </p:nvCxnSpPr>
            <p:spPr>
              <a:xfrm>
                <a:off x="7386431" y="6019800"/>
                <a:ext cx="219546" cy="22935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Curved Connector 43"/>
            <p:cNvCxnSpPr>
              <a:endCxn id="22" idx="1"/>
            </p:cNvCxnSpPr>
            <p:nvPr/>
          </p:nvCxnSpPr>
          <p:spPr>
            <a:xfrm rot="16200000" flipH="1">
              <a:off x="1381413" y="1517192"/>
              <a:ext cx="1809175" cy="1676399"/>
            </a:xfrm>
            <a:prstGeom prst="curvedConnector2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urved Connector 48"/>
            <p:cNvCxnSpPr>
              <a:stCxn id="22" idx="3"/>
            </p:cNvCxnSpPr>
            <p:nvPr/>
          </p:nvCxnSpPr>
          <p:spPr>
            <a:xfrm flipV="1">
              <a:off x="3729463" y="2846751"/>
              <a:ext cx="94428" cy="413229"/>
            </a:xfrm>
            <a:prstGeom prst="curvedConnector2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urved Connector 50"/>
            <p:cNvCxnSpPr>
              <a:endCxn id="32" idx="1"/>
            </p:cNvCxnSpPr>
            <p:nvPr/>
          </p:nvCxnSpPr>
          <p:spPr>
            <a:xfrm>
              <a:off x="1295400" y="1929696"/>
              <a:ext cx="1219200" cy="710675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6">
                  <a:lumMod val="75000"/>
                </a:schemeClr>
              </a:solidFill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urved Connector 53"/>
            <p:cNvCxnSpPr/>
            <p:nvPr/>
          </p:nvCxnSpPr>
          <p:spPr>
            <a:xfrm flipV="1">
              <a:off x="2944083" y="2053709"/>
              <a:ext cx="621125" cy="381309"/>
            </a:xfrm>
            <a:prstGeom prst="curvedConnector3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urved Connector 55"/>
            <p:cNvCxnSpPr>
              <a:endCxn id="34" idx="1"/>
            </p:cNvCxnSpPr>
            <p:nvPr/>
          </p:nvCxnSpPr>
          <p:spPr>
            <a:xfrm flipV="1">
              <a:off x="1295400" y="1847329"/>
              <a:ext cx="1318540" cy="508062"/>
            </a:xfrm>
            <a:prstGeom prst="curvedConnector3">
              <a:avLst/>
            </a:prstGeom>
            <a:ln w="19050">
              <a:solidFill>
                <a:schemeClr val="tx1"/>
              </a:solidFill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urved Connector 57"/>
            <p:cNvCxnSpPr>
              <a:endCxn id="36" idx="1"/>
            </p:cNvCxnSpPr>
            <p:nvPr/>
          </p:nvCxnSpPr>
          <p:spPr>
            <a:xfrm rot="5400000" flipH="1" flipV="1">
              <a:off x="1213653" y="1212234"/>
              <a:ext cx="1750819" cy="1434924"/>
            </a:xfrm>
            <a:prstGeom prst="curvedConnector2">
              <a:avLst/>
            </a:prstGeom>
            <a:ln w="19050">
              <a:solidFill>
                <a:srgbClr val="FF0000"/>
              </a:solidFill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24" idx="3"/>
              <a:endCxn id="28" idx="1"/>
            </p:cNvCxnSpPr>
            <p:nvPr/>
          </p:nvCxnSpPr>
          <p:spPr>
            <a:xfrm flipV="1">
              <a:off x="3867840" y="2620062"/>
              <a:ext cx="175097" cy="3031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urved Connector 70"/>
            <p:cNvCxnSpPr>
              <a:stCxn id="28" idx="3"/>
              <a:endCxn id="26" idx="3"/>
            </p:cNvCxnSpPr>
            <p:nvPr/>
          </p:nvCxnSpPr>
          <p:spPr>
            <a:xfrm flipH="1" flipV="1">
              <a:off x="4262863" y="1041117"/>
              <a:ext cx="385337" cy="1578945"/>
            </a:xfrm>
            <a:prstGeom prst="curvedConnector3">
              <a:avLst>
                <a:gd name="adj1" fmla="val -59325"/>
              </a:avLst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009521"/>
              </p:ext>
            </p:extLst>
          </p:nvPr>
        </p:nvGraphicFramePr>
        <p:xfrm>
          <a:off x="5105400" y="838200"/>
          <a:ext cx="3505200" cy="21336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b="1" dirty="0" smtClean="0">
                          <a:effectLst/>
                        </a:rPr>
                        <a:t>Item </a:t>
                      </a:r>
                      <a:endParaRPr lang="en-IN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b="1" dirty="0" smtClean="0">
                          <a:effectLst/>
                        </a:rPr>
                        <a:t>Conditional</a:t>
                      </a:r>
                      <a:r>
                        <a:rPr lang="en-US" b="1" baseline="0" dirty="0" smtClean="0">
                          <a:effectLst/>
                        </a:rPr>
                        <a:t> Pattern Base</a:t>
                      </a:r>
                      <a:endParaRPr lang="en-IN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 dirty="0" smtClean="0">
                          <a:effectLst/>
                        </a:rPr>
                        <a:t>I4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{i2,i1,i3:1}, {i2,i1:1}, {i2,i3:1}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I3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{i2,i1:3}, {i2:1}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I1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{i2:4}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I2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Null 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298635"/>
              </p:ext>
            </p:extLst>
          </p:nvPr>
        </p:nvGraphicFramePr>
        <p:xfrm>
          <a:off x="149496" y="4191000"/>
          <a:ext cx="3965304" cy="2133600"/>
        </p:xfrm>
        <a:graphic>
          <a:graphicData uri="http://schemas.openxmlformats.org/drawingml/2006/table">
            <a:tbl>
              <a:tblPr/>
              <a:tblGrid>
                <a:gridCol w="764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b="1" dirty="0" smtClean="0">
                          <a:effectLst/>
                        </a:rPr>
                        <a:t>Item </a:t>
                      </a:r>
                      <a:endParaRPr lang="en-IN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b="1" dirty="0" smtClean="0">
                          <a:effectLst/>
                        </a:rPr>
                        <a:t>FP generated</a:t>
                      </a:r>
                      <a:endParaRPr lang="en-IN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 dirty="0" smtClean="0">
                          <a:effectLst/>
                        </a:rPr>
                        <a:t>I4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{i2,i4:3}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I3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{i2,i3:4},</a:t>
                      </a:r>
                      <a:r>
                        <a:rPr lang="en-US" b="0" baseline="0" dirty="0" smtClean="0">
                          <a:effectLst/>
                        </a:rPr>
                        <a:t> {i1,i3:3}, {i2,i1,i3:3}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I1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{i2,i1:4}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I2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Null 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Right Arrow 1"/>
          <p:cNvSpPr/>
          <p:nvPr/>
        </p:nvSpPr>
        <p:spPr>
          <a:xfrm>
            <a:off x="4724400" y="1848474"/>
            <a:ext cx="381000" cy="379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Down Arrow 2"/>
          <p:cNvSpPr/>
          <p:nvPr/>
        </p:nvSpPr>
        <p:spPr>
          <a:xfrm>
            <a:off x="6248400" y="3074936"/>
            <a:ext cx="457200" cy="8874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Left Arrow 40"/>
          <p:cNvSpPr/>
          <p:nvPr/>
        </p:nvSpPr>
        <p:spPr>
          <a:xfrm>
            <a:off x="4214458" y="5105400"/>
            <a:ext cx="890942" cy="5334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411510"/>
              </p:ext>
            </p:extLst>
          </p:nvPr>
        </p:nvGraphicFramePr>
        <p:xfrm>
          <a:off x="5178696" y="4114800"/>
          <a:ext cx="2822304" cy="21336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IN" b="1" dirty="0" smtClean="0">
                          <a:effectLst/>
                        </a:rPr>
                        <a:t>Item </a:t>
                      </a:r>
                      <a:endParaRPr lang="en-IN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b="1" dirty="0" smtClean="0">
                          <a:effectLst/>
                        </a:rPr>
                        <a:t>Conditional</a:t>
                      </a:r>
                      <a:r>
                        <a:rPr lang="en-US" b="1" baseline="0" dirty="0" smtClean="0">
                          <a:effectLst/>
                        </a:rPr>
                        <a:t> FP Tree</a:t>
                      </a:r>
                      <a:endParaRPr lang="en-IN" b="1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b="0" dirty="0" smtClean="0">
                          <a:effectLst/>
                        </a:rPr>
                        <a:t>I4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{i2:3}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I3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{i2:4},</a:t>
                      </a:r>
                      <a:r>
                        <a:rPr lang="en-US" b="0" baseline="0" dirty="0" smtClean="0">
                          <a:effectLst/>
                        </a:rPr>
                        <a:t> {i1:3}, {i2,i1:3}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I1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{i2:4}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I2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b="0" dirty="0" smtClean="0">
                          <a:effectLst/>
                        </a:rPr>
                        <a:t>Null </a:t>
                      </a:r>
                      <a:endParaRPr lang="en-IN" b="0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58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762</Words>
  <Application>Microsoft Office PowerPoint</Application>
  <PresentationFormat>On-screen Show (4:3)</PresentationFormat>
  <Paragraphs>374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Symbol</vt:lpstr>
      <vt:lpstr>Office Theme</vt:lpstr>
      <vt:lpstr>Introduction to Association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Association Analysis</dc:title>
  <dc:creator>acer</dc:creator>
  <cp:lastModifiedBy>Vipul Dalal</cp:lastModifiedBy>
  <cp:revision>62</cp:revision>
  <dcterms:created xsi:type="dcterms:W3CDTF">2006-08-16T00:00:00Z</dcterms:created>
  <dcterms:modified xsi:type="dcterms:W3CDTF">2021-12-04T03:55:25Z</dcterms:modified>
</cp:coreProperties>
</file>