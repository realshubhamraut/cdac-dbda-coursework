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142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7/20/2021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568575"/>
            <a:ext cx="7772400" cy="1470025"/>
          </a:xfrm>
        </p:spPr>
        <p:txBody>
          <a:bodyPr/>
          <a:lstStyle/>
          <a:p>
            <a:r>
              <a:rPr lang="en-US" dirty="0" smtClean="0"/>
              <a:t>Introduction to Neural Networks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7466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2484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What is neural network?</a:t>
            </a:r>
          </a:p>
          <a:p>
            <a:pPr lvl="1" algn="just"/>
            <a:r>
              <a:rPr lang="en-US" sz="2400" dirty="0" smtClean="0"/>
              <a:t>An attempt to process information using artificial neurons in a way similar to biological neural system does.</a:t>
            </a:r>
          </a:p>
          <a:p>
            <a:pPr lvl="1" algn="just"/>
            <a:r>
              <a:rPr lang="en-US" sz="2400" dirty="0" smtClean="0"/>
              <a:t>An interconnected group of artificial neurons that uses mathematical model to solve the given problem.</a:t>
            </a:r>
          </a:p>
          <a:p>
            <a:pPr lvl="1" algn="just"/>
            <a:r>
              <a:rPr lang="en-US" sz="2400" dirty="0" smtClean="0"/>
              <a:t>Can be used </a:t>
            </a:r>
          </a:p>
          <a:p>
            <a:pPr lvl="2" algn="just"/>
            <a:r>
              <a:rPr lang="en-US" sz="2000" dirty="0" smtClean="0"/>
              <a:t>To model complex relationships between input and output</a:t>
            </a:r>
          </a:p>
          <a:p>
            <a:pPr lvl="2" algn="just"/>
            <a:r>
              <a:rPr lang="en-US" sz="2000" dirty="0" smtClean="0"/>
              <a:t>To identify patterns in the data</a:t>
            </a:r>
          </a:p>
          <a:p>
            <a:pPr lvl="1" algn="just"/>
            <a:r>
              <a:rPr lang="en-US" sz="2400" dirty="0" smtClean="0"/>
              <a:t>Applications</a:t>
            </a:r>
          </a:p>
          <a:p>
            <a:pPr lvl="2" algn="just"/>
            <a:r>
              <a:rPr lang="en-US" sz="2000" dirty="0" smtClean="0"/>
              <a:t>Pattern recognition – radar systems, face identification, object recognition</a:t>
            </a:r>
          </a:p>
          <a:p>
            <a:pPr lvl="2" algn="just"/>
            <a:r>
              <a:rPr lang="en-US" sz="2000" dirty="0" smtClean="0"/>
              <a:t>Sequence recognition – speech recognition, gesture recognition, handwritten text recognition</a:t>
            </a:r>
          </a:p>
          <a:p>
            <a:pPr lvl="2" algn="just"/>
            <a:r>
              <a:rPr lang="en-US" sz="2000" dirty="0" smtClean="0"/>
              <a:t>Vehicle control, process control, medical diagnosis, financial &amp; business predictions, fraud &amp; email spam detection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135823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8600"/>
                <a:ext cx="8229600" cy="6400800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IN" sz="2800" dirty="0" smtClean="0"/>
                  <a:t>McCulloch-Pitts Neuron</a:t>
                </a:r>
              </a:p>
              <a:p>
                <a:pPr algn="just"/>
                <a:endParaRPr lang="en-US" sz="2800" dirty="0" smtClean="0"/>
              </a:p>
              <a:p>
                <a:pPr algn="just"/>
                <a:endParaRPr lang="en-US" sz="2800" dirty="0"/>
              </a:p>
              <a:p>
                <a:pPr algn="just"/>
                <a:endParaRPr lang="en-US" sz="2800" dirty="0" smtClean="0"/>
              </a:p>
              <a:p>
                <a:pPr algn="just"/>
                <a:endParaRPr lang="en-US" sz="2800" dirty="0"/>
              </a:p>
              <a:p>
                <a:pPr lvl="1" algn="just"/>
                <a:r>
                  <a:rPr lang="en-IN" sz="2400" dirty="0" smtClean="0"/>
                  <a:t>Divided </a:t>
                </a:r>
                <a:r>
                  <a:rPr lang="en-IN" sz="2400" dirty="0"/>
                  <a:t>into 2 parts. </a:t>
                </a:r>
                <a:endParaRPr lang="en-IN" sz="2400" dirty="0" smtClean="0"/>
              </a:p>
              <a:p>
                <a:pPr lvl="2" algn="just"/>
                <a:r>
                  <a:rPr lang="en-IN" sz="2000" b="1" i="1" dirty="0" smtClean="0"/>
                  <a:t>g</a:t>
                </a:r>
                <a:r>
                  <a:rPr lang="en-IN" sz="2000" b="1" i="1" dirty="0"/>
                  <a:t> </a:t>
                </a:r>
                <a:r>
                  <a:rPr lang="en-IN" sz="2000" dirty="0"/>
                  <a:t>takes an input </a:t>
                </a:r>
                <a:endParaRPr lang="en-IN" sz="2000" dirty="0" smtClean="0"/>
              </a:p>
              <a:p>
                <a:pPr lvl="2" algn="just"/>
                <a:r>
                  <a:rPr lang="en-IN" sz="2000" dirty="0" smtClean="0"/>
                  <a:t>performs </a:t>
                </a:r>
                <a:r>
                  <a:rPr lang="en-IN" sz="2000" dirty="0"/>
                  <a:t>an </a:t>
                </a:r>
                <a:r>
                  <a:rPr lang="en-IN" sz="2000" dirty="0" smtClean="0"/>
                  <a:t>aggregation </a:t>
                </a:r>
              </a:p>
              <a:p>
                <a:pPr lvl="2" algn="just"/>
                <a:r>
                  <a:rPr lang="en-IN" sz="2000" dirty="0" smtClean="0"/>
                  <a:t>based </a:t>
                </a:r>
                <a:r>
                  <a:rPr lang="en-IN" sz="2000" dirty="0"/>
                  <a:t>on the aggregated value the second part, </a:t>
                </a:r>
                <a:r>
                  <a:rPr lang="en-IN" sz="2000" b="1" i="1" dirty="0"/>
                  <a:t>f</a:t>
                </a:r>
                <a:r>
                  <a:rPr lang="en-IN" sz="2000" dirty="0"/>
                  <a:t> makes a decision</a:t>
                </a:r>
                <a:r>
                  <a:rPr lang="en-IN" sz="2000" dirty="0" smtClean="0"/>
                  <a:t>.</a:t>
                </a:r>
              </a:p>
              <a:p>
                <a:pPr lvl="2" algn="just"/>
                <a:r>
                  <a:rPr lang="en-IN" sz="2000" dirty="0" smtClean="0"/>
                  <a:t>Inputs </a:t>
                </a:r>
                <a:r>
                  <a:rPr lang="en-IN" sz="2000" dirty="0"/>
                  <a:t>can either be </a:t>
                </a:r>
                <a:r>
                  <a:rPr lang="en-IN" sz="2000" i="1" dirty="0"/>
                  <a:t>excitatory</a:t>
                </a:r>
                <a:r>
                  <a:rPr lang="en-IN" sz="2000" dirty="0"/>
                  <a:t> or </a:t>
                </a:r>
                <a:r>
                  <a:rPr lang="en-IN" sz="2000" i="1" dirty="0" smtClean="0"/>
                  <a:t>inhibitory</a:t>
                </a:r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US" sz="2400" b="0" i="1" smtClean="0">
                              <a:latin typeface="Cambria Math"/>
                            </a:rPr>
                            <m:t>=1</m:t>
                          </m:r>
                        </m:sub>
                        <m:sup>
                          <m:r>
                            <a:rPr lang="en-US" sz="2400" b="0" i="1" smtClean="0">
                              <a:latin typeface="Cambria Math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IN" sz="2400" dirty="0" smtClean="0"/>
              </a:p>
              <a:p>
                <a:pPr marL="457200" lvl="1" indent="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/>
                        </a:rPr>
                        <m:t>𝑦</m:t>
                      </m:r>
                      <m:r>
                        <a:rPr lang="en-US" sz="2400" b="0" i="1" smtClean="0">
                          <a:latin typeface="Cambria Math"/>
                        </a:rPr>
                        <m:t>=</m:t>
                      </m:r>
                      <m:r>
                        <a:rPr lang="en-US" sz="24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/>
                        </a:rPr>
                        <m:t>={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400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𝑖𝑓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𝑔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(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𝑋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)≥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mr>
                        <m:m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0, 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𝑖𝑓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b="0" i="1" smtClean="0">
                                    <a:latin typeface="Cambria Math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sz="2400" b="0" i="1" smtClean="0">
                                <a:latin typeface="Cambria Math"/>
                              </a:rPr>
                              <m:t>&lt;</m:t>
                            </m:r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𝜃</m:t>
                            </m:r>
                          </m:e>
                        </m:mr>
                      </m:m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8600"/>
                <a:ext cx="8229600" cy="6400800"/>
              </a:xfrm>
              <a:blipFill rotWithShape="1">
                <a:blip r:embed="rId2"/>
                <a:stretch>
                  <a:fillRect l="-1259" t="-1524" r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62943" y="685800"/>
            <a:ext cx="2547257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32340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457200"/>
                <a:ext cx="8229600" cy="6096000"/>
              </a:xfrm>
            </p:spPr>
            <p:txBody>
              <a:bodyPr>
                <a:normAutofit lnSpcReduction="10000"/>
              </a:bodyPr>
              <a:lstStyle/>
              <a:p>
                <a:pPr algn="just"/>
                <a:r>
                  <a:rPr lang="en-US" sz="2800" dirty="0" smtClean="0"/>
                  <a:t>Perceptron </a:t>
                </a:r>
              </a:p>
              <a:p>
                <a:pPr algn="just"/>
                <a:endParaRPr lang="en-US" sz="2800" dirty="0" smtClean="0"/>
              </a:p>
              <a:p>
                <a:pPr algn="just"/>
                <a:endParaRPr lang="en-US" sz="2800" dirty="0"/>
              </a:p>
              <a:p>
                <a:pPr algn="just"/>
                <a:endParaRPr lang="en-US" sz="2800" dirty="0" smtClean="0"/>
              </a:p>
              <a:p>
                <a:pPr algn="just"/>
                <a:endParaRPr lang="en-US" sz="2800" dirty="0"/>
              </a:p>
              <a:p>
                <a:pPr algn="just"/>
                <a:endParaRPr lang="en-US" sz="2800" dirty="0" smtClean="0"/>
              </a:p>
              <a:p>
                <a:pPr algn="just"/>
                <a:endParaRPr lang="en-US" sz="2800" dirty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𝑔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𝑋</m:t>
                          </m:r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𝑏</m:t>
                      </m:r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+…+</m:t>
                      </m:r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𝑥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/>
                            </a:rPr>
                            <m:t>𝑛</m:t>
                          </m:r>
                        </m:sub>
                      </m:sSub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𝑏</m:t>
                      </m:r>
                      <m:r>
                        <a:rPr lang="en-US" sz="2800" b="0" i="1" smtClean="0">
                          <a:latin typeface="Cambria Math"/>
                        </a:rPr>
                        <m:t>+</m:t>
                      </m:r>
                      <m:r>
                        <a:rPr lang="en-US" sz="2800" b="0" i="1" smtClean="0">
                          <a:latin typeface="Cambria Math"/>
                        </a:rPr>
                        <m:t>𝑊</m:t>
                      </m:r>
                      <m:r>
                        <a:rPr lang="en-US" sz="2800" i="1">
                          <a:latin typeface="Cambria Math"/>
                          <a:ea typeface="Cambria Math"/>
                        </a:rPr>
                        <m:t>⋅</m:t>
                      </m:r>
                      <m:r>
                        <a:rPr lang="en-US" sz="2800" b="0" i="1" smtClean="0">
                          <a:latin typeface="Cambria Math"/>
                          <a:ea typeface="Cambria Math"/>
                        </a:rPr>
                        <m:t>𝑋</m:t>
                      </m:r>
                    </m:oMath>
                  </m:oMathPara>
                </a14:m>
                <a:endParaRPr lang="en-IN" sz="2800" dirty="0" smtClean="0"/>
              </a:p>
              <a:p>
                <a:pPr marL="0" indent="0" algn="just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800" b="0" i="1" smtClean="0">
                          <a:latin typeface="Cambria Math"/>
                        </a:rPr>
                        <m:t>𝑦</m:t>
                      </m:r>
                      <m:r>
                        <a:rPr lang="en-US" sz="2800" b="0" i="1" smtClean="0">
                          <a:latin typeface="Cambria Math"/>
                        </a:rPr>
                        <m:t>=</m:t>
                      </m:r>
                      <m:r>
                        <a:rPr lang="en-US" sz="2800" b="0" i="1" smtClean="0">
                          <a:latin typeface="Cambria Math"/>
                        </a:rPr>
                        <m:t>𝑓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800" b="0" i="1" smtClean="0">
                              <a:latin typeface="Cambria Math"/>
                            </a:rPr>
                            <m:t>𝑔</m:t>
                          </m:r>
                          <m:d>
                            <m:d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800" b="0" i="1" smtClean="0">
                                  <a:latin typeface="Cambria Math"/>
                                </a:rPr>
                                <m:t>𝑋</m:t>
                              </m:r>
                            </m:e>
                          </m:d>
                        </m:e>
                      </m:d>
                      <m:r>
                        <a:rPr lang="en-US" sz="2800" b="0" i="1" smtClean="0">
                          <a:latin typeface="Cambria Math"/>
                        </a:rPr>
                        <m:t>={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brk m:alnAt="7"/>
                              </m:rPr>
                              <a:rPr lang="en-US" sz="2800" b="0" i="1" smtClean="0">
                                <a:latin typeface="Cambria Math"/>
                              </a:rPr>
                              <m:t>1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, 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𝑖𝑓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 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𝑔</m:t>
                            </m:r>
                            <m:d>
                              <m:dPr>
                                <m:ctrlP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brk m:alnAt="7"/>
                                  </m:rPr>
                                  <a:rPr lang="en-US" sz="2800" b="0" i="1" smtClean="0">
                                    <a:latin typeface="Cambria Math"/>
                                  </a:rPr>
                                  <m:t>𝑋</m:t>
                                </m:r>
                              </m:e>
                            </m:d>
                            <m:r>
                              <m:rPr>
                                <m:brk m:alnAt="7"/>
                              </m:rPr>
                              <a:rPr lang="en-US" sz="2800" i="1">
                                <a:latin typeface="Cambria Math"/>
                                <a:ea typeface="Cambria Math"/>
                              </a:rPr>
                              <m:t>≥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0</m:t>
                            </m:r>
                          </m:e>
                        </m:mr>
                        <m:mr>
                          <m:e>
                            <m:r>
                              <a:rPr lang="en-US" sz="2800" b="0" i="1" smtClean="0">
                                <a:latin typeface="Cambria Math"/>
                              </a:rPr>
                              <m:t>0, </m:t>
                            </m:r>
                            <m:r>
                              <a:rPr lang="en-US" sz="2800" b="0" i="1" smtClean="0">
                                <a:latin typeface="Cambria Math"/>
                              </a:rPr>
                              <m:t>𝑜𝑡h𝑒𝑟𝑤𝑖𝑠𝑒</m:t>
                            </m:r>
                          </m:e>
                        </m:mr>
                      </m:m>
                    </m:oMath>
                  </m:oMathPara>
                </a14:m>
                <a:endParaRPr lang="en-IN" sz="2800" dirty="0" smtClean="0"/>
              </a:p>
              <a:p>
                <a:pPr marL="0" indent="0" algn="just">
                  <a:buNone/>
                </a:pPr>
                <a:endParaRPr lang="en-IN" sz="2800" dirty="0" smtClean="0"/>
              </a:p>
              <a:p>
                <a:pPr lvl="1" indent="-342900" algn="just"/>
                <a:r>
                  <a:rPr lang="en-US" sz="2400" dirty="0" smtClean="0"/>
                  <a:t>Can be used for binary classification if the data is linearly separable</a:t>
                </a:r>
                <a:endParaRPr lang="en-IN" sz="2400" dirty="0" smtClean="0"/>
              </a:p>
              <a:p>
                <a:pPr marL="0" indent="0" algn="just">
                  <a:buNone/>
                </a:pPr>
                <a:endParaRPr lang="en-IN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457200"/>
                <a:ext cx="8229600" cy="6096000"/>
              </a:xfrm>
              <a:blipFill rotWithShape="1">
                <a:blip r:embed="rId2"/>
                <a:stretch>
                  <a:fillRect l="-1259" t="-1600" r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066800" y="990600"/>
            <a:ext cx="6722653" cy="2628900"/>
            <a:chOff x="1066800" y="685800"/>
            <a:chExt cx="6722653" cy="2933700"/>
          </a:xfrm>
        </p:grpSpPr>
        <p:pic>
          <p:nvPicPr>
            <p:cNvPr id="3074" name="Picture 2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12"/>
            <a:stretch/>
          </p:blipFill>
          <p:spPr bwMode="auto">
            <a:xfrm>
              <a:off x="1066800" y="685800"/>
              <a:ext cx="6722653" cy="29337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" name="TextBox 3"/>
            <p:cNvSpPr txBox="1"/>
            <p:nvPr/>
          </p:nvSpPr>
          <p:spPr>
            <a:xfrm>
              <a:off x="6705600" y="1600200"/>
              <a:ext cx="914400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 smtClean="0"/>
                <a:t>y</a:t>
              </a:r>
              <a:endParaRPr lang="en-IN" dirty="0"/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191000" y="3048000"/>
              <a:ext cx="1310148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dirty="0" smtClean="0"/>
                <a:t>b = -</a:t>
              </a:r>
              <a:r>
                <a:rPr lang="en-US" dirty="0" smtClean="0">
                  <a:sym typeface="Symbol"/>
                </a:rPr>
                <a:t> </a:t>
              </a:r>
              <a:endParaRPr lang="en-IN" dirty="0"/>
            </a:p>
          </p:txBody>
        </p:sp>
      </p:grpSp>
      <p:sp>
        <p:nvSpPr>
          <p:cNvPr id="5" name="Cloud Callout 4"/>
          <p:cNvSpPr/>
          <p:nvPr/>
        </p:nvSpPr>
        <p:spPr>
          <a:xfrm>
            <a:off x="4191000" y="685800"/>
            <a:ext cx="1157748" cy="685800"/>
          </a:xfrm>
          <a:prstGeom prst="cloudCallout">
            <a:avLst>
              <a:gd name="adj1" fmla="val -39941"/>
              <a:gd name="adj2" fmla="val 990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  <a:r>
              <a:rPr lang="en-US" dirty="0" smtClean="0"/>
              <a:t>(X)</a:t>
            </a:r>
            <a:endParaRPr lang="en-IN" dirty="0"/>
          </a:p>
        </p:txBody>
      </p:sp>
      <p:sp>
        <p:nvSpPr>
          <p:cNvPr id="8" name="Cloud Callout 7"/>
          <p:cNvSpPr/>
          <p:nvPr/>
        </p:nvSpPr>
        <p:spPr>
          <a:xfrm>
            <a:off x="5867400" y="685800"/>
            <a:ext cx="1295400" cy="685800"/>
          </a:xfrm>
          <a:prstGeom prst="cloudCallout">
            <a:avLst>
              <a:gd name="adj1" fmla="val -39941"/>
              <a:gd name="adj2" fmla="val 9905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US" dirty="0" smtClean="0"/>
              <a:t>(g(X))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99110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770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Activation functions</a:t>
            </a:r>
          </a:p>
          <a:p>
            <a:pPr lvl="1" algn="just"/>
            <a:r>
              <a:rPr lang="en-US" sz="2400" dirty="0" smtClean="0"/>
              <a:t>Used to decide if a neuron will be fired (activated) or not &amp; if activated then what will be output from it.</a:t>
            </a:r>
          </a:p>
          <a:p>
            <a:pPr lvl="1" algn="just"/>
            <a:r>
              <a:rPr lang="en-US" sz="2400" dirty="0" smtClean="0"/>
              <a:t>Mainly two types</a:t>
            </a:r>
          </a:p>
          <a:p>
            <a:pPr lvl="2" algn="just"/>
            <a:r>
              <a:rPr lang="en-US" sz="2000" dirty="0" smtClean="0"/>
              <a:t>Linear</a:t>
            </a:r>
          </a:p>
          <a:p>
            <a:pPr lvl="2" algn="just"/>
            <a:r>
              <a:rPr lang="en-US" sz="2000" dirty="0" smtClean="0"/>
              <a:t>Non-linear</a:t>
            </a:r>
          </a:p>
          <a:p>
            <a:pPr lvl="2" algn="just"/>
            <a:endParaRPr lang="en-US" sz="2000" dirty="0" smtClean="0"/>
          </a:p>
          <a:p>
            <a:pPr marL="971550" lvl="1" indent="-514350" algn="just">
              <a:buFont typeface="+mj-lt"/>
              <a:buAutoNum type="arabicPeriod"/>
            </a:pPr>
            <a:r>
              <a:rPr lang="en-US" dirty="0" smtClean="0"/>
              <a:t>Linear/Identity activation function</a:t>
            </a:r>
          </a:p>
          <a:p>
            <a:pPr lvl="2" algn="just"/>
            <a:r>
              <a:rPr lang="en-US" dirty="0"/>
              <a:t>f</a:t>
            </a:r>
            <a:r>
              <a:rPr lang="en-US" dirty="0" smtClean="0"/>
              <a:t>(x)=x</a:t>
            </a:r>
          </a:p>
          <a:p>
            <a:pPr lvl="2" algn="just"/>
            <a:r>
              <a:rPr lang="en-US" dirty="0" smtClean="0"/>
              <a:t>Range=(-</a:t>
            </a:r>
            <a:r>
              <a:rPr lang="en-US" dirty="0" err="1" smtClean="0"/>
              <a:t>inf</a:t>
            </a:r>
            <a:r>
              <a:rPr lang="en-US" dirty="0" smtClean="0"/>
              <a:t>) to (+</a:t>
            </a:r>
            <a:r>
              <a:rPr lang="en-US" dirty="0" err="1" smtClean="0"/>
              <a:t>inf</a:t>
            </a:r>
            <a:r>
              <a:rPr lang="en-US" dirty="0" smtClean="0"/>
              <a:t>)</a:t>
            </a:r>
          </a:p>
          <a:p>
            <a:pPr lvl="2" algn="just"/>
            <a:r>
              <a:rPr lang="en-US" dirty="0" smtClean="0"/>
              <a:t>Not really useful</a:t>
            </a:r>
          </a:p>
          <a:p>
            <a:pPr algn="just"/>
            <a:endParaRPr lang="en-IN" sz="28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3708082"/>
            <a:ext cx="3790950" cy="24641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77111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8600"/>
                <a:ext cx="8229600" cy="6400800"/>
              </a:xfrm>
            </p:spPr>
            <p:txBody>
              <a:bodyPr>
                <a:normAutofit/>
              </a:bodyPr>
              <a:lstStyle/>
              <a:p>
                <a:pPr marL="914400" lvl="1" indent="-514350" algn="just">
                  <a:buFont typeface="+mj-lt"/>
                  <a:buAutoNum type="arabicPeriod" startAt="2"/>
                </a:pPr>
                <a:r>
                  <a:rPr lang="en-US" dirty="0" smtClean="0"/>
                  <a:t>Sigmoid/Logistic activation function</a:t>
                </a:r>
              </a:p>
              <a:p>
                <a:pPr marL="900113" lvl="2" indent="-457200" algn="just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/>
                          </a:rPr>
                          <m:t>1+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IN" dirty="0" smtClean="0"/>
              </a:p>
              <a:p>
                <a:pPr marL="900113" lvl="2" indent="-457200" algn="just"/>
                <a:r>
                  <a:rPr lang="en-US" dirty="0" smtClean="0"/>
                  <a:t>Range=0 to 1</a:t>
                </a:r>
              </a:p>
              <a:p>
                <a:pPr marL="900113" lvl="2" indent="-457200" algn="just"/>
                <a:r>
                  <a:rPr lang="en-US" dirty="0" smtClean="0"/>
                  <a:t>Differentiable</a:t>
                </a:r>
              </a:p>
              <a:p>
                <a:pPr marL="900113" lvl="2" indent="-457200" algn="just"/>
                <a:r>
                  <a:rPr lang="en-US" dirty="0" smtClean="0"/>
                  <a:t>Computationally costly</a:t>
                </a:r>
              </a:p>
              <a:p>
                <a:pPr marL="900113" lvl="2" indent="-457200" algn="just"/>
                <a:endParaRPr lang="en-US" dirty="0"/>
              </a:p>
              <a:p>
                <a:pPr marL="900113" lvl="2" indent="-457200" algn="just"/>
                <a:r>
                  <a:rPr lang="en-US" dirty="0" smtClean="0"/>
                  <a:t>Used for binary classification &amp; to predict probability</a:t>
                </a:r>
              </a:p>
              <a:p>
                <a:pPr marL="900113" lvl="2" indent="-457200" algn="just"/>
                <a:endParaRPr lang="en-US" dirty="0" smtClean="0"/>
              </a:p>
              <a:p>
                <a:pPr marL="900113" lvl="2" indent="-457200" algn="just"/>
                <a:r>
                  <a:rPr lang="en-US" dirty="0" err="1" smtClean="0"/>
                  <a:t>Softmax</a:t>
                </a:r>
                <a:r>
                  <a:rPr lang="en-US" dirty="0" smtClean="0"/>
                  <a:t> activation function</a:t>
                </a:r>
              </a:p>
              <a:p>
                <a:pPr marL="1357313" lvl="3" indent="-457200" algn="just"/>
                <a:r>
                  <a:rPr lang="en-US" dirty="0" smtClean="0"/>
                  <a:t>A generalized form of Sigmoid function</a:t>
                </a:r>
              </a:p>
              <a:p>
                <a:pPr marL="1357313" lvl="3" indent="-457200" algn="just"/>
                <a:r>
                  <a:rPr lang="en-US" dirty="0" smtClean="0"/>
                  <a:t>Used for multi-class classification</a:t>
                </a:r>
              </a:p>
              <a:p>
                <a:pPr marL="1357313" lvl="3" indent="-457200" algn="just"/>
                <a:r>
                  <a:rPr lang="en-US" dirty="0" smtClean="0"/>
                  <a:t>Computationally very costly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8600"/>
                <a:ext cx="8229600" cy="6400800"/>
              </a:xfrm>
              <a:blipFill rotWithShape="1">
                <a:blip r:embed="rId2"/>
                <a:stretch>
                  <a:fillRect t="-9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9600" y="657226"/>
            <a:ext cx="4086225" cy="25431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029200" y="1066800"/>
            <a:ext cx="12954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660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838200"/>
                <a:ext cx="8229600" cy="5715000"/>
              </a:xfrm>
            </p:spPr>
            <p:txBody>
              <a:bodyPr/>
              <a:lstStyle/>
              <a:p>
                <a:pPr marL="914400" lvl="1" indent="-514350" algn="just">
                  <a:buFont typeface="+mj-lt"/>
                  <a:buAutoNum type="arabicPeriod" startAt="3"/>
                </a:pPr>
                <a:r>
                  <a:rPr lang="en-IN" dirty="0" smtClean="0"/>
                  <a:t>Tanh/Hyperbolic Tangent activation function</a:t>
                </a:r>
              </a:p>
              <a:p>
                <a:pPr marL="900113" lvl="2" indent="-457200" algn="just"/>
                <a14:m>
                  <m:oMath xmlns:m="http://schemas.openxmlformats.org/officeDocument/2006/math">
                    <m:r>
                      <a:rPr lang="en-IN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b="0" i="1" smtClean="0">
                            <a:latin typeface="Cambria Math"/>
                          </a:rPr>
                          <m:t>2</m:t>
                        </m:r>
                      </m:num>
                      <m:den>
                        <m:r>
                          <a:rPr lang="en-IN" b="0" i="1" smtClean="0">
                            <a:latin typeface="Cambria Math"/>
                          </a:rPr>
                          <m:t>1+</m:t>
                        </m:r>
                        <m:sSup>
                          <m:sSup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IN" b="0" i="1" smtClean="0">
                                <a:latin typeface="Cambria Math"/>
                              </a:rPr>
                              <m:t>𝑒</m:t>
                            </m:r>
                          </m:e>
                          <m:sup>
                            <m:r>
                              <a:rPr lang="en-IN" b="0" i="1" smtClean="0">
                                <a:latin typeface="Cambria Math"/>
                              </a:rPr>
                              <m:t>−2</m:t>
                            </m:r>
                            <m:r>
                              <a:rPr lang="en-IN" b="0" i="1" smtClean="0">
                                <a:latin typeface="Cambria Math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IN" b="0" i="1" smtClean="0">
                        <a:latin typeface="Cambria Math"/>
                      </a:rPr>
                      <m:t>−1</m:t>
                    </m:r>
                  </m:oMath>
                </a14:m>
                <a:endParaRPr lang="en-IN" dirty="0" smtClean="0"/>
              </a:p>
              <a:p>
                <a:pPr marL="900113" lvl="2" indent="-457200" algn="just"/>
                <a:r>
                  <a:rPr lang="en-IN" dirty="0" smtClean="0"/>
                  <a:t>Range= -1 to +1</a:t>
                </a:r>
              </a:p>
              <a:p>
                <a:pPr marL="900113" lvl="2" indent="-457200" algn="just"/>
                <a:r>
                  <a:rPr lang="en-IN" dirty="0" smtClean="0"/>
                  <a:t>Differentiable</a:t>
                </a:r>
              </a:p>
              <a:p>
                <a:pPr marL="900113" lvl="2" indent="-457200" algn="just"/>
                <a:r>
                  <a:rPr lang="en-IN" dirty="0" smtClean="0"/>
                  <a:t>Zero-centred</a:t>
                </a:r>
              </a:p>
              <a:p>
                <a:pPr marL="900113" lvl="2" indent="-457200" algn="just"/>
                <a:r>
                  <a:rPr lang="en-IN" dirty="0" smtClean="0"/>
                  <a:t>Better than Sigmoid</a:t>
                </a:r>
              </a:p>
              <a:p>
                <a:pPr marL="900113" lvl="2" indent="-457200" algn="just"/>
                <a:r>
                  <a:rPr lang="en-IN" dirty="0" smtClean="0"/>
                  <a:t>Used for binary classification</a:t>
                </a:r>
              </a:p>
              <a:p>
                <a:pPr marL="900113" lvl="2" indent="-457200" algn="just"/>
                <a:r>
                  <a:rPr lang="en-IN" dirty="0" smtClean="0"/>
                  <a:t>Computationally costly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838200"/>
                <a:ext cx="8229600" cy="5715000"/>
              </a:xfrm>
              <a:blipFill rotWithShape="1">
                <a:blip r:embed="rId2"/>
                <a:stretch>
                  <a:fillRect t="-10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71600"/>
            <a:ext cx="41910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48131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685800"/>
                <a:ext cx="8229600" cy="5943600"/>
              </a:xfrm>
            </p:spPr>
            <p:txBody>
              <a:bodyPr>
                <a:normAutofit/>
              </a:bodyPr>
              <a:lstStyle/>
              <a:p>
                <a:pPr marL="914400" lvl="1" indent="-514350" algn="just">
                  <a:buFont typeface="+mj-lt"/>
                  <a:buAutoNum type="arabicPeriod" startAt="4"/>
                </a:pPr>
                <a:r>
                  <a:rPr lang="en-IN" dirty="0" smtClean="0"/>
                  <a:t>ReLU (Rectified Linear Unit) activation function</a:t>
                </a:r>
              </a:p>
              <a:p>
                <a:pPr marL="900113" lvl="2" indent="-457200" algn="just"/>
                <a14:m>
                  <m:oMath xmlns:m="http://schemas.openxmlformats.org/officeDocument/2006/math">
                    <m:r>
                      <a:rPr lang="en-IN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/>
                      </a:rPr>
                      <m:t>={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IN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/>
                            </a:rPr>
                            <m:t>, </m:t>
                          </m:r>
                          <m:r>
                            <a:rPr lang="en-IN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/>
                              <a:ea typeface="Cambria Math"/>
                            </a:rPr>
                            <m:t>≥0</m:t>
                          </m:r>
                        </m:e>
                      </m:mr>
                      <m:mr>
                        <m:e>
                          <m:r>
                            <a:rPr lang="en-IN" b="0" i="1" smtClean="0">
                              <a:latin typeface="Cambria Math"/>
                            </a:rPr>
                            <m:t>0,</m:t>
                          </m:r>
                          <m:r>
                            <a:rPr lang="en-IN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/>
                            </a:rPr>
                            <m:t>&lt;0</m:t>
                          </m:r>
                        </m:e>
                      </m:mr>
                    </m:m>
                  </m:oMath>
                </a14:m>
                <a:endParaRPr lang="en-IN" b="0" i="1" dirty="0" smtClean="0">
                  <a:latin typeface="Cambria Math"/>
                </a:endParaRPr>
              </a:p>
              <a:p>
                <a:pPr marL="442913" lvl="2" indent="0" algn="just">
                  <a:buNone/>
                </a:pPr>
                <a:r>
                  <a:rPr lang="en-IN" b="0" dirty="0" smtClean="0"/>
                  <a:t>     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/>
                      </a:rPr>
                      <m:t>max</m:t>
                    </m:r>
                    <m:r>
                      <a:rPr lang="en-IN" b="0" i="1" smtClean="0">
                        <a:latin typeface="Cambria Math"/>
                      </a:rPr>
                      <m:t>⁡(0,</m:t>
                    </m:r>
                    <m:r>
                      <a:rPr lang="en-IN" b="0" i="1" smtClean="0">
                        <a:latin typeface="Cambria Math"/>
                      </a:rPr>
                      <m:t>𝑥</m:t>
                    </m:r>
                    <m:r>
                      <a:rPr lang="en-IN" b="0" i="1" smtClean="0">
                        <a:latin typeface="Cambria Math"/>
                      </a:rPr>
                      <m:t>)</m:t>
                    </m:r>
                  </m:oMath>
                </a14:m>
                <a:endParaRPr lang="en-IN" dirty="0" smtClean="0"/>
              </a:p>
              <a:p>
                <a:pPr marL="900113" lvl="2" indent="-457200" algn="just"/>
                <a:r>
                  <a:rPr lang="en-IN" dirty="0" smtClean="0"/>
                  <a:t>Range= 0 to +</a:t>
                </a:r>
                <a:r>
                  <a:rPr lang="en-IN" dirty="0" err="1" smtClean="0"/>
                  <a:t>inf</a:t>
                </a:r>
                <a:endParaRPr lang="en-IN" dirty="0" smtClean="0"/>
              </a:p>
              <a:p>
                <a:pPr marL="900113" lvl="2" indent="-457200" algn="just"/>
                <a:r>
                  <a:rPr lang="en-IN" dirty="0" smtClean="0"/>
                  <a:t>Differentiable</a:t>
                </a:r>
              </a:p>
              <a:p>
                <a:pPr marL="900113" lvl="2" indent="-457200" algn="just"/>
                <a:r>
                  <a:rPr lang="en-IN" dirty="0" smtClean="0"/>
                  <a:t>Computationally simple</a:t>
                </a:r>
              </a:p>
              <a:p>
                <a:pPr marL="900113" lvl="2" indent="-457200" algn="just"/>
                <a:r>
                  <a:rPr lang="en-IN" dirty="0" smtClean="0"/>
                  <a:t>Ideal for hidden layers</a:t>
                </a:r>
              </a:p>
              <a:p>
                <a:pPr marL="900113" lvl="2" indent="-457200" algn="just"/>
                <a:r>
                  <a:rPr lang="en-IN" dirty="0" smtClean="0"/>
                  <a:t>Dying </a:t>
                </a:r>
                <a:r>
                  <a:rPr lang="en-IN" dirty="0" err="1" smtClean="0"/>
                  <a:t>ReLU</a:t>
                </a:r>
                <a:r>
                  <a:rPr lang="en-IN" dirty="0" smtClean="0"/>
                  <a:t> problem</a:t>
                </a:r>
              </a:p>
              <a:p>
                <a:pPr marL="900113" lvl="2" indent="-457200" algn="just"/>
                <a:r>
                  <a:rPr lang="en-IN" dirty="0" smtClean="0"/>
                  <a:t>Exploding problem</a:t>
                </a:r>
              </a:p>
              <a:p>
                <a:pPr marL="957263" lvl="2" indent="-514350" algn="just">
                  <a:buFont typeface="+mj-lt"/>
                  <a:buAutoNum type="arabicPeriod"/>
                </a:pP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685800"/>
                <a:ext cx="8229600" cy="5943600"/>
              </a:xfrm>
              <a:blipFill rotWithShape="1">
                <a:blip r:embed="rId2"/>
                <a:stretch>
                  <a:fillRect t="-10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342410"/>
            <a:ext cx="4217117" cy="2619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6225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228600"/>
                <a:ext cx="8229600" cy="6477000"/>
              </a:xfrm>
            </p:spPr>
            <p:txBody>
              <a:bodyPr>
                <a:normAutofit/>
              </a:bodyPr>
              <a:lstStyle/>
              <a:p>
                <a:pPr marL="914400" lvl="1" indent="-514350" algn="just">
                  <a:buFont typeface="+mj-lt"/>
                  <a:buAutoNum type="arabicPeriod" startAt="5"/>
                </a:pPr>
                <a:r>
                  <a:rPr lang="en-IN" dirty="0" smtClean="0"/>
                  <a:t>Leaky </a:t>
                </a:r>
                <a:r>
                  <a:rPr lang="en-IN" dirty="0" err="1" smtClean="0"/>
                  <a:t>ReLU</a:t>
                </a:r>
                <a:r>
                  <a:rPr lang="en-IN" dirty="0" smtClean="0"/>
                  <a:t> &amp; Parametric </a:t>
                </a:r>
                <a:r>
                  <a:rPr lang="en-IN" dirty="0" err="1" smtClean="0"/>
                  <a:t>ReLU</a:t>
                </a:r>
                <a:endParaRPr lang="en-IN" dirty="0" smtClean="0"/>
              </a:p>
              <a:p>
                <a:pPr marL="900113" lvl="2" indent="-457200" algn="just"/>
                <a14:m>
                  <m:oMath xmlns:m="http://schemas.openxmlformats.org/officeDocument/2006/math">
                    <m:r>
                      <a:rPr lang="en-IN" b="0" i="1" smtClean="0">
                        <a:latin typeface="Cambria Math"/>
                      </a:rPr>
                      <m:t>𝑓</m:t>
                    </m:r>
                    <m:d>
                      <m:d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b="0" i="1" smtClean="0">
                            <a:latin typeface="Cambria Math"/>
                          </a:rPr>
                          <m:t>𝑥</m:t>
                        </m:r>
                      </m:e>
                    </m:d>
                    <m:r>
                      <a:rPr lang="en-IN" b="0" i="1" smtClean="0">
                        <a:latin typeface="Cambria Math"/>
                      </a:rPr>
                      <m:t>={</m:t>
                    </m:r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IN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/>
                              <a:ea typeface="Cambria Math"/>
                            </a:rPr>
                            <m:t>≥0</m:t>
                          </m:r>
                        </m:e>
                      </m:mr>
                      <m:mr>
                        <m:e>
                          <m:r>
                            <a:rPr lang="en-IN" b="0" i="1" smtClean="0">
                              <a:latin typeface="Cambria Math"/>
                              <a:ea typeface="Cambria Math"/>
                            </a:rPr>
                            <m:t>𝛼</m:t>
                          </m:r>
                          <m:r>
                            <a:rPr lang="en-IN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/>
                              <a:ea typeface="Cambria Math"/>
                            </a:rPr>
                            <m:t>,</m:t>
                          </m:r>
                          <m:r>
                            <a:rPr lang="en-IN" b="0" i="1" smtClean="0">
                              <a:latin typeface="Cambria Math"/>
                              <a:ea typeface="Cambria Math"/>
                            </a:rPr>
                            <m:t>𝑥</m:t>
                          </m:r>
                          <m:r>
                            <a:rPr lang="en-IN" b="0" i="1" smtClean="0">
                              <a:latin typeface="Cambria Math"/>
                              <a:ea typeface="Cambria Math"/>
                            </a:rPr>
                            <m:t>&lt;0</m:t>
                          </m:r>
                        </m:e>
                      </m:mr>
                    </m:m>
                  </m:oMath>
                </a14:m>
                <a:endParaRPr lang="en-IN" b="0" i="1" dirty="0" smtClean="0">
                  <a:latin typeface="Cambria Math"/>
                </a:endParaRPr>
              </a:p>
              <a:p>
                <a:pPr marL="442913" lvl="2" indent="0" algn="just">
                  <a:buNone/>
                </a:pPr>
                <a:r>
                  <a:rPr lang="en-IN" b="0" dirty="0" smtClean="0"/>
                  <a:t>                 </a:t>
                </a:r>
                <a14:m>
                  <m:oMath xmlns:m="http://schemas.openxmlformats.org/officeDocument/2006/math">
                    <m:r>
                      <a:rPr lang="en-IN" b="0" i="1" smtClean="0"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en-IN" b="0" i="0" smtClean="0">
                        <a:latin typeface="Cambria Math"/>
                      </a:rPr>
                      <m:t>max</m:t>
                    </m:r>
                    <m:r>
                      <a:rPr lang="en-IN" b="0" i="1" smtClean="0">
                        <a:latin typeface="Cambria Math"/>
                      </a:rPr>
                      <m:t>⁡(</m:t>
                    </m:r>
                    <m:r>
                      <a:rPr lang="en-IN" b="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IN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IN" b="0" i="1" smtClean="0">
                        <a:latin typeface="Cambria Math"/>
                        <a:ea typeface="Cambria Math"/>
                      </a:rPr>
                      <m:t>,</m:t>
                    </m:r>
                    <m:r>
                      <a:rPr lang="en-IN" b="0" i="1" smtClean="0">
                        <a:latin typeface="Cambria Math"/>
                        <a:ea typeface="Cambria Math"/>
                      </a:rPr>
                      <m:t>𝑥</m:t>
                    </m:r>
                    <m:r>
                      <a:rPr lang="en-IN" b="0" i="1" smtClean="0">
                        <a:latin typeface="Cambria Math"/>
                        <a:ea typeface="Cambria Math"/>
                      </a:rPr>
                      <m:t>)</m:t>
                    </m:r>
                  </m:oMath>
                </a14:m>
                <a:endParaRPr lang="en-IN" dirty="0" smtClean="0"/>
              </a:p>
              <a:p>
                <a:pPr marL="785813" lvl="2" indent="-342900" algn="just"/>
                <a:r>
                  <a:rPr lang="en-IN" dirty="0" smtClean="0"/>
                  <a:t>If </a:t>
                </a:r>
                <a:r>
                  <a:rPr lang="en-IN" dirty="0" smtClean="0">
                    <a:sym typeface="Symbol"/>
                  </a:rPr>
                  <a:t> is fixed then Leaky </a:t>
                </a:r>
                <a:r>
                  <a:rPr lang="en-IN" dirty="0" err="1" smtClean="0">
                    <a:sym typeface="Symbol"/>
                  </a:rPr>
                  <a:t>ReLU</a:t>
                </a:r>
                <a:endParaRPr lang="en-IN" dirty="0" smtClean="0">
                  <a:sym typeface="Symbol"/>
                </a:endParaRPr>
              </a:p>
              <a:p>
                <a:pPr marL="785813" lvl="2" indent="-342900" algn="just"/>
                <a:r>
                  <a:rPr lang="en-IN" dirty="0" smtClean="0">
                    <a:sym typeface="Symbol"/>
                  </a:rPr>
                  <a:t>Otherwise Parametric </a:t>
                </a:r>
                <a:r>
                  <a:rPr lang="en-IN" dirty="0" err="1" smtClean="0">
                    <a:sym typeface="Symbol"/>
                  </a:rPr>
                  <a:t>ReLU</a:t>
                </a:r>
                <a:endParaRPr lang="en-IN" dirty="0" smtClean="0">
                  <a:sym typeface="Symbol"/>
                </a:endParaRPr>
              </a:p>
              <a:p>
                <a:pPr marL="785813" lvl="2" indent="-342900" algn="just"/>
                <a:r>
                  <a:rPr lang="en-IN" dirty="0" smtClean="0">
                    <a:sym typeface="Symbol"/>
                  </a:rPr>
                  <a:t>Range=(-</a:t>
                </a:r>
                <a:r>
                  <a:rPr lang="en-IN" dirty="0" err="1" smtClean="0">
                    <a:sym typeface="Symbol"/>
                  </a:rPr>
                  <a:t>inf</a:t>
                </a:r>
                <a:r>
                  <a:rPr lang="en-IN" dirty="0" smtClean="0">
                    <a:sym typeface="Symbol"/>
                  </a:rPr>
                  <a:t>) to (+</a:t>
                </a:r>
                <a:r>
                  <a:rPr lang="en-IN" dirty="0" err="1" smtClean="0">
                    <a:sym typeface="Symbol"/>
                  </a:rPr>
                  <a:t>inf</a:t>
                </a:r>
                <a:r>
                  <a:rPr lang="en-IN" dirty="0" smtClean="0">
                    <a:sym typeface="Symbol"/>
                  </a:rPr>
                  <a:t>)</a:t>
                </a:r>
                <a:endParaRPr lang="en-IN" dirty="0" smtClean="0"/>
              </a:p>
              <a:p>
                <a:pPr marL="785813" lvl="2" indent="-342900" algn="just"/>
                <a:r>
                  <a:rPr lang="en-IN" dirty="0" smtClean="0"/>
                  <a:t>Differentiable</a:t>
                </a:r>
              </a:p>
              <a:p>
                <a:pPr marL="785813" lvl="2" indent="-342900" algn="just"/>
                <a:r>
                  <a:rPr lang="en-IN" dirty="0" smtClean="0"/>
                  <a:t>Solves “Dying </a:t>
                </a:r>
                <a:r>
                  <a:rPr lang="en-IN" dirty="0" err="1" smtClean="0"/>
                  <a:t>ReLU</a:t>
                </a:r>
                <a:r>
                  <a:rPr lang="en-IN" dirty="0" smtClean="0"/>
                  <a:t>” problem</a:t>
                </a:r>
              </a:p>
              <a:p>
                <a:pPr marL="785813" lvl="2" indent="-342900" algn="just"/>
                <a:r>
                  <a:rPr lang="en-IN" dirty="0" smtClean="0">
                    <a:sym typeface="Symbol"/>
                  </a:rPr>
                  <a:t> is never set to 1</a:t>
                </a:r>
              </a:p>
              <a:p>
                <a:pPr marL="785813" lvl="2" indent="-342900" algn="just"/>
                <a:r>
                  <a:rPr lang="en-IN" dirty="0" smtClean="0">
                    <a:sym typeface="Symbol"/>
                  </a:rPr>
                  <a:t>ReLU6=min(max(0,x),6)</a:t>
                </a:r>
                <a:endParaRPr lang="en-I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228600"/>
                <a:ext cx="8229600" cy="6477000"/>
              </a:xfrm>
              <a:blipFill rotWithShape="1">
                <a:blip r:embed="rId2"/>
                <a:stretch>
                  <a:fillRect t="-94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4"/>
          <a:stretch/>
        </p:blipFill>
        <p:spPr bwMode="auto">
          <a:xfrm>
            <a:off x="4876800" y="838200"/>
            <a:ext cx="3774204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600" y="3810000"/>
            <a:ext cx="3469404" cy="20059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535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/>
          </a:bodyPr>
          <a:lstStyle/>
          <a:p>
            <a:pPr algn="just"/>
            <a:r>
              <a:rPr lang="en-IN" sz="2800" dirty="0" smtClean="0"/>
              <a:t>Two desirable properties of activation functions</a:t>
            </a:r>
          </a:p>
          <a:p>
            <a:pPr lvl="1" algn="just"/>
            <a:r>
              <a:rPr lang="en-IN" sz="2400" dirty="0" smtClean="0"/>
              <a:t>Nonlinearity</a:t>
            </a:r>
          </a:p>
          <a:p>
            <a:pPr lvl="1" algn="just"/>
            <a:r>
              <a:rPr lang="en-IN" sz="2400" dirty="0" smtClean="0"/>
              <a:t>Differentiability </a:t>
            </a:r>
            <a:endParaRPr lang="en-US" sz="2400" dirty="0" smtClean="0"/>
          </a:p>
          <a:p>
            <a:pPr lvl="1" algn="just"/>
            <a:endParaRPr lang="en-US" sz="2400" dirty="0"/>
          </a:p>
          <a:p>
            <a:pPr algn="just"/>
            <a:r>
              <a:rPr lang="en-US" dirty="0" smtClean="0"/>
              <a:t>Single Layer Neural Network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700" y="2729772"/>
            <a:ext cx="5372100" cy="38996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9730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</p:spPr>
            <p:txBody>
              <a:bodyPr>
                <a:normAutofit/>
              </a:bodyPr>
              <a:lstStyle/>
              <a:p>
                <a:pPr algn="just"/>
                <a:r>
                  <a:rPr lang="en-IN" sz="2800" dirty="0" smtClean="0"/>
                  <a:t>The Perceptron Learning Rule (PLR)</a:t>
                </a:r>
              </a:p>
              <a:p>
                <a:pPr lvl="1" algn="just"/>
                <a:r>
                  <a:rPr lang="en-IN" sz="2400" dirty="0"/>
                  <a:t>A</a:t>
                </a:r>
                <a:r>
                  <a:rPr lang="en-IN" sz="2400" dirty="0" smtClean="0"/>
                  <a:t>lgorithm to adjust </a:t>
                </a:r>
                <a:r>
                  <a:rPr lang="en-IN" sz="2400" dirty="0"/>
                  <a:t>the weights for the input </a:t>
                </a:r>
                <a:r>
                  <a:rPr lang="en-IN" sz="2400" dirty="0" smtClean="0"/>
                  <a:t>data </a:t>
                </a:r>
                <a:r>
                  <a:rPr lang="en-IN" sz="2400" dirty="0"/>
                  <a:t>in order to draw linear decision boundary that </a:t>
                </a:r>
                <a:r>
                  <a:rPr lang="en-IN" sz="2400" dirty="0" smtClean="0"/>
                  <a:t>discriminates </a:t>
                </a:r>
                <a:r>
                  <a:rPr lang="en-IN" sz="2400" dirty="0"/>
                  <a:t>between the two linearly separable </a:t>
                </a:r>
                <a:r>
                  <a:rPr lang="en-IN" sz="2400" dirty="0" smtClean="0"/>
                  <a:t>classes.</a:t>
                </a:r>
              </a:p>
              <a:p>
                <a:pPr lvl="1" algn="just"/>
                <a:r>
                  <a:rPr lang="en-US" sz="2400" dirty="0" smtClean="0"/>
                  <a:t>Two steps of algorithm</a:t>
                </a:r>
                <a:endParaRPr lang="en-IN" sz="2400" dirty="0" smtClean="0"/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IN" sz="2400" dirty="0"/>
                  <a:t>Initialize the weights to 0 or small random numbers.</a:t>
                </a:r>
              </a:p>
              <a:p>
                <a:pPr marL="914400" lvl="1" indent="-514350">
                  <a:buFont typeface="+mj-lt"/>
                  <a:buAutoNum type="arabicPeriod"/>
                </a:pPr>
                <a:r>
                  <a:rPr lang="en-IN" sz="2400" dirty="0"/>
                  <a:t>For each training sample x(</a:t>
                </a:r>
                <a:r>
                  <a:rPr lang="en-IN" sz="2400" dirty="0" err="1"/>
                  <a:t>i</a:t>
                </a:r>
                <a:r>
                  <a:rPr lang="en-IN" sz="2400" dirty="0" smtClean="0"/>
                  <a:t>) :</a:t>
                </a:r>
                <a:endParaRPr lang="en-IN" sz="2400" dirty="0"/>
              </a:p>
              <a:p>
                <a:pPr marL="1371600" lvl="2" indent="-514350"/>
                <a:r>
                  <a:rPr lang="en-IN" sz="2000" dirty="0"/>
                  <a:t>Calculate the </a:t>
                </a:r>
                <a:r>
                  <a:rPr lang="en-IN" sz="2000" i="1" dirty="0"/>
                  <a:t>output</a:t>
                </a:r>
                <a:r>
                  <a:rPr lang="en-IN" sz="2000" dirty="0"/>
                  <a:t> value.</a:t>
                </a:r>
              </a:p>
              <a:p>
                <a:pPr marL="1371600" lvl="2" indent="-514350"/>
                <a:r>
                  <a:rPr lang="en-IN" sz="2000" dirty="0"/>
                  <a:t>Update the weights.</a:t>
                </a:r>
              </a:p>
              <a:p>
                <a:pPr lvl="1" algn="just"/>
                <a:r>
                  <a:rPr lang="en-US" sz="2400" dirty="0" smtClean="0"/>
                  <a:t>Weight update is given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</a:rPr>
                      <m:t>+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∆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𝑗</m:t>
                        </m:r>
                      </m:sub>
                    </m:sSub>
                  </m:oMath>
                </a14:m>
                <a:endParaRPr lang="en-IN" sz="2400" dirty="0" smtClean="0"/>
              </a:p>
              <a:p>
                <a:pPr lvl="1" algn="just"/>
                <a:r>
                  <a:rPr lang="en-US" sz="2400" dirty="0" smtClean="0"/>
                  <a:t>Where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/>
                        <a:ea typeface="Cambria Math"/>
                      </a:rPr>
                      <m:t>∆</m:t>
                    </m:r>
                    <m:sSub>
                      <m:sSubPr>
                        <m:ctrlPr>
                          <a:rPr lang="en-US" sz="240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𝑤</m:t>
                        </m:r>
                      </m:e>
                      <m:sub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𝑗</m:t>
                        </m:r>
                      </m:sub>
                    </m:sSub>
                    <m:r>
                      <a:rPr lang="en-US" sz="2400" b="0" i="1" smtClean="0">
                        <a:latin typeface="Cambria Math"/>
                        <a:ea typeface="Cambria Math"/>
                      </a:rPr>
                      <m:t>=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𝛼</m:t>
                    </m:r>
                    <m:r>
                      <a:rPr lang="en-US" sz="2400" b="0" i="1" smtClean="0">
                        <a:latin typeface="Cambria Math"/>
                        <a:ea typeface="Cambria Math"/>
                      </a:rPr>
                      <m:t>(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𝑡𝑎𝑟𝑔𝑒𝑡</m:t>
                        </m:r>
                      </m:e>
                      <m:sup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400" b="0" i="1" smtClean="0">
                        <a:latin typeface="Cambria Math"/>
                        <a:ea typeface="Cambria Math"/>
                      </a:rPr>
                      <m:t>−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𝑜𝑢𝑡𝑝𝑢𝑡</m:t>
                        </m:r>
                      </m:e>
                      <m:sup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𝑖</m:t>
                            </m:r>
                          </m:e>
                        </m:d>
                      </m:sup>
                    </m:sSup>
                    <m:r>
                      <a:rPr lang="en-US" sz="2400" b="0" i="1" smtClean="0">
                        <a:latin typeface="Cambria Math"/>
                        <a:ea typeface="Cambria Math"/>
                      </a:rPr>
                      <m:t>)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  <a:ea typeface="Cambria Math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/>
                                <a:ea typeface="Cambria Math"/>
                              </a:rPr>
                              <m:t>𝑗</m:t>
                            </m:r>
                          </m:sub>
                        </m:sSub>
                      </m:e>
                      <m:sup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/>
                            <a:ea typeface="Cambria Math"/>
                          </a:rPr>
                          <m:t>)</m:t>
                        </m:r>
                      </m:sup>
                    </m:sSup>
                  </m:oMath>
                </a14:m>
                <a:endParaRPr lang="en-IN" sz="2400" dirty="0" smtClean="0"/>
              </a:p>
              <a:p>
                <a:pPr lvl="1" algn="just"/>
                <a:r>
                  <a:rPr lang="en-US" sz="2400" dirty="0" smtClean="0"/>
                  <a:t>Step 2 is repeated until convergence</a:t>
                </a:r>
              </a:p>
              <a:p>
                <a:pPr lvl="1" algn="just"/>
                <a:r>
                  <a:rPr lang="en-US" sz="2400" dirty="0" smtClean="0"/>
                  <a:t>Convergence is guaranteed only if the classes are linearly separable.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6324600"/>
              </a:xfrm>
              <a:blipFill rotWithShape="1">
                <a:blip r:embed="rId2"/>
                <a:stretch>
                  <a:fillRect l="-1259" t="-867" r="-11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77151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8600"/>
            <a:ext cx="8229600" cy="6400800"/>
          </a:xfrm>
        </p:spPr>
        <p:txBody>
          <a:bodyPr>
            <a:normAutofit/>
          </a:bodyPr>
          <a:lstStyle/>
          <a:p>
            <a:pPr algn="just"/>
            <a:r>
              <a:rPr lang="en-US" sz="2800" dirty="0" smtClean="0"/>
              <a:t>For example, learn a Perceptron, function of logical AND gate.</a:t>
            </a:r>
          </a:p>
          <a:p>
            <a:pPr lvl="1" algn="just"/>
            <a:r>
              <a:rPr lang="en-US" sz="2400" dirty="0" smtClean="0"/>
              <a:t>X1=[0 0], x2=[0 1], x3=[1 0], x4=[1 1]</a:t>
            </a:r>
          </a:p>
          <a:p>
            <a:pPr lvl="1" algn="just"/>
            <a:r>
              <a:rPr lang="en-US" sz="2400" dirty="0" smtClean="0"/>
              <a:t>T=[0 0 0 1]</a:t>
            </a:r>
          </a:p>
          <a:p>
            <a:pPr lvl="1" algn="just"/>
            <a:r>
              <a:rPr lang="en-US" sz="2400" dirty="0" smtClean="0"/>
              <a:t>Let w=[0.2 0.3] and learning rate=0.1</a:t>
            </a:r>
          </a:p>
          <a:p>
            <a:pPr lvl="1" algn="just"/>
            <a:r>
              <a:rPr lang="en-US" sz="2400" dirty="0" smtClean="0"/>
              <a:t>Epoch 1:</a:t>
            </a:r>
          </a:p>
          <a:p>
            <a:pPr marL="457200" lvl="1" indent="0" algn="just">
              <a:buNone/>
            </a:pPr>
            <a:r>
              <a:rPr lang="en-US" sz="2400" dirty="0" smtClean="0"/>
              <a:t>W2 = w1+</a:t>
            </a:r>
            <a:r>
              <a:rPr lang="en-US" sz="2400" dirty="0" smtClean="0">
                <a:sym typeface="Symbol"/>
              </a:rPr>
              <a:t>w</a:t>
            </a:r>
          </a:p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w =  (T1 – O1) x1</a:t>
            </a:r>
          </a:p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O1 = f(net1) = f((0.2)(0) + (0.3)(0)) = f(0) = 1</a:t>
            </a:r>
          </a:p>
          <a:p>
            <a:pPr marL="457200" lvl="1" indent="0" algn="just">
              <a:buNone/>
            </a:pPr>
            <a:r>
              <a:rPr lang="en-US" sz="2400" dirty="0" smtClean="0"/>
              <a:t>O1 </a:t>
            </a:r>
            <a:r>
              <a:rPr lang="en-US" sz="2400" dirty="0" smtClean="0">
                <a:sym typeface="Symbol"/>
              </a:rPr>
              <a:t> T1</a:t>
            </a:r>
          </a:p>
          <a:p>
            <a:pPr marL="457200" lvl="1" indent="0" algn="just">
              <a:buNone/>
            </a:pPr>
            <a:r>
              <a:rPr lang="en-US" sz="2400" dirty="0">
                <a:sym typeface="Symbol"/>
              </a:rPr>
              <a:t></a:t>
            </a:r>
            <a:r>
              <a:rPr lang="en-US" sz="2400" dirty="0" smtClean="0">
                <a:sym typeface="Symbol"/>
              </a:rPr>
              <a:t>w = (0.1) (0 – 1) [0 0] = [0 0]</a:t>
            </a:r>
          </a:p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W2 = w1 = [0.2 0.3]</a:t>
            </a:r>
          </a:p>
          <a:p>
            <a:pPr marL="457200" lvl="1" indent="0" algn="just">
              <a:buNone/>
            </a:pPr>
            <a:r>
              <a:rPr lang="en-US" sz="2400" dirty="0" smtClean="0"/>
              <a:t>W3 </a:t>
            </a:r>
            <a:r>
              <a:rPr lang="en-US" sz="2400" dirty="0"/>
              <a:t>= </a:t>
            </a:r>
            <a:r>
              <a:rPr lang="en-US" sz="2400" dirty="0" smtClean="0"/>
              <a:t>w2+</a:t>
            </a:r>
            <a:r>
              <a:rPr lang="en-US" sz="2400" dirty="0">
                <a:sym typeface="Symbol"/>
              </a:rPr>
              <a:t>w</a:t>
            </a:r>
          </a:p>
          <a:p>
            <a:pPr marL="457200" lvl="1" indent="0" algn="just">
              <a:buNone/>
            </a:pPr>
            <a:r>
              <a:rPr lang="en-US" sz="2400" dirty="0">
                <a:sym typeface="Symbol"/>
              </a:rPr>
              <a:t>w =  (</a:t>
            </a:r>
            <a:r>
              <a:rPr lang="en-US" sz="2400" dirty="0" smtClean="0">
                <a:sym typeface="Symbol"/>
              </a:rPr>
              <a:t>T2 </a:t>
            </a:r>
            <a:r>
              <a:rPr lang="en-US" sz="2400" dirty="0">
                <a:sym typeface="Symbol"/>
              </a:rPr>
              <a:t>– </a:t>
            </a:r>
            <a:r>
              <a:rPr lang="en-US" sz="2400" dirty="0" smtClean="0">
                <a:sym typeface="Symbol"/>
              </a:rPr>
              <a:t>O2) x2</a:t>
            </a:r>
            <a:endParaRPr lang="en-US" sz="2400" dirty="0">
              <a:sym typeface="Symbol"/>
            </a:endParaRPr>
          </a:p>
          <a:p>
            <a:pPr marL="457200" lvl="1" indent="0" algn="just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994985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6200"/>
            <a:ext cx="8229600" cy="6705600"/>
          </a:xfrm>
        </p:spPr>
        <p:txBody>
          <a:bodyPr>
            <a:normAutofit/>
          </a:bodyPr>
          <a:lstStyle/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O2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 smtClean="0">
                <a:sym typeface="Symbol"/>
              </a:rPr>
              <a:t>f(net2) </a:t>
            </a:r>
            <a:r>
              <a:rPr lang="en-US" sz="2400" dirty="0">
                <a:sym typeface="Symbol"/>
              </a:rPr>
              <a:t>= f((0.2)(0) + (0.3</a:t>
            </a:r>
            <a:r>
              <a:rPr lang="en-US" sz="2400" dirty="0" smtClean="0">
                <a:sym typeface="Symbol"/>
              </a:rPr>
              <a:t>)(1))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 smtClean="0">
                <a:sym typeface="Symbol"/>
              </a:rPr>
              <a:t>f(0.3) </a:t>
            </a:r>
            <a:r>
              <a:rPr lang="en-US" sz="2400" dirty="0">
                <a:sym typeface="Symbol"/>
              </a:rPr>
              <a:t>= 1</a:t>
            </a:r>
          </a:p>
          <a:p>
            <a:pPr marL="457200" lvl="1" indent="0" algn="just">
              <a:buNone/>
            </a:pPr>
            <a:r>
              <a:rPr lang="en-US" sz="2400" dirty="0" smtClean="0"/>
              <a:t>O2 </a:t>
            </a:r>
            <a:r>
              <a:rPr lang="en-US" sz="2400" dirty="0">
                <a:sym typeface="Symbol"/>
              </a:rPr>
              <a:t> </a:t>
            </a:r>
            <a:r>
              <a:rPr lang="en-US" sz="2400" dirty="0" smtClean="0">
                <a:sym typeface="Symbol"/>
              </a:rPr>
              <a:t>T2</a:t>
            </a:r>
            <a:endParaRPr lang="en-US" sz="2400" dirty="0">
              <a:sym typeface="Symbol"/>
            </a:endParaRPr>
          </a:p>
          <a:p>
            <a:pPr marL="457200" lvl="1" indent="0" algn="just">
              <a:buNone/>
            </a:pPr>
            <a:r>
              <a:rPr lang="en-US" sz="2400" dirty="0">
                <a:sym typeface="Symbol"/>
              </a:rPr>
              <a:t>w = (0.1) (0 – 1) [0 </a:t>
            </a:r>
            <a:r>
              <a:rPr lang="en-US" sz="2400" dirty="0" smtClean="0">
                <a:sym typeface="Symbol"/>
              </a:rPr>
              <a:t>1]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 smtClean="0">
                <a:sym typeface="Symbol"/>
              </a:rPr>
              <a:t>-0.1 [0 1] = [0 -0.1]</a:t>
            </a:r>
          </a:p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W3 = w2 + </a:t>
            </a:r>
            <a:r>
              <a:rPr lang="en-US" sz="2400" dirty="0">
                <a:sym typeface="Symbol"/>
              </a:rPr>
              <a:t></a:t>
            </a:r>
            <a:r>
              <a:rPr lang="en-US" sz="2400" dirty="0" smtClean="0">
                <a:sym typeface="Symbol"/>
              </a:rPr>
              <a:t>w = [0.2 0.3] + [0 -0.1] = [0.2 0.2]</a:t>
            </a:r>
            <a:endParaRPr lang="en-US" sz="2400" dirty="0">
              <a:sym typeface="Symbol"/>
            </a:endParaRPr>
          </a:p>
          <a:p>
            <a:pPr marL="457200" lvl="1" indent="0" algn="just">
              <a:buNone/>
            </a:pPr>
            <a:r>
              <a:rPr lang="en-US" sz="2400" dirty="0" smtClean="0"/>
              <a:t>W4 </a:t>
            </a:r>
            <a:r>
              <a:rPr lang="en-US" sz="2400" dirty="0"/>
              <a:t>= </a:t>
            </a:r>
            <a:r>
              <a:rPr lang="en-US" sz="2400" dirty="0" smtClean="0"/>
              <a:t>w3+</a:t>
            </a:r>
            <a:r>
              <a:rPr lang="en-US" sz="2400" dirty="0">
                <a:sym typeface="Symbol"/>
              </a:rPr>
              <a:t>w</a:t>
            </a:r>
          </a:p>
          <a:p>
            <a:pPr marL="457200" lvl="1" indent="0" algn="just">
              <a:buNone/>
            </a:pPr>
            <a:r>
              <a:rPr lang="en-US" sz="2400" dirty="0">
                <a:sym typeface="Symbol"/>
              </a:rPr>
              <a:t>w =  (</a:t>
            </a:r>
            <a:r>
              <a:rPr lang="en-US" sz="2400" dirty="0" smtClean="0">
                <a:sym typeface="Symbol"/>
              </a:rPr>
              <a:t>T3 </a:t>
            </a:r>
            <a:r>
              <a:rPr lang="en-US" sz="2400" dirty="0">
                <a:sym typeface="Symbol"/>
              </a:rPr>
              <a:t>– </a:t>
            </a:r>
            <a:r>
              <a:rPr lang="en-US" sz="2400" dirty="0" smtClean="0">
                <a:sym typeface="Symbol"/>
              </a:rPr>
              <a:t>O3) x3</a:t>
            </a:r>
            <a:endParaRPr lang="en-US" sz="2400" dirty="0">
              <a:sym typeface="Symbol"/>
            </a:endParaRPr>
          </a:p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O3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 smtClean="0">
                <a:sym typeface="Symbol"/>
              </a:rPr>
              <a:t>f(net3) </a:t>
            </a:r>
            <a:r>
              <a:rPr lang="en-US" sz="2400" dirty="0">
                <a:sym typeface="Symbol"/>
              </a:rPr>
              <a:t>= f((0.2</a:t>
            </a:r>
            <a:r>
              <a:rPr lang="en-US" sz="2400" dirty="0" smtClean="0">
                <a:sym typeface="Symbol"/>
              </a:rPr>
              <a:t>)(1) </a:t>
            </a:r>
            <a:r>
              <a:rPr lang="en-US" sz="2400" dirty="0">
                <a:sym typeface="Symbol"/>
              </a:rPr>
              <a:t>+ </a:t>
            </a:r>
            <a:r>
              <a:rPr lang="en-US" sz="2400" dirty="0" smtClean="0">
                <a:sym typeface="Symbol"/>
              </a:rPr>
              <a:t>(0.2)(</a:t>
            </a:r>
            <a:r>
              <a:rPr lang="en-US" sz="2400" dirty="0">
                <a:sym typeface="Symbol"/>
              </a:rPr>
              <a:t>0)) = </a:t>
            </a:r>
            <a:r>
              <a:rPr lang="en-US" sz="2400" dirty="0" smtClean="0">
                <a:sym typeface="Symbol"/>
              </a:rPr>
              <a:t>f(0.2) </a:t>
            </a:r>
            <a:r>
              <a:rPr lang="en-US" sz="2400" dirty="0">
                <a:sym typeface="Symbol"/>
              </a:rPr>
              <a:t>= 1</a:t>
            </a:r>
          </a:p>
          <a:p>
            <a:pPr marL="457200" lvl="1" indent="0" algn="just">
              <a:buNone/>
            </a:pPr>
            <a:r>
              <a:rPr lang="en-US" sz="2400" dirty="0" smtClean="0"/>
              <a:t>O3 </a:t>
            </a:r>
            <a:r>
              <a:rPr lang="en-US" sz="2400" dirty="0">
                <a:sym typeface="Symbol"/>
              </a:rPr>
              <a:t> </a:t>
            </a:r>
            <a:r>
              <a:rPr lang="en-US" sz="2400" dirty="0" smtClean="0">
                <a:sym typeface="Symbol"/>
              </a:rPr>
              <a:t>T3</a:t>
            </a:r>
            <a:endParaRPr lang="en-US" sz="2400" dirty="0">
              <a:sym typeface="Symbol"/>
            </a:endParaRPr>
          </a:p>
          <a:p>
            <a:pPr marL="457200" lvl="1" indent="0" algn="just">
              <a:buNone/>
            </a:pPr>
            <a:r>
              <a:rPr lang="en-US" sz="2400" dirty="0">
                <a:sym typeface="Symbol"/>
              </a:rPr>
              <a:t>w = (0.1) (0 – 1) </a:t>
            </a:r>
            <a:r>
              <a:rPr lang="en-US" sz="2400" dirty="0" smtClean="0">
                <a:sym typeface="Symbol"/>
              </a:rPr>
              <a:t>[</a:t>
            </a:r>
            <a:r>
              <a:rPr lang="en-US" sz="2400" dirty="0">
                <a:sym typeface="Symbol"/>
              </a:rPr>
              <a:t>1</a:t>
            </a:r>
            <a:r>
              <a:rPr lang="en-US" sz="2400" dirty="0" smtClean="0">
                <a:sym typeface="Symbol"/>
              </a:rPr>
              <a:t> </a:t>
            </a:r>
            <a:r>
              <a:rPr lang="en-US" sz="2400" dirty="0">
                <a:sym typeface="Symbol"/>
              </a:rPr>
              <a:t>0] = </a:t>
            </a:r>
            <a:r>
              <a:rPr lang="en-US" sz="2400" dirty="0" smtClean="0">
                <a:sym typeface="Symbol"/>
              </a:rPr>
              <a:t>-0.1 [1 </a:t>
            </a:r>
            <a:r>
              <a:rPr lang="en-US" sz="2400" dirty="0">
                <a:sym typeface="Symbol"/>
              </a:rPr>
              <a:t>0</a:t>
            </a:r>
            <a:r>
              <a:rPr lang="en-US" sz="2400" dirty="0" smtClean="0">
                <a:sym typeface="Symbol"/>
              </a:rPr>
              <a:t>]</a:t>
            </a:r>
            <a:r>
              <a:rPr lang="en-IN" sz="2400" dirty="0" smtClean="0">
                <a:sym typeface="Symbol"/>
              </a:rPr>
              <a:t> = [-0.1 0]</a:t>
            </a:r>
          </a:p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W4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 smtClean="0">
                <a:sym typeface="Symbol"/>
              </a:rPr>
              <a:t>w3 </a:t>
            </a:r>
            <a:r>
              <a:rPr lang="en-US" sz="2400" dirty="0">
                <a:sym typeface="Symbol"/>
              </a:rPr>
              <a:t>+ w = [0.2 </a:t>
            </a:r>
            <a:r>
              <a:rPr lang="en-US" sz="2400" dirty="0" smtClean="0">
                <a:sym typeface="Symbol"/>
              </a:rPr>
              <a:t>0.2] </a:t>
            </a:r>
            <a:r>
              <a:rPr lang="en-US" sz="2400" dirty="0">
                <a:sym typeface="Symbol"/>
              </a:rPr>
              <a:t>+ </a:t>
            </a:r>
            <a:r>
              <a:rPr lang="en-US" sz="2400" dirty="0" smtClean="0">
                <a:sym typeface="Symbol"/>
              </a:rPr>
              <a:t>[-0.1 0]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 smtClean="0">
                <a:sym typeface="Symbol"/>
              </a:rPr>
              <a:t>[0.1 0.2]</a:t>
            </a:r>
          </a:p>
          <a:p>
            <a:pPr marL="457200" lvl="1" indent="0" algn="just">
              <a:buNone/>
            </a:pPr>
            <a:r>
              <a:rPr lang="en-US" sz="2400" dirty="0" smtClean="0"/>
              <a:t>W5 </a:t>
            </a:r>
            <a:r>
              <a:rPr lang="en-US" sz="2400" dirty="0"/>
              <a:t>= </a:t>
            </a:r>
            <a:r>
              <a:rPr lang="en-US" sz="2400" dirty="0" smtClean="0"/>
              <a:t>w4+</a:t>
            </a:r>
            <a:r>
              <a:rPr lang="en-US" sz="2400" dirty="0">
                <a:sym typeface="Symbol"/>
              </a:rPr>
              <a:t>w</a:t>
            </a:r>
          </a:p>
          <a:p>
            <a:pPr marL="457200" lvl="1" indent="0" algn="just">
              <a:buNone/>
            </a:pPr>
            <a:r>
              <a:rPr lang="en-US" sz="2400" dirty="0">
                <a:sym typeface="Symbol"/>
              </a:rPr>
              <a:t>w =  (</a:t>
            </a:r>
            <a:r>
              <a:rPr lang="en-US" sz="2400" dirty="0" smtClean="0">
                <a:sym typeface="Symbol"/>
              </a:rPr>
              <a:t>T4 </a:t>
            </a:r>
            <a:r>
              <a:rPr lang="en-US" sz="2400" dirty="0">
                <a:sym typeface="Symbol"/>
              </a:rPr>
              <a:t>– </a:t>
            </a:r>
            <a:r>
              <a:rPr lang="en-US" sz="2400" dirty="0" smtClean="0">
                <a:sym typeface="Symbol"/>
              </a:rPr>
              <a:t>O4) x4</a:t>
            </a:r>
            <a:endParaRPr lang="en-US" sz="2400" dirty="0">
              <a:sym typeface="Symbol"/>
            </a:endParaRPr>
          </a:p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O4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 smtClean="0">
                <a:sym typeface="Symbol"/>
              </a:rPr>
              <a:t>f(net4) </a:t>
            </a:r>
            <a:r>
              <a:rPr lang="en-US" sz="2400" dirty="0">
                <a:sym typeface="Symbol"/>
              </a:rPr>
              <a:t>= f((</a:t>
            </a:r>
            <a:r>
              <a:rPr lang="en-US" sz="2400" dirty="0" smtClean="0">
                <a:sym typeface="Symbol"/>
              </a:rPr>
              <a:t>0.1)(</a:t>
            </a:r>
            <a:r>
              <a:rPr lang="en-US" sz="2400" dirty="0">
                <a:sym typeface="Symbol"/>
              </a:rPr>
              <a:t>1) + (0.2</a:t>
            </a:r>
            <a:r>
              <a:rPr lang="en-US" sz="2400" dirty="0" smtClean="0">
                <a:sym typeface="Symbol"/>
              </a:rPr>
              <a:t>)(1))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 smtClean="0">
                <a:sym typeface="Symbol"/>
              </a:rPr>
              <a:t>f(0.3) </a:t>
            </a:r>
            <a:r>
              <a:rPr lang="en-US" sz="2400" dirty="0">
                <a:sym typeface="Symbol"/>
              </a:rPr>
              <a:t>= 1</a:t>
            </a:r>
          </a:p>
          <a:p>
            <a:pPr marL="457200" lvl="1" indent="0" algn="just">
              <a:buNone/>
            </a:pPr>
            <a:r>
              <a:rPr lang="en-US" sz="2400" dirty="0" smtClean="0"/>
              <a:t>O4 </a:t>
            </a:r>
            <a:r>
              <a:rPr lang="en-US" sz="2400" dirty="0" smtClean="0">
                <a:sym typeface="Symbol"/>
              </a:rPr>
              <a:t>= T4</a:t>
            </a:r>
            <a:endParaRPr lang="en-US" sz="2400" dirty="0">
              <a:sym typeface="Symbol"/>
            </a:endParaRPr>
          </a:p>
          <a:p>
            <a:pPr marL="457200" lvl="1" indent="0" algn="just">
              <a:buNone/>
            </a:pPr>
            <a:r>
              <a:rPr lang="en-US" sz="2400" dirty="0" smtClean="0">
                <a:sym typeface="Symbol"/>
              </a:rPr>
              <a:t>W5 </a:t>
            </a:r>
            <a:r>
              <a:rPr lang="en-US" sz="2400" dirty="0">
                <a:sym typeface="Symbol"/>
              </a:rPr>
              <a:t>= </a:t>
            </a:r>
            <a:r>
              <a:rPr lang="en-US" sz="2400" dirty="0" smtClean="0">
                <a:sym typeface="Symbol"/>
              </a:rPr>
              <a:t>w4 = </a:t>
            </a:r>
            <a:r>
              <a:rPr lang="en-US" sz="2400" dirty="0">
                <a:sym typeface="Symbol"/>
              </a:rPr>
              <a:t>[0.1 0.2</a:t>
            </a:r>
            <a:r>
              <a:rPr lang="en-US" sz="2400" dirty="0" smtClean="0">
                <a:sym typeface="Symbol"/>
              </a:rPr>
              <a:t>]</a:t>
            </a:r>
            <a:endParaRPr lang="en-US" sz="2400" dirty="0">
              <a:sym typeface="Symbol"/>
            </a:endParaRPr>
          </a:p>
        </p:txBody>
      </p:sp>
    </p:spTree>
    <p:extLst>
      <p:ext uri="{BB962C8B-B14F-4D97-AF65-F5344CB8AC3E}">
        <p14:creationId xmlns:p14="http://schemas.microsoft.com/office/powerpoint/2010/main" val="3774853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1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1000" fill="hold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3208</TotalTime>
  <Words>607</Words>
  <Application>Microsoft Office PowerPoint</Application>
  <PresentationFormat>On-screen Show (4:3)</PresentationFormat>
  <Paragraphs>131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Symbol</vt:lpstr>
      <vt:lpstr>Office Theme</vt:lpstr>
      <vt:lpstr>Introduction to Neural Networks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Neural Networks</dc:title>
  <dc:creator>acer</dc:creator>
  <cp:lastModifiedBy>Vipul Dalal</cp:lastModifiedBy>
  <cp:revision>42</cp:revision>
  <dcterms:created xsi:type="dcterms:W3CDTF">2006-08-16T00:00:00Z</dcterms:created>
  <dcterms:modified xsi:type="dcterms:W3CDTF">2021-07-20T03:52:04Z</dcterms:modified>
</cp:coreProperties>
</file>