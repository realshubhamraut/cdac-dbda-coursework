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AFAFB-E525-469A-9ED6-A82B8C9B0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76020-BC74-44B1-83C3-F93B7E1BA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E2E77-FBBC-4978-A760-2D9E79291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9782-7C09-4F86-988E-062BB90BC92F}" type="datetimeFigureOut">
              <a:rPr lang="en-IN" smtClean="0"/>
              <a:t>24-07-2021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CA055-C940-48A5-98FF-8D12C863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2A1A9-DB67-49D1-BDFA-99156C62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7D69-009D-4421-9613-5BDCC9A7E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20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59F3-47BE-4A38-B6FC-FF754D8E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17E55-BDBA-467A-A386-82BEC8E0A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96E5C-38F4-4808-A15B-FF6248219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9782-7C09-4F86-988E-062BB90BC92F}" type="datetimeFigureOut">
              <a:rPr lang="en-IN" smtClean="0"/>
              <a:t>24-07-2021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6C753-DDA9-42DC-96BA-7DE597AB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BE6F8-FA04-4E84-A08D-82D5E1C1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7D69-009D-4421-9613-5BDCC9A7E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90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7AA7-3C74-41D7-BD1E-AD4CE9C8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4D8A6-6686-45C7-A13A-1A5487157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7AB5B-32B8-4961-AFBD-757C7ED1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9782-7C09-4F86-988E-062BB90BC92F}" type="datetimeFigureOut">
              <a:rPr lang="en-IN" smtClean="0"/>
              <a:t>24-07-2021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DE967-3E68-4730-9185-606F2DE7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11CAF-64BE-4DB6-A0D8-D12422885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7D69-009D-4421-9613-5BDCC9A7E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90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D715-5F81-4F42-8119-19DC21B7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41123-7EF1-4816-AAD2-7E652D36D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3C6EF-0E65-47B4-9138-884F988F3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5DE0D-61B0-4299-97CA-ACFF1EE94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9782-7C09-4F86-988E-062BB90BC92F}" type="datetimeFigureOut">
              <a:rPr lang="en-IN" smtClean="0"/>
              <a:t>24-07-2021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B952D-C3DB-482F-898F-27E35D83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9934B-D4CB-4A23-9138-925D9050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7D69-009D-4421-9613-5BDCC9A7E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02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3605-C65B-4397-A073-E75AD05E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59AB8-C66B-4B16-89F8-11EA3F9CE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02487-7DA4-4153-92BB-2AF1B1DBC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E86F4-FCE7-4359-9A8F-C164D26529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219F0E-C64A-4F13-8417-85B555D1D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337B8-B436-43F3-A867-067EE93CC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9782-7C09-4F86-988E-062BB90BC92F}" type="datetimeFigureOut">
              <a:rPr lang="en-IN" smtClean="0"/>
              <a:t>24-07-2021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02A727-4AC4-41EB-9B2A-06C07D57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91B75-E5F2-4789-8524-B329E563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7D69-009D-4421-9613-5BDCC9A7E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37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2C708-1F9F-4D22-8950-C4A913E9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5093D-2487-4DAE-B6C1-CA8FA20D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9782-7C09-4F86-988E-062BB90BC92F}" type="datetimeFigureOut">
              <a:rPr lang="en-IN" smtClean="0"/>
              <a:t>24-07-2021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0BCA9-BF36-4C7E-999C-122F338BD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7DD9F-C207-4725-AA90-CB17EE37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7D69-009D-4421-9613-5BDCC9A7E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144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A37175-F691-41F8-8B0C-221B34E4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9782-7C09-4F86-988E-062BB90BC92F}" type="datetimeFigureOut">
              <a:rPr lang="en-IN" smtClean="0"/>
              <a:t>24-07-2021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C470B6-29CC-4445-98F2-037A04FE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FB63-AC74-4ABA-B61D-33F1F688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7D69-009D-4421-9613-5BDCC9A7E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040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28EE-ED85-49EB-A780-651A32196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B045B-A49E-4976-A15B-6F6953DB7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7DC21-4A36-485F-A7B9-AB7649EA6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D4ABA-DE1B-4F99-A61D-3E50FD69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9782-7C09-4F86-988E-062BB90BC92F}" type="datetimeFigureOut">
              <a:rPr lang="en-IN" smtClean="0"/>
              <a:t>24-07-2021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8D173-27DF-4364-8435-F82C82728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C64B1-F297-4A16-A8B0-93F58C1E6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7D69-009D-4421-9613-5BDCC9A7E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810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67986-918B-425A-9384-DD41AFA03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ACD95-4B5B-46E7-8601-3B122FC038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0CD76-C8B1-4B1F-8F44-0E89759BB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483C7-4F47-4299-890B-38658EB0A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9782-7C09-4F86-988E-062BB90BC92F}" type="datetimeFigureOut">
              <a:rPr lang="en-IN" smtClean="0"/>
              <a:t>24-07-2021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19284-5665-4EA0-B24F-256472D9B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7AC64-ADA4-4F50-A448-CE8C1FD2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7D69-009D-4421-9613-5BDCC9A7E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027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4AA6-8624-4E1A-812F-BF720C6A0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81798-4101-42E1-B8F7-1EA6D2568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E29D3-8703-4277-939E-A36C1794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9782-7C09-4F86-988E-062BB90BC92F}" type="datetimeFigureOut">
              <a:rPr lang="en-IN" smtClean="0"/>
              <a:t>24-07-2021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6D6F9-9DDC-4E8C-A8B0-2CC86C26E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76559-6463-4A4D-B281-765E59DDE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7D69-009D-4421-9613-5BDCC9A7E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06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ADC5C0-22A3-4878-A2F3-96DBA2E34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B4ABC-4CCE-4231-8843-B61A707D8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98B4B-0193-4744-ABBD-97C3D9A88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99782-7C09-4F86-988E-062BB90BC92F}" type="datetimeFigureOut">
              <a:rPr lang="en-IN" smtClean="0"/>
              <a:t>24-07-2021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F47C8-71CD-40FD-8E49-EBD533633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6B8A2-6068-4DAC-8085-F567548DF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7D69-009D-4421-9613-5BDCC9A7E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82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74B2F-B675-4B46-A8EE-5F8C42FA0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369BE-161D-4304-9882-5A27E62CF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98728-4308-49D7-B19F-A60E15F34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99782-7C09-4F86-988E-062BB90BC92F}" type="datetimeFigureOut">
              <a:rPr lang="en-IN" smtClean="0"/>
              <a:t>24-07-2021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821D6-968E-4CB5-8F86-1F5CB7CEB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15495-72BE-4E52-A500-A4F839795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87D69-009D-4421-9613-5BDCC9A7E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87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ebp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A8BA-E14F-4098-A692-5CA3EA2F5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Gradient Descent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(Variants, Problems and Solutions)</a:t>
            </a:r>
          </a:p>
        </p:txBody>
      </p:sp>
    </p:spTree>
    <p:extLst>
      <p:ext uri="{BB962C8B-B14F-4D97-AF65-F5344CB8AC3E}">
        <p14:creationId xmlns:p14="http://schemas.microsoft.com/office/powerpoint/2010/main" val="191369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190CD-1433-4F87-AEA1-65FD12593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399"/>
            <a:ext cx="10515600" cy="851124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What is Gradient Descent?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B016A-EE0C-48D8-AFFC-2512FB57F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5524"/>
            <a:ext cx="10515600" cy="5809302"/>
          </a:xfrm>
        </p:spPr>
        <p:txBody>
          <a:bodyPr/>
          <a:lstStyle/>
          <a:p>
            <a:pPr algn="just"/>
            <a:r>
              <a:rPr lang="en-US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It is a </a:t>
            </a:r>
            <a:r>
              <a:rPr lang="en-US" b="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first-order</a:t>
            </a:r>
            <a:r>
              <a:rPr lang="en-US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US" b="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iterative</a:t>
            </a:r>
            <a:r>
              <a:rPr lang="en-US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US" b="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optimization</a:t>
            </a:r>
            <a:r>
              <a:rPr lang="en-US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US" b="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algorithm</a:t>
            </a:r>
            <a:r>
              <a:rPr lang="en-US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for finding a </a:t>
            </a:r>
            <a:r>
              <a:rPr lang="en-US" b="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local minimum</a:t>
            </a:r>
            <a:r>
              <a:rPr lang="en-US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of a </a:t>
            </a:r>
            <a:r>
              <a:rPr lang="en-US" b="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differentiable function</a:t>
            </a:r>
            <a:r>
              <a:rPr lang="en-US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just"/>
            <a:r>
              <a:rPr lang="en-US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idea is to take repeated steps in the opposite direction of the </a:t>
            </a:r>
            <a:r>
              <a:rPr lang="en-US" b="0" i="0" u="none" strike="noStrike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gradient</a:t>
            </a:r>
            <a:r>
              <a:rPr lang="en-US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of the function at the current point.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With respect to Neural Network supervised learning, the function to be minimized is the Error function or Loss function.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is used in conjunction with Error Back Propagation (EBP) algorithm to adjust the weight matrix also called network parameters.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fundamental steps are: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Initialize all the weights with random values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Forward pass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Backward pass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52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C060-9C06-473C-8594-B677D6298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284"/>
            <a:ext cx="10515600" cy="842239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Gradient Descent (Continued….)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092EB-AB45-4ECE-874B-16BCD3EED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9742"/>
            <a:ext cx="10515600" cy="5726097"/>
          </a:xfrm>
        </p:spPr>
        <p:txBody>
          <a:bodyPr/>
          <a:lstStyle/>
          <a:p>
            <a:pPr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The Gradient Descent comes into the picture during the backward pass.</a:t>
            </a:r>
          </a:p>
        </p:txBody>
      </p:sp>
      <p:pic>
        <p:nvPicPr>
          <p:cNvPr id="1026" name="Picture 2" descr="Gradient descent - Neural Networks with R">
            <a:extLst>
              <a:ext uri="{FF2B5EF4-FFF2-40B4-BE49-F238E27FC236}">
                <a16:creationId xmlns:a16="http://schemas.microsoft.com/office/drawing/2014/main" id="{7939972E-51B5-4A15-B0CC-ACE1AD9F2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611" y="2025697"/>
            <a:ext cx="294322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ural Network Models in R | Machine learning book, Deep learning,  Networking">
            <a:extLst>
              <a:ext uri="{FF2B5EF4-FFF2-40B4-BE49-F238E27FC236}">
                <a16:creationId xmlns:a16="http://schemas.microsoft.com/office/drawing/2014/main" id="{73B2923F-5781-44B7-87A3-1BD39D057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75" y="3922790"/>
            <a:ext cx="4065791" cy="200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ckpropagation and the chain rule - Hands-On Convolutional Neural Networks  with TensorFlow [Book]">
            <a:extLst>
              <a:ext uri="{FF2B5EF4-FFF2-40B4-BE49-F238E27FC236}">
                <a16:creationId xmlns:a16="http://schemas.microsoft.com/office/drawing/2014/main" id="{97FD2498-043E-4A00-A9E8-0C6195552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029" y="3922790"/>
            <a:ext cx="3038475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46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522F2-04FC-43AD-82AA-F44692238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6644"/>
            <a:ext cx="10515600" cy="5717219"/>
          </a:xfrm>
        </p:spPr>
        <p:txBody>
          <a:bodyPr/>
          <a:lstStyle/>
          <a:p>
            <a:pPr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Variants of the Gradient Descent</a:t>
            </a:r>
          </a:p>
          <a:p>
            <a:pPr lvl="1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Batch Gradient Descent</a:t>
            </a:r>
          </a:p>
          <a:p>
            <a:pPr lvl="2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Also called Vanilla Gradient Descent</a:t>
            </a:r>
          </a:p>
          <a:p>
            <a:pPr lvl="2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Calculates error for each training sample but the weights are updated only at the end of epoch.</a:t>
            </a:r>
          </a:p>
          <a:p>
            <a:pPr lvl="2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Advantage: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guaranteed to converge to the global minimum if the loss function is convex and to a local minimum if the loss function is not convex.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Disadvantage: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slow to go over all examples especially for large datasets.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(SGD)</a:t>
            </a:r>
          </a:p>
          <a:p>
            <a:pPr lvl="2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Also called Online Gradient Descent</a:t>
            </a:r>
          </a:p>
          <a:p>
            <a:pPr lvl="2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Calculates error for each training sample and the weights are updated immediately after observing each sample.</a:t>
            </a:r>
          </a:p>
          <a:p>
            <a:pPr lvl="2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Advantage: improves generalization error</a:t>
            </a:r>
          </a:p>
          <a:p>
            <a:pPr lvl="2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Disadvantage: learning process becomes noisy as weights are updated for each sample.</a:t>
            </a:r>
          </a:p>
          <a:p>
            <a:pPr lvl="1" algn="just"/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006BA-1DBE-4F06-830C-E648B02F5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284"/>
            <a:ext cx="10515600" cy="842239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Gradient Descent (Continued….)</a:t>
            </a:r>
          </a:p>
        </p:txBody>
      </p:sp>
    </p:spTree>
    <p:extLst>
      <p:ext uri="{BB962C8B-B14F-4D97-AF65-F5344CB8AC3E}">
        <p14:creationId xmlns:p14="http://schemas.microsoft.com/office/powerpoint/2010/main" val="135131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EEDFC-5993-4C48-91A7-ADC49FE6F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6644"/>
            <a:ext cx="10515600" cy="5779363"/>
          </a:xfrm>
        </p:spPr>
        <p:txBody>
          <a:bodyPr/>
          <a:lstStyle/>
          <a:p>
            <a:pPr lvl="1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Mini-Batch Gradient Descent</a:t>
            </a:r>
          </a:p>
          <a:p>
            <a:pPr lvl="2" algn="just"/>
            <a:r>
              <a:rPr lang="en-IN" dirty="0"/>
              <a:t>Combination of Batch Gradient Descent and Stochastic Gradient Descent</a:t>
            </a:r>
          </a:p>
          <a:p>
            <a:pPr lvl="2" algn="just"/>
            <a:r>
              <a:rPr lang="en-IN" dirty="0"/>
              <a:t>The training set is divided into multiple batches and the weights are updated at the end of observing each batch.</a:t>
            </a:r>
          </a:p>
          <a:p>
            <a:pPr lvl="2" algn="just"/>
            <a:r>
              <a:rPr lang="en-IN" dirty="0"/>
              <a:t>The batch size varies between 50 to 250 samples depending upon the size of the entire training set.</a:t>
            </a:r>
          </a:p>
          <a:p>
            <a:pPr lvl="2" algn="just"/>
            <a:r>
              <a:rPr lang="en-IN" dirty="0"/>
              <a:t>Advantage: faster than Batch Gradient</a:t>
            </a:r>
          </a:p>
          <a:p>
            <a:pPr lvl="2" algn="just"/>
            <a:r>
              <a:rPr lang="en-IN" dirty="0"/>
              <a:t>Disadvantage: may not converge at all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5BE3D-EE63-4DA2-B3CA-9D31A3B0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06"/>
            <a:ext cx="10515600" cy="842239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Gradient Descent (Continued….)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90745EE-02E8-4D16-83B1-25FA228F3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846" y="3639844"/>
            <a:ext cx="7230307" cy="3036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76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72C80-625A-42FC-BA85-7D19D4C55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6644"/>
            <a:ext cx="10515600" cy="5906950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Chain rule of differentiation causes the gradient of the loss function to decrease exponentially.</a:t>
            </a:r>
          </a:p>
          <a:p>
            <a:pPr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For deep network with large number of hidden layers, the gradient of the loss function approaches zero making the weights near the input layers impossible to be learned or updated.</a:t>
            </a:r>
          </a:p>
          <a:p>
            <a:pPr algn="just"/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The problem gets aggravated for activation functions such as Sigmoid which maps large input (absolute value) to a very small output value between 0 to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4C1531-50F3-4526-95DD-9568991F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06"/>
            <a:ext cx="10515600" cy="842239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Vanishing Gradient Problem</a:t>
            </a:r>
          </a:p>
        </p:txBody>
      </p:sp>
      <p:pic>
        <p:nvPicPr>
          <p:cNvPr id="5" name="Picture 6" descr="Backpropagation and the chain rule - Hands-On Convolutional Neural Networks  with TensorFlow [Book]">
            <a:extLst>
              <a:ext uri="{FF2B5EF4-FFF2-40B4-BE49-F238E27FC236}">
                <a16:creationId xmlns:a16="http://schemas.microsoft.com/office/drawing/2014/main" id="{87121BA8-B542-47D2-AEB0-C735BB612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762" y="3429000"/>
            <a:ext cx="3038475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24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4274E-26F7-4C0F-954A-712B7370D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6644"/>
            <a:ext cx="10515600" cy="5770485"/>
          </a:xfrm>
        </p:spPr>
        <p:txBody>
          <a:bodyPr/>
          <a:lstStyle/>
          <a:p>
            <a:pPr algn="just"/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algn="just"/>
            <a:r>
              <a:rPr lang="en-IN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example</a:t>
            </a:r>
            <a:endParaRPr lang="en-IN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Solutions:</a:t>
            </a:r>
          </a:p>
          <a:p>
            <a:pPr lvl="1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Batch normalization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B41133-D5C4-4468-AD86-017A0E59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06"/>
            <a:ext cx="10515600" cy="842239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Vanishing Gradient Problem….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863AC01-EEB2-4418-A414-5B6BDC536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293" y="896643"/>
            <a:ext cx="5467413" cy="2095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CCE3BD5A-4F3D-4799-859F-3222B31A2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293" y="4246130"/>
            <a:ext cx="5467414" cy="253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9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8207C-96E8-4D6D-AB63-6C0281DC5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2191"/>
            <a:ext cx="10515600" cy="4982693"/>
          </a:xfrm>
        </p:spPr>
        <p:txBody>
          <a:bodyPr/>
          <a:lstStyle/>
          <a:p>
            <a:pPr lvl="1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Use of activation functions such as </a:t>
            </a:r>
            <a:r>
              <a:rPr lang="en-IN" dirty="0" err="1">
                <a:latin typeface="Segoe UI" panose="020B0502040204020203" pitchFamily="34" charset="0"/>
                <a:cs typeface="Segoe UI" panose="020B0502040204020203" pitchFamily="34" charset="0"/>
              </a:rPr>
              <a:t>ReLU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which doesn’t cause a very small derivative</a:t>
            </a:r>
          </a:p>
          <a:p>
            <a:pPr lvl="1" algn="just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Residual Networks (</a:t>
            </a:r>
            <a:r>
              <a:rPr lang="en-IN" dirty="0" err="1">
                <a:latin typeface="Segoe UI" panose="020B0502040204020203" pitchFamily="34" charset="0"/>
                <a:cs typeface="Segoe UI" panose="020B0502040204020203" pitchFamily="34" charset="0"/>
              </a:rPr>
              <a:t>ResNets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lvl="2" algn="just"/>
            <a:r>
              <a:rPr lang="en-US" b="0" i="0" dirty="0" err="1">
                <a:solidFill>
                  <a:srgbClr val="20212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ResNets</a:t>
            </a:r>
            <a:r>
              <a:rPr lang="en-US" b="0" i="0" dirty="0">
                <a:solidFill>
                  <a:srgbClr val="20212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refer to neural networks where skip connections or residual connections are part of the network architecture. </a:t>
            </a:r>
          </a:p>
          <a:p>
            <a:pPr lvl="2" algn="just"/>
            <a:r>
              <a:rPr lang="en-US" b="0" i="0" dirty="0">
                <a:solidFill>
                  <a:srgbClr val="20212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These skip connections allow gradient information to pass through the layers, by creating "highways" of information</a:t>
            </a:r>
            <a:endParaRPr lang="en-US" dirty="0">
              <a:solidFill>
                <a:srgbClr val="20212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just"/>
            <a:r>
              <a:rPr lang="en-US" dirty="0">
                <a:solidFill>
                  <a:srgbClr val="2021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They avoid the problem rather than solving it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413B1C-0120-4875-B7E5-57A79DD0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493"/>
            <a:ext cx="10515600" cy="842239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Vanishing Gradient Problem….</a:t>
            </a:r>
          </a:p>
        </p:txBody>
      </p:sp>
    </p:spTree>
    <p:extLst>
      <p:ext uri="{BB962C8B-B14F-4D97-AF65-F5344CB8AC3E}">
        <p14:creationId xmlns:p14="http://schemas.microsoft.com/office/powerpoint/2010/main" val="75379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07E8A-16B8-4FA5-A343-744569871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452"/>
            <a:ext cx="10515600" cy="5936566"/>
          </a:xfrm>
        </p:spPr>
        <p:txBody>
          <a:bodyPr/>
          <a:lstStyle/>
          <a:p>
            <a:pPr algn="just"/>
            <a:r>
              <a:rPr lang="en-US" dirty="0"/>
              <a:t>Challenges to GD</a:t>
            </a:r>
          </a:p>
          <a:p>
            <a:pPr lvl="1" algn="just"/>
            <a:r>
              <a:rPr lang="en-US" dirty="0"/>
              <a:t>Selection of appropriate learning rate</a:t>
            </a:r>
          </a:p>
          <a:p>
            <a:pPr lvl="2" algn="just"/>
            <a:r>
              <a:rPr lang="en-US" dirty="0"/>
              <a:t>Too small – very slow to convergence</a:t>
            </a:r>
          </a:p>
          <a:p>
            <a:pPr lvl="2" algn="just"/>
            <a:r>
              <a:rPr lang="en-US" dirty="0"/>
              <a:t>Too large – fluctuations around minima</a:t>
            </a:r>
          </a:p>
          <a:p>
            <a:pPr lvl="1" algn="just"/>
            <a:r>
              <a:rPr lang="en-US" dirty="0"/>
              <a:t>Learning rate schedules</a:t>
            </a:r>
          </a:p>
          <a:p>
            <a:pPr lvl="2" algn="just"/>
            <a:r>
              <a:rPr lang="en-US" dirty="0"/>
              <a:t>Schedule must be predefined</a:t>
            </a:r>
          </a:p>
          <a:p>
            <a:pPr lvl="2" algn="just"/>
            <a:r>
              <a:rPr lang="en-US" dirty="0"/>
              <a:t>Doesn’t adapt to the characteristics of the dataset</a:t>
            </a:r>
          </a:p>
          <a:p>
            <a:pPr lvl="1" algn="just"/>
            <a:r>
              <a:rPr lang="en-US" dirty="0"/>
              <a:t>Same learning rate for all the parameters</a:t>
            </a:r>
          </a:p>
          <a:p>
            <a:pPr lvl="2" algn="just"/>
            <a:r>
              <a:rPr lang="en-US" dirty="0"/>
              <a:t>Not suitable for features with different frequencies</a:t>
            </a:r>
          </a:p>
          <a:p>
            <a:pPr lvl="2" algn="just"/>
            <a:r>
              <a:rPr lang="en-US" dirty="0"/>
              <a:t>Larger updates needed for rarely occurring features</a:t>
            </a:r>
          </a:p>
          <a:p>
            <a:pPr lvl="1" algn="just"/>
            <a:r>
              <a:rPr lang="en-US" dirty="0"/>
              <a:t>Saddle points</a:t>
            </a:r>
          </a:p>
          <a:p>
            <a:pPr lvl="2" algn="just"/>
            <a:r>
              <a:rPr lang="en-US" dirty="0"/>
              <a:t>Points where one dimension slopes up and another dimension slopes down</a:t>
            </a:r>
          </a:p>
          <a:p>
            <a:pPr lvl="2" algn="just"/>
            <a:r>
              <a:rPr lang="en-US" dirty="0"/>
              <a:t>GD gets trapped</a:t>
            </a:r>
          </a:p>
        </p:txBody>
      </p:sp>
    </p:spTree>
    <p:extLst>
      <p:ext uri="{BB962C8B-B14F-4D97-AF65-F5344CB8AC3E}">
        <p14:creationId xmlns:p14="http://schemas.microsoft.com/office/powerpoint/2010/main" val="134037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16478-F792-4060-BA3D-CE989B7C64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064" y="0"/>
                <a:ext cx="10515600" cy="6858000"/>
              </a:xfrm>
            </p:spPr>
            <p:txBody>
              <a:bodyPr/>
              <a:lstStyle/>
              <a:p>
                <a:pPr algn="just"/>
                <a:r>
                  <a:rPr lang="en-US" dirty="0" smtClean="0"/>
                  <a:t>Extensions/Alternatives to GD</a:t>
                </a:r>
              </a:p>
              <a:p>
                <a:pPr lvl="1" algn="just"/>
                <a:r>
                  <a:rPr lang="en-US" dirty="0"/>
                  <a:t>GD with momentum</a:t>
                </a:r>
              </a:p>
              <a:p>
                <a:pPr lvl="2" algn="just"/>
                <a:r>
                  <a:rPr lang="en-US" dirty="0"/>
                  <a:t> Helps accelerate SGD in the relevant direction and dampens oscillations</a:t>
                </a:r>
              </a:p>
              <a:p>
                <a:pPr lvl="2" algn="just"/>
                <a:r>
                  <a:rPr lang="en-US" dirty="0"/>
                  <a:t>Adds a fraction γ of the update vector of previous step to the current update vector</a:t>
                </a:r>
              </a:p>
              <a:p>
                <a:pPr lvl="2" algn="just"/>
                <a:endParaRPr lang="en-US" dirty="0"/>
              </a:p>
              <a:p>
                <a:pPr marL="914400" lvl="2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≤0.9)</m:t>
                      </m:r>
                    </m:oMath>
                  </m:oMathPara>
                </a14:m>
                <a:endParaRPr lang="en-US" dirty="0"/>
              </a:p>
              <a:p>
                <a:pPr marL="914400" lvl="2" indent="0" algn="ctr">
                  <a:buNone/>
                </a:pPr>
                <a:endParaRPr lang="en-US" dirty="0"/>
              </a:p>
              <a:p>
                <a:pPr marL="914400" lvl="2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914400" lvl="2" indent="0" algn="ctr">
                  <a:buNone/>
                </a:pPr>
                <a:endParaRPr lang="en-US" dirty="0"/>
              </a:p>
              <a:p>
                <a:pPr lvl="2" algn="just"/>
                <a:r>
                  <a:rPr lang="en-US" dirty="0"/>
                  <a:t> The momentum term increases for dimensions whose gradients point in the same directions and reduces updates for dimensions whose gradients change directions</a:t>
                </a:r>
              </a:p>
              <a:p>
                <a:pPr lvl="1" algn="just"/>
                <a:r>
                  <a:rPr lang="en-US" dirty="0"/>
                  <a:t>Adaptive GD (</a:t>
                </a:r>
                <a:r>
                  <a:rPr lang="en-US" dirty="0" err="1"/>
                  <a:t>Adagrad</a:t>
                </a:r>
                <a:r>
                  <a:rPr lang="en-US" dirty="0"/>
                  <a:t>)</a:t>
                </a:r>
              </a:p>
              <a:p>
                <a:pPr lvl="2" algn="just"/>
                <a:r>
                  <a:rPr lang="en-US" dirty="0"/>
                  <a:t>Learning rate is adapted to individual parameters</a:t>
                </a:r>
              </a:p>
              <a:p>
                <a:pPr lvl="2" algn="just"/>
                <a:r>
                  <a:rPr lang="en-US" dirty="0"/>
                  <a:t>Well suited with features that occur with different frequencies. For example, word embedding</a:t>
                </a:r>
              </a:p>
              <a:p>
                <a:pPr marL="914400" lvl="2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914400" lvl="2" indent="0" algn="ctr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is sum of squares of gradient </a:t>
                </a:r>
                <a:r>
                  <a:rPr lang="en-US" dirty="0" err="1"/>
                  <a:t>w.r.t.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up to time t-1</a:t>
                </a:r>
              </a:p>
              <a:p>
                <a:pPr lvl="2" algn="just"/>
                <a:r>
                  <a:rPr lang="en-US" dirty="0"/>
                  <a:t> Eliminates the need to manually tune the learning rate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16478-F792-4060-BA3D-CE989B7C6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064" y="0"/>
                <a:ext cx="10515600" cy="6858000"/>
              </a:xfrm>
              <a:blipFill>
                <a:blip r:embed="rId2"/>
                <a:stretch>
                  <a:fillRect l="-1043" t="-1422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382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0D0D45-B605-4221-B272-E405489381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3446" y="197367"/>
                <a:ext cx="5044222" cy="6428936"/>
              </a:xfrm>
            </p:spPr>
            <p:txBody>
              <a:bodyPr/>
              <a:lstStyle/>
              <a:p>
                <a:pPr marL="273050" lvl="1" algn="just"/>
                <a:r>
                  <a:rPr lang="en-US" dirty="0" smtClean="0"/>
                  <a:t>RMSProp</a:t>
                </a:r>
                <a:endParaRPr lang="en-US" dirty="0"/>
              </a:p>
              <a:p>
                <a:pPr marL="730250" lvl="2" algn="just"/>
                <a:r>
                  <a:rPr lang="en-IN" dirty="0" smtClean="0"/>
                  <a:t>Uses </a:t>
                </a:r>
                <a:r>
                  <a:rPr lang="en-IN" dirty="0"/>
                  <a:t>a moving average of squared gradients to normalize the </a:t>
                </a:r>
                <a:r>
                  <a:rPr lang="en-IN" dirty="0" smtClean="0"/>
                  <a:t>gradient</a:t>
                </a:r>
              </a:p>
              <a:p>
                <a:pPr marL="730250" lvl="2" algn="just"/>
                <a:r>
                  <a:rPr lang="en-US" dirty="0" smtClean="0"/>
                  <a:t>Balances step size</a:t>
                </a:r>
              </a:p>
              <a:p>
                <a:pPr marL="730250" lvl="2" algn="just"/>
                <a:r>
                  <a:rPr lang="en-US" dirty="0" smtClean="0"/>
                  <a:t>Decreases step size for large gradient to avoid exploding </a:t>
                </a:r>
              </a:p>
              <a:p>
                <a:pPr marL="730250" lvl="2" algn="just"/>
                <a:r>
                  <a:rPr lang="en-US" dirty="0" smtClean="0"/>
                  <a:t>Increases step size for small gradient to avoid </a:t>
                </a:r>
                <a:r>
                  <a:rPr lang="en-US" dirty="0" smtClean="0"/>
                  <a:t>vanishing</a:t>
                </a:r>
              </a:p>
              <a:p>
                <a:pPr marL="730250" lvl="2" algn="just"/>
                <a:endParaRPr lang="en-US" dirty="0" smtClean="0"/>
              </a:p>
              <a:p>
                <a:pPr marL="501650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 smtClean="0"/>
              </a:p>
              <a:p>
                <a:pPr marL="1416050" lvl="4" indent="0" algn="just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 smtClean="0"/>
                  <a:t> is set to 0.9</a:t>
                </a:r>
              </a:p>
              <a:p>
                <a:pPr marL="1416050" lvl="4" indent="0" algn="just">
                  <a:buNone/>
                </a:pPr>
                <a:endParaRPr lang="en-US" dirty="0" smtClean="0"/>
              </a:p>
              <a:p>
                <a:pPr marL="501650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rad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1416050" lvl="4" indent="0" algn="just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 smtClean="0"/>
                  <a:t> is initial learning rate</a:t>
                </a:r>
              </a:p>
              <a:p>
                <a:pPr marL="1416050" lvl="4" indent="0" algn="just">
                  <a:buNone/>
                </a:pPr>
                <a:r>
                  <a:rPr lang="en-IN" dirty="0"/>
                  <a:t>good default value for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IN" dirty="0" smtClean="0"/>
                  <a:t> </a:t>
                </a:r>
                <a:r>
                  <a:rPr lang="en-IN" dirty="0"/>
                  <a:t>is 0.001</a:t>
                </a:r>
                <a:r>
                  <a:rPr lang="en-IN" dirty="0" smtClean="0"/>
                  <a:t>.</a:t>
                </a:r>
              </a:p>
              <a:p>
                <a:pPr marL="1416050" lvl="4" indent="0" algn="just">
                  <a:buNone/>
                </a:pPr>
                <a:endParaRPr lang="en-US" dirty="0" smtClean="0"/>
              </a:p>
              <a:p>
                <a:pPr marL="501650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0D0D45-B605-4221-B272-E405489381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3446" y="197367"/>
                <a:ext cx="5044222" cy="6428936"/>
              </a:xfrm>
              <a:blipFill>
                <a:blip r:embed="rId2"/>
                <a:stretch>
                  <a:fillRect l="-846" t="-1327" r="-12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60D0D45-B605-4221-B272-E405489381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77176" y="211015"/>
                <a:ext cx="5044222" cy="64289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 algn="just"/>
                <a:r>
                  <a:rPr lang="en-US" dirty="0" smtClean="0"/>
                  <a:t>Adam</a:t>
                </a:r>
              </a:p>
              <a:p>
                <a:pPr lvl="2" algn="just"/>
                <a:r>
                  <a:rPr lang="en-IN" dirty="0" smtClean="0"/>
                  <a:t>Another </a:t>
                </a:r>
                <a:r>
                  <a:rPr lang="en-IN" dirty="0"/>
                  <a:t>method that computes adaptive learning rates for each </a:t>
                </a:r>
                <a:r>
                  <a:rPr lang="en-IN" dirty="0" smtClean="0"/>
                  <a:t>parameter</a:t>
                </a:r>
              </a:p>
              <a:p>
                <a:pPr lvl="2" algn="just"/>
                <a:r>
                  <a:rPr lang="en-IN" dirty="0" smtClean="0"/>
                  <a:t>Also </a:t>
                </a:r>
                <a:r>
                  <a:rPr lang="en-IN" dirty="0"/>
                  <a:t>keeps </a:t>
                </a:r>
                <a:r>
                  <a:rPr lang="en-IN" dirty="0" smtClean="0"/>
                  <a:t>a moving average </a:t>
                </a:r>
                <a:r>
                  <a:rPr lang="en-IN" dirty="0"/>
                  <a:t>of past </a:t>
                </a:r>
                <a:r>
                  <a:rPr lang="en-IN" dirty="0" smtClean="0"/>
                  <a:t>gradients, </a:t>
                </a:r>
                <a:r>
                  <a:rPr lang="en-IN" dirty="0"/>
                  <a:t>similar to momentum</a:t>
                </a:r>
                <a:r>
                  <a:rPr lang="en-IN" dirty="0" smtClean="0"/>
                  <a:t>.</a:t>
                </a:r>
              </a:p>
              <a:p>
                <a:pPr lvl="2" algn="just"/>
                <a:endParaRPr lang="en-IN" dirty="0"/>
              </a:p>
              <a:p>
                <a:pPr marL="1160463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1160463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 smtClean="0"/>
              </a:p>
              <a:p>
                <a:pPr marL="1828800" lvl="4" indent="0" algn="just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is set to 0.9</a:t>
                </a:r>
              </a:p>
              <a:p>
                <a:pPr marL="1828800" lvl="4" indent="0" algn="just">
                  <a:buNone/>
                </a:pPr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is set to 0.999</a:t>
                </a:r>
              </a:p>
              <a:p>
                <a:pPr marL="1828800" lvl="4" indent="0" algn="just">
                  <a:buNone/>
                </a:pPr>
                <a:endParaRPr lang="en-US" dirty="0"/>
              </a:p>
              <a:p>
                <a:pPr marL="1160463" lvl="2" indent="0" algn="just">
                  <a:buNone/>
                  <a:tabLst>
                    <a:tab pos="11604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rad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1160463" lvl="2" indent="0" algn="just">
                  <a:buNone/>
                  <a:tabLst>
                    <a:tab pos="1160463" algn="l"/>
                  </a:tabLst>
                </a:pPr>
                <a:endParaRPr lang="en-US" dirty="0"/>
              </a:p>
              <a:p>
                <a:pPr marL="1160463" lvl="2" indent="0" algn="just">
                  <a:buNone/>
                  <a:tabLst>
                    <a:tab pos="11604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914400" lvl="2" indent="0" algn="just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60D0D45-B605-4221-B272-E40548938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176" y="211015"/>
                <a:ext cx="5044222" cy="6428936"/>
              </a:xfrm>
              <a:prstGeom prst="rect">
                <a:avLst/>
              </a:prstGeom>
              <a:blipFill>
                <a:blip r:embed="rId3"/>
                <a:stretch>
                  <a:fillRect t="-1328" r="-12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03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B76B-93EA-42D2-944E-64B421DCD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86018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2100</TotalTime>
  <Words>515</Words>
  <Application>Microsoft Office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Segoe UI</vt:lpstr>
      <vt:lpstr>Office Theme</vt:lpstr>
      <vt:lpstr>Gradient Descent (Variants, Problems and Solutions)</vt:lpstr>
      <vt:lpstr>What is Gradient Descent?</vt:lpstr>
      <vt:lpstr>Gradient Descent (Continued….)</vt:lpstr>
      <vt:lpstr>Gradient Descent (Continued….)</vt:lpstr>
      <vt:lpstr>Gradient Descent (Continued….)</vt:lpstr>
      <vt:lpstr>Vanishing Gradient Problem</vt:lpstr>
      <vt:lpstr>Vanishing Gradient Problem….</vt:lpstr>
      <vt:lpstr>Vanishing Gradient Problem….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Descent (Variants, Problems and Solutions)</dc:title>
  <dc:creator>Jignasha Dalal</dc:creator>
  <cp:lastModifiedBy>Vipul Dalal</cp:lastModifiedBy>
  <cp:revision>85</cp:revision>
  <dcterms:created xsi:type="dcterms:W3CDTF">2021-04-07T15:00:27Z</dcterms:created>
  <dcterms:modified xsi:type="dcterms:W3CDTF">2021-07-24T12:03:16Z</dcterms:modified>
</cp:coreProperties>
</file>