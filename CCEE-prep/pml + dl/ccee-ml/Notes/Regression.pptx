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BA86-1EEB-41AF-B1B6-557CA92F0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B98A7-7991-455E-A335-607A4314D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FBC6E-D937-4F1A-8FDD-FBF318A6F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EC1C5-5955-409B-B58F-A85B146B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492EA-9ACF-40CB-91BF-1C8BDA37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9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8102-35C5-42A4-92A8-8E486409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67C1-6F4E-433D-B7C6-ED927258D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74C92-F0D2-46F9-8873-730CD88D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CC0DB-4B71-450A-958E-684C5BB6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E428D-0CBC-4E69-A014-4B9B91DB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8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7200-4D5A-45E9-8260-C53C0FAA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70703-A12E-48CF-AE10-0CFBED961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988E3-88B0-4FFE-A5C8-6F309678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C0B56-D313-4D2A-B592-BE574E6B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AD338-5342-4830-AB32-C7628FEF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70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E10C-FCDA-4291-AAF2-18EC9BA0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9D391-86FA-4DB5-9E43-C4EC326C5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6107D-CEF6-45C3-B82D-047586653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00114-9DDD-4210-A22F-AA5FF8E8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7082F-88AB-4BE5-A0F0-1BF126BF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EEF70-3EDE-48C1-BA40-57D96FBF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3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CBDB-A378-4DAE-8CE5-7C944A14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BEA1C-6915-4370-B089-27EAFAB40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9072E-645D-435A-8FDB-84FA5D2E9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BE09F-1066-437E-AB6B-C5B4F504C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F2358-EA8A-4002-AC84-365AF2BA2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8768C-28DC-431D-BC6B-62A50D28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675B0-1BDE-46C5-8C08-567E4130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66E67-2A51-4240-9E30-BED24131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7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0797-6612-4179-9E81-D5176F9C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77B7C-EC5F-4C24-9AF4-B7CAB299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534F4-F4D8-4A73-A9E5-6836B15A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2631F-2571-47A8-A415-D7BD94FE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17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73668-E14E-4BBF-8097-62F353D7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E8073-BAED-45F1-9C73-2C5540DC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F60AA-59FC-4E25-8794-1F21F8E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0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7D29-F39A-4D7C-BC3D-D785D255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8F92C-1110-4A9E-9604-42F40E2A3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5B7B1-7BDB-4F37-B701-8EA3D4EB9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BB1D3-8EA8-47FF-81CA-C5CE28299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72464-2A4A-4D6E-BDA8-AAD48E26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7688A-03D1-4976-AB64-7C92B215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9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1607-286C-425F-AE9E-55E050B4D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4594C-03DD-4FDA-AF19-A494824A6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02B7F-D37A-4A05-BB20-30ED1C1AB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9F512-7CC0-4387-9457-D4EED3506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5636C-9896-457E-AC2D-302C128E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DA114-4D16-40AC-92FD-023F560E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0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4D63-DBD2-476A-86CD-F34F788F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D9F82-0295-4E64-AF43-A39C39FC6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F0888-0E7C-4042-AEC0-207B48FE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322E-AA44-4335-AC64-E502DE6F2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002B8-0441-46E2-A7D7-930BB06B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4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38872E-B5F2-4559-AEC4-0D7FE86AC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20CA4-D88A-490D-A3FF-BE4F0782B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960A6-DDA2-4DC7-876D-E9C05086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89A9C-45F2-4885-9515-3B1F8FB8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ED84C-89B3-4B95-8A96-DE6E0196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36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1DAC6-3E7E-40DA-A6B4-02536534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AB0DD-E94A-486F-85A3-8711E4DD4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F4388-7ACE-4BCA-97D4-E66BC1470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A6D64-A2C7-4515-8F0A-32EEF0895869}" type="datetimeFigureOut">
              <a:rPr lang="en-US" smtClean="0"/>
              <a:t>11/24/2021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DED83-79F1-40A1-9876-DDEF9C9F8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AB01-B640-43BF-AEEF-D91814EF5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87361-0BAF-4C89-8B3F-6DE3E4730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0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linear%20regressio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logistic%20regression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8BFA-4975-4758-8940-1544DB7CD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6645"/>
            <a:ext cx="9144000" cy="2387600"/>
          </a:xfrm>
        </p:spPr>
        <p:txBody>
          <a:bodyPr/>
          <a:lstStyle/>
          <a:p>
            <a:r>
              <a:rPr lang="en-US" dirty="0"/>
              <a:t>Introduction to 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132590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82C06B-90F8-4700-BD17-342687A362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9962"/>
                <a:ext cx="10515600" cy="6640641"/>
              </a:xfrm>
            </p:spPr>
            <p:txBody>
              <a:bodyPr/>
              <a:lstStyle/>
              <a:p>
                <a:pPr algn="just"/>
                <a:r>
                  <a:rPr lang="en-US" dirty="0"/>
                  <a:t>What is Regression Analysis?</a:t>
                </a:r>
              </a:p>
              <a:p>
                <a:pPr lvl="1" algn="just"/>
                <a:r>
                  <a:rPr lang="en-US" dirty="0"/>
                  <a:t>Consists of a set of machine learning methods that allow us to predict a continuous outcome variable (y) based on the value of one or multiple predictor variables (x)</a:t>
                </a:r>
              </a:p>
              <a:p>
                <a:pPr algn="just"/>
                <a:r>
                  <a:rPr lang="en-US" dirty="0"/>
                  <a:t>Linear Regression</a:t>
                </a:r>
              </a:p>
              <a:p>
                <a:pPr lvl="1" algn="just"/>
                <a:r>
                  <a:rPr lang="en-US" dirty="0"/>
                  <a:t>Can be used when the response variable y has linear relationship with one or more predictor variables x</a:t>
                </a:r>
              </a:p>
              <a:p>
                <a:pPr lvl="1" algn="just"/>
                <a:r>
                  <a:rPr lang="en-US" dirty="0"/>
                  <a:t>Simple Linear Regression – the response variable y depends on only single input variable x</a:t>
                </a:r>
              </a:p>
              <a:p>
                <a:pPr lvl="1" algn="just"/>
                <a:r>
                  <a:rPr lang="en-US" dirty="0"/>
                  <a:t>Multiple Linear Regression – the response variable y depends on more than one input variable x</a:t>
                </a:r>
              </a:p>
              <a:p>
                <a:pPr algn="just"/>
                <a:r>
                  <a:rPr lang="en-US" dirty="0"/>
                  <a:t>Simple Linear Regression – allows a random variable y called response variable to be modeled as a linear function of another random variable x called the predictor variable. It can be expressed as,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sz="2400" dirty="0"/>
                  <a:t>Where α and </a:t>
                </a:r>
                <a:r>
                  <a:rPr lang="el-GR" sz="2400" dirty="0"/>
                  <a:t>β</a:t>
                </a:r>
                <a:r>
                  <a:rPr lang="en-US" sz="2400" dirty="0"/>
                  <a:t> are called the regression coefficients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called residual error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82C06B-90F8-4700-BD17-342687A362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9962"/>
                <a:ext cx="10515600" cy="6640641"/>
              </a:xfrm>
              <a:blipFill>
                <a:blip r:embed="rId2"/>
                <a:stretch>
                  <a:fillRect l="-1043" t="-156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34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295A04-C184-45A1-ACB2-7090868FF3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882"/>
                <a:ext cx="10515600" cy="6460761"/>
              </a:xfrm>
            </p:spPr>
            <p:txBody>
              <a:bodyPr/>
              <a:lstStyle/>
              <a:p>
                <a:pPr lvl="1" algn="just"/>
                <a:r>
                  <a:rPr lang="en-US" dirty="0" smtClean="0"/>
                  <a:t>The values of coefficients can be estimated using method of least squares</a:t>
                </a:r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marL="457200" lvl="1" indent="0" algn="ctr">
                  <a:buNone/>
                </a:pPr>
                <a:r>
                  <a:rPr lang="en-US" dirty="0">
                    <a:hlinkClick r:id="rId2" action="ppaction://hlinkfile"/>
                  </a:rPr>
                  <a:t>Link to derivation and example</a:t>
                </a:r>
                <a:endParaRPr lang="en-US" dirty="0"/>
              </a:p>
              <a:p>
                <a:pPr algn="just"/>
                <a:r>
                  <a:rPr lang="en-US" dirty="0"/>
                  <a:t>Multiple Linear Regression – allows variable y to be modeled as linear function of multiple predictor variables (x1, x2,… </a:t>
                </a:r>
                <a:r>
                  <a:rPr lang="en-US" dirty="0" err="1"/>
                  <a:t>xp</a:t>
                </a:r>
                <a:r>
                  <a:rPr lang="en-US" dirty="0"/>
                  <a:t>). It can be expressed as,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295A04-C184-45A1-ACB2-7090868FF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882"/>
                <a:ext cx="10515600" cy="6460761"/>
              </a:xfrm>
              <a:blipFill>
                <a:blip r:embed="rId3"/>
                <a:stretch>
                  <a:fillRect l="-1043" t="-1322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Linear Regression Machine Learning | Examples | Gate Vidyalay">
            <a:extLst>
              <a:ext uri="{FF2B5EF4-FFF2-40B4-BE49-F238E27FC236}">
                <a16:creationId xmlns:a16="http://schemas.microsoft.com/office/drawing/2014/main" id="{1BFBECF8-A1B7-48E0-AC6C-891CF3362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64" y="627792"/>
            <a:ext cx="4168671" cy="234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1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4D7F67-1BD8-486A-997C-C11CA8D1B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1124"/>
                <a:ext cx="10515600" cy="666687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Polynomial Regression</a:t>
                </a:r>
              </a:p>
              <a:p>
                <a:pPr lvl="1" algn="just"/>
                <a:r>
                  <a:rPr lang="en-US" dirty="0"/>
                  <a:t>Used when the relationship between the </a:t>
                </a:r>
                <a:r>
                  <a:rPr lang="en-US" dirty="0" smtClean="0"/>
                  <a:t>response </a:t>
                </a:r>
                <a:r>
                  <a:rPr lang="en-US" dirty="0"/>
                  <a:t>and the </a:t>
                </a:r>
                <a:r>
                  <a:rPr lang="en-US" dirty="0" smtClean="0"/>
                  <a:t>predictor </a:t>
                </a:r>
                <a:r>
                  <a:rPr lang="en-US" dirty="0"/>
                  <a:t>variables is nonlinear</a:t>
                </a:r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endParaRPr lang="en-US" dirty="0"/>
              </a:p>
              <a:p>
                <a:pPr lvl="1" algn="just"/>
                <a:r>
                  <a:rPr lang="en-US" dirty="0"/>
                  <a:t>Under-fitting problem</a:t>
                </a:r>
              </a:p>
              <a:p>
                <a:pPr lvl="1" algn="just"/>
                <a:r>
                  <a:rPr lang="en-US" dirty="0"/>
                  <a:t>To solve under-fitting, the complexity of the model must be increased </a:t>
                </a:r>
              </a:p>
              <a:p>
                <a:pPr lvl="1" algn="just"/>
                <a:endParaRPr lang="en-US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marL="457200" lvl="1" indent="0" algn="just">
                  <a:buNone/>
                </a:pPr>
                <a:endParaRPr lang="en-US" dirty="0"/>
              </a:p>
              <a:p>
                <a:pPr lvl="1" algn="just"/>
                <a:r>
                  <a:rPr lang="en-US" dirty="0"/>
                  <a:t>This is called quadratic polynomial transformation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4D7F67-1BD8-486A-997C-C11CA8D1B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1124"/>
                <a:ext cx="10515600" cy="6666876"/>
              </a:xfrm>
              <a:blipFill>
                <a:blip r:embed="rId2"/>
                <a:stretch>
                  <a:fillRect l="-1043" t="-1463" r="-870" b="-8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698746A3-2627-4DF1-B48A-71180941B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504" y="1382842"/>
            <a:ext cx="3817495" cy="264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A0D5EAA-12B1-486B-8AA1-432B656F0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382842"/>
            <a:ext cx="3817496" cy="264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20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C8C2-6F13-4FA9-860E-5C1AA8A47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97"/>
            <a:ext cx="10515600" cy="6779303"/>
          </a:xfrm>
        </p:spPr>
        <p:txBody>
          <a:bodyPr/>
          <a:lstStyle/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Over-fitting problem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Bias and Variance tradeoff 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6AA88E4-4D50-45D9-977A-393D37C91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426" y="318542"/>
            <a:ext cx="4347148" cy="275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0ED546A-FE3E-4E7A-84CE-B50482E5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318542"/>
            <a:ext cx="4347148" cy="275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D08C6EA7-9474-4108-ADE1-2012DBD78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587" y="3586393"/>
            <a:ext cx="4347148" cy="275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081A9-23BD-4FAF-B699-AB621A873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72"/>
            <a:ext cx="10515600" cy="6520721"/>
          </a:xfrm>
        </p:spPr>
        <p:txBody>
          <a:bodyPr/>
          <a:lstStyle/>
          <a:p>
            <a:pPr lvl="1"/>
            <a:r>
              <a:rPr lang="en-US" dirty="0"/>
              <a:t>Ideally, a machine learning model </a:t>
            </a:r>
            <a:r>
              <a:rPr lang="en-US" b="1" dirty="0"/>
              <a:t>should have low variance and low bias</a:t>
            </a:r>
            <a:r>
              <a:rPr lang="en-US" dirty="0"/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6D0D6DB-191D-4CBF-90E0-47ABD8ED5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7" y="652390"/>
            <a:ext cx="9267825" cy="3379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2609E33-47E9-4CB0-A1B8-38A675090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49" y="3719903"/>
            <a:ext cx="468630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16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E88E-F5E6-4ACA-A5BF-C191D0202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19"/>
            <a:ext cx="10515600" cy="6460761"/>
          </a:xfrm>
        </p:spPr>
        <p:txBody>
          <a:bodyPr/>
          <a:lstStyle/>
          <a:p>
            <a:pPr algn="just"/>
            <a:r>
              <a:rPr lang="en-US" dirty="0"/>
              <a:t>Stepwise Regression</a:t>
            </a:r>
          </a:p>
          <a:p>
            <a:pPr lvl="1" algn="just"/>
            <a:r>
              <a:rPr lang="en-US" dirty="0"/>
              <a:t>Used when there is uncertainty about which of a set of predictor variables should be included in a regression model. </a:t>
            </a:r>
          </a:p>
          <a:p>
            <a:pPr lvl="1" algn="just"/>
            <a:r>
              <a:rPr lang="en-US" dirty="0"/>
              <a:t>There are three strategies of stepwise</a:t>
            </a:r>
          </a:p>
          <a:p>
            <a:pPr lvl="2" algn="just"/>
            <a:r>
              <a:rPr lang="en-US" dirty="0"/>
              <a:t>Forward selection</a:t>
            </a:r>
          </a:p>
          <a:p>
            <a:pPr lvl="2" algn="just"/>
            <a:r>
              <a:rPr lang="en-US" dirty="0"/>
              <a:t>Backward elimination</a:t>
            </a:r>
          </a:p>
          <a:p>
            <a:pPr lvl="2" algn="just"/>
            <a:r>
              <a:rPr lang="en-US" dirty="0"/>
              <a:t>Sequential replacement</a:t>
            </a:r>
          </a:p>
          <a:p>
            <a:pPr lvl="1" algn="just"/>
            <a:r>
              <a:rPr lang="en-US" dirty="0"/>
              <a:t>Is not stable and not considered as reliable technique</a:t>
            </a:r>
          </a:p>
          <a:p>
            <a:pPr lvl="1" algn="just"/>
            <a:r>
              <a:rPr lang="en-US" dirty="0"/>
              <a:t>Not included in </a:t>
            </a:r>
            <a:r>
              <a:rPr lang="en-US" dirty="0" err="1"/>
              <a:t>sklearn</a:t>
            </a:r>
            <a:endParaRPr lang="en-US" dirty="0"/>
          </a:p>
          <a:p>
            <a:pPr lvl="1" algn="just"/>
            <a:endParaRPr lang="en-US" dirty="0"/>
          </a:p>
          <a:p>
            <a:pPr algn="just"/>
            <a:r>
              <a:rPr lang="en-US" dirty="0"/>
              <a:t>Ridge Regression</a:t>
            </a:r>
          </a:p>
          <a:p>
            <a:pPr lvl="1" algn="just"/>
            <a:r>
              <a:rPr lang="en-US" dirty="0"/>
              <a:t>Number of predictors &gt; Number of samples OR </a:t>
            </a:r>
            <a:r>
              <a:rPr lang="en-US" dirty="0" err="1" smtClean="0"/>
              <a:t>multicollinearity</a:t>
            </a:r>
            <a:endParaRPr lang="en-US" dirty="0"/>
          </a:p>
          <a:p>
            <a:pPr lvl="2" algn="just"/>
            <a:r>
              <a:rPr lang="en-US" dirty="0"/>
              <a:t>Estimated coefficients can become very large which makes the model sensitive to the input &amp; possibly unstable.</a:t>
            </a:r>
          </a:p>
          <a:p>
            <a:pPr lvl="1" algn="just"/>
            <a:r>
              <a:rPr lang="en-US" dirty="0"/>
              <a:t>Loss function is modified to include penalty for model to have large coefficients</a:t>
            </a:r>
          </a:p>
        </p:txBody>
      </p:sp>
    </p:spTree>
    <p:extLst>
      <p:ext uri="{BB962C8B-B14F-4D97-AF65-F5344CB8AC3E}">
        <p14:creationId xmlns:p14="http://schemas.microsoft.com/office/powerpoint/2010/main" val="172646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F52A1-CA71-44F0-B8D4-2EE93C9C7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2"/>
            <a:ext cx="10515600" cy="6490741"/>
          </a:xfrm>
        </p:spPr>
        <p:txBody>
          <a:bodyPr/>
          <a:lstStyle/>
          <a:p>
            <a:pPr lvl="1" algn="just"/>
            <a:r>
              <a:rPr lang="en-US" dirty="0"/>
              <a:t>Referred to as penalized linear regression</a:t>
            </a:r>
          </a:p>
          <a:p>
            <a:pPr lvl="1" algn="just"/>
            <a:r>
              <a:rPr lang="en-US" dirty="0"/>
              <a:t>Model is penalized based on the sum of the squared coefficients known as L2 penalty</a:t>
            </a:r>
          </a:p>
          <a:p>
            <a:pPr lvl="1" algn="just"/>
            <a:r>
              <a:rPr lang="en-US" dirty="0"/>
              <a:t>L2 penalty minimizes (shrinks) all coefficients without allowing their value to become zero</a:t>
            </a:r>
          </a:p>
          <a:p>
            <a:pPr lvl="1" algn="just"/>
            <a:r>
              <a:rPr lang="en-US" dirty="0"/>
              <a:t>A hyperparameter, λ (</a:t>
            </a:r>
            <a:r>
              <a:rPr lang="en-US" dirty="0" err="1"/>
              <a:t>Lamda</a:t>
            </a:r>
            <a:r>
              <a:rPr lang="en-US" dirty="0"/>
              <a:t>) with value in the range 0 to 1, is used to control the weight of L2 penalty</a:t>
            </a:r>
          </a:p>
          <a:p>
            <a:pPr lvl="1" algn="just"/>
            <a:r>
              <a:rPr lang="en-US" dirty="0"/>
              <a:t>So, Ridge loss is given as,</a:t>
            </a:r>
          </a:p>
          <a:p>
            <a:pPr marL="457200" lvl="1" indent="0" algn="just">
              <a:buNone/>
            </a:pPr>
            <a:r>
              <a:rPr lang="en-US" dirty="0"/>
              <a:t>				</a:t>
            </a:r>
            <a:r>
              <a:rPr lang="en-US" dirty="0" err="1"/>
              <a:t>ridge_loss</a:t>
            </a:r>
            <a:r>
              <a:rPr lang="en-US" dirty="0"/>
              <a:t> = loss + λ * L2_penalty</a:t>
            </a:r>
          </a:p>
          <a:p>
            <a:pPr marL="457200" lvl="1" indent="0" algn="just">
              <a:buNone/>
            </a:pPr>
            <a:endParaRPr lang="en-US" dirty="0"/>
          </a:p>
          <a:p>
            <a:pPr algn="just"/>
            <a:r>
              <a:rPr lang="en-US" dirty="0"/>
              <a:t>LASSO Regression</a:t>
            </a:r>
          </a:p>
          <a:p>
            <a:pPr lvl="1" algn="just"/>
            <a:r>
              <a:rPr lang="en-US" dirty="0"/>
              <a:t>Another penalized or regularized linear regression</a:t>
            </a:r>
          </a:p>
          <a:p>
            <a:pPr lvl="1" algn="just"/>
            <a:r>
              <a:rPr lang="en-US" dirty="0"/>
              <a:t>Model is penalized based on the sum of absolute coefficients known as L1 penalty</a:t>
            </a:r>
          </a:p>
          <a:p>
            <a:pPr lvl="1" algn="just"/>
            <a:r>
              <a:rPr lang="en-US" dirty="0"/>
              <a:t>Allows coefficients to reduce to zero, effectively removing the corresponding predictors that contribute less to the model (automatic feature selection)</a:t>
            </a:r>
          </a:p>
        </p:txBody>
      </p:sp>
    </p:spTree>
    <p:extLst>
      <p:ext uri="{BB962C8B-B14F-4D97-AF65-F5344CB8AC3E}">
        <p14:creationId xmlns:p14="http://schemas.microsoft.com/office/powerpoint/2010/main" val="240608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02C442-299C-42BE-ACF0-729B0B242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4852"/>
                <a:ext cx="10515600" cy="6310859"/>
              </a:xfrm>
            </p:spPr>
            <p:txBody>
              <a:bodyPr/>
              <a:lstStyle/>
              <a:p>
                <a:pPr algn="just"/>
                <a:r>
                  <a:rPr lang="en-US" dirty="0"/>
                  <a:t>Elastic net Regression</a:t>
                </a:r>
              </a:p>
              <a:p>
                <a:pPr lvl="1" algn="just"/>
                <a:r>
                  <a:rPr lang="en-US" dirty="0"/>
                  <a:t>It combines L1 &amp; L2 penalty losses</a:t>
                </a:r>
              </a:p>
              <a:p>
                <a:pPr lvl="1" algn="just"/>
                <a:r>
                  <a:rPr lang="en-US" dirty="0"/>
                  <a:t>A parameter α is used to determine contribution of L1 and L2 losses</a:t>
                </a:r>
              </a:p>
              <a:p>
                <a:pPr marL="457200" lvl="1" indent="0" algn="ctr">
                  <a:buNone/>
                </a:pPr>
                <a:r>
                  <a:rPr lang="en-US" dirty="0" err="1"/>
                  <a:t>elastic_net_penalty</a:t>
                </a:r>
                <a:r>
                  <a:rPr lang="en-US" dirty="0"/>
                  <a:t> = α * L1_penalty + (1 – α) * L2_penalty</a:t>
                </a:r>
              </a:p>
              <a:p>
                <a:pPr lvl="1" algn="just"/>
                <a:r>
                  <a:rPr lang="en-US" dirty="0"/>
                  <a:t>The parameter λ is used to control the weight of </a:t>
                </a:r>
                <a:r>
                  <a:rPr lang="en-US" dirty="0" err="1"/>
                  <a:t>elastic_net_penalty</a:t>
                </a:r>
                <a:endParaRPr lang="en-US" dirty="0"/>
              </a:p>
              <a:p>
                <a:pPr marL="457200" lvl="1" indent="0" algn="ctr">
                  <a:buNone/>
                </a:pPr>
                <a:r>
                  <a:rPr lang="en-US" dirty="0" err="1"/>
                  <a:t>elastic_net_loss</a:t>
                </a:r>
                <a:r>
                  <a:rPr lang="en-US" dirty="0"/>
                  <a:t> = loss + λ * </a:t>
                </a:r>
                <a:r>
                  <a:rPr lang="en-US" dirty="0" err="1"/>
                  <a:t>elastic_net_penalty</a:t>
                </a:r>
                <a:endParaRPr lang="en-US" dirty="0"/>
              </a:p>
              <a:p>
                <a:pPr lvl="1" algn="just"/>
                <a:r>
                  <a:rPr lang="en-US" dirty="0"/>
                  <a:t>Allows balance between both the types of penalties.</a:t>
                </a:r>
              </a:p>
              <a:p>
                <a:pPr lvl="1" algn="just"/>
                <a:endParaRPr lang="en-US" dirty="0"/>
              </a:p>
              <a:p>
                <a:pPr algn="just"/>
                <a:r>
                  <a:rPr lang="en-US" dirty="0"/>
                  <a:t>Logistic Regression</a:t>
                </a:r>
              </a:p>
              <a:p>
                <a:pPr lvl="1" algn="just"/>
                <a:r>
                  <a:rPr lang="en-US" dirty="0"/>
                  <a:t>Used for binary classification problem</a:t>
                </a:r>
              </a:p>
              <a:p>
                <a:pPr lvl="1" algn="just"/>
                <a:r>
                  <a:rPr lang="en-US" dirty="0"/>
                  <a:t>Uses logistic/sigmoid function</a:t>
                </a:r>
              </a:p>
              <a:p>
                <a:pPr lvl="1" algn="just"/>
                <a:r>
                  <a:rPr lang="en-US" dirty="0"/>
                  <a:t>For input value x, it is given as,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02C442-299C-42BE-ACF0-729B0B242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4852"/>
                <a:ext cx="10515600" cy="6310859"/>
              </a:xfrm>
              <a:blipFill>
                <a:blip r:embed="rId2"/>
                <a:stretch>
                  <a:fillRect l="-1043" t="-1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Logistic Function">
            <a:extLst>
              <a:ext uri="{FF2B5EF4-FFF2-40B4-BE49-F238E27FC236}">
                <a16:creationId xmlns:a16="http://schemas.microsoft.com/office/drawing/2014/main" id="{9F2D4E25-D45A-4CFE-A22A-2D74B482C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298" y="3821710"/>
            <a:ext cx="4188501" cy="258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35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B4DD5-ED2F-47A8-955D-5F6FC37207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4852"/>
                <a:ext cx="10515600" cy="6430781"/>
              </a:xfrm>
            </p:spPr>
            <p:txBody>
              <a:bodyPr/>
              <a:lstStyle/>
              <a:p>
                <a:pPr lvl="1" algn="just"/>
                <a:r>
                  <a:rPr lang="en-US" dirty="0"/>
                  <a:t>Logistic regression models the probability of the default class</a:t>
                </a:r>
              </a:p>
              <a:p>
                <a:pPr lvl="1" algn="just"/>
                <a:r>
                  <a:rPr lang="en-US" dirty="0"/>
                  <a:t>It predicts the probability that the input X belongs to a default class (Y=1)</a:t>
                </a:r>
              </a:p>
              <a:p>
                <a:pPr marL="457200" lvl="1" indent="0" algn="ctr">
                  <a:buNone/>
                </a:pPr>
                <a:r>
                  <a:rPr lang="en-US" dirty="0"/>
                  <a:t>P(Y=1/X)</a:t>
                </a:r>
              </a:p>
              <a:p>
                <a:pPr lvl="1" algn="just"/>
                <a:r>
                  <a:rPr lang="en-US" dirty="0"/>
                  <a:t>For example, P(Gender=male/height)</a:t>
                </a:r>
              </a:p>
              <a:p>
                <a:pPr lvl="1" algn="just"/>
                <a:r>
                  <a:rPr lang="en-US" dirty="0"/>
                  <a:t>For linear regression, Y = α + </a:t>
                </a:r>
                <a:r>
                  <a:rPr lang="el-GR" dirty="0"/>
                  <a:t>β</a:t>
                </a:r>
                <a:r>
                  <a:rPr lang="en-US" dirty="0"/>
                  <a:t>X, but for logistic regression, as it predicts probability that Y=1 for given X using sigmoid function, the expression becomes,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 algn="ctr">
                  <a:buNone/>
                </a:pPr>
                <a:endParaRPr lang="en-US" dirty="0"/>
              </a:p>
              <a:p>
                <a:pPr lvl="1" algn="just"/>
                <a:r>
                  <a:rPr lang="en-US" dirty="0"/>
                  <a:t>This expression can be </a:t>
                </a:r>
                <a:r>
                  <a:rPr lang="en-US" dirty="0">
                    <a:hlinkClick r:id="rId2" action="ppaction://hlinkfile"/>
                  </a:rPr>
                  <a:t>converted</a:t>
                </a:r>
                <a:r>
                  <a:rPr lang="en-US" dirty="0"/>
                  <a:t> into,</a:t>
                </a:r>
              </a:p>
              <a:p>
                <a:pPr lvl="1" algn="just"/>
                <a:endParaRPr lang="en-US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3313113" lvl="1" indent="0" algn="ct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is called odds and so the LHS of above expression is called log-odds or logit</a:t>
                </a:r>
              </a:p>
              <a:p>
                <a:pPr lvl="1"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B4DD5-ED2F-47A8-955D-5F6FC37207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4852"/>
                <a:ext cx="10515600" cy="6430781"/>
              </a:xfrm>
              <a:blipFill>
                <a:blip r:embed="rId3"/>
                <a:stretch>
                  <a:fillRect t="-1327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04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533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Introduction to Regression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Regression Analysis</dc:title>
  <dc:creator>Vipul Dalal</dc:creator>
  <cp:lastModifiedBy>Vipul Dalal</cp:lastModifiedBy>
  <cp:revision>59</cp:revision>
  <dcterms:created xsi:type="dcterms:W3CDTF">2021-06-13T06:34:09Z</dcterms:created>
  <dcterms:modified xsi:type="dcterms:W3CDTF">2021-11-24T05:43:34Z</dcterms:modified>
</cp:coreProperties>
</file>