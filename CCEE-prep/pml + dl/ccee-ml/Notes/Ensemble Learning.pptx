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B8FB-24A7-478B-B322-98EE64689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E5A21-65B3-43D5-8D75-CBBFD6021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90B96-79B2-4377-9809-B173AA9E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0618C-C791-4AAA-A8D3-11C6BC3D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22640-4547-4EC0-9E42-EF8EB29A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5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BF77-2C5F-4F5D-9E08-D95FD290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AE6D8-BBA1-4B4A-B346-9FF500F54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0A1AC-3250-4DAE-91B3-5DFEA2BF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A3803-53BE-46BC-85E8-FF7FE50D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A8BAE-2E49-47B9-9BA1-3A682A7C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3B56-AFA5-458F-8C5C-253DC95B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0CAEC-D906-4950-8C64-8881C903A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53C1C-C3D1-4180-AC90-9A71FBA9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2C24B-0765-4235-8F0E-4D05E769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8EFC-8E83-4776-9D9B-C14478DA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4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243C7-E54E-48AF-883E-D58CC84A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7AD6-764E-40CB-9E66-06C2EA487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54B6B-9D32-4CF5-9008-F2F58D4E3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DE8D7-431C-41A0-AE7F-34C68D40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77F73-7900-41D6-82F8-966C1C3B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25BFB-2147-4E3E-8B83-389149AF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E317-8252-470D-9575-1CB24BBE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436B2-1E9A-4996-B2F2-563FAB4D9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3099E-894B-4726-9F4D-F5894571C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5117C-88B4-41B4-B77F-3CC73B5F4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77CD5-7D0B-4370-8BD6-6B5E46DC7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060D6-CC94-461B-85B3-B778A84E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BE3A2-A69C-4872-BD60-6160A6BC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A733D0-2FC0-47D7-A1DD-6F210D96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0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9B86-EB7C-4086-BA43-D9831B8F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1CB5C-EB3B-456D-ACA6-111E8540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509F8-BEF3-4E62-84B2-DC2B829B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9CFAF-F006-44F1-A3F0-785DD636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47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AC167-9D1A-49E7-A4DB-561EF5B3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58D4A-5FBE-40DA-B4C2-2216FF1B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53232-EE92-4852-B86C-396C39D6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4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D3D8-DD05-4707-93FC-34652DAB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12E2-BBC6-4149-8017-3360D5DD2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D176E-44C3-46EC-A613-38EDE1B2C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88B51-40A0-42F5-9123-CD26C176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D5AAA-058D-49B7-9009-E0762309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5E7C4-40AB-431A-A48B-795F35CE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6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36CE-2AC2-4060-8531-196617C2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F817B-C802-4E9C-AC69-4C04D69A6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CB0C3-002C-483B-9253-49CE21CDA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E7A4D-3983-400D-82AF-ADF002A8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17C52-5C5C-422A-9315-49EA106F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9A536-3929-4B0C-844B-88E59FE2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0C75-8FF8-4143-94A7-0C7287A6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91EB6-FDE3-48A8-A800-44B9C547D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098D-1A0C-48EB-B3B9-44B4D288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FFAD-EE30-4999-821A-A3F06894F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B1C7-E05E-44EB-8359-9573A167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99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6F330-1BB7-461F-8FC0-9359173EF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120B1-DC99-484C-B37A-5A403CF5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C40DD-17E5-4EB4-A50C-AD145A5A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575F9-4EFE-4287-8837-C67A8E42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D7394-3AF9-4761-BD8E-5C72F7FB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6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C822F-3691-4112-BE35-B0268B62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67310-765B-424B-BBC8-C9D268E0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51710-995A-40B6-88FC-D90E01A41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9E7AB-6956-43FA-9C8A-07D57233B7DD}" type="datetimeFigureOut">
              <a:rPr lang="en-US" smtClean="0"/>
              <a:t>7/14/2021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4D262-E2EA-4E3C-A348-AEF32149B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7046-905E-4723-A98C-F8D0C4BB1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16344-B2E5-444A-862E-4935F566E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3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73C4-673E-4F89-A513-3418F9A6E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691"/>
            <a:ext cx="9144000" cy="2387600"/>
          </a:xfrm>
        </p:spPr>
        <p:txBody>
          <a:bodyPr/>
          <a:lstStyle/>
          <a:p>
            <a:r>
              <a:rPr lang="en-US" b="1" dirty="0"/>
              <a:t>Ensemble Learning</a:t>
            </a:r>
          </a:p>
        </p:txBody>
      </p:sp>
    </p:spTree>
    <p:extLst>
      <p:ext uri="{BB962C8B-B14F-4D97-AF65-F5344CB8AC3E}">
        <p14:creationId xmlns:p14="http://schemas.microsoft.com/office/powerpoint/2010/main" val="385142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C2C4A-8E68-4DE8-B2B1-8F5DCE4DB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557"/>
            <a:ext cx="10515600" cy="6203852"/>
          </a:xfrm>
        </p:spPr>
        <p:txBody>
          <a:bodyPr/>
          <a:lstStyle/>
          <a:p>
            <a:r>
              <a:rPr lang="en-US" dirty="0"/>
              <a:t>What is Ensemble Learning?</a:t>
            </a:r>
          </a:p>
          <a:p>
            <a:pPr lvl="1" algn="just"/>
            <a:r>
              <a:rPr lang="en-US" dirty="0"/>
              <a:t>Use of multiple learning algorithms to obtain better predictive performance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Ensemble Techniques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Stacking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Multiple levels of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Level-0 models are called base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Higher level models are called meta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Diverse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K-fold cross validation is used for fitting base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Predictions for out-of-fold samples of base models are used as input to the meta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endParaRPr lang="en-US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Blending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Similar to stacking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A part of training set is reserved as validation set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Predictions for validation set of base models are used as input to the meta models</a:t>
            </a:r>
          </a:p>
          <a:p>
            <a:pPr marL="971550" lvl="1" indent="-514350" algn="just">
              <a:buFont typeface="+mj-lt"/>
              <a:buAutoNum type="arabicPeriod"/>
            </a:pPr>
            <a:endParaRPr lang="en-US" dirty="0"/>
          </a:p>
        </p:txBody>
      </p:sp>
      <p:pic>
        <p:nvPicPr>
          <p:cNvPr id="3074" name="Picture 2" descr="Ensemble Methods (Part 3): Meta-learning, Stacking and Mixture of Experts |  CommonLounge">
            <a:extLst>
              <a:ext uri="{FF2B5EF4-FFF2-40B4-BE49-F238E27FC236}">
                <a16:creationId xmlns:a16="http://schemas.microsoft.com/office/drawing/2014/main" id="{C3347FD7-46DE-4551-8628-7F6510905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6" y="1252025"/>
            <a:ext cx="4634718" cy="291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31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F0D23-119E-4AA5-8A62-398547357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4234"/>
            <a:ext cx="6941234" cy="6077243"/>
          </a:xfrm>
        </p:spPr>
        <p:txBody>
          <a:bodyPr/>
          <a:lstStyle/>
          <a:p>
            <a:pPr marL="971550" lvl="1" indent="-514350" algn="just">
              <a:buFont typeface="+mj-lt"/>
              <a:buAutoNum type="arabicPeriod" startAt="3"/>
            </a:pPr>
            <a:r>
              <a:rPr lang="en-US" dirty="0"/>
              <a:t>Bagging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Parallel ensemble method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b="1" dirty="0"/>
              <a:t>B</a:t>
            </a:r>
            <a:r>
              <a:rPr lang="en-US" dirty="0"/>
              <a:t>ootstrap </a:t>
            </a:r>
            <a:r>
              <a:rPr lang="en-US" b="1" dirty="0"/>
              <a:t>Agg</a:t>
            </a:r>
            <a:r>
              <a:rPr lang="en-US" dirty="0"/>
              <a:t>regat</a:t>
            </a:r>
            <a:r>
              <a:rPr lang="en-US" b="1" dirty="0"/>
              <a:t>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Mainly used to reduce variance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Bootstrapping is used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Multiple models of the same type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Predictions are combined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Equal weightage to all the models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endParaRPr lang="en-US" dirty="0"/>
          </a:p>
          <a:p>
            <a:pPr marL="971550" lvl="1" indent="-514350" algn="just">
              <a:buFont typeface="+mj-lt"/>
              <a:buAutoNum type="arabicPeriod" startAt="3"/>
            </a:pPr>
            <a:r>
              <a:rPr lang="en-US" dirty="0"/>
              <a:t>Boosting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Sequential ensemble method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Mainly used to reduce bias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Each subsequent model attempts to correct errors of the previous model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Misclassified samples given higher weights 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dirty="0"/>
              <a:t>Final prediction is weighted predictions from all the models (weak models)</a:t>
            </a:r>
          </a:p>
          <a:p>
            <a:endParaRPr lang="en-US" dirty="0"/>
          </a:p>
        </p:txBody>
      </p:sp>
      <p:pic>
        <p:nvPicPr>
          <p:cNvPr id="1028" name="Picture 4" descr="Ensemble Learning: Bagging &amp; Boosting | by Fernando López | Towards Data  Science">
            <a:extLst>
              <a:ext uri="{FF2B5EF4-FFF2-40B4-BE49-F238E27FC236}">
                <a16:creationId xmlns:a16="http://schemas.microsoft.com/office/drawing/2014/main" id="{E48FB024-FF10-454E-A771-4AA9BD83F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77"/>
          <a:stretch/>
        </p:blipFill>
        <p:spPr bwMode="auto">
          <a:xfrm>
            <a:off x="8436939" y="3784209"/>
            <a:ext cx="2461847" cy="2982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gging (Bootstrap Aggregation) - Overview, How It Works, Advantages">
            <a:extLst>
              <a:ext uri="{FF2B5EF4-FFF2-40B4-BE49-F238E27FC236}">
                <a16:creationId xmlns:a16="http://schemas.microsoft.com/office/drawing/2014/main" id="{5ECFD13D-D6BA-4A39-898A-F9E8CB7C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418" y="1002470"/>
            <a:ext cx="4760888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6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CD351-5D0B-4B7A-8981-889C1CAD0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7962"/>
            <a:ext cx="7292926" cy="6161649"/>
          </a:xfrm>
        </p:spPr>
        <p:txBody>
          <a:bodyPr/>
          <a:lstStyle/>
          <a:p>
            <a:pPr algn="just"/>
            <a:r>
              <a:rPr lang="en-US" dirty="0"/>
              <a:t>Random Forest (RF)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An ensemble ML algorithm based on Bagging technique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The models used are Decision Trees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Can be used for classification or regression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Each DT is fitted on a bootstrapped training set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Reduces overfitting and variance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For regression: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Final prediction is average of predictions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For classification: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Final prediction is the majority vote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Subset feature selection for uncorrelated trees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Hyperparameters: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Number of features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Depth of the trees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/>
              <a:t>Number of trees</a:t>
            </a:r>
          </a:p>
          <a:p>
            <a:pPr lvl="1" algn="just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2052" name="Picture 4" descr="Understanding Random Forest. How the Algorithm Works and Why it Is… | by  Tony Yiu | Towards Data Science">
            <a:extLst>
              <a:ext uri="{FF2B5EF4-FFF2-40B4-BE49-F238E27FC236}">
                <a16:creationId xmlns:a16="http://schemas.microsoft.com/office/drawing/2014/main" id="{1904D28A-9B8C-4D02-B607-A0F2F4314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278" y="436098"/>
            <a:ext cx="3677382" cy="414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47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FDC2-3F12-4122-BA01-E4D12C6A9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151"/>
            <a:ext cx="10515600" cy="6400800"/>
          </a:xfrm>
        </p:spPr>
        <p:txBody>
          <a:bodyPr/>
          <a:lstStyle/>
          <a:p>
            <a:pPr algn="just"/>
            <a:r>
              <a:rPr lang="en-US" dirty="0"/>
              <a:t>AdaBoost</a:t>
            </a:r>
          </a:p>
          <a:p>
            <a:pPr lvl="1" algn="just"/>
            <a:r>
              <a:rPr lang="en-US" dirty="0"/>
              <a:t>AdaBoost is used to boost the performance of decision trees on binary classification problems</a:t>
            </a:r>
          </a:p>
          <a:p>
            <a:pPr lvl="1" algn="just"/>
            <a:r>
              <a:rPr lang="en-US" dirty="0"/>
              <a:t>Uses decision stumps</a:t>
            </a:r>
          </a:p>
          <a:p>
            <a:pPr lvl="1" algn="just"/>
            <a:r>
              <a:rPr lang="en-US" dirty="0"/>
              <a:t>Each training instance is assigned a weight which is initialized as</a:t>
            </a:r>
          </a:p>
          <a:p>
            <a:pPr marL="2803525" lvl="1" indent="0">
              <a:buNone/>
            </a:pPr>
            <a:r>
              <a:rPr lang="en-US" dirty="0"/>
              <a:t>W</a:t>
            </a:r>
            <a:r>
              <a:rPr lang="en-US" baseline="-25000" dirty="0"/>
              <a:t>i</a:t>
            </a:r>
            <a:r>
              <a:rPr lang="en-US" dirty="0"/>
              <a:t> = 1/N</a:t>
            </a:r>
          </a:p>
          <a:p>
            <a:pPr lvl="1" algn="just"/>
            <a:r>
              <a:rPr lang="en-US" dirty="0"/>
              <a:t>When a decision stump is added, its misclassification error is calculated as</a:t>
            </a:r>
          </a:p>
          <a:p>
            <a:pPr marL="2743200" lvl="1" indent="0" algn="just">
              <a:buNone/>
            </a:pPr>
            <a:r>
              <a:rPr lang="en-US" dirty="0"/>
              <a:t>error = sum(W</a:t>
            </a:r>
            <a:r>
              <a:rPr lang="en-US" baseline="-25000" dirty="0"/>
              <a:t>i</a:t>
            </a:r>
            <a:r>
              <a:rPr lang="en-US" dirty="0"/>
              <a:t>*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)/sum(W</a:t>
            </a:r>
            <a:r>
              <a:rPr lang="en-US" baseline="-25000" dirty="0"/>
              <a:t>i</a:t>
            </a:r>
            <a:r>
              <a:rPr lang="en-US" dirty="0"/>
              <a:t>)</a:t>
            </a:r>
          </a:p>
          <a:p>
            <a:pPr marL="2743200" lvl="1" indent="0" algn="just">
              <a:buNone/>
            </a:pPr>
            <a:r>
              <a:rPr lang="en-US" dirty="0"/>
              <a:t>Where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 is prediction error which is either 1 or 0</a:t>
            </a:r>
          </a:p>
          <a:p>
            <a:pPr lvl="1" algn="just"/>
            <a:r>
              <a:rPr lang="en-US" dirty="0"/>
              <a:t>A stage value is used to weight the predictions from a decision stump, it is given as</a:t>
            </a:r>
          </a:p>
          <a:p>
            <a:pPr marL="2743200" lvl="1" indent="0" algn="just">
              <a:buNone/>
            </a:pPr>
            <a:r>
              <a:rPr lang="en-US" dirty="0"/>
              <a:t>stage = ln((1-error)/error)</a:t>
            </a:r>
          </a:p>
          <a:p>
            <a:pPr lvl="1" algn="just"/>
            <a:r>
              <a:rPr lang="en-US" dirty="0"/>
              <a:t>Weight of each training instance is updated after adding a decision stump as</a:t>
            </a:r>
          </a:p>
          <a:p>
            <a:pPr marL="2743200" lvl="1" indent="0" algn="just">
              <a:buNone/>
            </a:pPr>
            <a:r>
              <a:rPr lang="en-US" dirty="0"/>
              <a:t>W</a:t>
            </a:r>
            <a:r>
              <a:rPr lang="en-US" baseline="-25000" dirty="0"/>
              <a:t>i</a:t>
            </a:r>
            <a:r>
              <a:rPr lang="en-US" dirty="0"/>
              <a:t> = W</a:t>
            </a:r>
            <a:r>
              <a:rPr lang="en-US" baseline="-25000" dirty="0"/>
              <a:t>i</a:t>
            </a:r>
            <a:r>
              <a:rPr lang="en-US" dirty="0"/>
              <a:t> * exp (stage *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</a:p>
          <a:p>
            <a:pPr lvl="1" algn="just"/>
            <a:r>
              <a:rPr lang="en-US" dirty="0"/>
              <a:t>Each time a training instance is misclassified by a decision stump, its weight is increased</a:t>
            </a:r>
          </a:p>
        </p:txBody>
      </p:sp>
    </p:spTree>
    <p:extLst>
      <p:ext uri="{BB962C8B-B14F-4D97-AF65-F5344CB8AC3E}">
        <p14:creationId xmlns:p14="http://schemas.microsoft.com/office/powerpoint/2010/main" val="112430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BE15-A0E9-4546-A752-BC8B5A862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822"/>
            <a:ext cx="10515600" cy="6370821"/>
          </a:xfrm>
        </p:spPr>
        <p:txBody>
          <a:bodyPr/>
          <a:lstStyle/>
          <a:p>
            <a:pPr lvl="1" algn="just"/>
            <a:r>
              <a:rPr lang="en-US" dirty="0"/>
              <a:t>Hyperparameters</a:t>
            </a:r>
          </a:p>
          <a:p>
            <a:pPr lvl="2" algn="just"/>
            <a:r>
              <a:rPr lang="en-US" dirty="0"/>
              <a:t>Number of estimators </a:t>
            </a:r>
          </a:p>
          <a:p>
            <a:pPr lvl="2" algn="just"/>
            <a:r>
              <a:rPr lang="en-US" dirty="0"/>
              <a:t>Learning rate</a:t>
            </a:r>
          </a:p>
          <a:p>
            <a:pPr lvl="3" algn="just"/>
            <a:r>
              <a:rPr lang="en-US" dirty="0"/>
              <a:t>Used to control the weight of contribution of each decision stump</a:t>
            </a:r>
          </a:p>
          <a:p>
            <a:pPr lvl="3" algn="just"/>
            <a:r>
              <a:rPr lang="en-US" dirty="0"/>
              <a:t>Default value is 1</a:t>
            </a:r>
          </a:p>
          <a:p>
            <a:pPr lvl="3" algn="just"/>
            <a:r>
              <a:rPr lang="en-US" dirty="0"/>
              <a:t>stage = </a:t>
            </a:r>
            <a:r>
              <a:rPr lang="en-US" dirty="0" err="1"/>
              <a:t>learning_rate</a:t>
            </a:r>
            <a:r>
              <a:rPr lang="en-US" dirty="0"/>
              <a:t> * ln((1-error)/error)</a:t>
            </a:r>
          </a:p>
          <a:p>
            <a:pPr lvl="2" algn="just"/>
            <a:r>
              <a:rPr lang="en-US" dirty="0"/>
              <a:t>Depth of decision tree</a:t>
            </a:r>
          </a:p>
          <a:p>
            <a:pPr lvl="2" algn="just"/>
            <a:r>
              <a:rPr lang="en-US" dirty="0"/>
              <a:t>Base learners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Gradient Boosting</a:t>
            </a:r>
          </a:p>
          <a:p>
            <a:pPr lvl="1" algn="just"/>
            <a:r>
              <a:rPr lang="en-US" dirty="0"/>
              <a:t>Generalization of AdaBoost in terms of loss function</a:t>
            </a:r>
          </a:p>
          <a:p>
            <a:pPr lvl="1" algn="just"/>
            <a:r>
              <a:rPr lang="en-US" dirty="0"/>
              <a:t>Uses a well-defined loss function and its Gradient to minimize it</a:t>
            </a:r>
          </a:p>
          <a:p>
            <a:pPr lvl="1" algn="just"/>
            <a:r>
              <a:rPr lang="en-US" dirty="0"/>
              <a:t>Initial weak learners are small decision trees (may be decision stumps)</a:t>
            </a:r>
          </a:p>
          <a:p>
            <a:pPr lvl="1" algn="just"/>
            <a:r>
              <a:rPr lang="en-US" dirty="0"/>
              <a:t>Each new decision tree, with multiple levels, is added to reduce the loss function using its Gradient</a:t>
            </a:r>
          </a:p>
        </p:txBody>
      </p:sp>
    </p:spTree>
    <p:extLst>
      <p:ext uri="{BB962C8B-B14F-4D97-AF65-F5344CB8AC3E}">
        <p14:creationId xmlns:p14="http://schemas.microsoft.com/office/powerpoint/2010/main" val="317316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4D652-FC6B-442C-8AB0-FA994DE9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944"/>
            <a:ext cx="10515600" cy="6768056"/>
          </a:xfrm>
        </p:spPr>
        <p:txBody>
          <a:bodyPr/>
          <a:lstStyle/>
          <a:p>
            <a:pPr lvl="1"/>
            <a:r>
              <a:rPr lang="en-US" dirty="0"/>
              <a:t>Hyperparameters</a:t>
            </a:r>
          </a:p>
          <a:p>
            <a:pPr lvl="2"/>
            <a:r>
              <a:rPr lang="en-US" dirty="0"/>
              <a:t>Number of trees</a:t>
            </a:r>
          </a:p>
          <a:p>
            <a:pPr lvl="2"/>
            <a:r>
              <a:rPr lang="en-US" dirty="0"/>
              <a:t>Number of samples to which each tree is fit</a:t>
            </a:r>
          </a:p>
          <a:p>
            <a:pPr lvl="2"/>
            <a:r>
              <a:rPr lang="en-US" dirty="0"/>
              <a:t>Number of features used to fit each tree</a:t>
            </a:r>
          </a:p>
          <a:p>
            <a:pPr lvl="2"/>
            <a:r>
              <a:rPr lang="en-US" dirty="0"/>
              <a:t>Learning rate</a:t>
            </a:r>
          </a:p>
          <a:p>
            <a:pPr lvl="2"/>
            <a:r>
              <a:rPr lang="en-US" dirty="0"/>
              <a:t>Depth of each tree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dirty="0"/>
              <a:t>stands for </a:t>
            </a:r>
            <a:r>
              <a:rPr lang="en-US" dirty="0" err="1"/>
              <a:t>e</a:t>
            </a:r>
            <a:r>
              <a:rPr lang="en-US" b="1" dirty="0" err="1"/>
              <a:t>X</a:t>
            </a:r>
            <a:r>
              <a:rPr lang="en-US" dirty="0" err="1"/>
              <a:t>treme</a:t>
            </a:r>
            <a:r>
              <a:rPr lang="en-US" dirty="0"/>
              <a:t> </a:t>
            </a:r>
            <a:r>
              <a:rPr lang="en-US" b="1" dirty="0"/>
              <a:t>G</a:t>
            </a:r>
            <a:r>
              <a:rPr lang="en-US" dirty="0"/>
              <a:t>radient </a:t>
            </a:r>
            <a:r>
              <a:rPr lang="en-US" b="1" dirty="0"/>
              <a:t>Boosting</a:t>
            </a:r>
          </a:p>
          <a:p>
            <a:pPr lvl="1"/>
            <a:r>
              <a:rPr lang="en-US" dirty="0"/>
              <a:t>An optimized version of Gradient Boosting Machine</a:t>
            </a:r>
          </a:p>
          <a:p>
            <a:pPr lvl="2"/>
            <a:r>
              <a:rPr lang="en-US" dirty="0"/>
              <a:t>L1 and L2 regularization to prevent overfitting</a:t>
            </a:r>
          </a:p>
          <a:p>
            <a:pPr lvl="2"/>
            <a:r>
              <a:rPr lang="en-US" dirty="0"/>
              <a:t>Can handle missing values (Sparsity aware)</a:t>
            </a:r>
          </a:p>
          <a:p>
            <a:pPr lvl="2"/>
            <a:r>
              <a:rPr lang="en-US" dirty="0"/>
              <a:t>Optimal split points</a:t>
            </a:r>
          </a:p>
          <a:p>
            <a:pPr lvl="2"/>
            <a:r>
              <a:rPr lang="en-US" dirty="0"/>
              <a:t>Built-in cross validation</a:t>
            </a:r>
          </a:p>
          <a:p>
            <a:pPr lvl="2"/>
            <a:endParaRPr lang="en-US" dirty="0"/>
          </a:p>
          <a:p>
            <a:r>
              <a:rPr lang="en-US" dirty="0" err="1"/>
              <a:t>CatBoost</a:t>
            </a:r>
            <a:endParaRPr lang="en-US" dirty="0"/>
          </a:p>
          <a:p>
            <a:pPr lvl="1"/>
            <a:r>
              <a:rPr lang="en-US" dirty="0"/>
              <a:t>Supports categorical attributes</a:t>
            </a:r>
          </a:p>
        </p:txBody>
      </p:sp>
    </p:spTree>
    <p:extLst>
      <p:ext uri="{BB962C8B-B14F-4D97-AF65-F5344CB8AC3E}">
        <p14:creationId xmlns:p14="http://schemas.microsoft.com/office/powerpoint/2010/main" val="77841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22F8-C590-4B29-9FB8-8DA5B9D5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60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518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Wingdings</vt:lpstr>
      <vt:lpstr>Office Theme</vt:lpstr>
      <vt:lpstr>Ensemble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Learning</dc:title>
  <dc:creator>vipul</dc:creator>
  <cp:lastModifiedBy>Vipul Dalal</cp:lastModifiedBy>
  <cp:revision>66</cp:revision>
  <dcterms:created xsi:type="dcterms:W3CDTF">2021-05-06T09:59:28Z</dcterms:created>
  <dcterms:modified xsi:type="dcterms:W3CDTF">2021-07-14T09:48:48Z</dcterms:modified>
</cp:coreProperties>
</file>