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42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667000"/>
            <a:ext cx="7772400" cy="1470025"/>
          </a:xfrm>
        </p:spPr>
        <p:txBody>
          <a:bodyPr/>
          <a:lstStyle/>
          <a:p>
            <a:r>
              <a:rPr lang="en-US" dirty="0"/>
              <a:t>Introduction to Clustering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5885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381000"/>
            <a:ext cx="8305800" cy="62484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What is clustering?</a:t>
            </a:r>
          </a:p>
          <a:p>
            <a:pPr lvl="1"/>
            <a:r>
              <a:rPr lang="en-US" dirty="0"/>
              <a:t>It </a:t>
            </a:r>
            <a:r>
              <a:rPr lang="en-US" dirty="0" smtClean="0"/>
              <a:t>is unsupervised </a:t>
            </a:r>
            <a:r>
              <a:rPr lang="en-US" dirty="0"/>
              <a:t>learning method.</a:t>
            </a:r>
          </a:p>
          <a:p>
            <a:pPr lvl="1" algn="just"/>
            <a:r>
              <a:rPr lang="en-US" dirty="0"/>
              <a:t>It is a process of groping objects together into clusters based on their similarity or dissimilarity.</a:t>
            </a:r>
          </a:p>
          <a:p>
            <a:pPr lvl="1" algn="just"/>
            <a:r>
              <a:rPr lang="en-US" dirty="0"/>
              <a:t>Its main goal is to minimize the intra cluster distance and to maximize the inter cluster distance.</a:t>
            </a:r>
          </a:p>
          <a:p>
            <a:pPr lvl="1" algn="just"/>
            <a:r>
              <a:rPr lang="en-US" dirty="0"/>
              <a:t>A distance function is used to determine a measure of dissimilarity between two given objects.</a:t>
            </a:r>
          </a:p>
          <a:p>
            <a:pPr algn="just"/>
            <a:r>
              <a:rPr lang="en-US" dirty="0"/>
              <a:t>How is it similar to classification?</a:t>
            </a:r>
          </a:p>
          <a:p>
            <a:pPr lvl="1" algn="just"/>
            <a:r>
              <a:rPr lang="en-US" dirty="0"/>
              <a:t>In both the processes, objects are assigned to certain groups.</a:t>
            </a:r>
          </a:p>
        </p:txBody>
      </p:sp>
    </p:spTree>
    <p:extLst>
      <p:ext uri="{BB962C8B-B14F-4D97-AF65-F5344CB8AC3E}">
        <p14:creationId xmlns:p14="http://schemas.microsoft.com/office/powerpoint/2010/main" val="520313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324600"/>
          </a:xfrm>
        </p:spPr>
        <p:txBody>
          <a:bodyPr/>
          <a:lstStyle/>
          <a:p>
            <a:r>
              <a:rPr lang="en-US" dirty="0"/>
              <a:t>How is it different from classification?</a:t>
            </a:r>
          </a:p>
          <a:p>
            <a:pPr lvl="1"/>
            <a:r>
              <a:rPr lang="en-US" dirty="0"/>
              <a:t>It is unsupervised learning</a:t>
            </a:r>
          </a:p>
          <a:p>
            <a:pPr lvl="1"/>
            <a:r>
              <a:rPr lang="en-US" dirty="0"/>
              <a:t>It uses unlabeled dataset</a:t>
            </a:r>
          </a:p>
          <a:p>
            <a:pPr lvl="1"/>
            <a:r>
              <a:rPr lang="en-US" dirty="0"/>
              <a:t>Number, size and shape of clusters not known initially</a:t>
            </a:r>
          </a:p>
          <a:p>
            <a:pPr lvl="1"/>
            <a:r>
              <a:rPr lang="en-US" dirty="0"/>
              <a:t>It is used for descriptive analysis</a:t>
            </a:r>
          </a:p>
          <a:p>
            <a:r>
              <a:rPr lang="en-US" dirty="0"/>
              <a:t>Types of clustering algorithms</a:t>
            </a:r>
          </a:p>
          <a:p>
            <a:pPr lvl="1"/>
            <a:r>
              <a:rPr lang="en-US" dirty="0"/>
              <a:t>Partitioning based</a:t>
            </a:r>
          </a:p>
          <a:p>
            <a:pPr lvl="1"/>
            <a:r>
              <a:rPr lang="en-US" dirty="0"/>
              <a:t>Hierarchical </a:t>
            </a:r>
          </a:p>
          <a:p>
            <a:pPr lvl="1"/>
            <a:r>
              <a:rPr lang="en-US" dirty="0"/>
              <a:t>Density based</a:t>
            </a:r>
          </a:p>
          <a:p>
            <a:pPr lvl="1"/>
            <a:r>
              <a:rPr lang="en-US" dirty="0"/>
              <a:t>Distribution based</a:t>
            </a:r>
          </a:p>
          <a:p>
            <a:pPr lvl="1"/>
            <a:r>
              <a:rPr lang="en-US" dirty="0"/>
              <a:t>Fuzzy clustering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9517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Types of Clustering Algorithms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/>
          <a:lstStyle/>
          <a:p>
            <a:pPr algn="just"/>
            <a:r>
              <a:rPr lang="en-US" dirty="0"/>
              <a:t>Partitioning based</a:t>
            </a:r>
          </a:p>
          <a:p>
            <a:pPr lvl="1" algn="just"/>
            <a:r>
              <a:rPr lang="en-US" dirty="0"/>
              <a:t>Given a set of n objects, this type of algorithms, decompose the set into k clusters such that</a:t>
            </a:r>
          </a:p>
          <a:p>
            <a:pPr lvl="2" algn="just"/>
            <a:r>
              <a:rPr lang="en-US" dirty="0"/>
              <a:t>K&lt;=n</a:t>
            </a:r>
          </a:p>
          <a:p>
            <a:pPr lvl="2" algn="just"/>
            <a:r>
              <a:rPr lang="en-US" dirty="0"/>
              <a:t>No two clusters overlap</a:t>
            </a:r>
          </a:p>
          <a:p>
            <a:pPr lvl="2" algn="just"/>
            <a:r>
              <a:rPr lang="en-US" dirty="0"/>
              <a:t>No cluster is empty</a:t>
            </a:r>
          </a:p>
          <a:p>
            <a:pPr lvl="1" algn="just"/>
            <a:r>
              <a:rPr lang="en-US" dirty="0"/>
              <a:t>K-means, K-</a:t>
            </a:r>
            <a:r>
              <a:rPr lang="en-US" dirty="0" err="1"/>
              <a:t>medoids</a:t>
            </a:r>
            <a:r>
              <a:rPr lang="en-US" dirty="0"/>
              <a:t> algorithms</a:t>
            </a:r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0" y="4337050"/>
            <a:ext cx="2800350" cy="244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22291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5715000"/>
          </a:xfrm>
        </p:spPr>
        <p:txBody>
          <a:bodyPr/>
          <a:lstStyle/>
          <a:p>
            <a:r>
              <a:rPr lang="en-US" dirty="0"/>
              <a:t>Hierarchical </a:t>
            </a:r>
          </a:p>
          <a:p>
            <a:pPr lvl="1" algn="just"/>
            <a:r>
              <a:rPr lang="en-US" dirty="0"/>
              <a:t>A tree structure (hierarchy) is to used to represent the clusters being created and the clustering process.</a:t>
            </a:r>
          </a:p>
          <a:p>
            <a:pPr lvl="1" algn="just"/>
            <a:r>
              <a:rPr lang="en-US" dirty="0"/>
              <a:t>There are two types</a:t>
            </a:r>
          </a:p>
          <a:p>
            <a:pPr lvl="2" algn="just"/>
            <a:r>
              <a:rPr lang="en-US" dirty="0"/>
              <a:t>Top-down (Divisive) – BIRCH algorithm</a:t>
            </a:r>
          </a:p>
          <a:p>
            <a:pPr lvl="2" algn="just"/>
            <a:r>
              <a:rPr lang="en-US" dirty="0"/>
              <a:t>Bottom-up (Agglomerative) – MST clustering algorithm</a:t>
            </a:r>
            <a:endParaRPr lang="en-IN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Types of Clustering Algorithms</a:t>
            </a:r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4114801"/>
            <a:ext cx="586740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07927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486400"/>
          </a:xfrm>
        </p:spPr>
        <p:txBody>
          <a:bodyPr/>
          <a:lstStyle/>
          <a:p>
            <a:r>
              <a:rPr lang="en-US" dirty="0"/>
              <a:t>Density based</a:t>
            </a:r>
          </a:p>
          <a:p>
            <a:pPr lvl="1" algn="just"/>
            <a:r>
              <a:rPr lang="en-US" dirty="0"/>
              <a:t>Regions with various levels of density are declared as clusters.</a:t>
            </a:r>
          </a:p>
          <a:p>
            <a:pPr lvl="1" algn="just"/>
            <a:r>
              <a:rPr lang="en-US" dirty="0"/>
              <a:t>They can create clusters with non-convex shape.</a:t>
            </a:r>
          </a:p>
          <a:p>
            <a:pPr lvl="1" algn="just"/>
            <a:r>
              <a:rPr lang="en-US" dirty="0"/>
              <a:t>DBSCAN algorithm</a:t>
            </a:r>
            <a:endParaRPr lang="en-IN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Types of Clustering Algorithms</a:t>
            </a:r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3581400"/>
            <a:ext cx="3652862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65463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486400"/>
          </a:xfrm>
        </p:spPr>
        <p:txBody>
          <a:bodyPr/>
          <a:lstStyle/>
          <a:p>
            <a:r>
              <a:rPr lang="en-US" dirty="0"/>
              <a:t>Distribution model based</a:t>
            </a:r>
          </a:p>
          <a:p>
            <a:pPr lvl="1" algn="just"/>
            <a:r>
              <a:rPr lang="en-US" dirty="0"/>
              <a:t>If distribution model of the objects is known then this type of algorithms can be used.</a:t>
            </a:r>
          </a:p>
          <a:p>
            <a:pPr lvl="1" algn="just"/>
            <a:r>
              <a:rPr lang="en-US" dirty="0"/>
              <a:t>Expectation-Maximization (EM) algorithm</a:t>
            </a:r>
          </a:p>
          <a:p>
            <a:pPr lvl="1" algn="just"/>
            <a:endParaRPr lang="en-IN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Types of Clustering Algorithms</a:t>
            </a:r>
            <a:endParaRPr lang="en-IN" dirty="0"/>
          </a:p>
        </p:txBody>
      </p:sp>
      <p:sp>
        <p:nvSpPr>
          <p:cNvPr id="5" name="AutoShape 4" descr="Examples clustered using distribution-based clustering. The shading of the density of examples in each cluster shows how the clusters map to distributions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3352800"/>
            <a:ext cx="4698873" cy="3276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28563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r>
              <a:rPr lang="en-US" dirty="0"/>
              <a:t>Fuzzy clustering</a:t>
            </a:r>
          </a:p>
          <a:p>
            <a:pPr lvl="1" algn="just"/>
            <a:r>
              <a:rPr lang="en-US" dirty="0"/>
              <a:t>In this type of clustering, each object doesn’t exactly belong to one cluster.</a:t>
            </a:r>
          </a:p>
          <a:p>
            <a:pPr lvl="1" algn="just"/>
            <a:r>
              <a:rPr lang="en-US" dirty="0"/>
              <a:t>Each object belongs to all the clusters with varying probabilities.</a:t>
            </a:r>
          </a:p>
          <a:p>
            <a:pPr lvl="1" algn="just"/>
            <a:r>
              <a:rPr lang="en-US" dirty="0"/>
              <a:t>It is also called soft clustering.</a:t>
            </a:r>
          </a:p>
          <a:p>
            <a:pPr lvl="1" algn="just"/>
            <a:r>
              <a:rPr lang="en-US" dirty="0"/>
              <a:t>Fuzzy C-means (FCM) algorithm.</a:t>
            </a:r>
            <a:endParaRPr lang="en-IN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Types of Clustering Algorithms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221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Types of Variables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562600"/>
          </a:xfrm>
        </p:spPr>
        <p:txBody>
          <a:bodyPr/>
          <a:lstStyle/>
          <a:p>
            <a:r>
              <a:rPr lang="en-US" dirty="0"/>
              <a:t>Nominal variables</a:t>
            </a:r>
          </a:p>
          <a:p>
            <a:pPr lvl="1" algn="just"/>
            <a:r>
              <a:rPr lang="en-US" dirty="0"/>
              <a:t>Values of such variables represent some kind of category, code or state.</a:t>
            </a:r>
          </a:p>
          <a:p>
            <a:pPr lvl="1" algn="just"/>
            <a:r>
              <a:rPr lang="en-US" dirty="0"/>
              <a:t>Also called categorical variables.</a:t>
            </a:r>
          </a:p>
          <a:p>
            <a:pPr lvl="1" algn="just"/>
            <a:r>
              <a:rPr lang="en-US" dirty="0"/>
              <a:t>Values don’t have any specific built-in order.</a:t>
            </a:r>
          </a:p>
          <a:p>
            <a:pPr lvl="1" algn="just"/>
            <a:r>
              <a:rPr lang="en-US" dirty="0"/>
              <a:t>Color of a car, marital status</a:t>
            </a:r>
          </a:p>
          <a:p>
            <a:pPr lvl="1" algn="just"/>
            <a:r>
              <a:rPr lang="en-US" dirty="0"/>
              <a:t>Most of the mathematical operations such as mean, median, mode, </a:t>
            </a:r>
            <a:r>
              <a:rPr lang="en-US" dirty="0" err="1"/>
              <a:t>etc</a:t>
            </a:r>
            <a:r>
              <a:rPr lang="en-US" dirty="0"/>
              <a:t> are meaningless for such variables.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1365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/>
          <a:lstStyle/>
          <a:p>
            <a:r>
              <a:rPr lang="en-US" dirty="0"/>
              <a:t>Binary variables</a:t>
            </a:r>
          </a:p>
          <a:p>
            <a:pPr lvl="1" algn="just"/>
            <a:r>
              <a:rPr lang="en-US" dirty="0"/>
              <a:t>They are nominal variables with only two possible states or categories.</a:t>
            </a:r>
          </a:p>
          <a:p>
            <a:pPr lvl="1" algn="just"/>
            <a:r>
              <a:rPr lang="en-US" dirty="0"/>
              <a:t>They are of two types</a:t>
            </a:r>
          </a:p>
          <a:p>
            <a:pPr lvl="2" algn="just"/>
            <a:r>
              <a:rPr lang="en-US" dirty="0"/>
              <a:t>Symmetric – if both the states are equally important, for example, gender in student dataset</a:t>
            </a:r>
          </a:p>
          <a:p>
            <a:pPr lvl="2" algn="just"/>
            <a:r>
              <a:rPr lang="en-US" dirty="0"/>
              <a:t>Asymmetric – if both the states have different importance, for example, a medical test with two possible states: positive &amp; negative</a:t>
            </a:r>
            <a:endParaRPr lang="en-IN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Types of Variables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8361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/>
          <a:lstStyle/>
          <a:p>
            <a:r>
              <a:rPr lang="en-US" dirty="0"/>
              <a:t>Ordinal variables</a:t>
            </a:r>
          </a:p>
          <a:p>
            <a:pPr lvl="1" algn="just"/>
            <a:r>
              <a:rPr lang="en-US" dirty="0"/>
              <a:t>Values have a meaningful order or ranking among them, but the magnitude between the successive values is not known.</a:t>
            </a:r>
          </a:p>
          <a:p>
            <a:pPr lvl="1" algn="just"/>
            <a:r>
              <a:rPr lang="en-US" dirty="0"/>
              <a:t>Drink-size, performance grade</a:t>
            </a:r>
          </a:p>
          <a:p>
            <a:pPr lvl="1" algn="just"/>
            <a:r>
              <a:rPr lang="en-US" dirty="0"/>
              <a:t>Mathematical operations such as median &amp; mode are useful but mean, addition, </a:t>
            </a:r>
            <a:r>
              <a:rPr lang="en-US" dirty="0" err="1"/>
              <a:t>etc</a:t>
            </a:r>
            <a:r>
              <a:rPr lang="en-US" dirty="0"/>
              <a:t> are meaningless</a:t>
            </a:r>
          </a:p>
          <a:p>
            <a:pPr lvl="1" algn="just"/>
            <a:endParaRPr lang="en-US" dirty="0"/>
          </a:p>
          <a:p>
            <a:pPr algn="just"/>
            <a:r>
              <a:rPr lang="en-US" dirty="0"/>
              <a:t>Nominal, binary and ordinal variables are qualitative. </a:t>
            </a:r>
            <a:endParaRPr lang="en-IN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Types of Variables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095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/>
          <a:lstStyle/>
          <a:p>
            <a:r>
              <a:rPr lang="en-US" dirty="0"/>
              <a:t>Numeric variables</a:t>
            </a:r>
          </a:p>
          <a:p>
            <a:pPr lvl="1" algn="just"/>
            <a:r>
              <a:rPr lang="en-US" dirty="0"/>
              <a:t>They are quantitative and measurable quantities represented by integers or real numbers.</a:t>
            </a:r>
          </a:p>
          <a:p>
            <a:pPr lvl="1" algn="just"/>
            <a:r>
              <a:rPr lang="en-US" dirty="0"/>
              <a:t>Age, height, weight, temperature, account balance</a:t>
            </a:r>
          </a:p>
          <a:p>
            <a:pPr lvl="1" algn="just"/>
            <a:r>
              <a:rPr lang="en-US" dirty="0"/>
              <a:t>They are of two types</a:t>
            </a:r>
          </a:p>
          <a:p>
            <a:pPr lvl="2" algn="just"/>
            <a:r>
              <a:rPr lang="en-US" dirty="0"/>
              <a:t>Interval scaled – they are measurements on a scale of equal size units. The values have order and can be +</a:t>
            </a:r>
            <a:r>
              <a:rPr lang="en-US" dirty="0" err="1"/>
              <a:t>ve</a:t>
            </a:r>
            <a:r>
              <a:rPr lang="en-US" dirty="0"/>
              <a:t> or –</a:t>
            </a:r>
            <a:r>
              <a:rPr lang="en-US" dirty="0" err="1"/>
              <a:t>ve</a:t>
            </a:r>
            <a:r>
              <a:rPr lang="en-US" dirty="0"/>
              <a:t>, for example, temp.</a:t>
            </a:r>
          </a:p>
          <a:p>
            <a:pPr lvl="2" algn="just"/>
            <a:r>
              <a:rPr lang="en-US" dirty="0"/>
              <a:t>Ratio scaled – they have inherent zero point. Value can be specified as multiple or ratio of another value, for example, weight</a:t>
            </a:r>
            <a:endParaRPr lang="en-IN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Types of Variables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707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562600"/>
          </a:xfrm>
        </p:spPr>
        <p:txBody>
          <a:bodyPr/>
          <a:lstStyle/>
          <a:p>
            <a:pPr algn="just"/>
            <a:r>
              <a:rPr lang="en-US" dirty="0"/>
              <a:t>Used to determine dissimilarities between the objects in the dataset.</a:t>
            </a:r>
          </a:p>
          <a:p>
            <a:pPr algn="just"/>
            <a:r>
              <a:rPr lang="en-US" dirty="0"/>
              <a:t>The calculated dissimilarities are represented using a matrix structure called distance matrix or adjacency matrix or dissimilarity matrix</a:t>
            </a:r>
          </a:p>
          <a:p>
            <a:pPr algn="just"/>
            <a:endParaRPr lang="en-IN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Distance Measures</a:t>
            </a:r>
            <a:endParaRPr lang="en-IN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5170036"/>
              </p:ext>
            </p:extLst>
          </p:nvPr>
        </p:nvGraphicFramePr>
        <p:xfrm>
          <a:off x="2438400" y="4089400"/>
          <a:ext cx="3962400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2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D(2,1)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D(3,1)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D(3,2)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D(4,1)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D(4,2)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D(4,3)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D(5,1)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D(5,2)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D(5,3)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D(5,4)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3435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6800"/>
                <a:ext cx="8229600" cy="5059363"/>
              </a:xfrm>
            </p:spPr>
            <p:txBody>
              <a:bodyPr/>
              <a:lstStyle/>
              <a:p>
                <a:r>
                  <a:rPr lang="en-US" dirty="0"/>
                  <a:t>For Nominal variables</a:t>
                </a:r>
              </a:p>
              <a:p>
                <a:pPr lvl="1" algn="just"/>
                <a:r>
                  <a:rPr lang="en-US" dirty="0"/>
                  <a:t>Given two objects </a:t>
                </a:r>
                <a:r>
                  <a:rPr lang="en-US" dirty="0" err="1"/>
                  <a:t>i</a:t>
                </a:r>
                <a:r>
                  <a:rPr lang="en-US" dirty="0"/>
                  <a:t> &amp; j with p variables, distance can be calculated as,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D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𝑖</m:t>
                        </m:r>
                        <m:r>
                          <a:rPr lang="en-US" b="0" i="1" smtClean="0">
                            <a:latin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/>
                          </a:rPr>
                          <m:t>𝑗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/>
                          </a:rPr>
                          <m:t>𝑝</m:t>
                        </m:r>
                        <m:r>
                          <a:rPr lang="en-US" b="0" i="1" smtClean="0">
                            <a:latin typeface="Cambria Math"/>
                          </a:rPr>
                          <m:t>−</m:t>
                        </m:r>
                        <m:r>
                          <a:rPr lang="en-US" b="0" i="1" smtClean="0">
                            <a:latin typeface="Cambria Math"/>
                          </a:rPr>
                          <m:t>𝑚</m:t>
                        </m:r>
                      </m:num>
                      <m:den>
                        <m:r>
                          <a:rPr lang="en-US" b="0" i="1" smtClean="0">
                            <a:latin typeface="Cambria Math"/>
                          </a:rPr>
                          <m:t>𝑝</m:t>
                        </m:r>
                      </m:den>
                    </m:f>
                  </m:oMath>
                </a14:m>
                <a:r>
                  <a:rPr lang="en-IN" dirty="0"/>
                  <a:t>, where m is number of variables for which </a:t>
                </a:r>
                <a:r>
                  <a:rPr lang="en-IN" dirty="0" err="1"/>
                  <a:t>i</a:t>
                </a:r>
                <a:r>
                  <a:rPr lang="en-IN" dirty="0"/>
                  <a:t> &amp; j are in the same state.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6800"/>
                <a:ext cx="8229600" cy="5059363"/>
              </a:xfrm>
              <a:blipFill rotWithShape="1">
                <a:blip r:embed="rId2"/>
                <a:stretch>
                  <a:fillRect l="-1630" t="-1566" r="-14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Distance Measures</a:t>
            </a:r>
            <a:endParaRPr lang="en-IN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69204"/>
              </p:ext>
            </p:extLst>
          </p:nvPr>
        </p:nvGraphicFramePr>
        <p:xfrm>
          <a:off x="1295400" y="4089400"/>
          <a:ext cx="2667000" cy="2494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PID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Marital status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Income range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Married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High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Single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Low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Divorced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Medium</a:t>
                      </a:r>
                      <a:r>
                        <a:rPr lang="en-US" baseline="0" dirty="0"/>
                        <a:t> 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Married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High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single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Medium 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2873819"/>
              </p:ext>
            </p:extLst>
          </p:nvPr>
        </p:nvGraphicFramePr>
        <p:xfrm>
          <a:off x="4983480" y="4546600"/>
          <a:ext cx="3169920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39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3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39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39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39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648200" y="3733800"/>
                <a:ext cx="3581400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2,1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</a:rPr>
                            <m:t>2−0</m:t>
                          </m:r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/>
                        </a:rPr>
                        <m:t>=1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8200" y="3733800"/>
                <a:ext cx="3581400" cy="610936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1228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1"/>
            <a:ext cx="8229600" cy="1600200"/>
          </a:xfrm>
        </p:spPr>
        <p:txBody>
          <a:bodyPr/>
          <a:lstStyle/>
          <a:p>
            <a:r>
              <a:rPr lang="en-US" dirty="0"/>
              <a:t>For Binary variables</a:t>
            </a:r>
          </a:p>
          <a:p>
            <a:pPr lvl="1" algn="just"/>
            <a:r>
              <a:rPr lang="en-US" dirty="0"/>
              <a:t>Given two objects </a:t>
            </a:r>
            <a:r>
              <a:rPr lang="en-US" dirty="0" err="1"/>
              <a:t>i</a:t>
            </a:r>
            <a:r>
              <a:rPr lang="en-US" dirty="0"/>
              <a:t> &amp; j with p variables, distance can be calculated as follows.</a:t>
            </a:r>
            <a:endParaRPr lang="en-IN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Distance Measures</a:t>
            </a:r>
            <a:endParaRPr lang="en-IN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8752424"/>
              </p:ext>
            </p:extLst>
          </p:nvPr>
        </p:nvGraphicFramePr>
        <p:xfrm>
          <a:off x="381000" y="2819400"/>
          <a:ext cx="2718816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9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9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Object j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Object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i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3657600" y="2667000"/>
            <a:ext cx="51054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Where,</a:t>
            </a:r>
          </a:p>
          <a:p>
            <a:r>
              <a:rPr lang="en-US" dirty="0"/>
              <a:t>Q is number of variables for which both objects </a:t>
            </a:r>
            <a:r>
              <a:rPr lang="en-US" dirty="0" err="1"/>
              <a:t>i</a:t>
            </a:r>
            <a:r>
              <a:rPr lang="en-US" dirty="0"/>
              <a:t> &amp; j are in state 1</a:t>
            </a:r>
          </a:p>
          <a:p>
            <a:r>
              <a:rPr lang="en-US" dirty="0"/>
              <a:t>R is number of variables for which object </a:t>
            </a:r>
            <a:r>
              <a:rPr lang="en-US" dirty="0" err="1"/>
              <a:t>i</a:t>
            </a:r>
            <a:r>
              <a:rPr lang="en-US" dirty="0"/>
              <a:t> is in state 1 &amp; object j is in state 0</a:t>
            </a:r>
          </a:p>
          <a:p>
            <a:r>
              <a:rPr lang="en-US" dirty="0"/>
              <a:t>S is number of variables for which object </a:t>
            </a:r>
            <a:r>
              <a:rPr lang="en-US" dirty="0" err="1"/>
              <a:t>i</a:t>
            </a:r>
            <a:r>
              <a:rPr lang="en-US" dirty="0"/>
              <a:t> is in state 0 &amp; object j is in state 1</a:t>
            </a:r>
          </a:p>
          <a:p>
            <a:r>
              <a:rPr lang="en-US" dirty="0"/>
              <a:t>T is number of variables for which both objects </a:t>
            </a:r>
            <a:r>
              <a:rPr lang="en-US" dirty="0" err="1"/>
              <a:t>i</a:t>
            </a:r>
            <a:r>
              <a:rPr lang="en-US" dirty="0"/>
              <a:t> &amp; j are in state 0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57200" y="5410200"/>
                <a:ext cx="8305800" cy="12218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If the variables are symmetric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/>
                      </a:rPr>
                      <m:t>D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/>
                          </a:rPr>
                          <m:t>i</m:t>
                        </m:r>
                        <m:r>
                          <a:rPr lang="en-US" sz="2400" b="0" i="0" smtClean="0">
                            <a:latin typeface="Cambria Math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/>
                          </a:rPr>
                          <m:t>j</m:t>
                        </m:r>
                      </m:e>
                    </m:d>
                    <m:r>
                      <a:rPr lang="en-US" sz="2400" b="0" i="0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/>
                          </a:rPr>
                          <m:t>𝑅</m:t>
                        </m:r>
                        <m:r>
                          <a:rPr lang="en-US" sz="2400" b="0" i="1" smtClean="0">
                            <a:latin typeface="Cambria Math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𝑆</m:t>
                        </m:r>
                      </m:num>
                      <m:den>
                        <m:r>
                          <a:rPr lang="en-US" sz="2400" b="0" i="1" smtClean="0">
                            <a:latin typeface="Cambria Math"/>
                          </a:rPr>
                          <m:t>𝑄</m:t>
                        </m:r>
                        <m:r>
                          <a:rPr lang="en-US" sz="2400" b="0" i="1" smtClean="0">
                            <a:latin typeface="Cambria Math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𝑅</m:t>
                        </m:r>
                        <m:r>
                          <a:rPr lang="en-US" sz="2400" b="0" i="1" smtClean="0">
                            <a:latin typeface="Cambria Math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𝑆</m:t>
                        </m:r>
                        <m:r>
                          <a:rPr lang="en-US" sz="2400" b="0" i="1" smtClean="0">
                            <a:latin typeface="Cambria Math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𝑇</m:t>
                        </m:r>
                      </m:den>
                    </m:f>
                  </m:oMath>
                </a14:m>
                <a:r>
                  <a:rPr lang="en-IN" sz="2400" dirty="0"/>
                  <a:t> </a:t>
                </a:r>
              </a:p>
              <a:p>
                <a:r>
                  <a:rPr lang="en-US" sz="2400" dirty="0"/>
                  <a:t>If the variables are asymmetric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/>
                      </a:rPr>
                      <m:t>D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/>
                          </a:rPr>
                          <m:t>i</m:t>
                        </m:r>
                        <m:r>
                          <a:rPr lang="en-US" sz="2400" b="0" i="0" smtClean="0">
                            <a:latin typeface="Cambria Math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/>
                          </a:rPr>
                          <m:t>j</m:t>
                        </m:r>
                      </m:e>
                    </m:d>
                    <m:r>
                      <a:rPr lang="en-US" sz="2400" b="0" i="0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/>
                          </a:rPr>
                          <m:t>𝑅</m:t>
                        </m:r>
                        <m:r>
                          <a:rPr lang="en-US" sz="2400" b="0" i="1" smtClean="0">
                            <a:latin typeface="Cambria Math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𝑆</m:t>
                        </m:r>
                      </m:num>
                      <m:den>
                        <m:r>
                          <a:rPr lang="en-US" sz="2400" b="0" i="1" smtClean="0">
                            <a:latin typeface="Cambria Math"/>
                          </a:rPr>
                          <m:t>𝑄</m:t>
                        </m:r>
                        <m:r>
                          <a:rPr lang="en-US" sz="2400" b="0" i="1" smtClean="0">
                            <a:latin typeface="Cambria Math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𝑅</m:t>
                        </m:r>
                        <m:r>
                          <a:rPr lang="en-US" sz="2400" b="0" i="1" smtClean="0">
                            <a:latin typeface="Cambria Math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𝑆</m:t>
                        </m:r>
                      </m:den>
                    </m:f>
                  </m:oMath>
                </a14:m>
                <a:endParaRPr lang="en-IN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5410200"/>
                <a:ext cx="8305800" cy="1221873"/>
              </a:xfrm>
              <a:prstGeom prst="rect">
                <a:avLst/>
              </a:prstGeom>
              <a:blipFill rotWithShape="1">
                <a:blip r:embed="rId2"/>
                <a:stretch>
                  <a:fillRect l="-1101" b="-1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3622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534400" cy="609600"/>
          </a:xfrm>
        </p:spPr>
        <p:txBody>
          <a:bodyPr>
            <a:normAutofit/>
          </a:bodyPr>
          <a:lstStyle/>
          <a:p>
            <a:r>
              <a:rPr lang="en-US" sz="2800" dirty="0"/>
              <a:t>For example, consider a patient dataset</a:t>
            </a:r>
            <a:endParaRPr lang="en-IN" sz="28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Distance Measures</a:t>
            </a:r>
            <a:endParaRPr lang="en-IN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3912035"/>
              </p:ext>
            </p:extLst>
          </p:nvPr>
        </p:nvGraphicFramePr>
        <p:xfrm>
          <a:off x="1066800" y="1488440"/>
          <a:ext cx="6095999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PID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Fever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Cough 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Test1 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Test2</a:t>
                      </a:r>
                      <a:r>
                        <a:rPr lang="en-US" baseline="0" dirty="0"/>
                        <a:t> 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Test3</a:t>
                      </a:r>
                      <a:r>
                        <a:rPr lang="en-US" baseline="0" dirty="0"/>
                        <a:t> 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Test4 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2701486"/>
              </p:ext>
            </p:extLst>
          </p:nvPr>
        </p:nvGraphicFramePr>
        <p:xfrm>
          <a:off x="1066800" y="3124200"/>
          <a:ext cx="6095999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PID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Fever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Cough 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Test1 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Test2</a:t>
                      </a:r>
                      <a:r>
                        <a:rPr lang="en-US" baseline="0" dirty="0"/>
                        <a:t> 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Test3</a:t>
                      </a:r>
                      <a:r>
                        <a:rPr lang="en-US" baseline="0" dirty="0"/>
                        <a:t> 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Test4 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6117962"/>
              </p:ext>
            </p:extLst>
          </p:nvPr>
        </p:nvGraphicFramePr>
        <p:xfrm>
          <a:off x="329184" y="4993640"/>
          <a:ext cx="2718816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9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9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Object 2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Object</a:t>
                      </a:r>
                      <a:r>
                        <a:rPr lang="en-US" baseline="0" dirty="0"/>
                        <a:t> 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352800" y="5410200"/>
                <a:ext cx="3048000" cy="6173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2,1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</a:rPr>
                            <m:t>1+1</m:t>
                          </m:r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1+1+1</m:t>
                          </m:r>
                        </m:den>
                      </m:f>
                      <m:r>
                        <a:rPr lang="en-US" b="0" i="1" smtClean="0">
                          <a:latin typeface="Cambria Math"/>
                        </a:rPr>
                        <m:t>=0.67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800" y="5410200"/>
                <a:ext cx="3048000" cy="617348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4758986"/>
              </p:ext>
            </p:extLst>
          </p:nvPr>
        </p:nvGraphicFramePr>
        <p:xfrm>
          <a:off x="6632448" y="5181600"/>
          <a:ext cx="1901952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39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3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39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0.67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0204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914400"/>
                <a:ext cx="8686800" cy="571500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For numeric variables</a:t>
                </a:r>
              </a:p>
              <a:p>
                <a:pPr lvl="1" algn="just"/>
                <a:r>
                  <a:rPr lang="en-US" dirty="0"/>
                  <a:t>For two objects </a:t>
                </a:r>
                <a:r>
                  <a:rPr lang="en-US" dirty="0" err="1"/>
                  <a:t>i</a:t>
                </a:r>
                <a:r>
                  <a:rPr lang="en-US" dirty="0"/>
                  <a:t> &amp; j with p numeric variables, various distance measures are defined as follows.</a:t>
                </a:r>
              </a:p>
              <a:p>
                <a:pPr marL="1028700" lvl="1" indent="-571500" algn="just">
                  <a:buFont typeface="+mj-lt"/>
                  <a:buAutoNum type="romanUcPeriod"/>
                </a:pPr>
                <a:r>
                  <a:rPr lang="en-US" dirty="0"/>
                  <a:t>Euclidean distance</a:t>
                </a:r>
              </a:p>
              <a:p>
                <a:pPr marL="457200" lvl="1" indent="0" algn="just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/>
                      </a:rPr>
                      <m:t>D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/>
                          </a:rPr>
                          <m:t>i</m:t>
                        </m:r>
                        <m:r>
                          <a:rPr lang="en-US" sz="2400" b="0" i="0" smtClean="0">
                            <a:latin typeface="Cambria Math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/>
                          </a:rPr>
                          <m:t>j</m:t>
                        </m:r>
                      </m:e>
                    </m:d>
                    <m:r>
                      <a:rPr lang="en-US" sz="2400" b="0" i="0" smtClean="0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sz="2400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/>
                                  </a:rPr>
                                  <m:t>𝑗</m:t>
                                </m:r>
                                <m:r>
                                  <a:rPr lang="en-US" sz="2400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/>
                              </a:rPr>
                              <m:t>)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sz="2400" b="0" i="1" smtClean="0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/>
                                  </a:rPr>
                                  <m:t>𝑗</m:t>
                                </m:r>
                                <m:r>
                                  <a:rPr lang="en-US" sz="2400" b="0" i="1" smtClean="0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/>
                              </a:rPr>
                              <m:t>)</m:t>
                            </m:r>
                          </m:e>
                          <m:sup>
                            <m:r>
                              <a:rPr lang="en-US" sz="2400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/>
                          </a:rPr>
                          <m:t>+..+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sz="2400" b="0" i="1" smtClean="0">
                                    <a:latin typeface="Cambria Math"/>
                                  </a:rPr>
                                  <m:t>𝑝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/>
                                  </a:rPr>
                                  <m:t>𝑗</m:t>
                                </m:r>
                                <m:r>
                                  <a:rPr lang="en-US" sz="2400" b="0" i="1" smtClean="0">
                                    <a:latin typeface="Cambria Math"/>
                                  </a:rPr>
                                  <m:t>𝑝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/>
                              </a:rPr>
                              <m:t>)</m:t>
                            </m:r>
                          </m:e>
                          <m:sup>
                            <m:r>
                              <a:rPr lang="en-US" sz="2400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IN" dirty="0"/>
              </a:p>
              <a:p>
                <a:pPr marL="1028700" lvl="1" indent="-571500" algn="just">
                  <a:buAutoNum type="romanUcPeriod" startAt="2"/>
                </a:pPr>
                <a:r>
                  <a:rPr lang="en-US" dirty="0"/>
                  <a:t>Manhattan distance</a:t>
                </a:r>
              </a:p>
              <a:p>
                <a:pPr marL="457200" lvl="1" indent="0" algn="just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𝐷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𝑗</m:t>
                        </m:r>
                      </m:e>
                    </m:d>
                    <m:r>
                      <a:rPr lang="en-US" sz="2400" b="0" i="1" smtClean="0">
                        <a:latin typeface="Cambria Math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𝑖</m:t>
                            </m:r>
                            <m:r>
                              <a:rPr lang="en-US" sz="24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𝑗</m:t>
                            </m:r>
                            <m:r>
                              <a:rPr lang="en-US" sz="24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latin typeface="Cambria Math"/>
                              </a:rPr>
                              <m:t>𝑖</m:t>
                            </m:r>
                            <m:r>
                              <a:rPr lang="en-US" sz="24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sz="2400" i="1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latin typeface="Cambria Math"/>
                              </a:rPr>
                              <m:t>𝑗</m:t>
                            </m:r>
                            <m:r>
                              <a:rPr lang="en-US" sz="24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/>
                      </a:rPr>
                      <m:t>+..+</m:t>
                    </m:r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latin typeface="Cambria Math"/>
                              </a:rPr>
                              <m:t>𝑖</m:t>
                            </m:r>
                            <m:r>
                              <a:rPr lang="en-US" sz="2400" b="0" i="1" smtClean="0">
                                <a:latin typeface="Cambria Math"/>
                              </a:rPr>
                              <m:t>𝑝</m:t>
                            </m:r>
                          </m:sub>
                        </m:sSub>
                        <m:r>
                          <a:rPr lang="en-US" sz="2400" i="1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latin typeface="Cambria Math"/>
                              </a:rPr>
                              <m:t>𝑗</m:t>
                            </m:r>
                            <m:r>
                              <a:rPr lang="en-US" sz="2400" b="0" i="1" smtClean="0">
                                <a:latin typeface="Cambria Math"/>
                              </a:rPr>
                              <m:t>𝑝</m:t>
                            </m:r>
                          </m:sub>
                        </m:sSub>
                      </m:e>
                    </m:d>
                  </m:oMath>
                </a14:m>
                <a:endParaRPr lang="en-IN" dirty="0"/>
              </a:p>
              <a:p>
                <a:pPr marL="1028700" lvl="1" indent="-571500" algn="just">
                  <a:buAutoNum type="romanUcPeriod" startAt="3"/>
                </a:pPr>
                <a:r>
                  <a:rPr lang="en-US" dirty="0" err="1"/>
                  <a:t>Minkowski</a:t>
                </a:r>
                <a:r>
                  <a:rPr lang="en-US" dirty="0"/>
                  <a:t> distance</a:t>
                </a:r>
              </a:p>
              <a:p>
                <a:pPr marL="457200" lvl="1" indent="0" algn="just">
                  <a:buNone/>
                </a:pPr>
                <a:r>
                  <a:rPr lang="en-US" dirty="0"/>
                  <a:t>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𝐷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𝑗</m:t>
                        </m:r>
                      </m:e>
                    </m:d>
                    <m:r>
                      <a:rPr lang="en-US" sz="2400" b="0" i="1" smtClean="0">
                        <a:latin typeface="Cambria Math"/>
                      </a:rPr>
                      <m:t>=</m:t>
                    </m:r>
                    <m:rad>
                      <m:ra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US" sz="2400" b="0" i="1" smtClean="0">
                            <a:latin typeface="Cambria Math"/>
                          </a:rPr>
                          <m:t>h</m:t>
                        </m:r>
                      </m:deg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sz="2400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/>
                                  </a:rPr>
                                  <m:t>𝑗</m:t>
                                </m:r>
                                <m:r>
                                  <a:rPr lang="en-US" sz="2400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/>
                              </a:rPr>
                              <m:t>|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/>
                              </a:rPr>
                              <m:t>h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sz="2400" b="0" i="1" smtClean="0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/>
                                  </a:rPr>
                                  <m:t>𝑗</m:t>
                                </m:r>
                                <m:r>
                                  <a:rPr lang="en-US" sz="2400" b="0" i="1" smtClean="0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/>
                              </a:rPr>
                              <m:t>|</m:t>
                            </m:r>
                          </m:e>
                          <m:sup>
                            <m:r>
                              <a:rPr lang="en-US" sz="2400" i="1">
                                <a:latin typeface="Cambria Math"/>
                              </a:rPr>
                              <m:t>h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/>
                          </a:rPr>
                          <m:t>+..+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sz="2400" b="0" i="1" smtClean="0">
                                    <a:latin typeface="Cambria Math"/>
                                  </a:rPr>
                                  <m:t>𝑝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/>
                                  </a:rPr>
                                  <m:t>𝑗</m:t>
                                </m:r>
                                <m:r>
                                  <a:rPr lang="en-US" sz="2400" b="0" i="1" smtClean="0">
                                    <a:latin typeface="Cambria Math"/>
                                  </a:rPr>
                                  <m:t>𝑝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/>
                              </a:rPr>
                              <m:t>|</m:t>
                            </m:r>
                          </m:e>
                          <m:sup>
                            <m:r>
                              <a:rPr lang="en-US" sz="2400" i="1">
                                <a:latin typeface="Cambria Math"/>
                              </a:rPr>
                              <m:t>h</m:t>
                            </m:r>
                          </m:sup>
                        </m:sSup>
                      </m:e>
                    </m:ra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914400"/>
                <a:ext cx="8686800" cy="5715000"/>
              </a:xfrm>
              <a:blipFill rotWithShape="1">
                <a:blip r:embed="rId2"/>
                <a:stretch>
                  <a:fillRect l="-1614" t="-1386" r="-14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r>
              <a:rPr lang="en-US" dirty="0"/>
              <a:t>Distance Measures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7109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6800"/>
                <a:ext cx="8229600" cy="5059363"/>
              </a:xfrm>
            </p:spPr>
            <p:txBody>
              <a:bodyPr/>
              <a:lstStyle/>
              <a:p>
                <a:r>
                  <a:rPr lang="en-US" dirty="0"/>
                  <a:t>For numeric variables</a:t>
                </a:r>
              </a:p>
              <a:p>
                <a:pPr marL="971550" lvl="1" indent="-571500">
                  <a:buAutoNum type="romanUcPeriod" startAt="4"/>
                </a:pPr>
                <a:r>
                  <a:rPr lang="en-US" dirty="0"/>
                  <a:t>Supremum distance</a:t>
                </a:r>
              </a:p>
              <a:p>
                <a:pPr marL="400050" lvl="1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𝐷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𝑗</m:t>
                        </m:r>
                      </m:e>
                    </m:d>
                    <m:r>
                      <a:rPr lang="en-US" sz="2400" b="0" i="1" smtClean="0">
                        <a:latin typeface="Cambria Math"/>
                      </a:rPr>
                      <m:t>=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/>
                              </a:rPr>
                              <m:t>max</m:t>
                            </m:r>
                          </m:e>
                          <m:lim>
                            <m:r>
                              <a:rPr lang="en-US" sz="2400" b="0" i="1" smtClean="0">
                                <a:latin typeface="Cambria Math"/>
                              </a:rPr>
                              <m:t>𝑓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/>
                                  </a:rPr>
                                  <m:t>𝑖𝑓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/>
                                  </a:rPr>
                                  <m:t>𝑗𝑓</m:t>
                                </m:r>
                              </m:sub>
                            </m:sSub>
                          </m:e>
                        </m:d>
                        <m:r>
                          <a:rPr lang="en-US" sz="2400" b="0" i="1" smtClean="0">
                            <a:latin typeface="Cambria Math"/>
                          </a:rPr>
                          <m:t>  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𝑜𝑣𝑒𝑟</m:t>
                        </m:r>
                        <m:r>
                          <a:rPr lang="en-US" sz="2400" b="0" i="1" smtClean="0">
                            <a:latin typeface="Cambria Math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𝑝</m:t>
                        </m:r>
                        <m:r>
                          <a:rPr lang="en-US" sz="2400" b="0" i="1" smtClean="0">
                            <a:latin typeface="Cambria Math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𝑣𝑎𝑟𝑖𝑎𝑏𝑙𝑒𝑠</m:t>
                        </m:r>
                      </m:e>
                    </m:func>
                  </m:oMath>
                </a14:m>
                <a:endParaRPr lang="en-IN" dirty="0"/>
              </a:p>
              <a:p>
                <a:pPr marL="857250" lvl="1" indent="-457200"/>
                <a:endParaRPr lang="en-US" dirty="0"/>
              </a:p>
              <a:p>
                <a:pPr marL="857250" lvl="1" indent="-457200"/>
                <a:r>
                  <a:rPr lang="en-US" dirty="0"/>
                  <a:t>For example, x1=(1,2) &amp; x2=(3,5)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6800"/>
                <a:ext cx="8229600" cy="5059363"/>
              </a:xfrm>
              <a:blipFill rotWithShape="1">
                <a:blip r:embed="rId2"/>
                <a:stretch>
                  <a:fillRect l="-1630" t="-156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r>
              <a:rPr lang="en-US" dirty="0"/>
              <a:t>Distance Measures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6188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838200"/>
                <a:ext cx="8686800" cy="320040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For Ordinal variables</a:t>
                </a:r>
              </a:p>
              <a:p>
                <a:pPr lvl="1"/>
                <a:r>
                  <a:rPr lang="en-US" dirty="0"/>
                  <a:t>Perform the following steps</a:t>
                </a:r>
              </a:p>
              <a:p>
                <a:pPr marL="1371600" lvl="2" indent="-514350" algn="just">
                  <a:buFont typeface="+mj-lt"/>
                  <a:buAutoNum type="arabicPeriod"/>
                </a:pPr>
                <a:r>
                  <a:rPr lang="en-US" dirty="0"/>
                  <a:t>If there are M states of the variable then replace the value by corresponding rank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𝑟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∈[1..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𝑀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]</m:t>
                    </m:r>
                  </m:oMath>
                </a14:m>
                <a:endParaRPr lang="en-IN" dirty="0"/>
              </a:p>
              <a:p>
                <a:pPr marL="1371600" lvl="2" indent="-514350" algn="just">
                  <a:buFont typeface="+mj-lt"/>
                  <a:buAutoNum type="arabicPeriod"/>
                </a:pPr>
                <a:r>
                  <a:rPr lang="en-US" dirty="0"/>
                  <a:t>Normalize the rank r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𝑁</m:t>
                    </m:r>
                    <m:r>
                      <a:rPr lang="en-US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/>
                          </a:rPr>
                          <m:t>𝑟</m:t>
                        </m:r>
                        <m:r>
                          <a:rPr lang="en-US" b="0" i="1" smtClean="0">
                            <a:latin typeface="Cambria Math"/>
                          </a:rPr>
                          <m:t>−1</m:t>
                        </m:r>
                      </m:num>
                      <m:den>
                        <m:r>
                          <a:rPr lang="en-US" b="0" i="1" smtClean="0">
                            <a:latin typeface="Cambria Math"/>
                          </a:rPr>
                          <m:t>𝑀</m:t>
                        </m:r>
                        <m:r>
                          <a:rPr lang="en-US" b="0" i="1" smtClean="0">
                            <a:latin typeface="Cambria Math"/>
                          </a:rPr>
                          <m:t>−1</m:t>
                        </m:r>
                      </m:den>
                    </m:f>
                  </m:oMath>
                </a14:m>
                <a:endParaRPr lang="en-IN" dirty="0"/>
              </a:p>
              <a:p>
                <a:pPr marL="1371600" lvl="2" indent="-514350" algn="just">
                  <a:buFont typeface="+mj-lt"/>
                  <a:buAutoNum type="arabicPeriod"/>
                </a:pPr>
                <a:r>
                  <a:rPr lang="en-US" dirty="0"/>
                  <a:t>Calculate distance using any measures used for numeric variables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838200"/>
                <a:ext cx="8686800" cy="3200400"/>
              </a:xfrm>
              <a:blipFill rotWithShape="1">
                <a:blip r:embed="rId2"/>
                <a:stretch>
                  <a:fillRect l="-1614" t="-4000" r="-105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r>
              <a:rPr lang="en-US" dirty="0"/>
              <a:t>Distance Measures</a:t>
            </a:r>
            <a:endParaRPr lang="en-IN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8327771"/>
              </p:ext>
            </p:extLst>
          </p:nvPr>
        </p:nvGraphicFramePr>
        <p:xfrm>
          <a:off x="228600" y="4318000"/>
          <a:ext cx="1752600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Roll no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Grade 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4639997"/>
              </p:ext>
            </p:extLst>
          </p:nvPr>
        </p:nvGraphicFramePr>
        <p:xfrm>
          <a:off x="2286000" y="4313904"/>
          <a:ext cx="1752600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Roll no 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Grade 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6468187"/>
              </p:ext>
            </p:extLst>
          </p:nvPr>
        </p:nvGraphicFramePr>
        <p:xfrm>
          <a:off x="4267200" y="4313904"/>
          <a:ext cx="1752600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Roll no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Grade 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1517397"/>
              </p:ext>
            </p:extLst>
          </p:nvPr>
        </p:nvGraphicFramePr>
        <p:xfrm>
          <a:off x="6327060" y="4694904"/>
          <a:ext cx="2435940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8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89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89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4833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914400"/>
                <a:ext cx="8610600" cy="571500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For mixed type variables</a:t>
                </a:r>
              </a:p>
              <a:p>
                <a:pPr lvl="1" algn="just"/>
                <a:r>
                  <a:rPr lang="en-US" dirty="0"/>
                  <a:t>Given two object </a:t>
                </a:r>
                <a:r>
                  <a:rPr lang="en-US" dirty="0" err="1"/>
                  <a:t>i</a:t>
                </a:r>
                <a:r>
                  <a:rPr lang="en-US" dirty="0"/>
                  <a:t> &amp; j with p mixed type variables, the distance is,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𝑖</m:t>
                        </m:r>
                        <m:r>
                          <a:rPr lang="en-US" b="0" i="1" smtClean="0">
                            <a:latin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/>
                          </a:rPr>
                          <m:t>𝑗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/>
                              </a:rPr>
                              <m:t>𝑓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=1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𝑝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/>
                                    <a:ea typeface="Cambria Math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/>
                                  </a:rPr>
                                  <m:t>𝑖𝑗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𝑓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/>
                              </a:rPr>
                              <m:t>∗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𝑓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)</m:t>
                            </m:r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/>
                              </a:rPr>
                              <m:t>𝑓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=1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𝑝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/>
                                    <a:ea typeface="Cambria Math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𝑓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)</m:t>
                            </m:r>
                          </m:e>
                        </m:nary>
                      </m:den>
                    </m:f>
                  </m:oMath>
                </a14:m>
                <a:endParaRPr lang="en-US" b="0" dirty="0"/>
              </a:p>
              <a:p>
                <a:pPr marL="457200" lvl="1" indent="0">
                  <a:buNone/>
                </a:pPr>
                <a:r>
                  <a:rPr lang="en-US" dirty="0"/>
                  <a:t>	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smtClean="0">
                            <a:latin typeface="Cambria Math"/>
                            <a:ea typeface="Cambria Math"/>
                          </a:rPr>
                          <m:t>𝛿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𝑖𝑗</m:t>
                        </m:r>
                      </m:sub>
                    </m:sSub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/>
                          </a:rPr>
                          <m:t>𝑓</m:t>
                        </m:r>
                      </m:e>
                    </m:d>
                    <m:r>
                      <a:rPr lang="en-US" sz="1600" b="0" i="1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1600" b="0" i="1" smtClean="0">
                                <a:latin typeface="Cambria Math"/>
                              </a:rPr>
                              <m:t>0, </m:t>
                            </m:r>
                            <m:r>
                              <a:rPr lang="en-US" sz="1600" b="0" i="1" smtClean="0">
                                <a:latin typeface="Cambria Math"/>
                              </a:rPr>
                              <m:t>𝑖𝑓</m:t>
                            </m:r>
                            <m:r>
                              <a:rPr lang="en-US" sz="1600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en-US" sz="1600" b="0" i="1" smtClean="0">
                                <a:latin typeface="Cambria Math"/>
                              </a:rPr>
                              <m:t>𝑣𝑎𝑟𝑖𝑎𝑏𝑙𝑒</m:t>
                            </m:r>
                            <m:r>
                              <a:rPr lang="en-US" sz="1600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en-US" sz="1600" b="0" i="1" smtClean="0">
                                <a:latin typeface="Cambria Math"/>
                              </a:rPr>
                              <m:t>𝑓</m:t>
                            </m:r>
                            <m:r>
                              <a:rPr lang="en-US" sz="1600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en-US" sz="1600" b="0" i="1" smtClean="0">
                                <a:latin typeface="Cambria Math"/>
                              </a:rPr>
                              <m:t>𝑖𝑠</m:t>
                            </m:r>
                            <m:r>
                              <a:rPr lang="en-US" sz="1600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en-US" sz="1600" b="0" i="1" smtClean="0">
                                <a:latin typeface="Cambria Math"/>
                              </a:rPr>
                              <m:t>𝑎𝑠𝑦𝑚𝑚𝑒𝑡𝑟𝑖𝑐</m:t>
                            </m:r>
                            <m:r>
                              <a:rPr lang="en-US" sz="1600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en-US" sz="1600" b="0" i="1" smtClean="0">
                                <a:latin typeface="Cambria Math"/>
                              </a:rPr>
                              <m:t>𝑏𝑖𝑛𝑎𝑟𝑦</m:t>
                            </m:r>
                            <m:r>
                              <a:rPr lang="en-US" sz="1600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en-US" sz="1600" b="0" i="1" smtClean="0">
                                <a:latin typeface="Cambria Math"/>
                              </a:rPr>
                              <m:t>𝑎𝑛𝑑</m:t>
                            </m:r>
                            <m:r>
                              <a:rPr lang="en-US" sz="1600" b="0" i="1" smtClean="0">
                                <a:latin typeface="Cambria Math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/>
                                  </a:rPr>
                                  <m:t>𝑖𝑓</m:t>
                                </m:r>
                              </m:sub>
                            </m:sSub>
                            <m:r>
                              <a:rPr lang="en-US" sz="1600" b="0" i="1" smtClean="0">
                                <a:latin typeface="Cambria Math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/>
                                  </a:rPr>
                                  <m:t>𝑗𝑓</m:t>
                                </m:r>
                              </m:sub>
                            </m:sSub>
                            <m:r>
                              <a:rPr lang="en-US" sz="1600" b="0" i="1" smtClean="0">
                                <a:latin typeface="Cambria Math"/>
                              </a:rPr>
                              <m:t>=0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/>
                              </a:rPr>
                              <m:t>1, </m:t>
                            </m:r>
                            <m:r>
                              <a:rPr lang="en-US" sz="1600" b="0" i="1" smtClean="0">
                                <a:latin typeface="Cambria Math"/>
                              </a:rPr>
                              <m:t>𝑜𝑡h𝑒𝑟𝑤𝑖𝑠𝑒</m:t>
                            </m:r>
                          </m:e>
                        </m:eqArr>
                      </m:e>
                    </m:d>
                  </m:oMath>
                </a14:m>
                <a:endParaRPr lang="en-IN" dirty="0"/>
              </a:p>
              <a:p>
                <a:pPr marL="457200" lvl="1" indent="0">
                  <a:buNone/>
                </a:pPr>
                <a:r>
                  <a:rPr lang="en-US" dirty="0"/>
                  <a:t>	and </a:t>
                </a:r>
                <a:r>
                  <a:rPr lang="en-US" dirty="0" err="1"/>
                  <a:t>D</a:t>
                </a:r>
                <a:r>
                  <a:rPr lang="en-US" baseline="-25000" dirty="0" err="1"/>
                  <a:t>ij</a:t>
                </a:r>
                <a:r>
                  <a:rPr lang="en-US" dirty="0"/>
                  <a:t>(f) is given as,</a:t>
                </a:r>
              </a:p>
              <a:p>
                <a:pPr marL="457200" lvl="1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𝑖𝑗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</a:rPr>
                          <m:t>𝑓</m:t>
                        </m:r>
                      </m:e>
                    </m:d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</a:rPr>
                          <m:t>|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/>
                              </a:rPr>
                              <m:t>𝑖𝑓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/>
                              </a:rPr>
                              <m:t>𝑗𝑓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/>
                          </a:rPr>
                          <m:t>|</m:t>
                        </m:r>
                      </m:num>
                      <m:den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𝑚𝑎𝑥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/>
                              </a:rPr>
                              <m:t>𝑥𝑓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𝑚𝑖𝑛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/>
                              </a:rPr>
                              <m:t>𝑥𝑓</m:t>
                            </m:r>
                          </m:sub>
                        </m:sSub>
                      </m:den>
                    </m:f>
                    <m:r>
                      <a:rPr lang="en-US" sz="2000" b="0" i="1" smtClean="0">
                        <a:latin typeface="Cambria Math"/>
                      </a:rPr>
                      <m:t>, </m:t>
                    </m:r>
                    <m:r>
                      <a:rPr lang="en-US" sz="2000" b="0" i="1" smtClean="0">
                        <a:latin typeface="Cambria Math"/>
                      </a:rPr>
                      <m:t>𝑖𝑓</m:t>
                    </m:r>
                    <m:r>
                      <a:rPr lang="en-US" sz="2000" b="0" i="1" smtClean="0"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latin typeface="Cambria Math"/>
                      </a:rPr>
                      <m:t>𝑓</m:t>
                    </m:r>
                    <m:r>
                      <a:rPr lang="en-US" sz="2000" b="0" i="1" smtClean="0"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latin typeface="Cambria Math"/>
                      </a:rPr>
                      <m:t>𝑖𝑠</m:t>
                    </m:r>
                    <m:r>
                      <a:rPr lang="en-US" sz="2000" b="0" i="1" smtClean="0"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latin typeface="Cambria Math"/>
                      </a:rPr>
                      <m:t>𝑛𝑢𝑚𝑒𝑟𝑖𝑐</m:t>
                    </m:r>
                  </m:oMath>
                </a14:m>
                <a:endParaRPr lang="en-IN" dirty="0"/>
              </a:p>
              <a:p>
                <a:pPr marL="457200" lvl="1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𝑖𝑗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</a:rPr>
                          <m:t>𝑓</m:t>
                        </m:r>
                      </m:e>
                    </m:d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0, </m:t>
                            </m:r>
                            <m:r>
                              <a:rPr lang="en-US" sz="2000" b="0" i="1" smtClean="0">
                                <a:latin typeface="Cambria Math"/>
                              </a:rPr>
                              <m:t>𝑖𝑓</m:t>
                            </m:r>
                            <m:r>
                              <a:rPr lang="en-US" sz="2000" b="0" i="1" smtClean="0">
                                <a:latin typeface="Cambria Math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𝑖𝑓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𝑗𝑓</m:t>
                                </m:r>
                              </m:sub>
                            </m:sSub>
                          </m:e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1, </m:t>
                            </m:r>
                            <m:r>
                              <a:rPr lang="en-US" sz="2000" b="0" i="1" smtClean="0">
                                <a:latin typeface="Cambria Math"/>
                              </a:rPr>
                              <m:t>𝑜𝑡h𝑒𝑟𝑤𝑖𝑠𝑒</m:t>
                            </m:r>
                          </m:e>
                        </m:eqArr>
                        <m:r>
                          <a:rPr lang="en-US" sz="2000" b="0" i="1" smtClean="0">
                            <a:latin typeface="Cambria Math"/>
                          </a:rPr>
                          <m:t>, </m:t>
                        </m:r>
                        <m:r>
                          <a:rPr lang="en-US" sz="2000" b="0" i="1" smtClean="0">
                            <a:latin typeface="Cambria Math"/>
                          </a:rPr>
                          <m:t>𝑖𝑓</m:t>
                        </m:r>
                        <m:r>
                          <a:rPr lang="en-US" sz="2000" b="0" i="1" smtClean="0">
                            <a:latin typeface="Cambria Math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/>
                          </a:rPr>
                          <m:t>𝑓</m:t>
                        </m:r>
                        <m:r>
                          <a:rPr lang="en-US" sz="2000" b="0" i="1" smtClean="0">
                            <a:latin typeface="Cambria Math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/>
                          </a:rPr>
                          <m:t>𝑖𝑠</m:t>
                        </m:r>
                        <m:r>
                          <a:rPr lang="en-US" sz="2000" b="0" i="1" smtClean="0">
                            <a:latin typeface="Cambria Math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/>
                          </a:rPr>
                          <m:t>𝑛𝑜𝑚𝑖𝑛𝑎𝑙</m:t>
                        </m:r>
                        <m:r>
                          <a:rPr lang="en-US" sz="2000" b="0" i="1" smtClean="0">
                            <a:latin typeface="Cambria Math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/>
                          </a:rPr>
                          <m:t>𝑜𝑟</m:t>
                        </m:r>
                        <m:r>
                          <a:rPr lang="en-US" sz="2000" b="0" i="1" smtClean="0">
                            <a:latin typeface="Cambria Math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/>
                          </a:rPr>
                          <m:t>𝑖𝑛𝑎𝑟𝑦</m:t>
                        </m:r>
                      </m:e>
                    </m:d>
                  </m:oMath>
                </a14:m>
                <a:endParaRPr lang="en-IN" dirty="0"/>
              </a:p>
              <a:p>
                <a:pPr marL="457200" lvl="1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𝑖𝑗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</a:rPr>
                          <m:t>𝑓</m:t>
                        </m:r>
                      </m:e>
                    </m:d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𝑁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𝑖𝑓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</a:rPr>
                      <m:t>, </m:t>
                    </m:r>
                    <m:r>
                      <a:rPr lang="en-US" sz="2000" b="0" i="1" smtClean="0">
                        <a:latin typeface="Cambria Math"/>
                      </a:rPr>
                      <m:t>𝑖𝑓</m:t>
                    </m:r>
                    <m:r>
                      <a:rPr lang="en-US" sz="2000" b="0" i="1" smtClean="0"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latin typeface="Cambria Math"/>
                      </a:rPr>
                      <m:t>𝑓</m:t>
                    </m:r>
                    <m:r>
                      <a:rPr lang="en-US" sz="2000" b="0" i="1" smtClean="0"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latin typeface="Cambria Math"/>
                      </a:rPr>
                      <m:t>𝑖𝑠</m:t>
                    </m:r>
                    <m:r>
                      <a:rPr lang="en-US" sz="2000" b="0" i="1" smtClean="0"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latin typeface="Cambria Math"/>
                      </a:rPr>
                      <m:t>𝑜𝑟𝑑𝑖𝑛𝑎𝑙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914400"/>
                <a:ext cx="8610600" cy="5715000"/>
              </a:xfrm>
              <a:blipFill rotWithShape="1">
                <a:blip r:embed="rId2"/>
                <a:stretch>
                  <a:fillRect l="-1629" t="-1386" r="-14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r>
              <a:rPr lang="en-US" dirty="0"/>
              <a:t>Distance Measures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5143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r>
              <a:rPr lang="en-US" dirty="0"/>
              <a:t>Distance Measures</a:t>
            </a:r>
            <a:endParaRPr lang="en-IN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8962162"/>
              </p:ext>
            </p:extLst>
          </p:nvPr>
        </p:nvGraphicFramePr>
        <p:xfrm>
          <a:off x="1524000" y="990600"/>
          <a:ext cx="6096000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ID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Var1 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Var2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Var3 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Excellent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S2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Good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S3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Fair 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64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Good 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28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5283683"/>
              </p:ext>
            </p:extLst>
          </p:nvPr>
        </p:nvGraphicFramePr>
        <p:xfrm>
          <a:off x="228600" y="2975896"/>
          <a:ext cx="2590800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Var1 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3147207"/>
              </p:ext>
            </p:extLst>
          </p:nvPr>
        </p:nvGraphicFramePr>
        <p:xfrm>
          <a:off x="2974260" y="2971800"/>
          <a:ext cx="2971799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5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37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4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Var2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224916"/>
              </p:ext>
            </p:extLst>
          </p:nvPr>
        </p:nvGraphicFramePr>
        <p:xfrm>
          <a:off x="6096001" y="2971800"/>
          <a:ext cx="2971799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4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4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4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4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Var3</a:t>
                      </a:r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0.55</a:t>
                      </a:r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0" y="5334000"/>
                <a:ext cx="4419600" cy="5140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𝐷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/>
                            </a:rPr>
                            <m:t>2,1</m:t>
                          </m:r>
                        </m:e>
                      </m:d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/>
                                </a:rPr>
                                <m:t>1</m:t>
                              </m:r>
                            </m:e>
                          </m:d>
                          <m:r>
                            <a:rPr lang="en-US" sz="1400" b="0" i="1" smtClean="0">
                              <a:latin typeface="Cambria Math"/>
                            </a:rPr>
                            <m:t>∗</m:t>
                          </m:r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/>
                                </a:rPr>
                                <m:t>1</m:t>
                              </m:r>
                            </m:e>
                          </m:d>
                          <m:r>
                            <a:rPr lang="en-US" sz="1400" b="0" i="1" smtClean="0">
                              <a:latin typeface="Cambria Math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/>
                                </a:rPr>
                                <m:t>1</m:t>
                              </m:r>
                            </m:e>
                          </m:d>
                          <m:r>
                            <a:rPr lang="en-US" sz="1400" b="0" i="1" smtClean="0">
                              <a:latin typeface="Cambria Math"/>
                            </a:rPr>
                            <m:t>∗</m:t>
                          </m:r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/>
                                </a:rPr>
                                <m:t>0.5</m:t>
                              </m:r>
                            </m:e>
                          </m:d>
                          <m:r>
                            <a:rPr lang="en-US" sz="1400" b="0" i="1" smtClean="0">
                              <a:latin typeface="Cambria Math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/>
                                </a:rPr>
                                <m:t>1</m:t>
                              </m:r>
                            </m:e>
                          </m:d>
                          <m:r>
                            <a:rPr lang="en-US" sz="1400" b="0" i="1" smtClean="0">
                              <a:latin typeface="Cambria Math"/>
                            </a:rPr>
                            <m:t>∗(0.55)</m:t>
                          </m:r>
                        </m:num>
                        <m:den>
                          <m:r>
                            <a:rPr lang="en-US" sz="1400" b="0" i="1" smtClean="0">
                              <a:latin typeface="Cambria Math"/>
                            </a:rPr>
                            <m:t>1+1+1</m:t>
                          </m:r>
                        </m:den>
                      </m:f>
                      <m:r>
                        <a:rPr lang="en-US" sz="1400" b="0" i="1" smtClean="0">
                          <a:latin typeface="Cambria Math"/>
                        </a:rPr>
                        <m:t>=0.68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334000"/>
                <a:ext cx="4419600" cy="514051"/>
              </a:xfrm>
              <a:prstGeom prst="rect">
                <a:avLst/>
              </a:prstGeom>
              <a:blipFill rotWithShape="1">
                <a:blip r:embed="rId2"/>
                <a:stretch>
                  <a:fillRect b="-11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094504"/>
              </p:ext>
            </p:extLst>
          </p:nvPr>
        </p:nvGraphicFramePr>
        <p:xfrm>
          <a:off x="4572000" y="4927600"/>
          <a:ext cx="3581401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3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2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20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20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20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0.68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0099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2000"/>
          </a:xfrm>
        </p:spPr>
        <p:txBody>
          <a:bodyPr/>
          <a:lstStyle/>
          <a:p>
            <a:r>
              <a:rPr lang="en-IN" dirty="0"/>
              <a:t>Exercise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1"/>
            <a:ext cx="8686800" cy="2590800"/>
          </a:xfrm>
        </p:spPr>
        <p:txBody>
          <a:bodyPr>
            <a:normAutofit/>
          </a:bodyPr>
          <a:lstStyle/>
          <a:p>
            <a:pPr algn="just"/>
            <a:r>
              <a:rPr lang="en-IN" sz="2800" dirty="0"/>
              <a:t>Given two objects A=(22,1,42,10) &amp; B=(20,0,36,8), determine Euclidean distance, Manhattan distance, </a:t>
            </a:r>
            <a:r>
              <a:rPr lang="en-IN" sz="2800" dirty="0" err="1"/>
              <a:t>Minkowski</a:t>
            </a:r>
            <a:r>
              <a:rPr lang="en-IN" sz="2800" dirty="0"/>
              <a:t> distance &amp; Supremum distance between them.</a:t>
            </a:r>
          </a:p>
          <a:p>
            <a:pPr algn="just"/>
            <a:r>
              <a:rPr lang="en-IN" sz="2800" dirty="0"/>
              <a:t>Calculate adjacency matrix for the given dataset.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5705427"/>
              </p:ext>
            </p:extLst>
          </p:nvPr>
        </p:nvGraphicFramePr>
        <p:xfrm>
          <a:off x="457200" y="3327400"/>
          <a:ext cx="8229599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573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Height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Weight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Hair </a:t>
                      </a:r>
                      <a:r>
                        <a:rPr lang="en-IN" dirty="0" err="1"/>
                        <a:t>color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Complexion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Gender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Marital status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82.5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Black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Dark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Male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Married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1.7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71.6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Black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Fair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Male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Single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1.9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78.9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Brown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Fair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Female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Married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1.8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75.2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Blond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White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Male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Divorced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7750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1297</TotalTime>
  <Words>1176</Words>
  <Application>Microsoft Office PowerPoint</Application>
  <PresentationFormat>On-screen Show (4:3)</PresentationFormat>
  <Paragraphs>397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Cambria Math</vt:lpstr>
      <vt:lpstr>Office Theme</vt:lpstr>
      <vt:lpstr>Introduction to Clustering</vt:lpstr>
      <vt:lpstr>PowerPoint Presentation</vt:lpstr>
      <vt:lpstr>PowerPoint Presentation</vt:lpstr>
      <vt:lpstr>Types of Clustering Algorithms</vt:lpstr>
      <vt:lpstr>Types of Clustering Algorithms</vt:lpstr>
      <vt:lpstr>Types of Clustering Algorithms</vt:lpstr>
      <vt:lpstr>Types of Clustering Algorithms</vt:lpstr>
      <vt:lpstr>Types of Clustering Algorithms</vt:lpstr>
      <vt:lpstr>Types of Variables</vt:lpstr>
      <vt:lpstr>Types of Variables</vt:lpstr>
      <vt:lpstr>Types of Variables</vt:lpstr>
      <vt:lpstr>Types of Variables</vt:lpstr>
      <vt:lpstr>Distance Measures</vt:lpstr>
      <vt:lpstr>Distance Measures</vt:lpstr>
      <vt:lpstr>Distance Measures</vt:lpstr>
      <vt:lpstr>Distance Measures</vt:lpstr>
      <vt:lpstr>Distance Measures</vt:lpstr>
      <vt:lpstr>Distance Measures</vt:lpstr>
      <vt:lpstr>Distance Measures</vt:lpstr>
      <vt:lpstr>Distance Measures</vt:lpstr>
      <vt:lpstr>Distance Measures</vt:lpstr>
      <vt:lpstr>Exercise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Clustering</dc:title>
  <dc:creator>acer</dc:creator>
  <cp:lastModifiedBy>Vipul Dalal</cp:lastModifiedBy>
  <cp:revision>105</cp:revision>
  <dcterms:created xsi:type="dcterms:W3CDTF">2006-08-16T00:00:00Z</dcterms:created>
  <dcterms:modified xsi:type="dcterms:W3CDTF">2022-05-31T02:21:44Z</dcterms:modified>
</cp:coreProperties>
</file>