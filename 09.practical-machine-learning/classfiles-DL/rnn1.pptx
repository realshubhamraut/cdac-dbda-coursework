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42" r:id="rId2"/>
    <p:sldId id="323" r:id="rId3"/>
    <p:sldId id="256" r:id="rId4"/>
    <p:sldId id="333" r:id="rId5"/>
    <p:sldId id="264" r:id="rId6"/>
    <p:sldId id="345" r:id="rId7"/>
    <p:sldId id="324" r:id="rId8"/>
    <p:sldId id="330" r:id="rId9"/>
    <p:sldId id="325" r:id="rId10"/>
    <p:sldId id="326" r:id="rId11"/>
    <p:sldId id="327" r:id="rId12"/>
    <p:sldId id="328" r:id="rId13"/>
    <p:sldId id="329" r:id="rId14"/>
    <p:sldId id="331" r:id="rId15"/>
    <p:sldId id="343" r:id="rId16"/>
    <p:sldId id="265" r:id="rId17"/>
    <p:sldId id="301" r:id="rId18"/>
    <p:sldId id="312" r:id="rId19"/>
    <p:sldId id="268" r:id="rId20"/>
    <p:sldId id="298" r:id="rId21"/>
    <p:sldId id="267" r:id="rId22"/>
    <p:sldId id="273" r:id="rId23"/>
    <p:sldId id="274" r:id="rId24"/>
    <p:sldId id="275" r:id="rId25"/>
    <p:sldId id="276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77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420BD7-932E-4060-A652-90E4319C01F3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4C0766-A37A-417F-83D7-52D554C56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517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Rolled RNN(Compact) is represented as a single block with a loop inside it showing  the </a:t>
            </a:r>
            <a:r>
              <a:rPr lang="en-US" b="1" dirty="0"/>
              <a:t>recurrent</a:t>
            </a:r>
            <a:r>
              <a:rPr lang="en-US" dirty="0"/>
              <a:t> nature of the RNN.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 At all the time steps weights of the recurrent neuron would be the same since its a single neuron now. So a recurrent neuron stores the state of a previous input and combines with the current input thereby preserving some relationship of the current input with the previous input.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Unrolled RNN: how network processes sequential data by stretching out the loop across multiple time steps(t-1,t,t+1), showing each stage explicitly. It shows </a:t>
            </a:r>
            <a:r>
              <a:rPr lang="en-US" b="1" dirty="0"/>
              <a:t> </a:t>
            </a:r>
            <a:r>
              <a:rPr lang="en-US" dirty="0"/>
              <a:t>how the hidden state passes from one time step to the next, making it easier to understand training,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C0766-A37A-417F-83D7-52D554C5689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131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C0766-A37A-417F-83D7-52D554C5689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71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Rolled RNN(Compact) is represented as a single block with a loop inside it showing  the </a:t>
            </a:r>
            <a:r>
              <a:rPr lang="en-US" b="1" dirty="0"/>
              <a:t>recurrent</a:t>
            </a:r>
            <a:r>
              <a:rPr lang="en-US" dirty="0"/>
              <a:t> nature of the RNN.</a:t>
            </a:r>
            <a:r>
              <a:rPr lang="en-US" b="0" i="0" dirty="0">
                <a:solidFill>
                  <a:srgbClr val="383838"/>
                </a:solidFill>
                <a:effectLst/>
                <a:latin typeface="Inter"/>
              </a:rPr>
              <a:t> At all the time steps weights of the recurrent neuron would be the same since its a single neuron now. So a recurrent neuron stores the state of a previous input and combines with the current input thereby preserving some relationship of the current input with the previous input.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Unrolled RNN: how network processes sequential data by stretching out the loop across multiple time steps(t-1,t,t+1), showing each stage explicitly. It shows </a:t>
            </a:r>
            <a:r>
              <a:rPr lang="en-US" b="1" dirty="0"/>
              <a:t> </a:t>
            </a:r>
            <a:r>
              <a:rPr lang="en-US" dirty="0"/>
              <a:t>how the hidden state passes from one time step to the next, making it easier to understand training,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C0766-A37A-417F-83D7-52D554C5689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131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52D3-2A5B-242D-2725-A42572B67E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48236-B0D8-F8D9-D57C-EF6CE36CA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DC641-8AAF-4289-BEE2-0ED1337BF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3A10-6DED-4969-AAAA-FD5112C97C2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58547-A9A5-9FBC-CC8F-5AFF22416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78FD0-80F1-8F35-1C03-581702F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3C90F-BEA2-4E74-8E45-F4800A2D0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90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8C0D0-44CF-6751-7AA5-A1B524307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1A6C8-DD83-4260-6D79-7E384DA54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424E8-16D8-C5E4-010E-D2F3D1F9D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3A10-6DED-4969-AAAA-FD5112C97C2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D84AC-8A48-B75E-1869-8F39B8FE5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A24A8-A714-29F8-DF35-559140A1F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3C90F-BEA2-4E74-8E45-F4800A2D0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606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4B9F-48DB-19CA-7147-45A367220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36254-9891-32CB-A659-DCF52399A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4A2A0-5788-9C29-C2FE-6BFED5A4F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3A10-6DED-4969-AAAA-FD5112C97C2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2847E-2196-D38C-4699-08B27F6FC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63A619-ADCC-90A1-AFD0-F2460686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3C90F-BEA2-4E74-8E45-F4800A2D0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883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9A8E3-0331-0027-0701-6606C9469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43001-BE15-16BD-9A0F-5CB0AD9B0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CB2011-FBCD-B949-74C3-7CA450F2C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E05EB-C088-2568-96F4-B4B8D32D7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3A10-6DED-4969-AAAA-FD5112C97C2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867514-231E-BD90-F1F4-3160F72B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50A68-A402-6D30-EA86-91DCB5E9B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3C90F-BEA2-4E74-8E45-F4800A2D0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56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1DF4-CD26-849E-BE95-93E012F3D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19075-F78D-47C1-F4BB-648B667C5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A8557-5F16-CA57-D3FA-C7C25AC7D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6B82A-4B45-1F1B-687E-9ADC17EE37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B5158E-084F-6044-6E82-0D661BC2A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EF2559-A782-7615-9F93-A593ED249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3A10-6DED-4969-AAAA-FD5112C97C2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3A79BA-5EC1-1FC2-0101-E20F1C43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A1C3C-BFE4-C8F7-820B-79F1C35DF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3C90F-BEA2-4E74-8E45-F4800A2D0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026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9E1C-0FC9-C664-F0AD-5FE5F704B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8DE59-7D52-3A20-489B-C9116DB41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3A10-6DED-4969-AAAA-FD5112C97C2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4D098-BD16-C382-2E48-05E3A1E5E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E8795-B812-3617-B564-56AF3BDC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3C90F-BEA2-4E74-8E45-F4800A2D0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329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2D2A8D-2AD7-C109-C502-F5B94699D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3A10-6DED-4969-AAAA-FD5112C97C2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1D95D5-FB78-0914-D993-507A1469C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9C5A8-1A0D-2A2F-0006-F860B172F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3C90F-BEA2-4E74-8E45-F4800A2D0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7231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91709-CF86-1F09-9A97-849A41B2A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2DBBE-8945-8366-89B9-CF5F26AA3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4091D-65D1-0A47-C2C1-3B5F45570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C5075-9516-8DD9-F70D-AF80F8548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3A10-6DED-4969-AAAA-FD5112C97C2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541B4-D172-331F-19F0-52A3D83AC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DFFB1-7CE8-5A75-6B30-5C403436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3C90F-BEA2-4E74-8E45-F4800A2D0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806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12757-BE60-509C-91E8-730A403EF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FD1BE7-615F-E30E-3A47-9A97578751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4895D-16F8-6C4F-4F2B-200F2DC46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D3F3E7-E4AE-A1C3-E234-47497C01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3A10-6DED-4969-AAAA-FD5112C97C2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87ED0-EE81-D9E3-5F11-8BD713AC7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67360-8723-6A23-EC98-26875665C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3C90F-BEA2-4E74-8E45-F4800A2D0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677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B52B-F2EB-5FFA-ED9E-930EA11FF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9A4D69-F1E0-8262-E5BA-BDD26D61F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E4CDD-3615-A526-517B-6A5893E4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3A10-6DED-4969-AAAA-FD5112C97C2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2077D-1534-CC91-F909-8F56C2386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19B69-864C-99A8-2C75-D458D487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3C90F-BEA2-4E74-8E45-F4800A2D0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22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81FC1F-12D2-A31B-4B3F-D7125E389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6528C1-7671-E460-E216-02CC77CF9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58E1A-0BE6-6FD1-8100-952610D9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A3A10-6DED-4969-AAAA-FD5112C97C2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5E983-C7C3-E4FC-BD3F-13D67B04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1693A-58CC-1AC4-6EEB-C534C6F4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3C90F-BEA2-4E74-8E45-F4800A2D0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882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1EA37A-6D89-1AC1-79C0-BFFAD1B9C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4CA54-CD2C-2C59-15EE-D30CA5D18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5D89C-217E-0405-918B-97F151315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A3A10-6DED-4969-AAAA-FD5112C97C25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1A710-8D6B-3310-7EEC-D2B46640B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D8348-9472-0454-BFC2-FAA89269A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3C90F-BEA2-4E74-8E45-F4800A2D0D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79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D437-F2F1-5320-A003-F02728361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9992"/>
          </a:xfrm>
        </p:spPr>
        <p:txBody>
          <a:bodyPr/>
          <a:lstStyle/>
          <a:p>
            <a:r>
              <a:rPr lang="en-IN" dirty="0"/>
              <a:t>				Why RNN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46C2F-F225-4456-096B-67B324F7A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0314"/>
            <a:ext cx="10515600" cy="5226817"/>
          </a:xfrm>
        </p:spPr>
        <p:txBody>
          <a:bodyPr/>
          <a:lstStyle/>
          <a:p>
            <a:r>
              <a:rPr lang="en-IN" dirty="0"/>
              <a:t>ANN</a:t>
            </a:r>
          </a:p>
          <a:p>
            <a:pPr lvl="2"/>
            <a:r>
              <a:rPr lang="en-IN" dirty="0"/>
              <a:t>All inputs are independent</a:t>
            </a:r>
          </a:p>
          <a:p>
            <a:pPr lvl="2"/>
            <a:r>
              <a:rPr lang="en-IN" dirty="0"/>
              <a:t>Tabular data</a:t>
            </a:r>
          </a:p>
          <a:p>
            <a:pPr lvl="2"/>
            <a:r>
              <a:rPr lang="en-IN" dirty="0"/>
              <a:t>No order of features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Tasks such as text, stock prices, </a:t>
            </a:r>
            <a:r>
              <a:rPr lang="en-US" dirty="0" err="1"/>
              <a:t>weather,time</a:t>
            </a:r>
            <a:r>
              <a:rPr lang="en-US" dirty="0"/>
              <a:t> series </a:t>
            </a:r>
          </a:p>
          <a:p>
            <a:pPr marL="914400" lvl="2" indent="0">
              <a:buNone/>
            </a:pPr>
            <a:r>
              <a:rPr lang="en-US" dirty="0"/>
              <a:t>— the </a:t>
            </a:r>
            <a:r>
              <a:rPr lang="en-US" b="1" dirty="0"/>
              <a:t>order and context</a:t>
            </a:r>
            <a:r>
              <a:rPr lang="en-US" dirty="0"/>
              <a:t> matter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r>
              <a:rPr lang="en-US" dirty="0"/>
              <a:t>I love to cook</a:t>
            </a:r>
          </a:p>
          <a:p>
            <a:pPr marL="914400" lvl="2" indent="0">
              <a:buNone/>
            </a:pPr>
            <a:r>
              <a:rPr lang="en-US" dirty="0"/>
              <a:t>The stock market rose today</a:t>
            </a:r>
          </a:p>
          <a:p>
            <a:pPr marL="914400" lvl="2" indent="0">
              <a:buNone/>
            </a:pPr>
            <a:r>
              <a:rPr lang="en-US" dirty="0"/>
              <a:t>The river bank was calm</a:t>
            </a:r>
          </a:p>
          <a:p>
            <a:pPr marL="914400" lvl="2" indent="0">
              <a:buNone/>
            </a:pPr>
            <a:r>
              <a:rPr lang="en-US" dirty="0"/>
              <a:t>He went to the bank to deposit money</a:t>
            </a:r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US" dirty="0"/>
          </a:p>
          <a:p>
            <a:pPr marL="914400" lvl="2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0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3431D8-870A-3A76-E2F2-C4BE28D6C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437" y="2036494"/>
            <a:ext cx="4160881" cy="7773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7C328B-E410-235D-1478-70CC7A5AD7AB}"/>
              </a:ext>
            </a:extLst>
          </p:cNvPr>
          <p:cNvSpPr txBox="1"/>
          <p:nvPr/>
        </p:nvSpPr>
        <p:spPr>
          <a:xfrm>
            <a:off x="188994" y="2335696"/>
            <a:ext cx="1560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Review: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D3ADC4-5843-FBF1-4869-466819C06766}"/>
              </a:ext>
            </a:extLst>
          </p:cNvPr>
          <p:cNvSpPr txBox="1"/>
          <p:nvPr/>
        </p:nvSpPr>
        <p:spPr>
          <a:xfrm>
            <a:off x="4731026" y="1553654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2A2A2A"/>
                </a:solidFill>
                <a:latin typeface="Work Sans" pitchFamily="2" charset="0"/>
              </a:rPr>
              <a:t>V</a:t>
            </a:r>
            <a:r>
              <a:rPr lang="en-IN" b="1" i="0" dirty="0">
                <a:solidFill>
                  <a:srgbClr val="2A2A2A"/>
                </a:solidFill>
                <a:effectLst/>
                <a:latin typeface="Work Sans" pitchFamily="2" charset="0"/>
              </a:rPr>
              <a:t>ariable input length</a:t>
            </a:r>
            <a:r>
              <a:rPr lang="en-IN" b="0" i="0" dirty="0">
                <a:solidFill>
                  <a:srgbClr val="2A2A2A"/>
                </a:solidFill>
                <a:effectLst/>
                <a:latin typeface="Work Sans" pitchFamily="2" charset="0"/>
              </a:rPr>
              <a:t>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929088-27B0-623A-7B22-F4BF5CA25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77" y="1998347"/>
            <a:ext cx="4656223" cy="10440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3E6DE3-933E-269D-16AD-7E3D60DF266E}"/>
              </a:ext>
            </a:extLst>
          </p:cNvPr>
          <p:cNvSpPr txBox="1"/>
          <p:nvPr/>
        </p:nvSpPr>
        <p:spPr>
          <a:xfrm>
            <a:off x="3110948" y="367748"/>
            <a:ext cx="5476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Problem with Standard Neural Network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F46FC-0DEC-B234-6861-6B9F745C4831}"/>
              </a:ext>
            </a:extLst>
          </p:cNvPr>
          <p:cNvSpPr txBox="1"/>
          <p:nvPr/>
        </p:nvSpPr>
        <p:spPr>
          <a:xfrm>
            <a:off x="4917385" y="3150123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2A2A2A"/>
                </a:solidFill>
                <a:latin typeface="Work Sans" pitchFamily="2" charset="0"/>
              </a:rPr>
              <a:t>S</a:t>
            </a:r>
            <a:r>
              <a:rPr lang="en-IN" b="1" i="0" dirty="0">
                <a:solidFill>
                  <a:srgbClr val="2A2A2A"/>
                </a:solidFill>
                <a:effectLst/>
                <a:latin typeface="Work Sans" pitchFamily="2" charset="0"/>
              </a:rPr>
              <a:t>equential inputs</a:t>
            </a:r>
            <a:r>
              <a:rPr lang="en-IN" b="0" i="0" dirty="0">
                <a:solidFill>
                  <a:srgbClr val="2A2A2A"/>
                </a:solidFill>
                <a:effectLst/>
                <a:latin typeface="Work Sans" pitchFamily="2" charset="0"/>
              </a:rPr>
              <a:t>. 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480D42-4657-5B56-1550-5BDCDB35F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094" y="4258869"/>
            <a:ext cx="5151566" cy="9754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4E94F7-E706-DB40-A5AA-71037A8D73AB}"/>
              </a:ext>
            </a:extLst>
          </p:cNvPr>
          <p:cNvSpPr txBox="1"/>
          <p:nvPr/>
        </p:nvSpPr>
        <p:spPr>
          <a:xfrm>
            <a:off x="6569765" y="4333461"/>
            <a:ext cx="5307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Opposite meaning sentences having same set of words with different order</a:t>
            </a:r>
          </a:p>
        </p:txBody>
      </p:sp>
    </p:spTree>
    <p:extLst>
      <p:ext uri="{BB962C8B-B14F-4D97-AF65-F5344CB8AC3E}">
        <p14:creationId xmlns:p14="http://schemas.microsoft.com/office/powerpoint/2010/main" val="4193923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E3BDDA-64D5-E624-D8BB-BF63A01BC7EB}"/>
              </a:ext>
            </a:extLst>
          </p:cNvPr>
          <p:cNvSpPr txBox="1"/>
          <p:nvPr/>
        </p:nvSpPr>
        <p:spPr>
          <a:xfrm>
            <a:off x="2456258" y="848007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		</a:t>
            </a:r>
            <a:r>
              <a:rPr lang="en-US" sz="2000" b="1" dirty="0"/>
              <a:t>What is an RNN?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Recurrent Neural Networks (RNNs) are a type of neural network designed to process sequential data by maintaining a memory of previous inputs.</a:t>
            </a:r>
          </a:p>
          <a:p>
            <a:pPr lvl="1"/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Handles time-series data and sequences.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Maintains a hidden state to capture context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Applications: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Language modeling, speech recognition, time-series prediction.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832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59B8AD-BF4C-5628-EAE3-30AED1B3A69C}"/>
              </a:ext>
            </a:extLst>
          </p:cNvPr>
          <p:cNvSpPr txBox="1"/>
          <p:nvPr/>
        </p:nvSpPr>
        <p:spPr>
          <a:xfrm>
            <a:off x="1846110" y="1054782"/>
            <a:ext cx="6853084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b="1" dirty="0"/>
              <a:t>			RNN Architecture</a:t>
            </a:r>
          </a:p>
          <a:p>
            <a:r>
              <a:rPr lang="en-US" b="1" dirty="0"/>
              <a:t>Core Components: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Input Layer: Accepts sequential data</a:t>
            </a:r>
          </a:p>
          <a:p>
            <a:pPr lvl="1"/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Hidden Layer: Maintains a state that evolves over time</a:t>
            </a:r>
          </a:p>
          <a:p>
            <a:pPr lvl="1"/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Output Layer: Produces predictions or sequences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Recurrent Nature:</a:t>
            </a:r>
          </a:p>
          <a:p>
            <a:r>
              <a:rPr lang="en-US" b="1" dirty="0"/>
              <a:t>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 RNNs have </a:t>
            </a:r>
            <a:r>
              <a:rPr lang="en-US" sz="2000" b="1" dirty="0"/>
              <a:t>loops</a:t>
            </a:r>
            <a:r>
              <a:rPr lang="en-US" sz="2000" dirty="0"/>
              <a:t> — output from the previous step feeds back as input to the next step.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Outputs and hidden states are influenced by both current and past inputs. </a:t>
            </a:r>
          </a:p>
          <a:p>
            <a:pPr lvl="1"/>
            <a:r>
              <a:rPr lang="en-US" sz="2000" dirty="0"/>
              <a:t>                       </a:t>
            </a:r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47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054C0C-9122-4C31-7E08-9A2AB517C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9697"/>
            <a:ext cx="4789654" cy="4890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0FED2A-768B-3F9E-829E-984FE94E16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166" y="771979"/>
            <a:ext cx="3756078" cy="446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7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9E63D7-9816-20E0-ED7A-FDF0D0AB5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774" y="998483"/>
            <a:ext cx="8796050" cy="501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7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849E8C-6915-3FED-6230-5922FDF0FE11}"/>
              </a:ext>
            </a:extLst>
          </p:cNvPr>
          <p:cNvSpPr txBox="1"/>
          <p:nvPr/>
        </p:nvSpPr>
        <p:spPr>
          <a:xfrm>
            <a:off x="1448970" y="349535"/>
            <a:ext cx="83571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2A2A2A"/>
                </a:solidFill>
                <a:effectLst/>
                <a:latin typeface="Work Sans" pitchFamily="2" charset="0"/>
              </a:rPr>
              <a:t>Recurrent :process a dynamic number of inputs sequentially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8C0963-2259-F8E6-BB41-1791F5E20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577" y="1545262"/>
            <a:ext cx="7232575" cy="49632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BEE55F6-9AF8-949C-5C85-23A3CB519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964" y="1129403"/>
            <a:ext cx="4792716" cy="19862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9CCFEC-407E-300F-C8CE-6C106D7EE403}"/>
              </a:ext>
            </a:extLst>
          </p:cNvPr>
          <p:cNvSpPr txBox="1"/>
          <p:nvPr/>
        </p:nvSpPr>
        <p:spPr>
          <a:xfrm>
            <a:off x="3765829" y="6488294"/>
            <a:ext cx="113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0DF7F-E776-A2BA-F13A-D781EF871A69}"/>
              </a:ext>
            </a:extLst>
          </p:cNvPr>
          <p:cNvSpPr txBox="1"/>
          <p:nvPr/>
        </p:nvSpPr>
        <p:spPr>
          <a:xfrm>
            <a:off x="6096000" y="6468122"/>
            <a:ext cx="1137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38C00D-DFDB-CF08-950B-8B473326E3F3}"/>
              </a:ext>
            </a:extLst>
          </p:cNvPr>
          <p:cNvSpPr txBox="1"/>
          <p:nvPr/>
        </p:nvSpPr>
        <p:spPr>
          <a:xfrm>
            <a:off x="8331200" y="6488294"/>
            <a:ext cx="97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x3</a:t>
            </a:r>
          </a:p>
        </p:txBody>
      </p:sp>
    </p:spTree>
    <p:extLst>
      <p:ext uri="{BB962C8B-B14F-4D97-AF65-F5344CB8AC3E}">
        <p14:creationId xmlns:p14="http://schemas.microsoft.com/office/powerpoint/2010/main" val="3895974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0764A0-2758-73D0-5204-96D44D2AF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27" y="445690"/>
            <a:ext cx="4934233" cy="30227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222F1B-12D8-583B-20DC-74B3696C7915}"/>
              </a:ext>
            </a:extLst>
          </p:cNvPr>
          <p:cNvSpPr txBox="1"/>
          <p:nvPr/>
        </p:nvSpPr>
        <p:spPr>
          <a:xfrm>
            <a:off x="1260190" y="3993932"/>
            <a:ext cx="86090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Each stage of the process involves an input, </a:t>
            </a:r>
            <a:r>
              <a:rPr lang="en-US" b="0" i="1" dirty="0">
                <a:solidFill>
                  <a:srgbClr val="2A2A2A"/>
                </a:solidFill>
                <a:effectLst/>
                <a:latin typeface="Work Sans" pitchFamily="2" charset="0"/>
              </a:rPr>
              <a:t>x</a:t>
            </a:r>
            <a:r>
              <a:rPr lang="en-US" sz="1600" i="1" baseline="-25000" dirty="0">
                <a:solidFill>
                  <a:srgbClr val="2A2A2A"/>
                </a:solidFill>
                <a:latin typeface="Work Sans" pitchFamily="2" charset="0"/>
              </a:rPr>
              <a:t>i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, that travels through the hidden layer to generate an output, </a:t>
            </a:r>
            <a:r>
              <a:rPr lang="en-US" b="0" i="1" dirty="0" err="1">
                <a:solidFill>
                  <a:srgbClr val="2A2A2A"/>
                </a:solidFill>
                <a:effectLst/>
                <a:latin typeface="Work Sans" pitchFamily="2" charset="0"/>
              </a:rPr>
              <a:t>h</a:t>
            </a:r>
            <a:r>
              <a:rPr lang="en-US" b="0" i="1" baseline="-25000" dirty="0" err="1">
                <a:solidFill>
                  <a:srgbClr val="2A2A2A"/>
                </a:solidFill>
                <a:effectLst/>
                <a:latin typeface="Work Sans" pitchFamily="2" charset="0"/>
              </a:rPr>
              <a:t>t</a:t>
            </a:r>
            <a:endParaRPr lang="en-US" b="0" i="0" dirty="0">
              <a:solidFill>
                <a:srgbClr val="2A2A2A"/>
              </a:solidFill>
              <a:effectLst/>
              <a:latin typeface="Work Sans" pitchFamily="2" charset="0"/>
            </a:endParaRPr>
          </a:p>
          <a:p>
            <a:endParaRPr lang="en-US" dirty="0">
              <a:solidFill>
                <a:srgbClr val="2A2A2A"/>
              </a:solidFill>
              <a:latin typeface="Work Sans" pitchFamily="2" charset="0"/>
            </a:endParaRPr>
          </a:p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 This output then either moves into the hidden layer of the next neural network or it results in a sentiment prediction, depicted as y</a:t>
            </a:r>
            <a:r>
              <a:rPr lang="en-US" b="0" i="0" baseline="30000" dirty="0">
                <a:solidFill>
                  <a:srgbClr val="2A2A2A"/>
                </a:solidFill>
                <a:effectLst/>
                <a:latin typeface="Work Sans" pitchFamily="2" charset="0"/>
              </a:rPr>
              <a:t>^</a:t>
            </a:r>
            <a:endParaRPr lang="en-US" b="0" i="0" dirty="0">
              <a:solidFill>
                <a:srgbClr val="2A2A2A"/>
              </a:solidFill>
              <a:effectLst/>
              <a:latin typeface="Work Sans" pitchFamily="2" charset="0"/>
            </a:endParaRPr>
          </a:p>
          <a:p>
            <a:endParaRPr lang="en-US" dirty="0">
              <a:solidFill>
                <a:srgbClr val="2A2A2A"/>
              </a:solidFill>
              <a:latin typeface="Work Sans" pitchFamily="2" charset="0"/>
            </a:endParaRPr>
          </a:p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 Each stage incorporates weight and bias terms which are constant in model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B6CDCA-20ED-7532-7DD0-C3709E3A8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966" y="498495"/>
            <a:ext cx="2205789" cy="2931975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87302FA1-68B7-5628-AA17-57AC765E6FFF}"/>
              </a:ext>
            </a:extLst>
          </p:cNvPr>
          <p:cNvSpPr/>
          <p:nvPr/>
        </p:nvSpPr>
        <p:spPr>
          <a:xfrm>
            <a:off x="5476809" y="156751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7EAA5C-C2D8-22B9-F550-B5BEE006E858}"/>
              </a:ext>
            </a:extLst>
          </p:cNvPr>
          <p:cNvSpPr txBox="1"/>
          <p:nvPr/>
        </p:nvSpPr>
        <p:spPr>
          <a:xfrm>
            <a:off x="8704755" y="967348"/>
            <a:ext cx="35585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A2A2A"/>
                </a:solidFill>
                <a:latin typeface="Work Sans" pitchFamily="2" charset="0"/>
              </a:rPr>
              <a:t>R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ecurrent feeding of the output</a:t>
            </a:r>
          </a:p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 from the hidden layer</a:t>
            </a:r>
          </a:p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 back into itself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0064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CC306B-52D1-3F21-8F99-9F9E9A8A11BF}"/>
              </a:ext>
            </a:extLst>
          </p:cNvPr>
          <p:cNvSpPr txBox="1"/>
          <p:nvPr/>
        </p:nvSpPr>
        <p:spPr>
          <a:xfrm>
            <a:off x="1001368" y="542187"/>
            <a:ext cx="60976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A2A2A"/>
                </a:solidFill>
                <a:latin typeface="Work Sans" pitchFamily="2" charset="0"/>
              </a:rPr>
              <a:t>Consider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 network has 10,000 inputs (= 1 word)</a:t>
            </a:r>
          </a:p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 a single hidden layer composed of one neuron</a:t>
            </a:r>
            <a:r>
              <a:rPr lang="en-US" dirty="0">
                <a:solidFill>
                  <a:srgbClr val="2A2A2A"/>
                </a:solidFill>
                <a:latin typeface="Work Sans" pitchFamily="2" charset="0"/>
              </a:rPr>
              <a:t> </a:t>
            </a:r>
          </a:p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and one output neuron.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13E06B-6FB0-071A-732B-1AF912511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727" y="2018130"/>
            <a:ext cx="6340389" cy="40541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52BB25-5F47-2796-CF70-A32CAAEE8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530823"/>
            <a:ext cx="4160881" cy="77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30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75BCC3-4867-7EE0-E2B2-6B3DAE734FDB}"/>
              </a:ext>
            </a:extLst>
          </p:cNvPr>
          <p:cNvSpPr txBox="1"/>
          <p:nvPr/>
        </p:nvSpPr>
        <p:spPr>
          <a:xfrm>
            <a:off x="345383" y="1560443"/>
            <a:ext cx="49124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A2A2A"/>
                </a:solidFill>
                <a:latin typeface="Work Sans" pitchFamily="2" charset="0"/>
              </a:rPr>
              <a:t>T</a:t>
            </a:r>
            <a:r>
              <a:rPr lang="en-US" b="1" i="0" dirty="0">
                <a:solidFill>
                  <a:srgbClr val="2A2A2A"/>
                </a:solidFill>
                <a:effectLst/>
                <a:latin typeface="Work Sans" pitchFamily="2" charset="0"/>
              </a:rPr>
              <a:t>ake the output from the hidden layer </a:t>
            </a:r>
          </a:p>
          <a:p>
            <a:r>
              <a:rPr lang="en-US" b="1" i="0" dirty="0">
                <a:solidFill>
                  <a:srgbClr val="2A2A2A"/>
                </a:solidFill>
                <a:effectLst/>
                <a:latin typeface="Work Sans" pitchFamily="2" charset="0"/>
              </a:rPr>
              <a:t>of the previous neural network </a:t>
            </a:r>
          </a:p>
          <a:p>
            <a:r>
              <a:rPr lang="en-US" b="1" i="0" dirty="0">
                <a:solidFill>
                  <a:srgbClr val="2A2A2A"/>
                </a:solidFill>
                <a:effectLst/>
                <a:latin typeface="Work Sans" pitchFamily="2" charset="0"/>
              </a:rPr>
              <a:t>and pass it into the hidden layer</a:t>
            </a:r>
          </a:p>
          <a:p>
            <a:r>
              <a:rPr lang="en-US" b="1" i="0" dirty="0">
                <a:solidFill>
                  <a:srgbClr val="2A2A2A"/>
                </a:solidFill>
                <a:effectLst/>
                <a:latin typeface="Work Sans" pitchFamily="2" charset="0"/>
              </a:rPr>
              <a:t> of the current network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E35F02-AEF0-E6D3-928E-ABB123976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130" y="79513"/>
            <a:ext cx="5262322" cy="32176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5393E1-826B-D558-447C-4272932A7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130" y="3284584"/>
            <a:ext cx="512089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35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5DCD5EC-5075-002A-FC3F-B1BDA6E25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00" y="1027645"/>
            <a:ext cx="6706181" cy="5410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4E5303-28A8-FF07-8680-4264C01C86EB}"/>
              </a:ext>
            </a:extLst>
          </p:cNvPr>
          <p:cNvSpPr txBox="1"/>
          <p:nvPr/>
        </p:nvSpPr>
        <p:spPr>
          <a:xfrm>
            <a:off x="417153" y="233427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In the hidden layer neuron of the first neural network, the first step is summation: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4A1E8-00F1-D84A-D369-857DA553D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137" y="2398375"/>
            <a:ext cx="4465707" cy="2339543"/>
          </a:xfrm>
          <a:prstGeom prst="rect">
            <a:avLst/>
          </a:prstGeo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51D13F11-B74C-0FF0-9521-32C2B2456E25}"/>
              </a:ext>
            </a:extLst>
          </p:cNvPr>
          <p:cNvSpPr/>
          <p:nvPr/>
        </p:nvSpPr>
        <p:spPr>
          <a:xfrm>
            <a:off x="2266121" y="1616122"/>
            <a:ext cx="427383" cy="6957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8FE4B-3973-D18F-0665-FA218BA73678}"/>
              </a:ext>
            </a:extLst>
          </p:cNvPr>
          <p:cNvSpPr txBox="1"/>
          <p:nvPr/>
        </p:nvSpPr>
        <p:spPr>
          <a:xfrm>
            <a:off x="381137" y="5241878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 where </a:t>
            </a:r>
            <a:r>
              <a:rPr lang="en-US" b="0" i="1" dirty="0">
                <a:solidFill>
                  <a:srgbClr val="2A2A2A"/>
                </a:solidFill>
                <a:effectLst/>
                <a:latin typeface="Work Sans" pitchFamily="2" charset="0"/>
              </a:rPr>
              <a:t>wₓ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 represents the input weights and </a:t>
            </a:r>
            <a:r>
              <a:rPr lang="en-US" b="0" i="1" dirty="0">
                <a:solidFill>
                  <a:srgbClr val="2A2A2A"/>
                </a:solidFill>
                <a:effectLst/>
                <a:latin typeface="Work Sans" pitchFamily="2" charset="0"/>
              </a:rPr>
              <a:t>x</a:t>
            </a:r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 represents the input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FFCFBB-344C-3DDA-B599-BD06587EF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791" y="2693788"/>
            <a:ext cx="4092295" cy="1112616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AE10D422-BFC6-4C72-5168-F359AD37C26C}"/>
              </a:ext>
            </a:extLst>
          </p:cNvPr>
          <p:cNvSpPr/>
          <p:nvPr/>
        </p:nvSpPr>
        <p:spPr>
          <a:xfrm>
            <a:off x="4403035" y="3269974"/>
            <a:ext cx="1510748" cy="3677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049B7D-4016-86EB-E53C-42BAD87BA72E}"/>
              </a:ext>
            </a:extLst>
          </p:cNvPr>
          <p:cNvSpPr txBox="1"/>
          <p:nvPr/>
        </p:nvSpPr>
        <p:spPr>
          <a:xfrm>
            <a:off x="4403035" y="2693788"/>
            <a:ext cx="1620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Tanh </a:t>
            </a:r>
            <a:r>
              <a:rPr lang="en-IN" dirty="0" err="1"/>
              <a:t>acivation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18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A03B91-1DDC-D983-B595-966637BF6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559" y="138"/>
            <a:ext cx="4377621" cy="29018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EF1A3E-31A0-7BB2-C198-5953B6C16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530" y="2902033"/>
            <a:ext cx="4584650" cy="29018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F99330-247D-96B4-982A-36BBBE916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78" y="536997"/>
            <a:ext cx="4092295" cy="11126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F240E2-32FD-7AAD-E28B-37F479A4CF93}"/>
              </a:ext>
            </a:extLst>
          </p:cNvPr>
          <p:cNvSpPr txBox="1"/>
          <p:nvPr/>
        </p:nvSpPr>
        <p:spPr>
          <a:xfrm>
            <a:off x="285750" y="2255702"/>
            <a:ext cx="4713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pass h1 to the hidden neuron in the </a:t>
            </a:r>
          </a:p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second neural network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578C0E-F967-D077-6823-0CF8A46B00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41" y="3042226"/>
            <a:ext cx="3787468" cy="13107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90C89DE-126E-91D1-9710-0387711D20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009" y="5339067"/>
            <a:ext cx="4701947" cy="929721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DE27BBF8-1AD9-4B33-1CAD-8616D41BD4DF}"/>
              </a:ext>
            </a:extLst>
          </p:cNvPr>
          <p:cNvSpPr/>
          <p:nvPr/>
        </p:nvSpPr>
        <p:spPr>
          <a:xfrm>
            <a:off x="2339093" y="4360659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396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267633-F3A3-636A-3527-8BE59FE83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601" y="76495"/>
            <a:ext cx="3621416" cy="1878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31A96-DC58-46E6-D895-CEA2070E1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94" y="1947646"/>
            <a:ext cx="3522429" cy="24272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05A032-8F11-8929-8A4B-20D4A2094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107" y="4374945"/>
            <a:ext cx="3720405" cy="24572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8CC682-F2B7-75B2-A97C-83E3E416D3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6403" y="1176584"/>
            <a:ext cx="4922947" cy="10135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39702A-704C-5FF8-D333-1C0E66E4FA43}"/>
              </a:ext>
            </a:extLst>
          </p:cNvPr>
          <p:cNvSpPr txBox="1"/>
          <p:nvPr/>
        </p:nvSpPr>
        <p:spPr>
          <a:xfrm>
            <a:off x="5334198" y="288649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A2A2A"/>
                </a:solidFill>
                <a:effectLst/>
                <a:latin typeface="Work Sans" pitchFamily="2" charset="0"/>
              </a:rPr>
              <a:t>this is the last word in the review and consequently the final input, we pass this data to the outer neuron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B14F62-98A1-23AA-B88F-B2570DAF8A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608618"/>
            <a:ext cx="4572396" cy="116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5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6381BC-DDFF-2B21-C415-D3D79E2B39C2}"/>
              </a:ext>
            </a:extLst>
          </p:cNvPr>
          <p:cNvSpPr txBox="1"/>
          <p:nvPr/>
        </p:nvSpPr>
        <p:spPr>
          <a:xfrm>
            <a:off x="1954924" y="1207779"/>
            <a:ext cx="72494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2A2A2A"/>
                </a:solidFill>
                <a:latin typeface="Work Sans" pitchFamily="2" charset="0"/>
              </a:rPr>
              <a:t>F</a:t>
            </a:r>
            <a:r>
              <a:rPr lang="en-US" b="1" i="1" dirty="0">
                <a:solidFill>
                  <a:srgbClr val="2A2A2A"/>
                </a:solidFill>
                <a:effectLst/>
                <a:latin typeface="Work Sans" pitchFamily="2" charset="0"/>
              </a:rPr>
              <a:t>ull linear transformation in hidden layer</a:t>
            </a:r>
          </a:p>
          <a:p>
            <a:endParaRPr lang="en-US" b="1" i="1" dirty="0">
              <a:solidFill>
                <a:srgbClr val="2A2A2A"/>
              </a:solidFill>
              <a:effectLst/>
              <a:latin typeface="Work Sans" pitchFamily="2" charset="0"/>
            </a:endParaRP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D2A869-4046-7D86-E19C-A0692D8EC7E3}"/>
              </a:ext>
            </a:extLst>
          </p:cNvPr>
          <p:cNvSpPr txBox="1"/>
          <p:nvPr/>
        </p:nvSpPr>
        <p:spPr>
          <a:xfrm>
            <a:off x="1875746" y="29055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2A2A2A"/>
                </a:solidFill>
                <a:latin typeface="Work Sans" pitchFamily="2" charset="0"/>
              </a:rPr>
              <a:t>T</a:t>
            </a:r>
            <a:r>
              <a:rPr lang="en-US" b="1" i="1" dirty="0">
                <a:solidFill>
                  <a:srgbClr val="2A2A2A"/>
                </a:solidFill>
                <a:effectLst/>
                <a:latin typeface="Work Sans" pitchFamily="2" charset="0"/>
              </a:rPr>
              <a:t>ransformation happening in the output layer</a:t>
            </a:r>
          </a:p>
          <a:p>
            <a:endParaRPr lang="en-US" b="1" i="1" dirty="0">
              <a:solidFill>
                <a:srgbClr val="2A2A2A"/>
              </a:solidFill>
              <a:effectLst/>
              <a:latin typeface="Work Sans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5EFB3-6556-8737-1275-391BC89BF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162" y="1982171"/>
            <a:ext cx="8574929" cy="9233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83B81A-C621-4FA0-6E3E-0523B8357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076" y="433387"/>
            <a:ext cx="7490026" cy="774392"/>
          </a:xfrm>
          <a:prstGeom prst="rect">
            <a:avLst/>
          </a:prstGeom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1BA28B3E-DBAF-ED7C-982C-DBEC7216B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648" y="3629910"/>
            <a:ext cx="415049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</a:t>
            </a:r>
            <a:r>
              <a:rPr kumimoji="0" lang="en-US" altLang="en-US" sz="1800" b="0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​: Input at time 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</a:t>
            </a:r>
            <a:r>
              <a:rPr kumimoji="0" lang="en-US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t−1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​: Memory from previous step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</a:t>
            </a:r>
            <a:r>
              <a:rPr kumimoji="0" lang="en-US" altLang="en-US" sz="1800" b="0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Updated hidden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weights shared at all time steps</a:t>
            </a:r>
          </a:p>
        </p:txBody>
      </p:sp>
    </p:spTree>
    <p:extLst>
      <p:ext uri="{BB962C8B-B14F-4D97-AF65-F5344CB8AC3E}">
        <p14:creationId xmlns:p14="http://schemas.microsoft.com/office/powerpoint/2010/main" val="3648978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653E13-5AD0-FDA0-CB69-079F8BFC3CC5}"/>
              </a:ext>
            </a:extLst>
          </p:cNvPr>
          <p:cNvSpPr txBox="1"/>
          <p:nvPr/>
        </p:nvSpPr>
        <p:spPr>
          <a:xfrm>
            <a:off x="3573517" y="11539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	</a:t>
            </a:r>
            <a:r>
              <a:rPr lang="en-IN" sz="3200" dirty="0"/>
              <a:t>Activation Functions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09A8A-4258-892F-BB57-B6F0F4B8CF91}"/>
              </a:ext>
            </a:extLst>
          </p:cNvPr>
          <p:cNvSpPr txBox="1"/>
          <p:nvPr/>
        </p:nvSpPr>
        <p:spPr>
          <a:xfrm>
            <a:off x="1303283" y="700172"/>
            <a:ext cx="8860220" cy="7109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tanh: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Output range (-1, 1)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Repeated multiplication through time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Keeps values stable (prevents explosion)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Simple RNN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None/>
            </a:pPr>
            <a:r>
              <a:rPr lang="en-US" sz="2400" b="1" dirty="0" err="1"/>
              <a:t>ReLU</a:t>
            </a:r>
            <a:r>
              <a:rPr lang="en-US" sz="2400" b="1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Faster learning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May forget negative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/>
              <a:t>F</a:t>
            </a:r>
            <a:r>
              <a:rPr lang="en-US" sz="2400" dirty="0"/>
              <a:t>or deep or stacked RNNs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4497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9E63D7-9816-20E0-ED7A-FDF0D0AB5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774" y="998483"/>
            <a:ext cx="8796050" cy="501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62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C4C960-66E5-E65C-E2A8-BCF865DAC036}"/>
              </a:ext>
            </a:extLst>
          </p:cNvPr>
          <p:cNvSpPr txBox="1"/>
          <p:nvPr/>
        </p:nvSpPr>
        <p:spPr>
          <a:xfrm>
            <a:off x="883697" y="335845"/>
            <a:ext cx="609765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1.The training data(sequence) is split into time-based sequences(timesteps).If sentence has 4 words it will be unrolled into four layer, one layer for each word.</a:t>
            </a:r>
          </a:p>
          <a:p>
            <a:endParaRPr lang="en-IN" dirty="0"/>
          </a:p>
          <a:p>
            <a:r>
              <a:rPr lang="en-IN" dirty="0"/>
              <a:t>2.It is vector-encoded and passed into the RNN as inputs. </a:t>
            </a:r>
          </a:p>
          <a:p>
            <a:endParaRPr lang="en-IN" dirty="0"/>
          </a:p>
          <a:p>
            <a:r>
              <a:rPr lang="en-IN" dirty="0"/>
              <a:t>3.The RNN is initialized with random weights and biases which remain the same through all timesteps(difference with ANN).</a:t>
            </a:r>
          </a:p>
          <a:p>
            <a:endParaRPr lang="en-IN" dirty="0"/>
          </a:p>
          <a:p>
            <a:r>
              <a:rPr lang="en-IN" dirty="0"/>
              <a:t>4.The network iterates over the sequence to compute the output or hidden state for each timestep.</a:t>
            </a:r>
          </a:p>
          <a:p>
            <a:endParaRPr lang="en-IN" dirty="0"/>
          </a:p>
          <a:p>
            <a:r>
              <a:rPr lang="en-IN" dirty="0"/>
              <a:t>5.The current hidden state is computed by passing the input for the current time-step (</a:t>
            </a:r>
            <a:r>
              <a:rPr lang="en-IN" dirty="0" err="1"/>
              <a:t>xt</a:t>
            </a:r>
            <a:r>
              <a:rPr lang="en-IN" dirty="0"/>
              <a:t>), the previous hidden state(ht-1), and the weights and biases for the sequence into a layer with an activation function of choice.</a:t>
            </a:r>
          </a:p>
          <a:p>
            <a:r>
              <a:rPr lang="en-IN" dirty="0"/>
              <a:t>6.The hidden state is then returned as an output and passed to the next timestep.</a:t>
            </a:r>
          </a:p>
          <a:p>
            <a:r>
              <a:rPr lang="en-IN" dirty="0"/>
              <a:t>7.Above steps(5 and 6) are repeated</a:t>
            </a:r>
          </a:p>
          <a:p>
            <a:r>
              <a:rPr lang="en-IN" dirty="0"/>
              <a:t>8. The final output can either be returned as a single vector or can be a combination of output vectors returned in each timestep.</a:t>
            </a:r>
          </a:p>
        </p:txBody>
      </p:sp>
    </p:spTree>
    <p:extLst>
      <p:ext uri="{BB962C8B-B14F-4D97-AF65-F5344CB8AC3E}">
        <p14:creationId xmlns:p14="http://schemas.microsoft.com/office/powerpoint/2010/main" val="1439655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0C31BB-309C-6DD2-2A25-F72F2A6B8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2" y="548390"/>
            <a:ext cx="12170195" cy="576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437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A5558B-CD04-96B1-67FE-500A2788CFC0}"/>
              </a:ext>
            </a:extLst>
          </p:cNvPr>
          <p:cNvSpPr txBox="1"/>
          <p:nvPr/>
        </p:nvSpPr>
        <p:spPr>
          <a:xfrm>
            <a:off x="774192" y="104825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b="0" i="0" dirty="0">
                <a:solidFill>
                  <a:srgbClr val="161616"/>
                </a:solidFill>
                <a:effectLst/>
                <a:latin typeface="IBM Plex Sans" panose="020B0503050203000203" pitchFamily="34" charset="0"/>
              </a:rPr>
              <a:t>Standard RNNs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18D75-1866-7842-0688-57381D11F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2560" y="1621917"/>
            <a:ext cx="4740051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42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NN_1">
            <a:hlinkClick r:id="" action="ppaction://media"/>
            <a:extLst>
              <a:ext uri="{FF2B5EF4-FFF2-40B4-BE49-F238E27FC236}">
                <a16:creationId xmlns:a16="http://schemas.microsoft.com/office/drawing/2014/main" id="{5FA57E06-B02C-5B8F-ED45-59D0D62F60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6678" y="346163"/>
            <a:ext cx="9231608" cy="557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95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9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EB3685-B691-C83A-549C-92060AD82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827" y="1093267"/>
            <a:ext cx="8624830" cy="55477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46D23E-9101-AFBF-970F-57A90FD08F4C}"/>
              </a:ext>
            </a:extLst>
          </p:cNvPr>
          <p:cNvSpPr txBox="1"/>
          <p:nvPr/>
        </p:nvSpPr>
        <p:spPr>
          <a:xfrm>
            <a:off x="4480559" y="216967"/>
            <a:ext cx="38646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	Types of RNN’s</a:t>
            </a:r>
          </a:p>
        </p:txBody>
      </p:sp>
    </p:spTree>
    <p:extLst>
      <p:ext uri="{BB962C8B-B14F-4D97-AF65-F5344CB8AC3E}">
        <p14:creationId xmlns:p14="http://schemas.microsoft.com/office/powerpoint/2010/main" val="444781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E674F1-ED9B-73A5-07A7-C9C415F0C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974" y="1585208"/>
            <a:ext cx="1549525" cy="28711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AA804A-E46D-0E65-ACB6-5D0413AA6CCF}"/>
              </a:ext>
            </a:extLst>
          </p:cNvPr>
          <p:cNvSpPr txBox="1"/>
          <p:nvPr/>
        </p:nvSpPr>
        <p:spPr>
          <a:xfrm>
            <a:off x="4191994" y="1787547"/>
            <a:ext cx="6096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Description:</a:t>
            </a:r>
            <a:r>
              <a:rPr lang="en-US" sz="2400" dirty="0"/>
              <a:t> A standard neural network (not strictly an RNN)</a:t>
            </a:r>
          </a:p>
          <a:p>
            <a:r>
              <a:rPr lang="en-US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Application:</a:t>
            </a:r>
            <a:r>
              <a:rPr lang="en-US" sz="2400" dirty="0"/>
              <a:t> Used for problems with fixed-size input and output.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Example Use Cases:</a:t>
            </a:r>
            <a:r>
              <a:rPr lang="en-US" sz="2400" dirty="0"/>
              <a:t> Image classification.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22DA8C-9266-9341-9BE6-1A7570FEE558}"/>
              </a:ext>
            </a:extLst>
          </p:cNvPr>
          <p:cNvSpPr txBox="1"/>
          <p:nvPr/>
        </p:nvSpPr>
        <p:spPr>
          <a:xfrm>
            <a:off x="4191994" y="55631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	</a:t>
            </a:r>
            <a:r>
              <a:rPr lang="en-US" sz="2800" b="1" dirty="0"/>
              <a:t>One-to-One RNN</a:t>
            </a:r>
          </a:p>
        </p:txBody>
      </p:sp>
    </p:spTree>
    <p:extLst>
      <p:ext uri="{BB962C8B-B14F-4D97-AF65-F5344CB8AC3E}">
        <p14:creationId xmlns:p14="http://schemas.microsoft.com/office/powerpoint/2010/main" val="2844023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701899-5F78-B143-06A4-57CC278F8328}"/>
              </a:ext>
            </a:extLst>
          </p:cNvPr>
          <p:cNvSpPr txBox="1"/>
          <p:nvPr/>
        </p:nvSpPr>
        <p:spPr>
          <a:xfrm>
            <a:off x="3922724" y="1805814"/>
            <a:ext cx="60960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Description:</a:t>
            </a:r>
            <a:r>
              <a:rPr lang="en-US" sz="2400" dirty="0"/>
              <a:t> Produces a sequence of outputs from a single input.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Application:</a:t>
            </a:r>
            <a:r>
              <a:rPr lang="en-US" sz="2400" dirty="0"/>
              <a:t> Suitable for tasks where a single event generates a series of related outputs.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Example Use Cases:</a:t>
            </a:r>
          </a:p>
          <a:p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Image captioning: An image input generates a sequence of words.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B781E-29C2-5BBB-0CBB-E79BF429B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86" y="2067700"/>
            <a:ext cx="2860666" cy="35448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90483B-7B5A-50FA-9C4A-8DD58685B708}"/>
              </a:ext>
            </a:extLst>
          </p:cNvPr>
          <p:cNvSpPr txBox="1"/>
          <p:nvPr/>
        </p:nvSpPr>
        <p:spPr>
          <a:xfrm>
            <a:off x="3750552" y="4827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	</a:t>
            </a:r>
            <a:r>
              <a:rPr lang="en-US" sz="2800" b="1" dirty="0"/>
              <a:t>One-to-Many RNN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27948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9C837-0A59-552A-CC38-E138A5480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041" y="1701705"/>
            <a:ext cx="3409476" cy="36165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09E0E7-D77D-3FD5-90CE-80872E410291}"/>
              </a:ext>
            </a:extLst>
          </p:cNvPr>
          <p:cNvSpPr txBox="1"/>
          <p:nvPr/>
        </p:nvSpPr>
        <p:spPr>
          <a:xfrm>
            <a:off x="4874347" y="1599521"/>
            <a:ext cx="589161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Description:</a:t>
            </a:r>
            <a:r>
              <a:rPr lang="en-US" sz="2400" dirty="0"/>
              <a:t> Maps a sequence of inputs to a single output.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Application:</a:t>
            </a:r>
            <a:r>
              <a:rPr lang="en-US" sz="2400" dirty="0"/>
              <a:t> Common for tasks where a sequence determines a single prediction.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Example Use Cases:</a:t>
            </a:r>
          </a:p>
          <a:p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Sentiment analysis: </a:t>
            </a:r>
            <a:r>
              <a:rPr lang="en-US" sz="2400" dirty="0" err="1"/>
              <a:t>Positive,Negative,Neutral</a:t>
            </a:r>
            <a:endParaRPr lang="en-US" sz="2400" dirty="0"/>
          </a:p>
          <a:p>
            <a:pPr lvl="1"/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Spam detection: </a:t>
            </a:r>
            <a:r>
              <a:rPr lang="en-US" sz="2400" dirty="0" err="1"/>
              <a:t>Spam,Not</a:t>
            </a:r>
            <a:r>
              <a:rPr lang="en-US" sz="2400" dirty="0"/>
              <a:t> spam</a:t>
            </a:r>
          </a:p>
          <a:p>
            <a:pPr lvl="1"/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383838"/>
                </a:solidFill>
                <a:effectLst/>
                <a:latin typeface="Inter"/>
              </a:rPr>
              <a:t>Movie rating prediction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383838"/>
                </a:solidFill>
                <a:latin typeface="Inter"/>
              </a:rPr>
              <a:t>Next word  prediction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19A3C-13B2-854A-A9CC-97D3DC929DAA}"/>
              </a:ext>
            </a:extLst>
          </p:cNvPr>
          <p:cNvSpPr txBox="1"/>
          <p:nvPr/>
        </p:nvSpPr>
        <p:spPr>
          <a:xfrm>
            <a:off x="3268718" y="36483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	</a:t>
            </a:r>
            <a:r>
              <a:rPr lang="en-US" sz="2800" b="1" dirty="0"/>
              <a:t>Many-to-one RNN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597505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2E8F7F-05B5-6B16-0BF0-6A6D56B57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375" y="1673689"/>
            <a:ext cx="2784508" cy="37286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4507B1-AFAD-F1E8-2612-F93DA2FF3B7B}"/>
              </a:ext>
            </a:extLst>
          </p:cNvPr>
          <p:cNvSpPr txBox="1"/>
          <p:nvPr/>
        </p:nvSpPr>
        <p:spPr>
          <a:xfrm>
            <a:off x="4615094" y="885412"/>
            <a:ext cx="609600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Many-to-Many RNN (with Equal Input and Output Lengths)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Description:</a:t>
            </a:r>
            <a:r>
              <a:rPr lang="en-US" sz="2400" dirty="0"/>
              <a:t> Maps a sequence of inputs to a sequence of outputs with the same length.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Application:</a:t>
            </a:r>
            <a:r>
              <a:rPr lang="en-US" sz="2400" dirty="0"/>
              <a:t> Used when each input has a corresponding output.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Example Use Cases: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Video frame classification: Each frame in a video sequence is labeled.</a:t>
            </a:r>
            <a:r>
              <a:rPr lang="en-US" sz="2400" b="0" i="0" dirty="0">
                <a:solidFill>
                  <a:srgbClr val="383838"/>
                </a:solidFill>
                <a:effectLst/>
                <a:latin typeface="Inter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83838"/>
                </a:solidFill>
                <a:effectLst/>
                <a:latin typeface="Inter"/>
              </a:rPr>
              <a:t>Named entity recognition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83838"/>
                </a:solidFill>
                <a:effectLst/>
                <a:latin typeface="Inter"/>
              </a:rPr>
              <a:t>Part of speech recognition</a:t>
            </a:r>
            <a:endParaRPr lang="en-US" sz="2400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DDF8B-7C25-26C8-FD73-6274BCAF68A4}"/>
              </a:ext>
            </a:extLst>
          </p:cNvPr>
          <p:cNvSpPr txBox="1"/>
          <p:nvPr/>
        </p:nvSpPr>
        <p:spPr>
          <a:xfrm>
            <a:off x="3899338" y="14640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	</a:t>
            </a:r>
            <a:r>
              <a:rPr lang="en-US" sz="2800" b="1" dirty="0"/>
              <a:t>Many-to many RNN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787838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73133-075D-2AC8-5DC1-AF84C1FEC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12" y="1547556"/>
            <a:ext cx="4635524" cy="47169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B58C3A-A275-DEA4-7774-050EAFE353F3}"/>
              </a:ext>
            </a:extLst>
          </p:cNvPr>
          <p:cNvSpPr txBox="1"/>
          <p:nvPr/>
        </p:nvSpPr>
        <p:spPr>
          <a:xfrm>
            <a:off x="5393120" y="1071801"/>
            <a:ext cx="609600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Description:</a:t>
            </a:r>
            <a:r>
              <a:rPr lang="en-US" sz="2400" dirty="0"/>
              <a:t> Produces a sequence of outputs with a different length than the input sequence.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Application:</a:t>
            </a:r>
            <a:r>
              <a:rPr lang="en-US" sz="2400" dirty="0"/>
              <a:t> Suitable for tasks where input and output lengths vary.</a:t>
            </a:r>
          </a:p>
          <a:p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Example Use Cases: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Machine translation: An input sentence in one language is translated to a sequence of words in another language.</a:t>
            </a:r>
          </a:p>
          <a:p>
            <a:pPr lvl="1"/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Speech-to-text: An audio input is converted into a text sequence.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A34F32-95DC-1213-0BC2-0453145D6A33}"/>
              </a:ext>
            </a:extLst>
          </p:cNvPr>
          <p:cNvSpPr txBox="1"/>
          <p:nvPr/>
        </p:nvSpPr>
        <p:spPr>
          <a:xfrm>
            <a:off x="3048000" y="246221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Many-to-Many RNN (with Unequal Input and Output Lengths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78070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2452</TotalTime>
  <Words>1219</Words>
  <Application>Microsoft Office PowerPoint</Application>
  <PresentationFormat>Widescreen</PresentationFormat>
  <Paragraphs>174</Paragraphs>
  <Slides>26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IBM Plex Sans</vt:lpstr>
      <vt:lpstr>Inter</vt:lpstr>
      <vt:lpstr>Work Sans</vt:lpstr>
      <vt:lpstr>Office Theme</vt:lpstr>
      <vt:lpstr>    Why RNN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Ruchika Bhargava</dc:creator>
  <cp:lastModifiedBy>Ruchika Bhargava</cp:lastModifiedBy>
  <cp:revision>19</cp:revision>
  <dcterms:created xsi:type="dcterms:W3CDTF">2024-12-29T08:00:32Z</dcterms:created>
  <dcterms:modified xsi:type="dcterms:W3CDTF">2025-12-15T06:03:00Z</dcterms:modified>
</cp:coreProperties>
</file>